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Marcellus"/>
      <p:regular r:id="rId13"/>
    </p:embeddedFon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arcellu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/>
          <p:nvPr/>
        </p:nvSpPr>
        <p:spPr>
          <a:xfrm>
            <a:off x="793790" y="2655451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20: AdaBoost (Adaptive Boosting)</a:t>
            </a:r>
            <a:endParaRPr b="0" i="0" sz="5100" u="none" cap="none" strike="noStrike"/>
          </a:p>
        </p:txBody>
      </p:sp>
      <p:sp>
        <p:nvSpPr>
          <p:cNvPr id="42" name="Google Shape;42;p11"/>
          <p:cNvSpPr/>
          <p:nvPr/>
        </p:nvSpPr>
        <p:spPr>
          <a:xfrm>
            <a:off x="793790" y="4441627"/>
            <a:ext cx="380535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Part of Ensemble Learning</a:t>
            </a:r>
            <a:endParaRPr b="0" i="0" sz="2550" u="none" cap="none" strike="noStrike"/>
          </a:p>
        </p:txBody>
      </p:sp>
      <p:sp>
        <p:nvSpPr>
          <p:cNvPr id="43" name="Google Shape;43;p11"/>
          <p:cNvSpPr/>
          <p:nvPr/>
        </p:nvSpPr>
        <p:spPr>
          <a:xfrm>
            <a:off x="793790" y="5205651"/>
            <a:ext cx="7556421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Turning weak models into a strong classifier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/>
          <p:nvPr/>
        </p:nvSpPr>
        <p:spPr>
          <a:xfrm>
            <a:off x="793790" y="1750219"/>
            <a:ext cx="1144119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Do We Need Another Algorithm?</a:t>
            </a:r>
            <a:endParaRPr b="0" i="0" sz="5100" u="none" cap="none" strike="noStrike"/>
          </a:p>
        </p:txBody>
      </p:sp>
      <p:sp>
        <p:nvSpPr>
          <p:cNvPr id="50" name="Google Shape;50;p12"/>
          <p:cNvSpPr/>
          <p:nvPr/>
        </p:nvSpPr>
        <p:spPr>
          <a:xfrm>
            <a:off x="793790" y="3051572"/>
            <a:ext cx="4196358" cy="2367558"/>
          </a:xfrm>
          <a:prstGeom prst="roundRect">
            <a:avLst>
              <a:gd fmla="val 4024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2"/>
          <p:cNvSpPr/>
          <p:nvPr/>
        </p:nvSpPr>
        <p:spPr>
          <a:xfrm>
            <a:off x="1043464" y="330124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Repeated Mistakes</a:t>
            </a:r>
            <a:endParaRPr b="0" i="0" sz="2550" u="none" cap="none" strike="noStrike"/>
          </a:p>
        </p:txBody>
      </p:sp>
      <p:sp>
        <p:nvSpPr>
          <p:cNvPr id="52" name="Google Shape;52;p12"/>
          <p:cNvSpPr/>
          <p:nvPr/>
        </p:nvSpPr>
        <p:spPr>
          <a:xfrm>
            <a:off x="1043464" y="3861197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single model often makes the same errors over and over, missing patterns in the data</a:t>
            </a:r>
            <a:endParaRPr b="0" i="0" sz="1750" u="none" cap="none" strike="noStrike"/>
          </a:p>
        </p:txBody>
      </p:sp>
      <p:sp>
        <p:nvSpPr>
          <p:cNvPr id="53" name="Google Shape;53;p12"/>
          <p:cNvSpPr/>
          <p:nvPr/>
        </p:nvSpPr>
        <p:spPr>
          <a:xfrm>
            <a:off x="5216962" y="3051572"/>
            <a:ext cx="4196358" cy="2367558"/>
          </a:xfrm>
          <a:prstGeom prst="roundRect">
            <a:avLst>
              <a:gd fmla="val 4024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2"/>
          <p:cNvSpPr/>
          <p:nvPr/>
        </p:nvSpPr>
        <p:spPr>
          <a:xfrm>
            <a:off x="5466636" y="330124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Unequal Difficulty</a:t>
            </a:r>
            <a:endParaRPr b="0" i="0" sz="2550" u="none" cap="none" strike="noStrike"/>
          </a:p>
        </p:txBody>
      </p:sp>
      <p:sp>
        <p:nvSpPr>
          <p:cNvPr id="55" name="Google Shape;55;p12"/>
          <p:cNvSpPr/>
          <p:nvPr/>
        </p:nvSpPr>
        <p:spPr>
          <a:xfrm>
            <a:off x="5466636" y="3861197"/>
            <a:ext cx="369701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Some data points are inherently harder to classify than others</a:t>
            </a:r>
            <a:endParaRPr b="0" i="0" sz="1750" u="none" cap="none" strike="noStrike"/>
          </a:p>
        </p:txBody>
      </p:sp>
      <p:sp>
        <p:nvSpPr>
          <p:cNvPr id="56" name="Google Shape;56;p12"/>
          <p:cNvSpPr/>
          <p:nvPr/>
        </p:nvSpPr>
        <p:spPr>
          <a:xfrm>
            <a:off x="9640133" y="3051572"/>
            <a:ext cx="4196358" cy="2367558"/>
          </a:xfrm>
          <a:prstGeom prst="roundRect">
            <a:avLst>
              <a:gd fmla="val 4024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2"/>
          <p:cNvSpPr/>
          <p:nvPr/>
        </p:nvSpPr>
        <p:spPr>
          <a:xfrm>
            <a:off x="9889808" y="3301246"/>
            <a:ext cx="369701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Equal Treatment Problem</a:t>
            </a:r>
            <a:endParaRPr b="0" i="0" sz="255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9889808" y="4285059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Treating all samples equally during training isn't always the smartest strategy</a:t>
            </a:r>
            <a:endParaRPr b="0" i="0" sz="1750" u="none" cap="none" strike="noStrike"/>
          </a:p>
        </p:txBody>
      </p:sp>
      <p:sp>
        <p:nvSpPr>
          <p:cNvPr id="59" name="Google Shape;59;p12"/>
          <p:cNvSpPr/>
          <p:nvPr/>
        </p:nvSpPr>
        <p:spPr>
          <a:xfrm>
            <a:off x="1133951" y="5929432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What if a model could learn from its own mistakes?</a:t>
            </a:r>
            <a:endParaRPr b="0" i="0" sz="1750" u="none" cap="none" strike="noStrike"/>
          </a:p>
        </p:txBody>
      </p:sp>
      <p:sp>
        <p:nvSpPr>
          <p:cNvPr id="60" name="Google Shape;60;p12"/>
          <p:cNvSpPr/>
          <p:nvPr/>
        </p:nvSpPr>
        <p:spPr>
          <a:xfrm>
            <a:off x="793790" y="5674281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706993" y="556736"/>
            <a:ext cx="5808107" cy="75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67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550"/>
              <a:buFont typeface="Marcellus"/>
              <a:buNone/>
            </a:pPr>
            <a:r>
              <a:rPr b="0" i="0" lang="en-US" sz="4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Where AdaBoost Fits</a:t>
            </a:r>
            <a:endParaRPr b="0" i="0" sz="4550" u="none" cap="none" strike="noStrike"/>
          </a:p>
        </p:txBody>
      </p:sp>
      <p:sp>
        <p:nvSpPr>
          <p:cNvPr id="67" name="Google Shape;67;p13"/>
          <p:cNvSpPr/>
          <p:nvPr/>
        </p:nvSpPr>
        <p:spPr>
          <a:xfrm>
            <a:off x="528968" y="5062235"/>
            <a:ext cx="8418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AdaBoost focuses more on the samples previous models got wrong, adapting its strategy with each iteration.</a:t>
            </a:r>
            <a:endParaRPr b="0" i="0" sz="155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5162541" y="2480900"/>
            <a:ext cx="486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550" u="none" cap="none" strike="noStrike"/>
          </a:p>
        </p:txBody>
      </p:sp>
      <p:sp>
        <p:nvSpPr>
          <p:cNvPr id="69" name="Google Shape;69;p13"/>
          <p:cNvSpPr/>
          <p:nvPr/>
        </p:nvSpPr>
        <p:spPr>
          <a:xfrm>
            <a:off x="5162558" y="2811406"/>
            <a:ext cx="4305300" cy="2280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5162558" y="2958091"/>
            <a:ext cx="2904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Forest</a:t>
            </a:r>
            <a:endParaRPr b="0" i="0" sz="2250" u="none" cap="none" strike="noStrike"/>
          </a:p>
        </p:txBody>
      </p:sp>
      <p:sp>
        <p:nvSpPr>
          <p:cNvPr id="71" name="Google Shape;71;p13"/>
          <p:cNvSpPr/>
          <p:nvPr/>
        </p:nvSpPr>
        <p:spPr>
          <a:xfrm>
            <a:off x="5162558" y="3537449"/>
            <a:ext cx="4305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Many trees trained in parallel, each learning from different data subsets</a:t>
            </a:r>
            <a:endParaRPr b="0" i="0" sz="1550" u="none" cap="none" strike="noStrike"/>
          </a:p>
        </p:txBody>
      </p:sp>
      <p:sp>
        <p:nvSpPr>
          <p:cNvPr id="72" name="Google Shape;72;p13"/>
          <p:cNvSpPr/>
          <p:nvPr/>
        </p:nvSpPr>
        <p:spPr>
          <a:xfrm>
            <a:off x="9796116" y="2480900"/>
            <a:ext cx="486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550" u="none" cap="none" strike="noStrike"/>
          </a:p>
        </p:txBody>
      </p:sp>
      <p:sp>
        <p:nvSpPr>
          <p:cNvPr id="73" name="Google Shape;73;p13"/>
          <p:cNvSpPr/>
          <p:nvPr/>
        </p:nvSpPr>
        <p:spPr>
          <a:xfrm>
            <a:off x="9796133" y="2811423"/>
            <a:ext cx="4305300" cy="2280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9796133" y="2958108"/>
            <a:ext cx="2904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AdaBoost</a:t>
            </a:r>
            <a:endParaRPr b="0" i="0" sz="225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9796133" y="3537466"/>
            <a:ext cx="4305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Many weak models trained </a:t>
            </a:r>
            <a:r>
              <a:rPr b="1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sequentially</a:t>
            </a: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each focusing on previous errors</a:t>
            </a:r>
            <a:endParaRPr b="0" i="0" sz="1550" u="none" cap="none" strike="noStrike"/>
          </a:p>
        </p:txBody>
      </p:sp>
      <p:sp>
        <p:nvSpPr>
          <p:cNvPr id="76" name="Google Shape;76;p13"/>
          <p:cNvSpPr/>
          <p:nvPr/>
        </p:nvSpPr>
        <p:spPr>
          <a:xfrm>
            <a:off x="528964" y="2480900"/>
            <a:ext cx="486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550" u="none" cap="none" strike="noStrike"/>
          </a:p>
        </p:txBody>
      </p:sp>
      <p:sp>
        <p:nvSpPr>
          <p:cNvPr id="77" name="Google Shape;77;p13"/>
          <p:cNvSpPr/>
          <p:nvPr/>
        </p:nvSpPr>
        <p:spPr>
          <a:xfrm>
            <a:off x="528983" y="2811414"/>
            <a:ext cx="4305300" cy="2280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528983" y="2958099"/>
            <a:ext cx="2904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Tree</a:t>
            </a:r>
            <a:endParaRPr b="0" i="0" sz="2250" u="none" cap="none" strike="noStrike"/>
          </a:p>
        </p:txBody>
      </p:sp>
      <p:sp>
        <p:nvSpPr>
          <p:cNvPr id="79" name="Google Shape;79;p13"/>
          <p:cNvSpPr/>
          <p:nvPr/>
        </p:nvSpPr>
        <p:spPr>
          <a:xfrm>
            <a:off x="528983" y="3537457"/>
            <a:ext cx="4305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single model making predictions independently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793790" y="1857732"/>
            <a:ext cx="1008280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AdaBoost (In Plain English)</a:t>
            </a:r>
            <a:endParaRPr b="0" i="0" sz="51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793790" y="2796183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FF954F"/>
                </a:solidFill>
                <a:latin typeface="Marcellus"/>
                <a:ea typeface="Marcellus"/>
                <a:cs typeface="Marcellus"/>
                <a:sym typeface="Marcellus"/>
              </a:rPr>
              <a:t>Adaptive Boosting</a:t>
            </a:r>
            <a:endParaRPr b="0" i="0" sz="305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793790" y="3644860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AdaBoost stands for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Adaptive Boosting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—a sequential learning approach that gets smarter over time.</a:t>
            </a:r>
            <a:endParaRPr b="0" i="0" sz="17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793790" y="4194810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"Adaptive"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means it changes focus during training based on performance</a:t>
            </a:r>
            <a:endParaRPr b="0" i="0" sz="175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793790" y="4568904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Misclassified samples receive increased attention in later rounds</a:t>
            </a:r>
            <a:endParaRPr b="0" i="0" sz="175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793790" y="4942999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Each new model tries to correct the mistakes of its predecessors</a:t>
            </a:r>
            <a:endParaRPr b="0" i="0" sz="1750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1133951" y="5748099"/>
            <a:ext cx="12702659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Core Principle:</a:t>
            </a:r>
            <a:r>
              <a:rPr b="0" i="0" lang="en-US" sz="2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AdaBoost learns by fixing its past mistakes.</a:t>
            </a:r>
            <a:endParaRPr b="0" i="0" sz="220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793790" y="5492948"/>
            <a:ext cx="30480" cy="87880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793790" y="677347"/>
            <a:ext cx="1066359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Learn in This Module</a:t>
            </a:r>
            <a:endParaRPr b="0" i="0" sz="51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93790" y="2318861"/>
            <a:ext cx="4196358" cy="2692479"/>
          </a:xfrm>
          <a:prstGeom prst="roundRect">
            <a:avLst>
              <a:gd fmla="val 5434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793790" y="2288381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2551688" y="19787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2755761" y="2142053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10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1051084" y="2885837"/>
            <a:ext cx="339244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Boosting Fundamentals</a:t>
            </a:r>
            <a:endParaRPr b="0" i="0" sz="25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1051084" y="3445788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 what boosting is and why it works better than individual models</a:t>
            </a:r>
            <a:endParaRPr b="0" i="0" sz="17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5216962" y="2318861"/>
            <a:ext cx="4196358" cy="2692479"/>
          </a:xfrm>
          <a:prstGeom prst="roundRect">
            <a:avLst>
              <a:gd fmla="val 5434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216962" y="2288381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974860" y="19787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178933" y="2142053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1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5474256" y="2885837"/>
            <a:ext cx="368177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AdaBoost Core Concepts</a:t>
            </a:r>
            <a:endParaRPr b="0" i="0" sz="255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5474256" y="3869650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Explore the core idea behind AdaBoost and the role of weak learners</a:t>
            </a:r>
            <a:endParaRPr b="0" i="0" sz="175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9640133" y="2318861"/>
            <a:ext cx="4196358" cy="2692479"/>
          </a:xfrm>
          <a:prstGeom prst="roundRect">
            <a:avLst>
              <a:gd fmla="val 5434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9640133" y="2288381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11398032" y="19787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11602105" y="2142053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10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9897427" y="288583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Training &amp; Prediction</a:t>
            </a:r>
            <a:endParaRPr b="0" i="0" sz="255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9897427" y="3445788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Learn how AdaBoost trains sequentially and makes final predictions</a:t>
            </a:r>
            <a:endParaRPr b="0" i="0" sz="175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793790" y="5578316"/>
            <a:ext cx="6407944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93790" y="5547836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657540" y="523815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861614" y="5401508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210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1051084" y="6145292"/>
            <a:ext cx="346805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Python Implementation</a:t>
            </a:r>
            <a:endParaRPr b="0" i="0" sz="25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1051084" y="6705243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Implement AdaBoost using scikit-learn with hands-on code examples</a:t>
            </a:r>
            <a:endParaRPr b="0" i="0" sz="17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7428548" y="5578316"/>
            <a:ext cx="6407944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428548" y="5547836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10292298" y="523815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10496371" y="5401508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5</a:t>
            </a:r>
            <a:endParaRPr b="0" i="0" sz="210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7685842" y="614529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Practical Application</a:t>
            </a:r>
            <a:endParaRPr b="0" i="0" sz="255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7685842" y="6705243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 when to use AdaBoost and when other methods are better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793790" y="192905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Build</a:t>
            </a:r>
            <a:endParaRPr b="0" i="0" sz="510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93790" y="3513892"/>
            <a:ext cx="30480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AdaBoost Classifier</a:t>
            </a:r>
            <a:endParaRPr b="0" i="0" sz="255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793790" y="4073843"/>
            <a:ext cx="304800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an AdaBoost classifier on a real dataset from scratch</a:t>
            </a:r>
            <a:endParaRPr b="0" i="0" sz="175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4125278" y="3513892"/>
            <a:ext cx="30481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Comparison</a:t>
            </a:r>
            <a:endParaRPr b="0" i="0" sz="255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4125278" y="4073843"/>
            <a:ext cx="304811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Compare performance with a simple decision tree baseline</a:t>
            </a:r>
            <a:endParaRPr b="0" i="0" sz="1750" u="none" cap="none" strike="noStrike"/>
          </a:p>
        </p:txBody>
      </p:sp>
      <p:sp>
        <p:nvSpPr>
          <p:cNvPr id="139" name="Google Shape;139;p16"/>
          <p:cNvSpPr/>
          <p:nvPr/>
        </p:nvSpPr>
        <p:spPr>
          <a:xfrm>
            <a:off x="7456884" y="3513892"/>
            <a:ext cx="304811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Performance Evaluation</a:t>
            </a:r>
            <a:endParaRPr b="0" i="0" sz="255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7456884" y="4497705"/>
            <a:ext cx="304811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Evaluate using accuracy, precision, recall, and other key metrics</a:t>
            </a:r>
            <a:endParaRPr b="0" i="0" sz="175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10788491" y="3513892"/>
            <a:ext cx="304811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Parameter Experiments</a:t>
            </a:r>
            <a:endParaRPr b="0" i="0" sz="2550" u="none" cap="none" strike="noStrike"/>
          </a:p>
        </p:txBody>
      </p:sp>
      <p:sp>
        <p:nvSpPr>
          <p:cNvPr id="142" name="Google Shape;142;p16"/>
          <p:cNvSpPr/>
          <p:nvPr/>
        </p:nvSpPr>
        <p:spPr>
          <a:xfrm>
            <a:off x="10788491" y="4497705"/>
            <a:ext cx="304811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Run small experiments by changing hyperparameters to see their impact</a:t>
            </a:r>
            <a:endParaRPr b="0" i="0" sz="175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793790" y="5932051"/>
            <a:ext cx="13042821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No heavy math required.</a:t>
            </a:r>
            <a:r>
              <a:rPr b="0" i="0" lang="en-US" sz="2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We'll take a step-by-step, practical approach.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793790" y="665440"/>
            <a:ext cx="914614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This Module Is Structured</a:t>
            </a:r>
            <a:endParaRPr b="0" i="0" sz="510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793790" y="2193488"/>
            <a:ext cx="4196358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93790" y="2163008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2551688" y="1853327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761" y="2057400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1051084" y="276046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Boosting Intuition</a:t>
            </a:r>
            <a:endParaRPr b="0" i="0" sz="255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1051084" y="3320415"/>
            <a:ext cx="368177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core concept behind boosting algorithms</a:t>
            </a:r>
            <a:endParaRPr b="0" i="0" sz="175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5216962" y="2193488"/>
            <a:ext cx="4196358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216962" y="2163008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974860" y="1853327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8933" y="2057400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5474256" y="276046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AdaBoost Mechanics</a:t>
            </a:r>
            <a:endParaRPr b="0" i="0" sz="255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5474256" y="3320415"/>
            <a:ext cx="368177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Learn how AdaBoost works under the hood</a:t>
            </a:r>
            <a:endParaRPr b="0" i="0" sz="1750" u="none" cap="none" strike="noStrike"/>
          </a:p>
        </p:txBody>
      </p:sp>
      <p:sp>
        <p:nvSpPr>
          <p:cNvPr id="162" name="Google Shape;162;p17"/>
          <p:cNvSpPr/>
          <p:nvPr/>
        </p:nvSpPr>
        <p:spPr>
          <a:xfrm>
            <a:off x="9640133" y="2193488"/>
            <a:ext cx="4196358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9640133" y="2163008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11398032" y="1853327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2105" y="2057400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/>
          <p:nvPr/>
        </p:nvSpPr>
        <p:spPr>
          <a:xfrm>
            <a:off x="9897427" y="276046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Key Parameters</a:t>
            </a:r>
            <a:endParaRPr b="0" i="0" sz="2550" u="none" cap="none" strike="noStrike"/>
          </a:p>
        </p:txBody>
      </p:sp>
      <p:sp>
        <p:nvSpPr>
          <p:cNvPr id="167" name="Google Shape;167;p17"/>
          <p:cNvSpPr/>
          <p:nvPr/>
        </p:nvSpPr>
        <p:spPr>
          <a:xfrm>
            <a:off x="9897427" y="3320415"/>
            <a:ext cx="368177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Explore parameters that matter for tuning</a:t>
            </a:r>
            <a:endParaRPr b="0" i="0" sz="1750" u="none" cap="none" strike="noStrike"/>
          </a:p>
        </p:txBody>
      </p:sp>
      <p:sp>
        <p:nvSpPr>
          <p:cNvPr id="168" name="Google Shape;168;p17"/>
          <p:cNvSpPr/>
          <p:nvPr/>
        </p:nvSpPr>
        <p:spPr>
          <a:xfrm>
            <a:off x="793790" y="4734282"/>
            <a:ext cx="6407944" cy="1679019"/>
          </a:xfrm>
          <a:prstGeom prst="roundRect">
            <a:avLst>
              <a:gd fmla="val 8714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93790" y="4703802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3657540" y="439412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1614" y="4598194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1051084" y="5301258"/>
            <a:ext cx="346805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Python Implementation</a:t>
            </a:r>
            <a:endParaRPr b="0" i="0" sz="2550" u="none" cap="none" strike="noStrike"/>
          </a:p>
        </p:txBody>
      </p:sp>
      <p:sp>
        <p:nvSpPr>
          <p:cNvPr id="173" name="Google Shape;173;p17"/>
          <p:cNvSpPr/>
          <p:nvPr/>
        </p:nvSpPr>
        <p:spPr>
          <a:xfrm>
            <a:off x="1051084" y="5861209"/>
            <a:ext cx="589335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Implement AdaBoost using scikit-learn</a:t>
            </a:r>
            <a:endParaRPr b="0" i="0" sz="1750" u="none" cap="none" strike="noStrike"/>
          </a:p>
        </p:txBody>
      </p:sp>
      <p:sp>
        <p:nvSpPr>
          <p:cNvPr id="174" name="Google Shape;174;p17"/>
          <p:cNvSpPr/>
          <p:nvPr/>
        </p:nvSpPr>
        <p:spPr>
          <a:xfrm>
            <a:off x="7428548" y="4734282"/>
            <a:ext cx="6407944" cy="1679019"/>
          </a:xfrm>
          <a:prstGeom prst="roundRect">
            <a:avLst>
              <a:gd fmla="val 8714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7428548" y="4703802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10292298" y="439412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96371" y="4598194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/>
          <p:nvPr/>
        </p:nvSpPr>
        <p:spPr>
          <a:xfrm>
            <a:off x="7685842" y="530125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Evaluate &amp; Discuss</a:t>
            </a:r>
            <a:endParaRPr b="0" i="0" sz="2550" u="none" cap="none" strike="noStrike"/>
          </a:p>
        </p:txBody>
      </p:sp>
      <p:sp>
        <p:nvSpPr>
          <p:cNvPr id="179" name="Google Shape;179;p17"/>
          <p:cNvSpPr/>
          <p:nvPr/>
        </p:nvSpPr>
        <p:spPr>
          <a:xfrm>
            <a:off x="7685842" y="5861209"/>
            <a:ext cx="589335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Assess results and understand limitations</a:t>
            </a:r>
            <a:endParaRPr b="0" i="0" sz="1750" u="none" cap="none" strike="noStrike"/>
          </a:p>
        </p:txBody>
      </p:sp>
      <p:sp>
        <p:nvSpPr>
          <p:cNvPr id="180" name="Google Shape;180;p17"/>
          <p:cNvSpPr/>
          <p:nvPr/>
        </p:nvSpPr>
        <p:spPr>
          <a:xfrm>
            <a:off x="793790" y="6668453"/>
            <a:ext cx="13042821" cy="895707"/>
          </a:xfrm>
          <a:prstGeom prst="roundRect">
            <a:avLst>
              <a:gd fmla="val 10636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0604" y="6982063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1530906" y="6951940"/>
            <a:ext cx="1207889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Hands-on practice is included inside the module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reinforce your learning at every step.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793790" y="1082993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Before We Start</a:t>
            </a:r>
            <a:endParaRPr b="0" i="0" sz="5100" u="none" cap="none" strike="noStrike"/>
          </a:p>
        </p:txBody>
      </p:sp>
      <p:sp>
        <p:nvSpPr>
          <p:cNvPr id="189" name="Google Shape;189;p18"/>
          <p:cNvSpPr/>
          <p:nvPr/>
        </p:nvSpPr>
        <p:spPr>
          <a:xfrm>
            <a:off x="793790" y="2497693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FF954F"/>
                </a:solidFill>
                <a:latin typeface="Marcellus"/>
                <a:ea typeface="Marcellus"/>
                <a:cs typeface="Marcellus"/>
                <a:sym typeface="Marcellus"/>
              </a:rPr>
              <a:t>✓ You Already Know</a:t>
            </a:r>
            <a:endParaRPr b="0" i="0" sz="3050" u="none" cap="none" strike="noStrike"/>
          </a:p>
        </p:txBody>
      </p:sp>
      <p:sp>
        <p:nvSpPr>
          <p:cNvPr id="190" name="Google Shape;190;p18"/>
          <p:cNvSpPr/>
          <p:nvPr/>
        </p:nvSpPr>
        <p:spPr>
          <a:xfrm>
            <a:off x="793790" y="3233023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Decision Trees: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How they split data and make predictions</a:t>
            </a:r>
            <a:endParaRPr b="0" i="0" sz="175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793790" y="3901916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Accuracy, confusion matrices, and basic metrics</a:t>
            </a:r>
            <a:endParaRPr b="0" i="0" sz="1750" u="none" cap="none" strike="noStrike"/>
          </a:p>
        </p:txBody>
      </p:sp>
      <p:sp>
        <p:nvSpPr>
          <p:cNvPr id="192" name="Google Shape;192;p18"/>
          <p:cNvSpPr/>
          <p:nvPr/>
        </p:nvSpPr>
        <p:spPr>
          <a:xfrm>
            <a:off x="793790" y="4570809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Python Basics: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Working with libraries like scikit-learn</a:t>
            </a:r>
            <a:endParaRPr b="0" i="0" sz="1750" u="none" cap="none" strike="noStrike"/>
          </a:p>
        </p:txBody>
      </p:sp>
      <p:sp>
        <p:nvSpPr>
          <p:cNvPr id="193" name="Google Shape;193;p18"/>
          <p:cNvSpPr/>
          <p:nvPr/>
        </p:nvSpPr>
        <p:spPr>
          <a:xfrm>
            <a:off x="7599521" y="2497693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7D3E2C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7D3E2C"/>
                </a:solidFill>
                <a:latin typeface="Marcellus"/>
                <a:ea typeface="Marcellus"/>
                <a:cs typeface="Marcellus"/>
                <a:sym typeface="Marcellus"/>
              </a:rPr>
              <a:t>✗ You Do NOT Need</a:t>
            </a:r>
            <a:endParaRPr b="0" i="0" sz="3050" u="none" cap="none" strike="noStrike"/>
          </a:p>
        </p:txBody>
      </p:sp>
      <p:sp>
        <p:nvSpPr>
          <p:cNvPr id="194" name="Google Shape;194;p18"/>
          <p:cNvSpPr/>
          <p:nvPr/>
        </p:nvSpPr>
        <p:spPr>
          <a:xfrm>
            <a:off x="7599521" y="3233023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Advanced mathematical background or proofs</a:t>
            </a:r>
            <a:endParaRPr b="0" i="0" sz="1750" u="none" cap="none" strike="noStrike"/>
          </a:p>
        </p:txBody>
      </p:sp>
      <p:sp>
        <p:nvSpPr>
          <p:cNvPr id="195" name="Google Shape;195;p18"/>
          <p:cNvSpPr/>
          <p:nvPr/>
        </p:nvSpPr>
        <p:spPr>
          <a:xfrm>
            <a:off x="7599521" y="3607118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Deep learning or neural network experience</a:t>
            </a:r>
            <a:endParaRPr b="0" i="0" sz="1750" u="none" cap="none" strike="noStrike"/>
          </a:p>
        </p:txBody>
      </p:sp>
      <p:sp>
        <p:nvSpPr>
          <p:cNvPr id="196" name="Google Shape;196;p18"/>
          <p:cNvSpPr/>
          <p:nvPr/>
        </p:nvSpPr>
        <p:spPr>
          <a:xfrm>
            <a:off x="7599521" y="3981212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Complex statistical theory</a:t>
            </a:r>
            <a:endParaRPr b="0" i="0" sz="1750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793790" y="5608234"/>
            <a:ext cx="13042821" cy="35957"/>
          </a:xfrm>
          <a:prstGeom prst="rect">
            <a:avLst/>
          </a:prstGeom>
          <a:solidFill>
            <a:srgbClr val="67534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1133951" y="6154460"/>
            <a:ext cx="12702659" cy="73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Confidence Builder:</a:t>
            </a:r>
            <a:r>
              <a:rPr b="0" i="0" lang="en-US" sz="2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If you understood Random Forest, you can absolutely handle AdaBoost. Let's dive in!</a:t>
            </a:r>
            <a:endParaRPr b="0" i="0" sz="2200" u="none" cap="none" strike="noStrike"/>
          </a:p>
        </p:txBody>
      </p:sp>
      <p:sp>
        <p:nvSpPr>
          <p:cNvPr id="199" name="Google Shape;199;p18"/>
          <p:cNvSpPr/>
          <p:nvPr/>
        </p:nvSpPr>
        <p:spPr>
          <a:xfrm>
            <a:off x="793790" y="5899309"/>
            <a:ext cx="30480" cy="1247299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
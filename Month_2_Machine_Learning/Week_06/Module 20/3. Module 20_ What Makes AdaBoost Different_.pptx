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8229600" cx="14630400"/>
  <p:notesSz cx="8229600" cy="14630400"/>
  <p:embeddedFontLst>
    <p:embeddedFont>
      <p:font typeface="Marcellus"/>
      <p:regular r:id="rId13"/>
    </p:embeddedFont>
    <p:embeddedFont>
      <p:font typeface="Montserrat"/>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Marcellus-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7" name="Shape 37"/>
        <p:cNvGrpSpPr/>
        <p:nvPr/>
      </p:nvGrpSpPr>
      <p:grpSpPr>
        <a:xfrm>
          <a:off x="0" y="0"/>
          <a:ext cx="0" cy="0"/>
          <a:chOff x="0" y="0"/>
          <a:chExt cx="0" cy="0"/>
        </a:xfrm>
      </p:grpSpPr>
      <p:sp>
        <p:nvSpPr>
          <p:cNvPr id="38" name="Google Shape;38;p11"/>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1"/>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40" name="Shape 40"/>
        <p:cNvGrpSpPr/>
        <p:nvPr/>
      </p:nvGrpSpPr>
      <p:grpSpPr>
        <a:xfrm>
          <a:off x="0" y="0"/>
          <a:ext cx="0" cy="0"/>
          <a:chOff x="0" y="0"/>
          <a:chExt cx="0" cy="0"/>
        </a:xfrm>
      </p:grpSpPr>
      <p:sp>
        <p:nvSpPr>
          <p:cNvPr id="41" name="Google Shape;41;p12"/>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2"/>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3" name="Shape 4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8.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pic>
        <p:nvPicPr>
          <p:cNvPr descr="preencoded.png" id="49" name="Google Shape;49;p14"/>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sp>
        <p:nvSpPr>
          <p:cNvPr id="50" name="Google Shape;50;p14"/>
          <p:cNvSpPr/>
          <p:nvPr/>
        </p:nvSpPr>
        <p:spPr>
          <a:xfrm>
            <a:off x="793790" y="1977271"/>
            <a:ext cx="7556421" cy="1695450"/>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What Makes AdaBoost Different?</a:t>
            </a:r>
            <a:endParaRPr b="0" i="0" sz="5100" u="none" cap="none" strike="noStrike"/>
          </a:p>
        </p:txBody>
      </p:sp>
      <p:sp>
        <p:nvSpPr>
          <p:cNvPr id="51" name="Google Shape;51;p14"/>
          <p:cNvSpPr/>
          <p:nvPr/>
        </p:nvSpPr>
        <p:spPr>
          <a:xfrm>
            <a:off x="793790" y="4012883"/>
            <a:ext cx="7556421" cy="11791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AdaBoost stands apart as a boosting algorithm that transforms its approach during training. Unlike static methods, it dynamically adjusts its focus based on performance, giving increasingly more attention to samples that prove challenging to classify correctly.</a:t>
            </a:r>
            <a:endParaRPr b="0" i="0" sz="1750" u="none" cap="none" strike="noStrike"/>
          </a:p>
        </p:txBody>
      </p:sp>
      <p:sp>
        <p:nvSpPr>
          <p:cNvPr id="52" name="Google Shape;52;p14"/>
          <p:cNvSpPr/>
          <p:nvPr/>
        </p:nvSpPr>
        <p:spPr>
          <a:xfrm>
            <a:off x="1133951" y="5702379"/>
            <a:ext cx="7216259" cy="294799"/>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AdaBoost adapts while learning.</a:t>
            </a:r>
            <a:endParaRPr b="0" i="0" sz="1750" u="none" cap="none" strike="noStrike"/>
          </a:p>
        </p:txBody>
      </p:sp>
      <p:sp>
        <p:nvSpPr>
          <p:cNvPr id="53" name="Google Shape;53;p14"/>
          <p:cNvSpPr/>
          <p:nvPr/>
        </p:nvSpPr>
        <p:spPr>
          <a:xfrm>
            <a:off x="793790" y="5447228"/>
            <a:ext cx="30480" cy="805101"/>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5"/>
          <p:cNvSpPr/>
          <p:nvPr/>
        </p:nvSpPr>
        <p:spPr>
          <a:xfrm>
            <a:off x="793790" y="1656517"/>
            <a:ext cx="10252829" cy="847725"/>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What Does "Adaptive" Mean Here?</a:t>
            </a:r>
            <a:endParaRPr b="0" i="0" sz="5100" u="none" cap="none" strike="noStrike"/>
          </a:p>
        </p:txBody>
      </p:sp>
      <p:sp>
        <p:nvSpPr>
          <p:cNvPr id="60" name="Google Shape;60;p15"/>
          <p:cNvSpPr/>
          <p:nvPr/>
        </p:nvSpPr>
        <p:spPr>
          <a:xfrm>
            <a:off x="793790" y="3071217"/>
            <a:ext cx="3912751" cy="508516"/>
          </a:xfrm>
          <a:prstGeom prst="rect">
            <a:avLst/>
          </a:prstGeom>
          <a:noFill/>
          <a:ln>
            <a:noFill/>
          </a:ln>
        </p:spPr>
        <p:txBody>
          <a:bodyPr anchorCtr="0" anchor="t" bIns="0" lIns="0" spcFirstLastPara="1" rIns="0" wrap="square" tIns="0">
            <a:noAutofit/>
          </a:bodyPr>
          <a:lstStyle/>
          <a:p>
            <a:pPr indent="0" lvl="0" marL="0" marR="0" rtl="0" algn="l">
              <a:lnSpc>
                <a:spcPct val="131147"/>
              </a:lnSpc>
              <a:spcBef>
                <a:spcPts val="0"/>
              </a:spcBef>
              <a:spcAft>
                <a:spcPts val="0"/>
              </a:spcAft>
              <a:buClr>
                <a:srgbClr val="532418"/>
              </a:buClr>
              <a:buSzPts val="3050"/>
              <a:buFont typeface="Marcellus"/>
              <a:buNone/>
            </a:pPr>
            <a:r>
              <a:rPr b="0" i="0" lang="en-US" sz="3050" u="none" cap="none" strike="noStrike">
                <a:solidFill>
                  <a:srgbClr val="532418"/>
                </a:solidFill>
                <a:latin typeface="Marcellus"/>
                <a:ea typeface="Marcellus"/>
                <a:cs typeface="Marcellus"/>
                <a:sym typeface="Marcellus"/>
              </a:rPr>
              <a:t>The Core Principle</a:t>
            </a:r>
            <a:endParaRPr b="0" i="0" sz="3050" u="none" cap="none" strike="noStrike"/>
          </a:p>
        </p:txBody>
      </p:sp>
      <p:sp>
        <p:nvSpPr>
          <p:cNvPr id="61" name="Google Shape;61;p15"/>
          <p:cNvSpPr/>
          <p:nvPr/>
        </p:nvSpPr>
        <p:spPr>
          <a:xfrm>
            <a:off x="793790" y="3806547"/>
            <a:ext cx="6244709" cy="11791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In AdaBoost, not all training samples carry equal weight. The algorithm actively tracks which samples are being misclassified and strategically increases their importance in subsequent training rounds.</a:t>
            </a:r>
            <a:endParaRPr b="0" i="0" sz="1750" u="none" cap="none" strike="noStrike"/>
          </a:p>
        </p:txBody>
      </p:sp>
      <p:sp>
        <p:nvSpPr>
          <p:cNvPr id="62" name="Google Shape;62;p15"/>
          <p:cNvSpPr/>
          <p:nvPr/>
        </p:nvSpPr>
        <p:spPr>
          <a:xfrm>
            <a:off x="793790" y="5189815"/>
            <a:ext cx="6244709" cy="117919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Each new model in the sequence receives a modified version of the training data where previously misclassified samples demand more attention-forcing the algorithm to learn from its mistakes.</a:t>
            </a:r>
            <a:endParaRPr b="0" i="0" sz="1750" u="none" cap="none" strike="noStrike"/>
          </a:p>
        </p:txBody>
      </p:sp>
      <p:sp>
        <p:nvSpPr>
          <p:cNvPr id="63" name="Google Shape;63;p15"/>
          <p:cNvSpPr/>
          <p:nvPr/>
        </p:nvSpPr>
        <p:spPr>
          <a:xfrm>
            <a:off x="7599521" y="3071217"/>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FF954F"/>
              </a:buClr>
              <a:buSzPts val="2550"/>
              <a:buFont typeface="Marcellus"/>
              <a:buNone/>
            </a:pPr>
            <a:r>
              <a:rPr b="0" i="0" lang="en-US" sz="2550" u="none" cap="none" strike="noStrike">
                <a:solidFill>
                  <a:srgbClr val="FF954F"/>
                </a:solidFill>
                <a:latin typeface="Marcellus"/>
                <a:ea typeface="Marcellus"/>
                <a:cs typeface="Marcellus"/>
                <a:sym typeface="Marcellus"/>
              </a:rPr>
              <a:t>Key Insight</a:t>
            </a:r>
            <a:endParaRPr b="0" i="0" sz="2550" u="none" cap="none" strike="noStrike"/>
          </a:p>
        </p:txBody>
      </p:sp>
      <p:sp>
        <p:nvSpPr>
          <p:cNvPr id="64" name="Google Shape;64;p15"/>
          <p:cNvSpPr/>
          <p:nvPr/>
        </p:nvSpPr>
        <p:spPr>
          <a:xfrm>
            <a:off x="7599521" y="3721894"/>
            <a:ext cx="6244709" cy="58959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Mistakes get extra attention-this is how the ensemble grows stronger with each iteration.</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p:nvPr/>
        </p:nvSpPr>
        <p:spPr>
          <a:xfrm>
            <a:off x="763429" y="741998"/>
            <a:ext cx="9861947" cy="815221"/>
          </a:xfrm>
          <a:prstGeom prst="rect">
            <a:avLst/>
          </a:prstGeom>
          <a:noFill/>
          <a:ln>
            <a:noFill/>
          </a:ln>
        </p:spPr>
        <p:txBody>
          <a:bodyPr anchorCtr="0" anchor="t" bIns="0" lIns="0" spcFirstLastPara="1" rIns="0" wrap="square" tIns="0">
            <a:noAutofit/>
          </a:bodyPr>
          <a:lstStyle/>
          <a:p>
            <a:pPr indent="0" lvl="0" marL="0" marR="0" rtl="0" algn="l">
              <a:lnSpc>
                <a:spcPct val="130612"/>
              </a:lnSpc>
              <a:spcBef>
                <a:spcPts val="0"/>
              </a:spcBef>
              <a:spcAft>
                <a:spcPts val="0"/>
              </a:spcAft>
              <a:buClr>
                <a:srgbClr val="532418"/>
              </a:buClr>
              <a:buSzPts val="4900"/>
              <a:buFont typeface="Marcellus"/>
              <a:buNone/>
            </a:pPr>
            <a:r>
              <a:rPr b="0" i="0" lang="en-US" sz="4900" u="none" cap="none" strike="noStrike">
                <a:solidFill>
                  <a:srgbClr val="532418"/>
                </a:solidFill>
                <a:latin typeface="Marcellus"/>
                <a:ea typeface="Marcellus"/>
                <a:cs typeface="Marcellus"/>
                <a:sym typeface="Marcellus"/>
              </a:rPr>
              <a:t>How AdaBoost Learns Step by Step</a:t>
            </a:r>
            <a:endParaRPr b="0" i="0" sz="4900" u="none" cap="none" strike="noStrike"/>
          </a:p>
        </p:txBody>
      </p:sp>
      <p:pic>
        <p:nvPicPr>
          <p:cNvPr descr="preencoded.png" id="71" name="Google Shape;71;p16"/>
          <p:cNvPicPr preferRelativeResize="0"/>
          <p:nvPr/>
        </p:nvPicPr>
        <p:blipFill rotWithShape="1">
          <a:blip r:embed="rId3">
            <a:alphaModFix/>
          </a:blip>
          <a:srcRect b="0" l="0" r="0" t="0"/>
          <a:stretch/>
        </p:blipFill>
        <p:spPr>
          <a:xfrm>
            <a:off x="763429" y="1917025"/>
            <a:ext cx="218123" cy="218123"/>
          </a:xfrm>
          <a:prstGeom prst="rect">
            <a:avLst/>
          </a:prstGeom>
          <a:noFill/>
          <a:ln>
            <a:noFill/>
          </a:ln>
        </p:spPr>
      </p:pic>
      <p:sp>
        <p:nvSpPr>
          <p:cNvPr id="72" name="Google Shape;72;p16"/>
          <p:cNvSpPr/>
          <p:nvPr/>
        </p:nvSpPr>
        <p:spPr>
          <a:xfrm>
            <a:off x="763429" y="2235518"/>
            <a:ext cx="6442710" cy="30480"/>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6"/>
          <p:cNvSpPr/>
          <p:nvPr/>
        </p:nvSpPr>
        <p:spPr>
          <a:xfrm>
            <a:off x="763429" y="2405539"/>
            <a:ext cx="3135749" cy="407670"/>
          </a:xfrm>
          <a:prstGeom prst="rect">
            <a:avLst/>
          </a:prstGeom>
          <a:noFill/>
          <a:ln>
            <a:noFill/>
          </a:ln>
        </p:spPr>
        <p:txBody>
          <a:bodyPr anchorCtr="0" anchor="t" bIns="0" lIns="0" spcFirstLastPara="1" rIns="0" wrap="square" tIns="0">
            <a:noAutofit/>
          </a:bodyPr>
          <a:lstStyle/>
          <a:p>
            <a:pPr indent="0" lvl="0" marL="0" marR="0" rtl="0" algn="l">
              <a:lnSpc>
                <a:spcPct val="130612"/>
              </a:lnSpc>
              <a:spcBef>
                <a:spcPts val="0"/>
              </a:spcBef>
              <a:spcAft>
                <a:spcPts val="0"/>
              </a:spcAft>
              <a:buClr>
                <a:srgbClr val="67534F"/>
              </a:buClr>
              <a:buSzPts val="2450"/>
              <a:buFont typeface="Marcellus"/>
              <a:buNone/>
            </a:pPr>
            <a:r>
              <a:rPr b="0" i="0" lang="en-US" sz="2450" u="none" cap="none" strike="noStrike">
                <a:solidFill>
                  <a:srgbClr val="67534F"/>
                </a:solidFill>
                <a:latin typeface="Marcellus"/>
                <a:ea typeface="Marcellus"/>
                <a:cs typeface="Marcellus"/>
                <a:sym typeface="Marcellus"/>
              </a:rPr>
              <a:t>Train a Weak Learner</a:t>
            </a:r>
            <a:endParaRPr b="0" i="0" sz="2450" u="none" cap="none" strike="noStrike"/>
          </a:p>
        </p:txBody>
      </p:sp>
      <p:sp>
        <p:nvSpPr>
          <p:cNvPr id="74" name="Google Shape;74;p16"/>
          <p:cNvSpPr/>
          <p:nvPr/>
        </p:nvSpPr>
        <p:spPr>
          <a:xfrm>
            <a:off x="763429" y="2944058"/>
            <a:ext cx="6442710" cy="8504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1700"/>
              <a:buFont typeface="Montserrat"/>
              <a:buNone/>
            </a:pPr>
            <a:r>
              <a:rPr b="0" i="0" lang="en-US" sz="1700" u="none" cap="none" strike="noStrike">
                <a:solidFill>
                  <a:srgbClr val="67534F"/>
                </a:solidFill>
                <a:latin typeface="Montserrat"/>
                <a:ea typeface="Montserrat"/>
                <a:cs typeface="Montserrat"/>
                <a:sym typeface="Montserrat"/>
              </a:rPr>
              <a:t>Start by training a simple model on the current version of the training data, where all samples initially have equal weight.</a:t>
            </a:r>
            <a:endParaRPr b="0" i="0" sz="1700" u="none" cap="none" strike="noStrike"/>
          </a:p>
        </p:txBody>
      </p:sp>
      <p:pic>
        <p:nvPicPr>
          <p:cNvPr descr="preencoded.png" id="75" name="Google Shape;75;p16"/>
          <p:cNvPicPr preferRelativeResize="0"/>
          <p:nvPr/>
        </p:nvPicPr>
        <p:blipFill rotWithShape="1">
          <a:blip r:embed="rId4">
            <a:alphaModFix/>
          </a:blip>
          <a:srcRect b="0" l="0" r="0" t="0"/>
          <a:stretch/>
        </p:blipFill>
        <p:spPr>
          <a:xfrm>
            <a:off x="7424261" y="1917025"/>
            <a:ext cx="218123" cy="218123"/>
          </a:xfrm>
          <a:prstGeom prst="rect">
            <a:avLst/>
          </a:prstGeom>
          <a:noFill/>
          <a:ln>
            <a:noFill/>
          </a:ln>
        </p:spPr>
      </p:pic>
      <p:sp>
        <p:nvSpPr>
          <p:cNvPr id="76" name="Google Shape;76;p16"/>
          <p:cNvSpPr/>
          <p:nvPr/>
        </p:nvSpPr>
        <p:spPr>
          <a:xfrm>
            <a:off x="7424261" y="2235518"/>
            <a:ext cx="6442710" cy="30480"/>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6"/>
          <p:cNvSpPr/>
          <p:nvPr/>
        </p:nvSpPr>
        <p:spPr>
          <a:xfrm>
            <a:off x="7424261" y="2405539"/>
            <a:ext cx="3135749" cy="407670"/>
          </a:xfrm>
          <a:prstGeom prst="rect">
            <a:avLst/>
          </a:prstGeom>
          <a:noFill/>
          <a:ln>
            <a:noFill/>
          </a:ln>
        </p:spPr>
        <p:txBody>
          <a:bodyPr anchorCtr="0" anchor="t" bIns="0" lIns="0" spcFirstLastPara="1" rIns="0" wrap="square" tIns="0">
            <a:noAutofit/>
          </a:bodyPr>
          <a:lstStyle/>
          <a:p>
            <a:pPr indent="0" lvl="0" marL="0" marR="0" rtl="0" algn="l">
              <a:lnSpc>
                <a:spcPct val="130612"/>
              </a:lnSpc>
              <a:spcBef>
                <a:spcPts val="0"/>
              </a:spcBef>
              <a:spcAft>
                <a:spcPts val="0"/>
              </a:spcAft>
              <a:buClr>
                <a:srgbClr val="67534F"/>
              </a:buClr>
              <a:buSzPts val="2450"/>
              <a:buFont typeface="Marcellus"/>
              <a:buNone/>
            </a:pPr>
            <a:r>
              <a:rPr b="0" i="0" lang="en-US" sz="2450" u="none" cap="none" strike="noStrike">
                <a:solidFill>
                  <a:srgbClr val="67534F"/>
                </a:solidFill>
                <a:latin typeface="Marcellus"/>
                <a:ea typeface="Marcellus"/>
                <a:cs typeface="Marcellus"/>
                <a:sym typeface="Marcellus"/>
              </a:rPr>
              <a:t>Identify Mistakes</a:t>
            </a:r>
            <a:endParaRPr b="0" i="0" sz="2450" u="none" cap="none" strike="noStrike"/>
          </a:p>
        </p:txBody>
      </p:sp>
      <p:sp>
        <p:nvSpPr>
          <p:cNvPr id="78" name="Google Shape;78;p16"/>
          <p:cNvSpPr/>
          <p:nvPr/>
        </p:nvSpPr>
        <p:spPr>
          <a:xfrm>
            <a:off x="7424261" y="2944058"/>
            <a:ext cx="6442710" cy="566976"/>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1700"/>
              <a:buFont typeface="Montserrat"/>
              <a:buNone/>
            </a:pPr>
            <a:r>
              <a:rPr b="0" i="0" lang="en-US" sz="1700" u="none" cap="none" strike="noStrike">
                <a:solidFill>
                  <a:srgbClr val="67534F"/>
                </a:solidFill>
                <a:latin typeface="Montserrat"/>
                <a:ea typeface="Montserrat"/>
                <a:cs typeface="Montserrat"/>
                <a:sym typeface="Montserrat"/>
              </a:rPr>
              <a:t>Evaluate the learner's predictions and carefully identify which training samples were misclassified.</a:t>
            </a:r>
            <a:endParaRPr b="0" i="0" sz="1700" u="none" cap="none" strike="noStrike"/>
          </a:p>
        </p:txBody>
      </p:sp>
      <p:pic>
        <p:nvPicPr>
          <p:cNvPr descr="preencoded.png" id="79" name="Google Shape;79;p16"/>
          <p:cNvPicPr preferRelativeResize="0"/>
          <p:nvPr/>
        </p:nvPicPr>
        <p:blipFill rotWithShape="1">
          <a:blip r:embed="rId5">
            <a:alphaModFix/>
          </a:blip>
          <a:srcRect b="0" l="0" r="0" t="0"/>
          <a:stretch/>
        </p:blipFill>
        <p:spPr>
          <a:xfrm>
            <a:off x="763429" y="4208859"/>
            <a:ext cx="218123" cy="218123"/>
          </a:xfrm>
          <a:prstGeom prst="rect">
            <a:avLst/>
          </a:prstGeom>
          <a:noFill/>
          <a:ln>
            <a:noFill/>
          </a:ln>
        </p:spPr>
      </p:pic>
      <p:sp>
        <p:nvSpPr>
          <p:cNvPr id="80" name="Google Shape;80;p16"/>
          <p:cNvSpPr/>
          <p:nvPr/>
        </p:nvSpPr>
        <p:spPr>
          <a:xfrm>
            <a:off x="763429" y="4527352"/>
            <a:ext cx="6442710" cy="30480"/>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763429" y="4697373"/>
            <a:ext cx="3135749" cy="407670"/>
          </a:xfrm>
          <a:prstGeom prst="rect">
            <a:avLst/>
          </a:prstGeom>
          <a:noFill/>
          <a:ln>
            <a:noFill/>
          </a:ln>
        </p:spPr>
        <p:txBody>
          <a:bodyPr anchorCtr="0" anchor="t" bIns="0" lIns="0" spcFirstLastPara="1" rIns="0" wrap="square" tIns="0">
            <a:noAutofit/>
          </a:bodyPr>
          <a:lstStyle/>
          <a:p>
            <a:pPr indent="0" lvl="0" marL="0" marR="0" rtl="0" algn="l">
              <a:lnSpc>
                <a:spcPct val="130612"/>
              </a:lnSpc>
              <a:spcBef>
                <a:spcPts val="0"/>
              </a:spcBef>
              <a:spcAft>
                <a:spcPts val="0"/>
              </a:spcAft>
              <a:buClr>
                <a:srgbClr val="67534F"/>
              </a:buClr>
              <a:buSzPts val="2450"/>
              <a:buFont typeface="Marcellus"/>
              <a:buNone/>
            </a:pPr>
            <a:r>
              <a:rPr b="0" i="0" lang="en-US" sz="2450" u="none" cap="none" strike="noStrike">
                <a:solidFill>
                  <a:srgbClr val="67534F"/>
                </a:solidFill>
                <a:latin typeface="Marcellus"/>
                <a:ea typeface="Marcellus"/>
                <a:cs typeface="Marcellus"/>
                <a:sym typeface="Marcellus"/>
              </a:rPr>
              <a:t>Increase Importance</a:t>
            </a:r>
            <a:endParaRPr b="0" i="0" sz="2450" u="none" cap="none" strike="noStrike"/>
          </a:p>
        </p:txBody>
      </p:sp>
      <p:sp>
        <p:nvSpPr>
          <p:cNvPr id="82" name="Google Shape;82;p16"/>
          <p:cNvSpPr/>
          <p:nvPr/>
        </p:nvSpPr>
        <p:spPr>
          <a:xfrm>
            <a:off x="763429" y="5235892"/>
            <a:ext cx="6442710" cy="566976"/>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1700"/>
              <a:buFont typeface="Montserrat"/>
              <a:buNone/>
            </a:pPr>
            <a:r>
              <a:rPr b="0" i="0" lang="en-US" sz="1700" u="none" cap="none" strike="noStrike">
                <a:solidFill>
                  <a:srgbClr val="67534F"/>
                </a:solidFill>
                <a:latin typeface="Montserrat"/>
                <a:ea typeface="Montserrat"/>
                <a:cs typeface="Montserrat"/>
                <a:sym typeface="Montserrat"/>
              </a:rPr>
              <a:t>Boost the weights of misclassified samples, making them more influential in the next training round.</a:t>
            </a:r>
            <a:endParaRPr b="0" i="0" sz="1700" u="none" cap="none" strike="noStrike"/>
          </a:p>
        </p:txBody>
      </p:sp>
      <p:sp>
        <p:nvSpPr>
          <p:cNvPr id="83" name="Google Shape;83;p16"/>
          <p:cNvSpPr/>
          <p:nvPr/>
        </p:nvSpPr>
        <p:spPr>
          <a:xfrm>
            <a:off x="763429" y="5933718"/>
            <a:ext cx="6442710" cy="283488"/>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SzPts val="1700"/>
              <a:buFont typeface="Arial"/>
              <a:buNone/>
            </a:pPr>
            <a:r>
              <a:t/>
            </a:r>
            <a:endParaRPr b="0" i="0" sz="1700" u="none" cap="none" strike="noStrike"/>
          </a:p>
        </p:txBody>
      </p:sp>
      <p:pic>
        <p:nvPicPr>
          <p:cNvPr descr="preencoded.png" id="84" name="Google Shape;84;p16"/>
          <p:cNvPicPr preferRelativeResize="0"/>
          <p:nvPr/>
        </p:nvPicPr>
        <p:blipFill rotWithShape="1">
          <a:blip r:embed="rId6">
            <a:alphaModFix/>
          </a:blip>
          <a:srcRect b="0" l="0" r="0" t="0"/>
          <a:stretch/>
        </p:blipFill>
        <p:spPr>
          <a:xfrm>
            <a:off x="7424261" y="4208859"/>
            <a:ext cx="218123" cy="218123"/>
          </a:xfrm>
          <a:prstGeom prst="rect">
            <a:avLst/>
          </a:prstGeom>
          <a:noFill/>
          <a:ln>
            <a:noFill/>
          </a:ln>
        </p:spPr>
      </p:pic>
      <p:sp>
        <p:nvSpPr>
          <p:cNvPr id="85" name="Google Shape;85;p16"/>
          <p:cNvSpPr/>
          <p:nvPr/>
        </p:nvSpPr>
        <p:spPr>
          <a:xfrm>
            <a:off x="7424261" y="4527352"/>
            <a:ext cx="6442710" cy="30480"/>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7424261" y="4697373"/>
            <a:ext cx="3135749" cy="407670"/>
          </a:xfrm>
          <a:prstGeom prst="rect">
            <a:avLst/>
          </a:prstGeom>
          <a:noFill/>
          <a:ln>
            <a:noFill/>
          </a:ln>
        </p:spPr>
        <p:txBody>
          <a:bodyPr anchorCtr="0" anchor="t" bIns="0" lIns="0" spcFirstLastPara="1" rIns="0" wrap="square" tIns="0">
            <a:noAutofit/>
          </a:bodyPr>
          <a:lstStyle/>
          <a:p>
            <a:pPr indent="0" lvl="0" marL="0" marR="0" rtl="0" algn="l">
              <a:lnSpc>
                <a:spcPct val="130612"/>
              </a:lnSpc>
              <a:spcBef>
                <a:spcPts val="0"/>
              </a:spcBef>
              <a:spcAft>
                <a:spcPts val="0"/>
              </a:spcAft>
              <a:buClr>
                <a:srgbClr val="67534F"/>
              </a:buClr>
              <a:buSzPts val="2450"/>
              <a:buFont typeface="Marcellus"/>
              <a:buNone/>
            </a:pPr>
            <a:r>
              <a:rPr b="0" i="0" lang="en-US" sz="2450" u="none" cap="none" strike="noStrike">
                <a:solidFill>
                  <a:srgbClr val="67534F"/>
                </a:solidFill>
                <a:latin typeface="Marcellus"/>
                <a:ea typeface="Marcellus"/>
                <a:cs typeface="Marcellus"/>
                <a:sym typeface="Marcellus"/>
              </a:rPr>
              <a:t>Train Next Learner</a:t>
            </a:r>
            <a:endParaRPr b="0" i="0" sz="2450" u="none" cap="none" strike="noStrike"/>
          </a:p>
        </p:txBody>
      </p:sp>
      <p:sp>
        <p:nvSpPr>
          <p:cNvPr id="87" name="Google Shape;87;p16"/>
          <p:cNvSpPr/>
          <p:nvPr/>
        </p:nvSpPr>
        <p:spPr>
          <a:xfrm>
            <a:off x="7424261" y="5235892"/>
            <a:ext cx="6442710" cy="566976"/>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1700"/>
              <a:buFont typeface="Montserrat"/>
              <a:buNone/>
            </a:pPr>
            <a:r>
              <a:rPr b="0" i="0" lang="en-US" sz="1700" u="none" cap="none" strike="noStrike">
                <a:solidFill>
                  <a:srgbClr val="67534F"/>
                </a:solidFill>
                <a:latin typeface="Montserrat"/>
                <a:ea typeface="Montserrat"/>
                <a:cs typeface="Montserrat"/>
                <a:sym typeface="Montserrat"/>
              </a:rPr>
              <a:t>Train a new weak learner with the updated sample weights, forcing it to focus on previously difficult cases.</a:t>
            </a:r>
            <a:endParaRPr b="0" i="0" sz="1700" u="none" cap="none" strike="noStrike"/>
          </a:p>
        </p:txBody>
      </p:sp>
      <p:sp>
        <p:nvSpPr>
          <p:cNvPr id="88" name="Google Shape;88;p16"/>
          <p:cNvSpPr/>
          <p:nvPr/>
        </p:nvSpPr>
        <p:spPr>
          <a:xfrm>
            <a:off x="763429" y="6626185"/>
            <a:ext cx="13103543" cy="861417"/>
          </a:xfrm>
          <a:prstGeom prst="roundRect">
            <a:avLst>
              <a:gd fmla="val 10636" name="adj"/>
            </a:avLst>
          </a:prstGeom>
          <a:solidFill>
            <a:srgbClr val="FFD1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 name="Google Shape;89;p16"/>
          <p:cNvPicPr preferRelativeResize="0"/>
          <p:nvPr/>
        </p:nvPicPr>
        <p:blipFill rotWithShape="1">
          <a:blip r:embed="rId7">
            <a:alphaModFix/>
          </a:blip>
          <a:srcRect b="0" l="0" r="0" t="0"/>
          <a:stretch/>
        </p:blipFill>
        <p:spPr>
          <a:xfrm>
            <a:off x="981551" y="6928961"/>
            <a:ext cx="272653" cy="218123"/>
          </a:xfrm>
          <a:prstGeom prst="rect">
            <a:avLst/>
          </a:prstGeom>
          <a:noFill/>
          <a:ln>
            <a:noFill/>
          </a:ln>
        </p:spPr>
      </p:pic>
      <p:sp>
        <p:nvSpPr>
          <p:cNvPr id="90" name="Google Shape;90;p16"/>
          <p:cNvSpPr/>
          <p:nvPr/>
        </p:nvSpPr>
        <p:spPr>
          <a:xfrm>
            <a:off x="1472327" y="6898838"/>
            <a:ext cx="12176522" cy="283488"/>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000000"/>
              </a:buClr>
              <a:buSzPts val="1700"/>
              <a:buFont typeface="Montserrat"/>
              <a:buNone/>
            </a:pPr>
            <a:r>
              <a:rPr b="1" i="0" lang="en-US" sz="1700" u="none" cap="none" strike="noStrike">
                <a:solidFill>
                  <a:srgbClr val="000000"/>
                </a:solidFill>
                <a:latin typeface="Montserrat"/>
                <a:ea typeface="Montserrat"/>
                <a:cs typeface="Montserrat"/>
                <a:sym typeface="Montserrat"/>
              </a:rPr>
              <a:t>Each round learns from the previous one</a:t>
            </a:r>
            <a:r>
              <a:rPr b="0" i="0" lang="en-US" sz="1700" u="none" cap="none" strike="noStrike">
                <a:solidFill>
                  <a:srgbClr val="000000"/>
                </a:solidFill>
                <a:latin typeface="Montserrat"/>
                <a:ea typeface="Montserrat"/>
                <a:cs typeface="Montserrat"/>
                <a:sym typeface="Montserrat"/>
              </a:rPr>
              <a:t>-this iterative refinement is what gives AdaBoost its adaptive power.</a:t>
            </a:r>
            <a:endParaRPr b="0" i="0" sz="17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p:nvPr/>
        </p:nvSpPr>
        <p:spPr>
          <a:xfrm>
            <a:off x="793790" y="1321713"/>
            <a:ext cx="6521291" cy="847725"/>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Sample Weights</a:t>
            </a:r>
            <a:endParaRPr b="0" i="0" sz="5100" u="none" cap="none" strike="noStrike"/>
          </a:p>
        </p:txBody>
      </p:sp>
      <p:sp>
        <p:nvSpPr>
          <p:cNvPr id="97" name="Google Shape;97;p17"/>
          <p:cNvSpPr/>
          <p:nvPr/>
        </p:nvSpPr>
        <p:spPr>
          <a:xfrm>
            <a:off x="793790" y="2260163"/>
            <a:ext cx="4090868"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FF954F"/>
              </a:buClr>
              <a:buSzPts val="2550"/>
              <a:buFont typeface="Marcellus"/>
              <a:buNone/>
            </a:pPr>
            <a:r>
              <a:rPr b="0" i="0" lang="en-US" sz="2550" u="none" cap="none" strike="noStrike">
                <a:solidFill>
                  <a:srgbClr val="FF954F"/>
                </a:solidFill>
                <a:latin typeface="Marcellus"/>
                <a:ea typeface="Marcellus"/>
                <a:cs typeface="Marcellus"/>
                <a:sym typeface="Marcellus"/>
              </a:rPr>
              <a:t>Understanding the Intuition</a:t>
            </a:r>
            <a:endParaRPr b="0" i="0" sz="2550" u="none" cap="none" strike="noStrike"/>
          </a:p>
        </p:txBody>
      </p:sp>
      <p:sp>
        <p:nvSpPr>
          <p:cNvPr id="98" name="Google Shape;98;p17"/>
          <p:cNvSpPr/>
          <p:nvPr/>
        </p:nvSpPr>
        <p:spPr>
          <a:xfrm>
            <a:off x="793790" y="3024188"/>
            <a:ext cx="510302" cy="510302"/>
          </a:xfrm>
          <a:prstGeom prst="roundRect">
            <a:avLst>
              <a:gd fmla="val 18669" name="adj"/>
            </a:avLst>
          </a:prstGeom>
          <a:solidFill>
            <a:srgbClr val="FFFFF4"/>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7"/>
          <p:cNvSpPr/>
          <p:nvPr/>
        </p:nvSpPr>
        <p:spPr>
          <a:xfrm>
            <a:off x="1530906" y="3095030"/>
            <a:ext cx="3421499" cy="847725"/>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Every Sample Has a Weight</a:t>
            </a:r>
            <a:endParaRPr b="0" i="0" sz="2550" u="none" cap="none" strike="noStrike"/>
          </a:p>
        </p:txBody>
      </p:sp>
      <p:sp>
        <p:nvSpPr>
          <p:cNvPr id="100" name="Google Shape;100;p17"/>
          <p:cNvSpPr/>
          <p:nvPr/>
        </p:nvSpPr>
        <p:spPr>
          <a:xfrm>
            <a:off x="1530906" y="4078843"/>
            <a:ext cx="3421499" cy="14739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Think of weights as volume controls for each training example. Initially, all samples start with equal weight, giving them equal influence.</a:t>
            </a:r>
            <a:endParaRPr b="0" i="0" sz="1750" u="none" cap="none" strike="noStrike"/>
          </a:p>
        </p:txBody>
      </p:sp>
      <p:sp>
        <p:nvSpPr>
          <p:cNvPr id="101" name="Google Shape;101;p17"/>
          <p:cNvSpPr/>
          <p:nvPr/>
        </p:nvSpPr>
        <p:spPr>
          <a:xfrm>
            <a:off x="5235893" y="3024188"/>
            <a:ext cx="510302" cy="510302"/>
          </a:xfrm>
          <a:prstGeom prst="roundRect">
            <a:avLst>
              <a:gd fmla="val 18669" name="adj"/>
            </a:avLst>
          </a:prstGeom>
          <a:solidFill>
            <a:srgbClr val="FFFFF4"/>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7"/>
          <p:cNvSpPr/>
          <p:nvPr/>
        </p:nvSpPr>
        <p:spPr>
          <a:xfrm>
            <a:off x="5973008" y="3095030"/>
            <a:ext cx="3421499" cy="847725"/>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Higher Weight Means More Importance</a:t>
            </a:r>
            <a:endParaRPr b="0" i="0" sz="2550" u="none" cap="none" strike="noStrike"/>
          </a:p>
        </p:txBody>
      </p:sp>
      <p:sp>
        <p:nvSpPr>
          <p:cNvPr id="103" name="Google Shape;103;p17"/>
          <p:cNvSpPr/>
          <p:nvPr/>
        </p:nvSpPr>
        <p:spPr>
          <a:xfrm>
            <a:off x="5973008" y="4078843"/>
            <a:ext cx="3421499" cy="176879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When a sample's weight increases, the algorithm treats it as if it appeared multiple times in the dataset, forcing models to pay more attention to getting it right.</a:t>
            </a:r>
            <a:endParaRPr b="0" i="0" sz="1750" u="none" cap="none" strike="noStrike"/>
          </a:p>
        </p:txBody>
      </p:sp>
      <p:sp>
        <p:nvSpPr>
          <p:cNvPr id="104" name="Google Shape;104;p17"/>
          <p:cNvSpPr/>
          <p:nvPr/>
        </p:nvSpPr>
        <p:spPr>
          <a:xfrm>
            <a:off x="9677995" y="3024188"/>
            <a:ext cx="510302" cy="510302"/>
          </a:xfrm>
          <a:prstGeom prst="roundRect">
            <a:avLst>
              <a:gd fmla="val 18669" name="adj"/>
            </a:avLst>
          </a:prstGeom>
          <a:solidFill>
            <a:srgbClr val="FFFFF4"/>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p:nvPr/>
        </p:nvSpPr>
        <p:spPr>
          <a:xfrm>
            <a:off x="10415111" y="3095030"/>
            <a:ext cx="3421499" cy="847725"/>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Misclassified Samples Get Higher Weights</a:t>
            </a:r>
            <a:endParaRPr b="0" i="0" sz="2550" u="none" cap="none" strike="noStrike"/>
          </a:p>
        </p:txBody>
      </p:sp>
      <p:sp>
        <p:nvSpPr>
          <p:cNvPr id="106" name="Google Shape;106;p17"/>
          <p:cNvSpPr/>
          <p:nvPr/>
        </p:nvSpPr>
        <p:spPr>
          <a:xfrm>
            <a:off x="10415111" y="4078843"/>
            <a:ext cx="3421499" cy="176879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After each round, samples that were incorrectly predicted receive weight increases, while correctly classified samples may have their weights decreased.</a:t>
            </a:r>
            <a:endParaRPr b="0" i="0" sz="1750" u="none" cap="none" strike="noStrike"/>
          </a:p>
        </p:txBody>
      </p:sp>
      <p:sp>
        <p:nvSpPr>
          <p:cNvPr id="107" name="Google Shape;107;p17"/>
          <p:cNvSpPr/>
          <p:nvPr/>
        </p:nvSpPr>
        <p:spPr>
          <a:xfrm>
            <a:off x="1133951" y="6357938"/>
            <a:ext cx="12702659" cy="294799"/>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Hard samples shout louder in the next round.</a:t>
            </a:r>
            <a:endParaRPr b="0" i="0" sz="1750" u="none" cap="none" strike="noStrike"/>
          </a:p>
        </p:txBody>
      </p:sp>
      <p:sp>
        <p:nvSpPr>
          <p:cNvPr id="108" name="Google Shape;108;p17"/>
          <p:cNvSpPr/>
          <p:nvPr/>
        </p:nvSpPr>
        <p:spPr>
          <a:xfrm>
            <a:off x="793790" y="6102787"/>
            <a:ext cx="30480" cy="805101"/>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8"/>
          <p:cNvSpPr/>
          <p:nvPr/>
        </p:nvSpPr>
        <p:spPr>
          <a:xfrm>
            <a:off x="640794" y="504230"/>
            <a:ext cx="5264348" cy="684371"/>
          </a:xfrm>
          <a:prstGeom prst="rect">
            <a:avLst/>
          </a:prstGeom>
          <a:noFill/>
          <a:ln>
            <a:noFill/>
          </a:ln>
        </p:spPr>
        <p:txBody>
          <a:bodyPr anchorCtr="0" anchor="t" bIns="0" lIns="0" spcFirstLastPara="1" rIns="0" wrap="square" tIns="0">
            <a:noAutofit/>
          </a:bodyPr>
          <a:lstStyle/>
          <a:p>
            <a:pPr indent="0" lvl="0" marL="0" marR="0" rtl="0" algn="l">
              <a:lnSpc>
                <a:spcPct val="130487"/>
              </a:lnSpc>
              <a:spcBef>
                <a:spcPts val="0"/>
              </a:spcBef>
              <a:spcAft>
                <a:spcPts val="0"/>
              </a:spcAft>
              <a:buClr>
                <a:srgbClr val="532418"/>
              </a:buClr>
              <a:buSzPts val="4100"/>
              <a:buFont typeface="Marcellus"/>
              <a:buNone/>
            </a:pPr>
            <a:r>
              <a:rPr b="0" i="0" lang="en-US" sz="4100" u="none" cap="none" strike="noStrike">
                <a:solidFill>
                  <a:srgbClr val="532418"/>
                </a:solidFill>
                <a:latin typeface="Marcellus"/>
                <a:ea typeface="Marcellus"/>
                <a:cs typeface="Marcellus"/>
                <a:sym typeface="Marcellus"/>
              </a:rPr>
              <a:t>Building the Ensemble</a:t>
            </a:r>
            <a:endParaRPr b="0" i="0" sz="4100" u="none" cap="none" strike="noStrike"/>
          </a:p>
        </p:txBody>
      </p:sp>
      <p:pic>
        <p:nvPicPr>
          <p:cNvPr descr="preencoded.png" id="115" name="Google Shape;115;p18"/>
          <p:cNvPicPr preferRelativeResize="0"/>
          <p:nvPr/>
        </p:nvPicPr>
        <p:blipFill rotWithShape="1">
          <a:blip r:embed="rId3">
            <a:alphaModFix/>
          </a:blip>
          <a:srcRect b="0" l="0" r="0" t="0"/>
          <a:stretch/>
        </p:blipFill>
        <p:spPr>
          <a:xfrm>
            <a:off x="640800" y="1554726"/>
            <a:ext cx="8041727" cy="5695076"/>
          </a:xfrm>
          <a:prstGeom prst="rect">
            <a:avLst/>
          </a:prstGeom>
          <a:noFill/>
          <a:ln>
            <a:noFill/>
          </a:ln>
        </p:spPr>
      </p:pic>
      <p:sp>
        <p:nvSpPr>
          <p:cNvPr id="116" name="Google Shape;116;p18"/>
          <p:cNvSpPr txBox="1"/>
          <p:nvPr/>
        </p:nvSpPr>
        <p:spPr>
          <a:xfrm>
            <a:off x="9279125" y="1576200"/>
            <a:ext cx="4710600" cy="4899000"/>
          </a:xfrm>
          <a:prstGeom prst="rect">
            <a:avLst/>
          </a:prstGeom>
          <a:noFill/>
          <a:ln>
            <a:noFill/>
          </a:ln>
        </p:spPr>
        <p:txBody>
          <a:bodyPr anchorCtr="0" anchor="t" bIns="91425" lIns="91425" spcFirstLastPara="1" rIns="91425" wrap="square" tIns="91425">
            <a:noAutofit/>
          </a:bodyPr>
          <a:lstStyle/>
          <a:p>
            <a:pPr indent="0" lvl="0" marL="0" rtl="0" algn="l">
              <a:lnSpc>
                <a:spcPct val="132142"/>
              </a:lnSpc>
              <a:spcBef>
                <a:spcPts val="0"/>
              </a:spcBef>
              <a:spcAft>
                <a:spcPts val="0"/>
              </a:spcAft>
              <a:buClr>
                <a:srgbClr val="67534F"/>
              </a:buClr>
              <a:buSzPts val="1400"/>
              <a:buFont typeface="Montserrat"/>
              <a:buNone/>
            </a:pPr>
            <a:r>
              <a:rPr lang="en-US" sz="1700">
                <a:solidFill>
                  <a:srgbClr val="67534F"/>
                </a:solidFill>
                <a:latin typeface="Montserrat"/>
                <a:ea typeface="Montserrat"/>
                <a:cs typeface="Montserrat"/>
                <a:sym typeface="Montserrat"/>
              </a:rPr>
              <a:t>This visualization illustrates the AdaBoost process in action. It starts with an initial dataset, which is used to train Weak Learner #1. The dataset is then reweighted, emphasizing misclassified samples (notice the circled misclassified point gets more emphasis), before training Weak Learner #2 on this adjusted data. This iterative process continues, with each weak learner focusing on the mistakes of its predecessors. Finally, these weak learners are combined into a strong learner, leading to better overall predictions.</a:t>
            </a:r>
            <a:endParaRPr sz="1700">
              <a:solidFill>
                <a:schemeClr val="dk1"/>
              </a:solidFill>
            </a:endParaRPr>
          </a:p>
          <a:p>
            <a:pPr indent="0" lvl="0" marL="0" rtl="0" algn="l">
              <a:spcBef>
                <a:spcPts val="0"/>
              </a:spcBef>
              <a:spcAft>
                <a:spcPts val="0"/>
              </a:spcAft>
              <a:buNone/>
            </a:pPr>
            <a:r>
              <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p:nvPr/>
        </p:nvSpPr>
        <p:spPr>
          <a:xfrm>
            <a:off x="667702" y="524589"/>
            <a:ext cx="5485090" cy="713065"/>
          </a:xfrm>
          <a:prstGeom prst="rect">
            <a:avLst/>
          </a:prstGeom>
          <a:noFill/>
          <a:ln>
            <a:noFill/>
          </a:ln>
        </p:spPr>
        <p:txBody>
          <a:bodyPr anchorCtr="0" anchor="t" bIns="0" lIns="0" spcFirstLastPara="1" rIns="0" wrap="square" tIns="0">
            <a:noAutofit/>
          </a:bodyPr>
          <a:lstStyle/>
          <a:p>
            <a:pPr indent="0" lvl="0" marL="0" marR="0" rtl="0" algn="l">
              <a:lnSpc>
                <a:spcPct val="130232"/>
              </a:lnSpc>
              <a:spcBef>
                <a:spcPts val="0"/>
              </a:spcBef>
              <a:spcAft>
                <a:spcPts val="0"/>
              </a:spcAft>
              <a:buClr>
                <a:srgbClr val="532418"/>
              </a:buClr>
              <a:buSzPts val="4300"/>
              <a:buFont typeface="Marcellus"/>
              <a:buNone/>
            </a:pPr>
            <a:r>
              <a:rPr b="0" i="0" lang="en-US" sz="4300" u="none" cap="none" strike="noStrike">
                <a:solidFill>
                  <a:srgbClr val="532418"/>
                </a:solidFill>
                <a:latin typeface="Marcellus"/>
                <a:ea typeface="Marcellus"/>
                <a:cs typeface="Marcellus"/>
                <a:sym typeface="Marcellus"/>
              </a:rPr>
              <a:t>Weighted Voting</a:t>
            </a:r>
            <a:endParaRPr b="0" i="0" sz="4300" u="none" cap="none" strike="noStrike"/>
          </a:p>
        </p:txBody>
      </p:sp>
      <p:sp>
        <p:nvSpPr>
          <p:cNvPr id="123" name="Google Shape;123;p19"/>
          <p:cNvSpPr/>
          <p:nvPr/>
        </p:nvSpPr>
        <p:spPr>
          <a:xfrm>
            <a:off x="667702" y="1313855"/>
            <a:ext cx="3989546" cy="356354"/>
          </a:xfrm>
          <a:prstGeom prst="rect">
            <a:avLst/>
          </a:prstGeom>
          <a:noFill/>
          <a:ln>
            <a:noFill/>
          </a:ln>
        </p:spPr>
        <p:txBody>
          <a:bodyPr anchorCtr="0" anchor="t" bIns="0" lIns="0" spcFirstLastPara="1" rIns="0" wrap="square" tIns="0">
            <a:noAutofit/>
          </a:bodyPr>
          <a:lstStyle/>
          <a:p>
            <a:pPr indent="0" lvl="0" marL="0" marR="0" rtl="0" algn="l">
              <a:lnSpc>
                <a:spcPct val="130232"/>
              </a:lnSpc>
              <a:spcBef>
                <a:spcPts val="0"/>
              </a:spcBef>
              <a:spcAft>
                <a:spcPts val="0"/>
              </a:spcAft>
              <a:buClr>
                <a:srgbClr val="532418"/>
              </a:buClr>
              <a:buSzPts val="2150"/>
              <a:buFont typeface="Marcellus"/>
              <a:buNone/>
            </a:pPr>
            <a:r>
              <a:rPr b="0" i="0" lang="en-US" sz="2150" u="none" cap="none" strike="noStrike">
                <a:solidFill>
                  <a:srgbClr val="532418"/>
                </a:solidFill>
                <a:latin typeface="Marcellus"/>
                <a:ea typeface="Marcellus"/>
                <a:cs typeface="Marcellus"/>
                <a:sym typeface="Marcellus"/>
              </a:rPr>
              <a:t>How Final Predictions Are Made</a:t>
            </a:r>
            <a:endParaRPr b="0" i="0" sz="2150" u="none" cap="none" strike="noStrike"/>
          </a:p>
        </p:txBody>
      </p:sp>
      <p:sp>
        <p:nvSpPr>
          <p:cNvPr id="124" name="Google Shape;124;p19"/>
          <p:cNvSpPr/>
          <p:nvPr/>
        </p:nvSpPr>
        <p:spPr>
          <a:xfrm>
            <a:off x="667702" y="1746409"/>
            <a:ext cx="3486864" cy="427792"/>
          </a:xfrm>
          <a:prstGeom prst="rect">
            <a:avLst/>
          </a:prstGeom>
          <a:noFill/>
          <a:ln>
            <a:noFill/>
          </a:ln>
        </p:spPr>
        <p:txBody>
          <a:bodyPr anchorCtr="0" anchor="t" bIns="0" lIns="0" spcFirstLastPara="1" rIns="0" wrap="square" tIns="0">
            <a:noAutofit/>
          </a:bodyPr>
          <a:lstStyle/>
          <a:p>
            <a:pPr indent="0" lvl="0" marL="0" marR="0" rtl="0" algn="l">
              <a:lnSpc>
                <a:spcPct val="131372"/>
              </a:lnSpc>
              <a:spcBef>
                <a:spcPts val="0"/>
              </a:spcBef>
              <a:spcAft>
                <a:spcPts val="0"/>
              </a:spcAft>
              <a:buClr>
                <a:srgbClr val="532418"/>
              </a:buClr>
              <a:buSzPts val="2550"/>
              <a:buFont typeface="Marcellus"/>
              <a:buNone/>
            </a:pPr>
            <a:r>
              <a:rPr b="0" i="0" lang="en-US" sz="2550" u="none" cap="none" strike="noStrike">
                <a:solidFill>
                  <a:srgbClr val="532418"/>
                </a:solidFill>
                <a:latin typeface="Marcellus"/>
                <a:ea typeface="Marcellus"/>
                <a:cs typeface="Marcellus"/>
                <a:sym typeface="Marcellus"/>
              </a:rPr>
              <a:t>Not All Votes Are Equal</a:t>
            </a:r>
            <a:endParaRPr b="0" i="0" sz="2550" u="none" cap="none" strike="noStrike"/>
          </a:p>
        </p:txBody>
      </p:sp>
      <p:sp>
        <p:nvSpPr>
          <p:cNvPr id="125" name="Google Shape;125;p19"/>
          <p:cNvSpPr/>
          <p:nvPr/>
        </p:nvSpPr>
        <p:spPr>
          <a:xfrm>
            <a:off x="667702" y="2460308"/>
            <a:ext cx="13294995" cy="495776"/>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7534F"/>
              </a:buClr>
              <a:buSzPts val="1500"/>
              <a:buFont typeface="Montserrat"/>
              <a:buNone/>
            </a:pPr>
            <a:r>
              <a:rPr b="0" i="0" lang="en-US" sz="1500" u="none" cap="none" strike="noStrike">
                <a:solidFill>
                  <a:srgbClr val="67534F"/>
                </a:solidFill>
                <a:latin typeface="Montserrat"/>
                <a:ea typeface="Montserrat"/>
                <a:cs typeface="Montserrat"/>
                <a:sym typeface="Montserrat"/>
              </a:rPr>
              <a:t>When making a final prediction, AdaBoost doesn't simply count votes from each weak learner. Instead, it uses a weighted voting system where more accurate learners have greater influence on the outcome.</a:t>
            </a:r>
            <a:endParaRPr b="0" i="0" sz="1500" u="none" cap="none" strike="noStrike"/>
          </a:p>
        </p:txBody>
      </p:sp>
      <p:pic>
        <p:nvPicPr>
          <p:cNvPr descr="preencoded.png" id="126" name="Google Shape;126;p19"/>
          <p:cNvPicPr preferRelativeResize="0"/>
          <p:nvPr/>
        </p:nvPicPr>
        <p:blipFill rotWithShape="1">
          <a:blip r:embed="rId3">
            <a:alphaModFix/>
          </a:blip>
          <a:srcRect b="0" l="0" r="0" t="0"/>
          <a:stretch/>
        </p:blipFill>
        <p:spPr>
          <a:xfrm>
            <a:off x="667700" y="3385175"/>
            <a:ext cx="7988498" cy="4561725"/>
          </a:xfrm>
          <a:prstGeom prst="rect">
            <a:avLst/>
          </a:prstGeom>
          <a:noFill/>
          <a:ln>
            <a:noFill/>
          </a:ln>
        </p:spPr>
      </p:pic>
      <p:sp>
        <p:nvSpPr>
          <p:cNvPr id="127" name="Google Shape;127;p19"/>
          <p:cNvSpPr/>
          <p:nvPr/>
        </p:nvSpPr>
        <p:spPr>
          <a:xfrm>
            <a:off x="9472775" y="4291150"/>
            <a:ext cx="4400700" cy="991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67534F"/>
              </a:buClr>
              <a:buSzPts val="1500"/>
              <a:buFont typeface="Montserrat"/>
              <a:buNone/>
            </a:pPr>
            <a:r>
              <a:rPr b="0" i="0" lang="en-US" sz="1500" u="none" cap="none" strike="noStrike">
                <a:solidFill>
                  <a:srgbClr val="67534F"/>
                </a:solidFill>
                <a:latin typeface="Montserrat"/>
                <a:ea typeface="Montserrat"/>
                <a:cs typeface="Montserrat"/>
                <a:sym typeface="Montserrat"/>
              </a:rPr>
              <a:t>Each weak learner receives a voting weight based on its training accuracy. Models that perform better on their respective weighted datasets earn higher voting power in the final ensemble decision.</a:t>
            </a:r>
            <a:endParaRPr b="0" i="0" sz="1500" u="none" cap="none" strike="noStrike"/>
          </a:p>
        </p:txBody>
      </p:sp>
      <p:sp>
        <p:nvSpPr>
          <p:cNvPr id="128" name="Google Shape;128;p19"/>
          <p:cNvSpPr/>
          <p:nvPr/>
        </p:nvSpPr>
        <p:spPr>
          <a:xfrm>
            <a:off x="9472775" y="6441947"/>
            <a:ext cx="4400700" cy="49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954F"/>
              </a:buClr>
              <a:buSzPts val="1500"/>
              <a:buFont typeface="Montserrat"/>
              <a:buNone/>
            </a:pPr>
            <a:r>
              <a:rPr b="1" i="0" lang="en-US" sz="1500" u="none" cap="none" strike="noStrike">
                <a:solidFill>
                  <a:srgbClr val="FF954F"/>
                </a:solidFill>
                <a:latin typeface="Montserrat"/>
                <a:ea typeface="Montserrat"/>
                <a:cs typeface="Montserrat"/>
                <a:sym typeface="Montserrat"/>
              </a:rPr>
              <a:t>Final prediction is a weighted vote, not a simple vote.</a:t>
            </a:r>
            <a:endParaRPr b="0" i="0" sz="1500" u="none" cap="none" strike="noStrike"/>
          </a:p>
        </p:txBody>
      </p:sp>
      <p:sp>
        <p:nvSpPr>
          <p:cNvPr id="129" name="Google Shape;129;p19"/>
          <p:cNvSpPr/>
          <p:nvPr/>
        </p:nvSpPr>
        <p:spPr>
          <a:xfrm>
            <a:off x="667702" y="7836217"/>
            <a:ext cx="13294995" cy="247888"/>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SzPts val="1500"/>
              <a:buFont typeface="Arial"/>
              <a:buNone/>
            </a:pPr>
            <a:r>
              <a:t/>
            </a:r>
            <a:endParaRPr b="0" i="0" sz="15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p:nvPr/>
        </p:nvSpPr>
        <p:spPr>
          <a:xfrm>
            <a:off x="793790" y="759738"/>
            <a:ext cx="7551539" cy="847725"/>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Common Misconceptions</a:t>
            </a:r>
            <a:endParaRPr b="0" i="0" sz="5100" u="none" cap="none" strike="noStrike"/>
          </a:p>
        </p:txBody>
      </p:sp>
      <p:sp>
        <p:nvSpPr>
          <p:cNvPr id="136" name="Google Shape;136;p20"/>
          <p:cNvSpPr/>
          <p:nvPr/>
        </p:nvSpPr>
        <p:spPr>
          <a:xfrm>
            <a:off x="793790" y="1698188"/>
            <a:ext cx="4006691"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7D3E2C"/>
              </a:buClr>
              <a:buSzPts val="2550"/>
              <a:buFont typeface="Marcellus"/>
              <a:buNone/>
            </a:pPr>
            <a:r>
              <a:rPr b="0" i="0" lang="en-US" sz="2550" u="none" cap="none" strike="noStrike">
                <a:solidFill>
                  <a:srgbClr val="7D3E2C"/>
                </a:solidFill>
                <a:latin typeface="Marcellus"/>
                <a:ea typeface="Marcellus"/>
                <a:cs typeface="Marcellus"/>
                <a:sym typeface="Marcellus"/>
              </a:rPr>
              <a:t>Setting the Record Straight</a:t>
            </a:r>
            <a:endParaRPr b="0" i="0" sz="2550" u="none" cap="none" strike="noStrike"/>
          </a:p>
        </p:txBody>
      </p:sp>
      <p:sp>
        <p:nvSpPr>
          <p:cNvPr id="137" name="Google Shape;137;p20"/>
          <p:cNvSpPr/>
          <p:nvPr/>
        </p:nvSpPr>
        <p:spPr>
          <a:xfrm>
            <a:off x="793790" y="2462213"/>
            <a:ext cx="4196358" cy="3561993"/>
          </a:xfrm>
          <a:prstGeom prst="roundRect">
            <a:avLst>
              <a:gd fmla="val 4107" name="adj"/>
            </a:avLst>
          </a:prstGeom>
          <a:solidFill>
            <a:srgbClr val="FFFFF4">
              <a:alpha val="94901"/>
            </a:srgbClr>
          </a:solidFill>
          <a:ln cap="flat" cmpd="sng" w="30475">
            <a:solidFill>
              <a:srgbClr val="FF95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0"/>
          <p:cNvSpPr/>
          <p:nvPr/>
        </p:nvSpPr>
        <p:spPr>
          <a:xfrm>
            <a:off x="763310" y="2462213"/>
            <a:ext cx="121920" cy="3561993"/>
          </a:xfrm>
          <a:prstGeom prst="roundRect">
            <a:avLst>
              <a:gd fmla="val 78139"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0"/>
          <p:cNvSpPr/>
          <p:nvPr/>
        </p:nvSpPr>
        <p:spPr>
          <a:xfrm>
            <a:off x="1142524" y="2719507"/>
            <a:ext cx="3590330" cy="847725"/>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000000"/>
              </a:buClr>
              <a:buSzPts val="2550"/>
              <a:buFont typeface="Marcellus"/>
              <a:buNone/>
            </a:pPr>
            <a:r>
              <a:rPr b="0" i="0" lang="en-US" sz="2550" u="none" cap="none" strike="noStrike">
                <a:solidFill>
                  <a:srgbClr val="000000"/>
                </a:solidFill>
                <a:latin typeface="Marcellus"/>
                <a:ea typeface="Marcellus"/>
                <a:cs typeface="Marcellus"/>
                <a:sym typeface="Marcellus"/>
              </a:rPr>
              <a:t>❌</a:t>
            </a:r>
            <a:r>
              <a:rPr b="0" i="0" lang="en-US" sz="2550" u="none" cap="none" strike="noStrike">
                <a:solidFill>
                  <a:srgbClr val="67534F"/>
                </a:solidFill>
                <a:latin typeface="Marcellus"/>
                <a:ea typeface="Marcellus"/>
                <a:cs typeface="Marcellus"/>
                <a:sym typeface="Marcellus"/>
              </a:rPr>
              <a:t> Weak Learners Are Useless</a:t>
            </a:r>
            <a:endParaRPr b="0" i="0" sz="2550" u="none" cap="none" strike="noStrike"/>
          </a:p>
        </p:txBody>
      </p:sp>
      <p:sp>
        <p:nvSpPr>
          <p:cNvPr id="140" name="Google Shape;140;p20"/>
          <p:cNvSpPr/>
          <p:nvPr/>
        </p:nvSpPr>
        <p:spPr>
          <a:xfrm>
            <a:off x="1142524" y="3703320"/>
            <a:ext cx="3590330" cy="2063591"/>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1" i="0" lang="en-US" sz="1750" u="none" cap="none" strike="noStrike">
                <a:solidFill>
                  <a:srgbClr val="67534F"/>
                </a:solidFill>
                <a:latin typeface="Montserrat"/>
                <a:ea typeface="Montserrat"/>
                <a:cs typeface="Montserrat"/>
                <a:sym typeface="Montserrat"/>
              </a:rPr>
              <a:t>Reality:</a:t>
            </a:r>
            <a:r>
              <a:rPr b="0" i="0" lang="en-US" sz="1750" u="none" cap="none" strike="noStrike">
                <a:solidFill>
                  <a:srgbClr val="67534F"/>
                </a:solidFill>
                <a:latin typeface="Montserrat"/>
                <a:ea typeface="Montserrat"/>
                <a:cs typeface="Montserrat"/>
                <a:sym typeface="Montserrat"/>
              </a:rPr>
              <a:t> Weak learners are strategically simple, not ineffective. They provide focused improvements that combine into powerful predictions when properly weighted and sequenced.</a:t>
            </a:r>
            <a:endParaRPr b="0" i="0" sz="1750" u="none" cap="none" strike="noStrike"/>
          </a:p>
        </p:txBody>
      </p:sp>
      <p:sp>
        <p:nvSpPr>
          <p:cNvPr id="141" name="Google Shape;141;p20"/>
          <p:cNvSpPr/>
          <p:nvPr/>
        </p:nvSpPr>
        <p:spPr>
          <a:xfrm>
            <a:off x="5216962" y="2462213"/>
            <a:ext cx="4196358" cy="3561993"/>
          </a:xfrm>
          <a:prstGeom prst="roundRect">
            <a:avLst>
              <a:gd fmla="val 4107" name="adj"/>
            </a:avLst>
          </a:prstGeom>
          <a:solidFill>
            <a:srgbClr val="FFFFF4">
              <a:alpha val="94901"/>
            </a:srgbClr>
          </a:solidFill>
          <a:ln cap="flat" cmpd="sng" w="30475">
            <a:solidFill>
              <a:srgbClr val="CC52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0"/>
          <p:cNvSpPr/>
          <p:nvPr/>
        </p:nvSpPr>
        <p:spPr>
          <a:xfrm>
            <a:off x="5186482" y="2462213"/>
            <a:ext cx="121920" cy="3561993"/>
          </a:xfrm>
          <a:prstGeom prst="roundRect">
            <a:avLst>
              <a:gd fmla="val 78139" name="adj"/>
            </a:avLst>
          </a:prstGeom>
          <a:solidFill>
            <a:srgbClr val="CC52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0"/>
          <p:cNvSpPr/>
          <p:nvPr/>
        </p:nvSpPr>
        <p:spPr>
          <a:xfrm>
            <a:off x="5565696" y="2719507"/>
            <a:ext cx="3590330" cy="847725"/>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000000"/>
              </a:buClr>
              <a:buSzPts val="2550"/>
              <a:buFont typeface="Marcellus"/>
              <a:buNone/>
            </a:pPr>
            <a:r>
              <a:rPr b="0" i="0" lang="en-US" sz="2550" u="none" cap="none" strike="noStrike">
                <a:solidFill>
                  <a:srgbClr val="000000"/>
                </a:solidFill>
                <a:latin typeface="Marcellus"/>
                <a:ea typeface="Marcellus"/>
                <a:cs typeface="Marcellus"/>
                <a:sym typeface="Marcellus"/>
              </a:rPr>
              <a:t>❌</a:t>
            </a:r>
            <a:r>
              <a:rPr b="0" i="0" lang="en-US" sz="2550" u="none" cap="none" strike="noStrike">
                <a:solidFill>
                  <a:srgbClr val="67534F"/>
                </a:solidFill>
                <a:latin typeface="Marcellus"/>
                <a:ea typeface="Marcellus"/>
                <a:cs typeface="Marcellus"/>
                <a:sym typeface="Marcellus"/>
              </a:rPr>
              <a:t> More Learners Always Means Better</a:t>
            </a:r>
            <a:endParaRPr b="0" i="0" sz="2550" u="none" cap="none" strike="noStrike"/>
          </a:p>
        </p:txBody>
      </p:sp>
      <p:sp>
        <p:nvSpPr>
          <p:cNvPr id="144" name="Google Shape;144;p20"/>
          <p:cNvSpPr/>
          <p:nvPr/>
        </p:nvSpPr>
        <p:spPr>
          <a:xfrm>
            <a:off x="5565696" y="3703320"/>
            <a:ext cx="3590330" cy="1768793"/>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1" i="0" lang="en-US" sz="1750" u="none" cap="none" strike="noStrike">
                <a:solidFill>
                  <a:srgbClr val="67534F"/>
                </a:solidFill>
                <a:latin typeface="Montserrat"/>
                <a:ea typeface="Montserrat"/>
                <a:cs typeface="Montserrat"/>
                <a:sym typeface="Montserrat"/>
              </a:rPr>
              <a:t>Reality:</a:t>
            </a:r>
            <a:r>
              <a:rPr b="0" i="0" lang="en-US" sz="1750" u="none" cap="none" strike="noStrike">
                <a:solidFill>
                  <a:srgbClr val="67534F"/>
                </a:solidFill>
                <a:latin typeface="Montserrat"/>
                <a:ea typeface="Montserrat"/>
                <a:cs typeface="Montserrat"/>
                <a:sym typeface="Montserrat"/>
              </a:rPr>
              <a:t> Beyond a certain point, adding more weak learners provides diminishing returns and can lead to overfitting. The optimal number depends on your specific problem and data.</a:t>
            </a:r>
            <a:endParaRPr b="0" i="0" sz="1750" u="none" cap="none" strike="noStrike"/>
          </a:p>
        </p:txBody>
      </p:sp>
      <p:sp>
        <p:nvSpPr>
          <p:cNvPr id="145" name="Google Shape;145;p20"/>
          <p:cNvSpPr/>
          <p:nvPr/>
        </p:nvSpPr>
        <p:spPr>
          <a:xfrm>
            <a:off x="9640133" y="2462213"/>
            <a:ext cx="4196358" cy="3561993"/>
          </a:xfrm>
          <a:prstGeom prst="roundRect">
            <a:avLst>
              <a:gd fmla="val 4107" name="adj"/>
            </a:avLst>
          </a:prstGeom>
          <a:solidFill>
            <a:srgbClr val="FFFFF4">
              <a:alpha val="94901"/>
            </a:srgbClr>
          </a:solidFill>
          <a:ln cap="flat" cmpd="sng" w="30475">
            <a:solidFill>
              <a:srgbClr val="7D3E2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0"/>
          <p:cNvSpPr/>
          <p:nvPr/>
        </p:nvSpPr>
        <p:spPr>
          <a:xfrm>
            <a:off x="9609653" y="2462213"/>
            <a:ext cx="121920" cy="3561993"/>
          </a:xfrm>
          <a:prstGeom prst="roundRect">
            <a:avLst>
              <a:gd fmla="val 78139" name="adj"/>
            </a:avLst>
          </a:prstGeom>
          <a:solidFill>
            <a:srgbClr val="7D3E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0"/>
          <p:cNvSpPr/>
          <p:nvPr/>
        </p:nvSpPr>
        <p:spPr>
          <a:xfrm>
            <a:off x="9988868" y="2719507"/>
            <a:ext cx="3590330" cy="847725"/>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000000"/>
              </a:buClr>
              <a:buSzPts val="2550"/>
              <a:buFont typeface="Marcellus"/>
              <a:buNone/>
            </a:pPr>
            <a:r>
              <a:rPr b="0" i="0" lang="en-US" sz="2550" u="none" cap="none" strike="noStrike">
                <a:solidFill>
                  <a:srgbClr val="000000"/>
                </a:solidFill>
                <a:latin typeface="Marcellus"/>
                <a:ea typeface="Marcellus"/>
                <a:cs typeface="Marcellus"/>
                <a:sym typeface="Marcellus"/>
              </a:rPr>
              <a:t>❌</a:t>
            </a:r>
            <a:r>
              <a:rPr b="0" i="0" lang="en-US" sz="2550" u="none" cap="none" strike="noStrike">
                <a:solidFill>
                  <a:srgbClr val="67534F"/>
                </a:solidFill>
                <a:latin typeface="Marcellus"/>
                <a:ea typeface="Marcellus"/>
                <a:cs typeface="Marcellus"/>
                <a:sym typeface="Marcellus"/>
              </a:rPr>
              <a:t> AdaBoost Equals Random Forest</a:t>
            </a:r>
            <a:endParaRPr b="0" i="0" sz="2550" u="none" cap="none" strike="noStrike"/>
          </a:p>
        </p:txBody>
      </p:sp>
      <p:sp>
        <p:nvSpPr>
          <p:cNvPr id="148" name="Google Shape;148;p20"/>
          <p:cNvSpPr/>
          <p:nvPr/>
        </p:nvSpPr>
        <p:spPr>
          <a:xfrm>
            <a:off x="9988868" y="3703320"/>
            <a:ext cx="3590330" cy="2063591"/>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1" i="0" lang="en-US" sz="1750" u="none" cap="none" strike="noStrike">
                <a:solidFill>
                  <a:srgbClr val="67534F"/>
                </a:solidFill>
                <a:latin typeface="Montserrat"/>
                <a:ea typeface="Montserrat"/>
                <a:cs typeface="Montserrat"/>
                <a:sym typeface="Montserrat"/>
              </a:rPr>
              <a:t>Reality:</a:t>
            </a:r>
            <a:r>
              <a:rPr b="0" i="0" lang="en-US" sz="1750" u="none" cap="none" strike="noStrike">
                <a:solidFill>
                  <a:srgbClr val="67534F"/>
                </a:solidFill>
                <a:latin typeface="Montserrat"/>
                <a:ea typeface="Montserrat"/>
                <a:cs typeface="Montserrat"/>
                <a:sym typeface="Montserrat"/>
              </a:rPr>
              <a:t> Random Forest trains trees independently in parallel with bagging. AdaBoost trains learners sequentially, with each one influenced by previous mistakes-fundamentally different approaches.</a:t>
            </a:r>
            <a:endParaRPr b="0" i="0" sz="1750" u="none" cap="none" strike="noStrike"/>
          </a:p>
        </p:txBody>
      </p:sp>
      <p:sp>
        <p:nvSpPr>
          <p:cNvPr id="149" name="Google Shape;149;p20"/>
          <p:cNvSpPr/>
          <p:nvPr/>
        </p:nvSpPr>
        <p:spPr>
          <a:xfrm>
            <a:off x="793790" y="6279356"/>
            <a:ext cx="13042821" cy="1190506"/>
          </a:xfrm>
          <a:prstGeom prst="roundRect">
            <a:avLst>
              <a:gd fmla="val 8002" name="adj"/>
            </a:avLst>
          </a:prstGeom>
          <a:solidFill>
            <a:srgbClr val="FFD1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0" name="Google Shape;150;p20"/>
          <p:cNvPicPr preferRelativeResize="0"/>
          <p:nvPr/>
        </p:nvPicPr>
        <p:blipFill rotWithShape="1">
          <a:blip r:embed="rId3">
            <a:alphaModFix/>
          </a:blip>
          <a:srcRect b="0" l="0" r="0" t="0"/>
          <a:stretch/>
        </p:blipFill>
        <p:spPr>
          <a:xfrm>
            <a:off x="1020604" y="6592967"/>
            <a:ext cx="283488" cy="226814"/>
          </a:xfrm>
          <a:prstGeom prst="rect">
            <a:avLst/>
          </a:prstGeom>
          <a:noFill/>
          <a:ln>
            <a:noFill/>
          </a:ln>
        </p:spPr>
      </p:pic>
      <p:sp>
        <p:nvSpPr>
          <p:cNvPr id="151" name="Google Shape;151;p20"/>
          <p:cNvSpPr/>
          <p:nvPr/>
        </p:nvSpPr>
        <p:spPr>
          <a:xfrm>
            <a:off x="1530906" y="6562844"/>
            <a:ext cx="12078891"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000000"/>
              </a:buClr>
              <a:buSzPts val="1750"/>
              <a:buFont typeface="Montserrat"/>
              <a:buNone/>
            </a:pPr>
            <a:r>
              <a:rPr b="0" i="0" lang="en-US" sz="1750" u="none" cap="none" strike="noStrike">
                <a:solidFill>
                  <a:srgbClr val="000000"/>
                </a:solidFill>
                <a:latin typeface="Montserrat"/>
                <a:ea typeface="Montserrat"/>
                <a:cs typeface="Montserrat"/>
                <a:sym typeface="Montserrat"/>
              </a:rPr>
              <a:t>Misunderstanding these concepts leads to misuse. Understanding the differences helps you choose the right algorithm for your problem.</a:t>
            </a:r>
            <a:endParaRPr b="0" i="0" sz="17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1"/>
          <p:cNvSpPr/>
          <p:nvPr/>
        </p:nvSpPr>
        <p:spPr>
          <a:xfrm>
            <a:off x="793790" y="1243727"/>
            <a:ext cx="6521291" cy="847725"/>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Quick Concept Check</a:t>
            </a:r>
            <a:endParaRPr b="0" i="0" sz="5100" u="none" cap="none" strike="noStrike"/>
          </a:p>
        </p:txBody>
      </p:sp>
      <p:sp>
        <p:nvSpPr>
          <p:cNvPr id="158" name="Google Shape;158;p21"/>
          <p:cNvSpPr/>
          <p:nvPr/>
        </p:nvSpPr>
        <p:spPr>
          <a:xfrm>
            <a:off x="793790" y="2182177"/>
            <a:ext cx="3629858"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FF954F"/>
              </a:buClr>
              <a:buSzPts val="2550"/>
              <a:buFont typeface="Marcellus"/>
              <a:buNone/>
            </a:pPr>
            <a:r>
              <a:rPr b="0" i="0" lang="en-US" sz="2550" u="none" cap="none" strike="noStrike">
                <a:solidFill>
                  <a:srgbClr val="FF954F"/>
                </a:solidFill>
                <a:latin typeface="Marcellus"/>
                <a:ea typeface="Marcellus"/>
                <a:cs typeface="Marcellus"/>
                <a:sym typeface="Marcellus"/>
              </a:rPr>
              <a:t>Test Your Understanding</a:t>
            </a:r>
            <a:endParaRPr b="0" i="0" sz="2550" u="none" cap="none" strike="noStrike"/>
          </a:p>
        </p:txBody>
      </p:sp>
      <p:sp>
        <p:nvSpPr>
          <p:cNvPr id="159" name="Google Shape;159;p21"/>
          <p:cNvSpPr/>
          <p:nvPr/>
        </p:nvSpPr>
        <p:spPr>
          <a:xfrm>
            <a:off x="793790" y="2946202"/>
            <a:ext cx="4196358" cy="2684621"/>
          </a:xfrm>
          <a:prstGeom prst="roundRect">
            <a:avLst>
              <a:gd fmla="val 3549" name="adj"/>
            </a:avLst>
          </a:prstGeom>
          <a:solidFill>
            <a:srgbClr val="FFFFF4">
              <a:alpha val="94901"/>
            </a:srgbClr>
          </a:solidFill>
          <a:ln cap="flat" cmpd="sng" w="3047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1"/>
          <p:cNvSpPr/>
          <p:nvPr/>
        </p:nvSpPr>
        <p:spPr>
          <a:xfrm>
            <a:off x="1051084" y="3203496"/>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Question 1</a:t>
            </a:r>
            <a:endParaRPr b="0" i="0" sz="2550" u="none" cap="none" strike="noStrike"/>
          </a:p>
        </p:txBody>
      </p:sp>
      <p:sp>
        <p:nvSpPr>
          <p:cNvPr id="161" name="Google Shape;161;p21"/>
          <p:cNvSpPr/>
          <p:nvPr/>
        </p:nvSpPr>
        <p:spPr>
          <a:xfrm>
            <a:off x="1051084" y="3763447"/>
            <a:ext cx="3681770"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Does AdaBoost treat all samples equally throughout training?</a:t>
            </a:r>
            <a:endParaRPr b="0" i="0" sz="1750" u="none" cap="none" strike="noStrike"/>
          </a:p>
        </p:txBody>
      </p:sp>
      <p:sp>
        <p:nvSpPr>
          <p:cNvPr id="162" name="Google Shape;162;p21"/>
          <p:cNvSpPr/>
          <p:nvPr/>
        </p:nvSpPr>
        <p:spPr>
          <a:xfrm>
            <a:off x="1051084" y="4489133"/>
            <a:ext cx="3681770"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1" lang="en-US" sz="1750" u="none" cap="none" strike="noStrike">
                <a:solidFill>
                  <a:srgbClr val="67534F"/>
                </a:solidFill>
                <a:latin typeface="Montserrat"/>
                <a:ea typeface="Montserrat"/>
                <a:cs typeface="Montserrat"/>
                <a:sym typeface="Montserrat"/>
              </a:rPr>
              <a:t>Think about: sample weights and how they change</a:t>
            </a:r>
            <a:endParaRPr b="0" i="0" sz="1750" u="none" cap="none" strike="noStrike"/>
          </a:p>
        </p:txBody>
      </p:sp>
      <p:sp>
        <p:nvSpPr>
          <p:cNvPr id="163" name="Google Shape;163;p21"/>
          <p:cNvSpPr/>
          <p:nvPr/>
        </p:nvSpPr>
        <p:spPr>
          <a:xfrm>
            <a:off x="5216962" y="2946202"/>
            <a:ext cx="4196358" cy="2684621"/>
          </a:xfrm>
          <a:prstGeom prst="roundRect">
            <a:avLst>
              <a:gd fmla="val 3549" name="adj"/>
            </a:avLst>
          </a:prstGeom>
          <a:solidFill>
            <a:srgbClr val="FFFFF4">
              <a:alpha val="94901"/>
            </a:srgbClr>
          </a:solidFill>
          <a:ln cap="flat" cmpd="sng" w="3047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1"/>
          <p:cNvSpPr/>
          <p:nvPr/>
        </p:nvSpPr>
        <p:spPr>
          <a:xfrm>
            <a:off x="5474256" y="3203496"/>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Question 2</a:t>
            </a:r>
            <a:endParaRPr b="0" i="0" sz="2550" u="none" cap="none" strike="noStrike"/>
          </a:p>
        </p:txBody>
      </p:sp>
      <p:sp>
        <p:nvSpPr>
          <p:cNvPr id="165" name="Google Shape;165;p21"/>
          <p:cNvSpPr/>
          <p:nvPr/>
        </p:nvSpPr>
        <p:spPr>
          <a:xfrm>
            <a:off x="5474256" y="3763447"/>
            <a:ext cx="3681770"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Does AdaBoost train its learners independently of each other?</a:t>
            </a:r>
            <a:endParaRPr b="0" i="0" sz="1750" u="none" cap="none" strike="noStrike"/>
          </a:p>
        </p:txBody>
      </p:sp>
      <p:sp>
        <p:nvSpPr>
          <p:cNvPr id="166" name="Google Shape;166;p21"/>
          <p:cNvSpPr/>
          <p:nvPr/>
        </p:nvSpPr>
        <p:spPr>
          <a:xfrm>
            <a:off x="5474256" y="4489133"/>
            <a:ext cx="3681770"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1" lang="en-US" sz="1750" u="none" cap="none" strike="noStrike">
                <a:solidFill>
                  <a:srgbClr val="67534F"/>
                </a:solidFill>
                <a:latin typeface="Montserrat"/>
                <a:ea typeface="Montserrat"/>
                <a:cs typeface="Montserrat"/>
                <a:sym typeface="Montserrat"/>
              </a:rPr>
              <a:t>Think about: sequential training and weight updates</a:t>
            </a:r>
            <a:endParaRPr b="0" i="0" sz="1750" u="none" cap="none" strike="noStrike"/>
          </a:p>
        </p:txBody>
      </p:sp>
      <p:sp>
        <p:nvSpPr>
          <p:cNvPr id="167" name="Google Shape;167;p21"/>
          <p:cNvSpPr/>
          <p:nvPr/>
        </p:nvSpPr>
        <p:spPr>
          <a:xfrm>
            <a:off x="9640133" y="2946202"/>
            <a:ext cx="4196358" cy="2684621"/>
          </a:xfrm>
          <a:prstGeom prst="roundRect">
            <a:avLst>
              <a:gd fmla="val 3549" name="adj"/>
            </a:avLst>
          </a:prstGeom>
          <a:solidFill>
            <a:srgbClr val="FFFFF4">
              <a:alpha val="94901"/>
            </a:srgbClr>
          </a:solidFill>
          <a:ln cap="flat" cmpd="sng" w="30475">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1"/>
          <p:cNvSpPr/>
          <p:nvPr/>
        </p:nvSpPr>
        <p:spPr>
          <a:xfrm>
            <a:off x="9897427" y="3203496"/>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Question 3</a:t>
            </a:r>
            <a:endParaRPr b="0" i="0" sz="2550" u="none" cap="none" strike="noStrike"/>
          </a:p>
        </p:txBody>
      </p:sp>
      <p:sp>
        <p:nvSpPr>
          <p:cNvPr id="169" name="Google Shape;169;p21"/>
          <p:cNvSpPr/>
          <p:nvPr/>
        </p:nvSpPr>
        <p:spPr>
          <a:xfrm>
            <a:off x="9897427" y="3763447"/>
            <a:ext cx="3681770" cy="884396"/>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Why shouldn't we use very deep trees as weak learners in AdaBoost?</a:t>
            </a:r>
            <a:endParaRPr b="0" i="0" sz="1750" u="none" cap="none" strike="noStrike"/>
          </a:p>
        </p:txBody>
      </p:sp>
      <p:sp>
        <p:nvSpPr>
          <p:cNvPr id="170" name="Google Shape;170;p21"/>
          <p:cNvSpPr/>
          <p:nvPr/>
        </p:nvSpPr>
        <p:spPr>
          <a:xfrm>
            <a:off x="9897427" y="4783931"/>
            <a:ext cx="3681770"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1" lang="en-US" sz="1750" u="none" cap="none" strike="noStrike">
                <a:solidFill>
                  <a:srgbClr val="67534F"/>
                </a:solidFill>
                <a:latin typeface="Montserrat"/>
                <a:ea typeface="Montserrat"/>
                <a:cs typeface="Montserrat"/>
                <a:sym typeface="Montserrat"/>
              </a:rPr>
              <a:t>Think about: overfitting risk and the purpose of weak learners</a:t>
            </a:r>
            <a:endParaRPr b="0" i="0" sz="1750" u="none" cap="none" strike="noStrike"/>
          </a:p>
        </p:txBody>
      </p:sp>
      <p:sp>
        <p:nvSpPr>
          <p:cNvPr id="171" name="Google Shape;171;p21"/>
          <p:cNvSpPr/>
          <p:nvPr/>
        </p:nvSpPr>
        <p:spPr>
          <a:xfrm>
            <a:off x="1133951" y="6141125"/>
            <a:ext cx="12702659"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1" i="0" lang="en-US" sz="1750" u="none" cap="none" strike="noStrike">
                <a:solidFill>
                  <a:srgbClr val="67534F"/>
                </a:solidFill>
                <a:latin typeface="Montserrat"/>
                <a:ea typeface="Montserrat"/>
                <a:cs typeface="Montserrat"/>
                <a:sym typeface="Montserrat"/>
              </a:rPr>
              <a:t>If these questions make sense, you're ready for the math-lite part.</a:t>
            </a:r>
            <a:r>
              <a:rPr b="0" i="0" lang="en-US" sz="1750" u="none" cap="none" strike="noStrike">
                <a:solidFill>
                  <a:srgbClr val="67534F"/>
                </a:solidFill>
                <a:latin typeface="Montserrat"/>
                <a:ea typeface="Montserrat"/>
                <a:cs typeface="Montserrat"/>
                <a:sym typeface="Montserrat"/>
              </a:rPr>
              <a:t> You now understand the core intuitions behind AdaBoost's adaptive learning strategy.</a:t>
            </a:r>
            <a:endParaRPr b="0" i="0" sz="1750" u="none" cap="none" strike="noStrike"/>
          </a:p>
        </p:txBody>
      </p:sp>
      <p:sp>
        <p:nvSpPr>
          <p:cNvPr id="172" name="Google Shape;172;p21"/>
          <p:cNvSpPr/>
          <p:nvPr/>
        </p:nvSpPr>
        <p:spPr>
          <a:xfrm>
            <a:off x="793790" y="5885974"/>
            <a:ext cx="30480" cy="1099899"/>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
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Marcellus"/>
      <p:regular r:id="rId15"/>
    </p:embeddedFont>
    <p:embeddedFont>
      <p:font typeface="Montserrat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arcellus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5"/>
          <p:cNvSpPr/>
          <p:nvPr/>
        </p:nvSpPr>
        <p:spPr>
          <a:xfrm>
            <a:off x="793790" y="2654737"/>
            <a:ext cx="7556421" cy="1695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Module 20 Summary: AdaBoost</a:t>
            </a:r>
            <a:endParaRPr b="0" i="0" sz="5100" u="none" cap="none" strike="noStrike"/>
          </a:p>
        </p:txBody>
      </p:sp>
      <p:sp>
        <p:nvSpPr>
          <p:cNvPr id="54" name="Google Shape;54;p15"/>
          <p:cNvSpPr/>
          <p:nvPr/>
        </p:nvSpPr>
        <p:spPr>
          <a:xfrm>
            <a:off x="793790" y="4690348"/>
            <a:ext cx="7556421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learned how boosting builds strong models by learning from mistakes—turning weaknesses into strengths through adaptive focus and sequential improvement.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793790" y="1417796"/>
            <a:ext cx="841783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Boosting Really Means</a:t>
            </a:r>
            <a:endParaRPr b="0" i="0" sz="5100" u="none" cap="none" strike="noStrike"/>
          </a:p>
        </p:txBody>
      </p:sp>
      <p:sp>
        <p:nvSpPr>
          <p:cNvPr id="61" name="Google Shape;61;p16"/>
          <p:cNvSpPr/>
          <p:nvPr/>
        </p:nvSpPr>
        <p:spPr>
          <a:xfrm>
            <a:off x="793790" y="2605683"/>
            <a:ext cx="4196358" cy="3145750"/>
          </a:xfrm>
          <a:prstGeom prst="roundRect">
            <a:avLst>
              <a:gd fmla="val 302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/>
          <p:nvPr/>
        </p:nvSpPr>
        <p:spPr>
          <a:xfrm>
            <a:off x="1043464" y="2855357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0630" y="304252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6"/>
          <p:cNvSpPr/>
          <p:nvPr/>
        </p:nvSpPr>
        <p:spPr>
          <a:xfrm>
            <a:off x="1043464" y="376261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Sequential Training</a:t>
            </a:r>
            <a:endParaRPr b="0" i="0" sz="2550" u="none" cap="none" strike="noStrike"/>
          </a:p>
        </p:txBody>
      </p:sp>
      <p:sp>
        <p:nvSpPr>
          <p:cNvPr id="65" name="Google Shape;65;p16"/>
          <p:cNvSpPr/>
          <p:nvPr/>
        </p:nvSpPr>
        <p:spPr>
          <a:xfrm>
            <a:off x="1043464" y="4322564"/>
            <a:ext cx="369701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Boosting trains models one after another, each learning from the previous round's performance.</a:t>
            </a:r>
            <a:endParaRPr b="0" i="0" sz="1750" u="none" cap="none" strike="noStrike"/>
          </a:p>
        </p:txBody>
      </p:sp>
      <p:sp>
        <p:nvSpPr>
          <p:cNvPr id="66" name="Google Shape;66;p16"/>
          <p:cNvSpPr/>
          <p:nvPr/>
        </p:nvSpPr>
        <p:spPr>
          <a:xfrm>
            <a:off x="5216962" y="2605683"/>
            <a:ext cx="4196358" cy="3145750"/>
          </a:xfrm>
          <a:prstGeom prst="roundRect">
            <a:avLst>
              <a:gd fmla="val 302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5466636" y="2855357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3802" y="304252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/>
          <p:nvPr/>
        </p:nvSpPr>
        <p:spPr>
          <a:xfrm>
            <a:off x="5466636" y="376261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Adaptive Focus</a:t>
            </a:r>
            <a:endParaRPr b="0" i="0" sz="2550" u="none" cap="none" strike="noStrike"/>
          </a:p>
        </p:txBody>
      </p:sp>
      <p:sp>
        <p:nvSpPr>
          <p:cNvPr id="70" name="Google Shape;70;p16"/>
          <p:cNvSpPr/>
          <p:nvPr/>
        </p:nvSpPr>
        <p:spPr>
          <a:xfrm>
            <a:off x="5466636" y="4322564"/>
            <a:ext cx="369701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Each model concentrates more attention on the difficult samples that previous models struggled with.</a:t>
            </a:r>
            <a:endParaRPr b="0" i="0" sz="1750" u="none" cap="none" strike="noStrike"/>
          </a:p>
        </p:txBody>
      </p:sp>
      <p:sp>
        <p:nvSpPr>
          <p:cNvPr id="71" name="Google Shape;71;p16"/>
          <p:cNvSpPr/>
          <p:nvPr/>
        </p:nvSpPr>
        <p:spPr>
          <a:xfrm>
            <a:off x="9640133" y="2605683"/>
            <a:ext cx="4196358" cy="3145750"/>
          </a:xfrm>
          <a:prstGeom prst="roundRect">
            <a:avLst>
              <a:gd fmla="val 3028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9889808" y="2855357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6974" y="3042523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/>
          <p:nvPr/>
        </p:nvSpPr>
        <p:spPr>
          <a:xfrm>
            <a:off x="9889808" y="376261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Learning from Errors</a:t>
            </a:r>
            <a:endParaRPr b="0" i="0" sz="2550" u="none" cap="none" strike="noStrike"/>
          </a:p>
        </p:txBody>
      </p:sp>
      <p:sp>
        <p:nvSpPr>
          <p:cNvPr id="75" name="Google Shape;75;p16"/>
          <p:cNvSpPr/>
          <p:nvPr/>
        </p:nvSpPr>
        <p:spPr>
          <a:xfrm>
            <a:off x="9889808" y="4322564"/>
            <a:ext cx="369701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Mistakes aren't ignored—they become the foundation for improvement in subsequent iterations.</a:t>
            </a:r>
            <a:endParaRPr b="0" i="0" sz="1750" u="none" cap="none" strike="noStrike"/>
          </a:p>
        </p:txBody>
      </p:sp>
      <p:sp>
        <p:nvSpPr>
          <p:cNvPr id="76" name="Google Shape;76;p16"/>
          <p:cNvSpPr/>
          <p:nvPr/>
        </p:nvSpPr>
        <p:spPr>
          <a:xfrm>
            <a:off x="1133951" y="6261735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Boosting does not forget errors. It studies them.</a:t>
            </a:r>
            <a:endParaRPr b="0" i="0" sz="1750" u="none" cap="none" strike="noStrike"/>
          </a:p>
        </p:txBody>
      </p:sp>
      <p:sp>
        <p:nvSpPr>
          <p:cNvPr id="77" name="Google Shape;77;p16"/>
          <p:cNvSpPr/>
          <p:nvPr/>
        </p:nvSpPr>
        <p:spPr>
          <a:xfrm>
            <a:off x="793790" y="6006584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793790" y="2166580"/>
            <a:ext cx="891778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Makes AdaBoost Special</a:t>
            </a:r>
            <a:endParaRPr b="0" i="0" sz="5100" u="none" cap="none" strike="noStrike"/>
          </a:p>
        </p:txBody>
      </p:sp>
      <p:sp>
        <p:nvSpPr>
          <p:cNvPr id="84" name="Google Shape;84;p17"/>
          <p:cNvSpPr/>
          <p:nvPr/>
        </p:nvSpPr>
        <p:spPr>
          <a:xfrm>
            <a:off x="793790" y="310503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Core Strengths</a:t>
            </a:r>
            <a:endParaRPr b="0" i="0" sz="2550" u="none" cap="none" strike="noStrike"/>
          </a:p>
        </p:txBody>
      </p:sp>
      <p:sp>
        <p:nvSpPr>
          <p:cNvPr id="85" name="Google Shape;85;p17"/>
          <p:cNvSpPr/>
          <p:nvPr/>
        </p:nvSpPr>
        <p:spPr>
          <a:xfrm>
            <a:off x="793790" y="3869055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Adaptive reweighting: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Automatically increases focus on misclassified samples after each round</a:t>
            </a:r>
            <a:endParaRPr b="0" i="0" sz="1750" u="none" cap="none" strike="noStrike"/>
          </a:p>
        </p:txBody>
      </p:sp>
      <p:sp>
        <p:nvSpPr>
          <p:cNvPr id="86" name="Google Shape;86;p17"/>
          <p:cNvSpPr/>
          <p:nvPr/>
        </p:nvSpPr>
        <p:spPr>
          <a:xfrm>
            <a:off x="793790" y="4243149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Simple weak learners: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Uses intentionally basic models like decision stumps as building blocks</a:t>
            </a:r>
            <a:endParaRPr b="0" i="0" sz="1750" u="none" cap="none" strike="noStrike"/>
          </a:p>
        </p:txBody>
      </p:sp>
      <p:sp>
        <p:nvSpPr>
          <p:cNvPr id="87" name="Google Shape;87;p17"/>
          <p:cNvSpPr/>
          <p:nvPr/>
        </p:nvSpPr>
        <p:spPr>
          <a:xfrm>
            <a:off x="793790" y="4617244"/>
            <a:ext cx="1304282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Weighted voting: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Combines predictions through a sophisticated voting system that values accuracy</a:t>
            </a:r>
            <a:endParaRPr b="0" i="0" sz="1750" u="none" cap="none" strike="noStrike"/>
          </a:p>
        </p:txBody>
      </p:sp>
      <p:sp>
        <p:nvSpPr>
          <p:cNvPr id="88" name="Google Shape;88;p17"/>
          <p:cNvSpPr/>
          <p:nvPr/>
        </p:nvSpPr>
        <p:spPr>
          <a:xfrm>
            <a:off x="793790" y="5167193"/>
            <a:ext cx="13042821" cy="895707"/>
          </a:xfrm>
          <a:prstGeom prst="roundRect">
            <a:avLst>
              <a:gd fmla="val 10636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5480804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/>
          <p:nvPr/>
        </p:nvSpPr>
        <p:spPr>
          <a:xfrm>
            <a:off x="1530906" y="5450681"/>
            <a:ext cx="1207889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AdaBoost is simple, not shallow.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Its power comes from strategic combination.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793790" y="1765816"/>
            <a:ext cx="874549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Weak Learners Are the Secret</a:t>
            </a:r>
            <a:endParaRPr b="0" i="0" sz="5100" u="none" cap="none" strike="noStrike"/>
          </a:p>
        </p:txBody>
      </p:sp>
      <p:sp>
        <p:nvSpPr>
          <p:cNvPr id="97" name="Google Shape;97;p18"/>
          <p:cNvSpPr/>
          <p:nvPr/>
        </p:nvSpPr>
        <p:spPr>
          <a:xfrm>
            <a:off x="793810" y="2953700"/>
            <a:ext cx="449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98" name="Google Shape;98;p18"/>
          <p:cNvSpPr/>
          <p:nvPr/>
        </p:nvSpPr>
        <p:spPr>
          <a:xfrm>
            <a:off x="793790" y="3320058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793790" y="349436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Intentional Simplicity</a:t>
            </a:r>
            <a:endParaRPr b="0" i="0" sz="2550" u="none" cap="none" strike="noStrike"/>
          </a:p>
        </p:txBody>
      </p:sp>
      <p:sp>
        <p:nvSpPr>
          <p:cNvPr id="100" name="Google Shape;100;p18"/>
          <p:cNvSpPr/>
          <p:nvPr/>
        </p:nvSpPr>
        <p:spPr>
          <a:xfrm>
            <a:off x="793790" y="4054316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Weak learners are deliberately kept simple—just slightly better than random guessing.</a:t>
            </a:r>
            <a:endParaRPr b="0" i="0" sz="1750" u="none" cap="none" strike="noStrike"/>
          </a:p>
        </p:txBody>
      </p:sp>
      <p:sp>
        <p:nvSpPr>
          <p:cNvPr id="101" name="Google Shape;101;p18"/>
          <p:cNvSpPr/>
          <p:nvPr/>
        </p:nvSpPr>
        <p:spPr>
          <a:xfrm>
            <a:off x="5216938" y="2953700"/>
            <a:ext cx="449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102" name="Google Shape;102;p18"/>
          <p:cNvSpPr/>
          <p:nvPr/>
        </p:nvSpPr>
        <p:spPr>
          <a:xfrm>
            <a:off x="5216962" y="3320058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5216962" y="349436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Decision Stumps</a:t>
            </a:r>
            <a:endParaRPr b="0" i="0" sz="2550" u="none" cap="none" strike="noStrike"/>
          </a:p>
        </p:txBody>
      </p:sp>
      <p:sp>
        <p:nvSpPr>
          <p:cNvPr id="104" name="Google Shape;104;p18"/>
          <p:cNvSpPr/>
          <p:nvPr/>
        </p:nvSpPr>
        <p:spPr>
          <a:xfrm>
            <a:off x="5216962" y="4054316"/>
            <a:ext cx="4196358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choice: single-level decision trees that make one simple split.</a:t>
            </a:r>
            <a:endParaRPr b="0" i="0" sz="1750" u="none" cap="none" strike="noStrike"/>
          </a:p>
        </p:txBody>
      </p:sp>
      <p:sp>
        <p:nvSpPr>
          <p:cNvPr id="105" name="Google Shape;105;p18"/>
          <p:cNvSpPr/>
          <p:nvPr/>
        </p:nvSpPr>
        <p:spPr>
          <a:xfrm>
            <a:off x="9640115" y="2953700"/>
            <a:ext cx="4494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106" name="Google Shape;106;p18"/>
          <p:cNvSpPr/>
          <p:nvPr/>
        </p:nvSpPr>
        <p:spPr>
          <a:xfrm>
            <a:off x="9640133" y="3320058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9640133" y="349436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Combination Power</a:t>
            </a:r>
            <a:endParaRPr b="0" i="0" sz="2550" u="none" cap="none" strike="noStrike"/>
          </a:p>
        </p:txBody>
      </p:sp>
      <p:sp>
        <p:nvSpPr>
          <p:cNvPr id="108" name="Google Shape;108;p18"/>
          <p:cNvSpPr/>
          <p:nvPr/>
        </p:nvSpPr>
        <p:spPr>
          <a:xfrm>
            <a:off x="9640133" y="4054316"/>
            <a:ext cx="4196358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True strength emerges from combining many focused simple models, not from individual complexity.</a:t>
            </a:r>
            <a:endParaRPr b="0" i="0" sz="1750" u="none" cap="none" strike="noStrike"/>
          </a:p>
        </p:txBody>
      </p:sp>
      <p:sp>
        <p:nvSpPr>
          <p:cNvPr id="109" name="Google Shape;109;p18"/>
          <p:cNvSpPr/>
          <p:nvPr/>
        </p:nvSpPr>
        <p:spPr>
          <a:xfrm>
            <a:off x="1133951" y="5913834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Truth bomb: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One smart model is nice. Many focused simple models are </a:t>
            </a:r>
            <a:r>
              <a:rPr b="0" i="1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better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750" u="none" cap="none" strike="noStrike"/>
          </a:p>
        </p:txBody>
      </p:sp>
      <p:sp>
        <p:nvSpPr>
          <p:cNvPr id="110" name="Google Shape;110;p18"/>
          <p:cNvSpPr/>
          <p:nvPr/>
        </p:nvSpPr>
        <p:spPr>
          <a:xfrm>
            <a:off x="793790" y="5658683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793790" y="1256467"/>
            <a:ext cx="986373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Training and Prediction Takeaway</a:t>
            </a:r>
            <a:endParaRPr b="0" i="0" sz="5100" u="none" cap="none" strike="noStrike"/>
          </a:p>
        </p:txBody>
      </p:sp>
      <p:sp>
        <p:nvSpPr>
          <p:cNvPr id="117" name="Google Shape;117;p19"/>
          <p:cNvSpPr/>
          <p:nvPr/>
        </p:nvSpPr>
        <p:spPr>
          <a:xfrm>
            <a:off x="1048941" y="2444353"/>
            <a:ext cx="30480" cy="3684032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1273612" y="2684264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793790" y="244435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853321" y="2445187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3050" u="none" cap="none" strike="noStrike"/>
          </a:p>
        </p:txBody>
      </p:sp>
      <p:sp>
        <p:nvSpPr>
          <p:cNvPr id="121" name="Google Shape;121;p19"/>
          <p:cNvSpPr/>
          <p:nvPr/>
        </p:nvSpPr>
        <p:spPr>
          <a:xfrm>
            <a:off x="2183011" y="251519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Round-Based Training</a:t>
            </a:r>
            <a:endParaRPr b="0" i="0" sz="2550" u="none" cap="none" strike="noStrike"/>
          </a:p>
        </p:txBody>
      </p:sp>
      <p:sp>
        <p:nvSpPr>
          <p:cNvPr id="122" name="Google Shape;122;p19"/>
          <p:cNvSpPr/>
          <p:nvPr/>
        </p:nvSpPr>
        <p:spPr>
          <a:xfrm>
            <a:off x="2183011" y="3075146"/>
            <a:ext cx="116535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Training happens sequentially in discrete rounds, with each round building on previous results.</a:t>
            </a:r>
            <a:endParaRPr b="0" i="0" sz="1750" u="none" cap="none" strike="noStrike"/>
          </a:p>
        </p:txBody>
      </p:sp>
      <p:sp>
        <p:nvSpPr>
          <p:cNvPr id="123" name="Google Shape;123;p19"/>
          <p:cNvSpPr/>
          <p:nvPr/>
        </p:nvSpPr>
        <p:spPr>
          <a:xfrm>
            <a:off x="1273612" y="4063484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793790" y="382357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/>
          <p:nvPr/>
        </p:nvSpPr>
        <p:spPr>
          <a:xfrm>
            <a:off x="853321" y="3824407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3050" u="none" cap="none" strike="noStrike"/>
          </a:p>
        </p:txBody>
      </p:sp>
      <p:sp>
        <p:nvSpPr>
          <p:cNvPr id="126" name="Google Shape;126;p19"/>
          <p:cNvSpPr/>
          <p:nvPr/>
        </p:nvSpPr>
        <p:spPr>
          <a:xfrm>
            <a:off x="2183011" y="389441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Dynamic Weighting</a:t>
            </a:r>
            <a:endParaRPr b="0" i="0" sz="2550" u="none" cap="none" strike="noStrike"/>
          </a:p>
        </p:txBody>
      </p:sp>
      <p:sp>
        <p:nvSpPr>
          <p:cNvPr id="127" name="Google Shape;127;p19"/>
          <p:cNvSpPr/>
          <p:nvPr/>
        </p:nvSpPr>
        <p:spPr>
          <a:xfrm>
            <a:off x="2183011" y="4454366"/>
            <a:ext cx="116535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Sample importance shifts over time—harder examples receive more attention as training progresses.</a:t>
            </a:r>
            <a:endParaRPr b="0" i="0" sz="1750" u="none" cap="none" strike="noStrike"/>
          </a:p>
        </p:txBody>
      </p:sp>
      <p:sp>
        <p:nvSpPr>
          <p:cNvPr id="128" name="Google Shape;128;p19"/>
          <p:cNvSpPr/>
          <p:nvPr/>
        </p:nvSpPr>
        <p:spPr>
          <a:xfrm>
            <a:off x="1273612" y="5442704"/>
            <a:ext cx="680442" cy="30480"/>
          </a:xfrm>
          <a:prstGeom prst="roundRect">
            <a:avLst>
              <a:gd fmla="val 312558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9"/>
          <p:cNvSpPr/>
          <p:nvPr/>
        </p:nvSpPr>
        <p:spPr>
          <a:xfrm>
            <a:off x="793790" y="5202793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853321" y="5203627"/>
            <a:ext cx="391239" cy="508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3050" u="none" cap="none" strike="noStrike"/>
          </a:p>
        </p:txBody>
      </p:sp>
      <p:sp>
        <p:nvSpPr>
          <p:cNvPr id="131" name="Google Shape;131;p19"/>
          <p:cNvSpPr/>
          <p:nvPr/>
        </p:nvSpPr>
        <p:spPr>
          <a:xfrm>
            <a:off x="2183011" y="527363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Weighted Vote</a:t>
            </a:r>
            <a:endParaRPr b="0" i="0" sz="2550" u="none" cap="none" strike="noStrike"/>
          </a:p>
        </p:txBody>
      </p:sp>
      <p:sp>
        <p:nvSpPr>
          <p:cNvPr id="132" name="Google Shape;132;p19"/>
          <p:cNvSpPr/>
          <p:nvPr/>
        </p:nvSpPr>
        <p:spPr>
          <a:xfrm>
            <a:off x="2183011" y="5833586"/>
            <a:ext cx="1165359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Final predictions emerge from a weighted vote where stronger learners have greater influence.</a:t>
            </a:r>
            <a:endParaRPr b="0" i="0" sz="1750" u="none" cap="none" strike="noStrike"/>
          </a:p>
        </p:txBody>
      </p:sp>
      <p:sp>
        <p:nvSpPr>
          <p:cNvPr id="133" name="Google Shape;133;p19"/>
          <p:cNvSpPr/>
          <p:nvPr/>
        </p:nvSpPr>
        <p:spPr>
          <a:xfrm>
            <a:off x="793790" y="6383536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 now understand what happens behind the code.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The algorithm's elegance lies in this adaptive, iterative refinement process.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793790" y="1289447"/>
            <a:ext cx="966668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Parameters That Actually Matter</a:t>
            </a:r>
            <a:endParaRPr b="0" i="0" sz="5100" u="none" cap="none" strike="noStrike"/>
          </a:p>
        </p:txBody>
      </p:sp>
      <p:sp>
        <p:nvSpPr>
          <p:cNvPr id="140" name="Google Shape;140;p20"/>
          <p:cNvSpPr/>
          <p:nvPr/>
        </p:nvSpPr>
        <p:spPr>
          <a:xfrm>
            <a:off x="793790" y="2930962"/>
            <a:ext cx="4196358" cy="2858214"/>
          </a:xfrm>
          <a:prstGeom prst="roundRect">
            <a:avLst>
              <a:gd fmla="val 511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793790" y="2900482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2551688" y="259080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2755761" y="2754154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1</a:t>
            </a:r>
            <a:endParaRPr b="0" i="0" sz="2100" u="none" cap="none" strike="noStrike"/>
          </a:p>
        </p:txBody>
      </p:sp>
      <p:sp>
        <p:nvSpPr>
          <p:cNvPr id="144" name="Google Shape;144;p20"/>
          <p:cNvSpPr/>
          <p:nvPr/>
        </p:nvSpPr>
        <p:spPr>
          <a:xfrm>
            <a:off x="1051084" y="349793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n_estimators</a:t>
            </a:r>
            <a:endParaRPr b="0" i="0" sz="2550" u="none" cap="none" strike="noStrike"/>
          </a:p>
        </p:txBody>
      </p:sp>
      <p:sp>
        <p:nvSpPr>
          <p:cNvPr id="145" name="Google Shape;145;p20"/>
          <p:cNvSpPr/>
          <p:nvPr/>
        </p:nvSpPr>
        <p:spPr>
          <a:xfrm>
            <a:off x="1051084" y="4057888"/>
            <a:ext cx="3681770" cy="14739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Controls how many weak learners are trained and combined. More learners generally improve performance but increase training time.</a:t>
            </a:r>
            <a:endParaRPr b="0" i="0" sz="1750" u="none" cap="none" strike="noStrike"/>
          </a:p>
        </p:txBody>
      </p:sp>
      <p:sp>
        <p:nvSpPr>
          <p:cNvPr id="146" name="Google Shape;146;p20"/>
          <p:cNvSpPr/>
          <p:nvPr/>
        </p:nvSpPr>
        <p:spPr>
          <a:xfrm>
            <a:off x="5216962" y="2930962"/>
            <a:ext cx="4196358" cy="2858214"/>
          </a:xfrm>
          <a:prstGeom prst="roundRect">
            <a:avLst>
              <a:gd fmla="val 511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5216962" y="2900482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6974860" y="259080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7178933" y="2754154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2</a:t>
            </a:r>
            <a:endParaRPr b="0" i="0" sz="2100" u="none" cap="none" strike="noStrike"/>
          </a:p>
        </p:txBody>
      </p:sp>
      <p:sp>
        <p:nvSpPr>
          <p:cNvPr id="150" name="Google Shape;150;p20"/>
          <p:cNvSpPr/>
          <p:nvPr/>
        </p:nvSpPr>
        <p:spPr>
          <a:xfrm>
            <a:off x="5474256" y="349793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learning_rate</a:t>
            </a:r>
            <a:endParaRPr b="0" i="0" sz="2550" u="none" cap="none" strike="noStrike"/>
          </a:p>
        </p:txBody>
      </p:sp>
      <p:sp>
        <p:nvSpPr>
          <p:cNvPr id="151" name="Google Shape;151;p20"/>
          <p:cNvSpPr/>
          <p:nvPr/>
        </p:nvSpPr>
        <p:spPr>
          <a:xfrm>
            <a:off x="5474256" y="4057888"/>
            <a:ext cx="368177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Determines the contribution strength of each learner. Lower values require more estimators but often generalize better.</a:t>
            </a:r>
            <a:endParaRPr b="0" i="0" sz="1750" u="none" cap="none" strike="noStrike"/>
          </a:p>
        </p:txBody>
      </p:sp>
      <p:sp>
        <p:nvSpPr>
          <p:cNvPr id="152" name="Google Shape;152;p20"/>
          <p:cNvSpPr/>
          <p:nvPr/>
        </p:nvSpPr>
        <p:spPr>
          <a:xfrm>
            <a:off x="9640133" y="2930962"/>
            <a:ext cx="4196358" cy="2858214"/>
          </a:xfrm>
          <a:prstGeom prst="roundRect">
            <a:avLst>
              <a:gd fmla="val 5119" name="adj"/>
            </a:avLst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9640133" y="2900482"/>
            <a:ext cx="4196358" cy="121920"/>
          </a:xfrm>
          <a:prstGeom prst="roundRect">
            <a:avLst>
              <a:gd fmla="val 78139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11398032" y="2590800"/>
            <a:ext cx="680442" cy="680442"/>
          </a:xfrm>
          <a:prstGeom prst="roundRect">
            <a:avLst>
              <a:gd fmla="val 134383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11602105" y="2754154"/>
            <a:ext cx="272177" cy="353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arcellus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Marcellus"/>
                <a:ea typeface="Marcellus"/>
                <a:cs typeface="Marcellus"/>
                <a:sym typeface="Marcellus"/>
              </a:rPr>
              <a:t>3</a:t>
            </a:r>
            <a:endParaRPr b="0" i="0" sz="2100" u="none" cap="none" strike="noStrike"/>
          </a:p>
        </p:txBody>
      </p:sp>
      <p:sp>
        <p:nvSpPr>
          <p:cNvPr id="156" name="Google Shape;156;p20"/>
          <p:cNvSpPr/>
          <p:nvPr/>
        </p:nvSpPr>
        <p:spPr>
          <a:xfrm>
            <a:off x="9897427" y="3497937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estimator</a:t>
            </a:r>
            <a:endParaRPr b="0" i="0" sz="2550" u="none" cap="none" strike="noStrike"/>
          </a:p>
        </p:txBody>
      </p:sp>
      <p:sp>
        <p:nvSpPr>
          <p:cNvPr id="157" name="Google Shape;157;p20"/>
          <p:cNvSpPr/>
          <p:nvPr/>
        </p:nvSpPr>
        <p:spPr>
          <a:xfrm>
            <a:off x="9897427" y="4057888"/>
            <a:ext cx="368177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Specifies the type of weak learner used. Decision stumps are default, but you can customize the base model.</a:t>
            </a:r>
            <a:endParaRPr b="0" i="0" sz="1750" u="none" cap="none" strike="noStrike"/>
          </a:p>
        </p:txBody>
      </p:sp>
      <p:sp>
        <p:nvSpPr>
          <p:cNvPr id="158" name="Google Shape;158;p20"/>
          <p:cNvSpPr/>
          <p:nvPr/>
        </p:nvSpPr>
        <p:spPr>
          <a:xfrm>
            <a:off x="793790" y="6044327"/>
            <a:ext cx="13042821" cy="895707"/>
          </a:xfrm>
          <a:prstGeom prst="roundRect">
            <a:avLst>
              <a:gd fmla="val 10636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604" y="6357938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1530906" y="6327815"/>
            <a:ext cx="1207889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Advice: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Tune slowly and deliberately. </a:t>
            </a:r>
            <a:r>
              <a:rPr b="0" i="0" lang="en-US" sz="1750" u="none" cap="none" strike="noStrike">
                <a:solidFill>
                  <a:srgbClr val="67534F"/>
                </a:solidFill>
                <a:highlight>
                  <a:srgbClr val="FF954F"/>
                </a:highlight>
                <a:latin typeface="Montserrat"/>
                <a:ea typeface="Montserrat"/>
                <a:cs typeface="Montserrat"/>
                <a:sym typeface="Montserrat"/>
              </a:rPr>
              <a:t>Bigger is not always better</a:t>
            </a: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—balance complexity with generalization.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793790" y="841772"/>
            <a:ext cx="827996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When AdaBoost Works Well</a:t>
            </a:r>
            <a:endParaRPr b="0" i="0" sz="5100" u="none" cap="none" strike="noStrike"/>
          </a:p>
        </p:txBody>
      </p:sp>
      <p:sp>
        <p:nvSpPr>
          <p:cNvPr id="167" name="Google Shape;167;p21"/>
          <p:cNvSpPr/>
          <p:nvPr/>
        </p:nvSpPr>
        <p:spPr>
          <a:xfrm>
            <a:off x="793790" y="202965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1530906" y="2100501"/>
            <a:ext cx="4804053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Clean or Moderately Clean Data</a:t>
            </a:r>
            <a:endParaRPr b="0" i="0" sz="2550" u="none" cap="none" strike="noStrike"/>
          </a:p>
        </p:txBody>
      </p:sp>
      <p:sp>
        <p:nvSpPr>
          <p:cNvPr id="169" name="Google Shape;169;p21"/>
          <p:cNvSpPr/>
          <p:nvPr/>
        </p:nvSpPr>
        <p:spPr>
          <a:xfrm>
            <a:off x="1530906" y="2660452"/>
            <a:ext cx="1230570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AdaBoost thrives when data quality is good and outliers are minimal or manageable.</a:t>
            </a:r>
            <a:endParaRPr b="0" i="0" sz="1750" u="none" cap="none" strike="noStrike"/>
          </a:p>
        </p:txBody>
      </p:sp>
      <p:sp>
        <p:nvSpPr>
          <p:cNvPr id="170" name="Google Shape;170;p21"/>
          <p:cNvSpPr/>
          <p:nvPr/>
        </p:nvSpPr>
        <p:spPr>
          <a:xfrm>
            <a:off x="793790" y="3408878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/>
          <p:nvPr/>
        </p:nvSpPr>
        <p:spPr>
          <a:xfrm>
            <a:off x="1530906" y="3479721"/>
            <a:ext cx="432315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Binary Classification Problems</a:t>
            </a:r>
            <a:endParaRPr b="0" i="0" sz="2550" u="none" cap="none" strike="noStrike"/>
          </a:p>
        </p:txBody>
      </p:sp>
      <p:sp>
        <p:nvSpPr>
          <p:cNvPr id="172" name="Google Shape;172;p21"/>
          <p:cNvSpPr/>
          <p:nvPr/>
        </p:nvSpPr>
        <p:spPr>
          <a:xfrm>
            <a:off x="1530906" y="4039672"/>
            <a:ext cx="1230570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Originally designed for two-class problems, where it demonstrates exceptional performance and interpretability.</a:t>
            </a:r>
            <a:endParaRPr b="0" i="0" sz="1750" u="none" cap="none" strike="noStrike"/>
          </a:p>
        </p:txBody>
      </p:sp>
      <p:sp>
        <p:nvSpPr>
          <p:cNvPr id="173" name="Google Shape;173;p21"/>
          <p:cNvSpPr/>
          <p:nvPr/>
        </p:nvSpPr>
        <p:spPr>
          <a:xfrm>
            <a:off x="793790" y="508289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1530906" y="5153739"/>
            <a:ext cx="370355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Error Correction Matters</a:t>
            </a:r>
            <a:endParaRPr b="0" i="0" sz="2550" u="none" cap="none" strike="noStrike"/>
          </a:p>
        </p:txBody>
      </p:sp>
      <p:sp>
        <p:nvSpPr>
          <p:cNvPr id="175" name="Google Shape;175;p21"/>
          <p:cNvSpPr/>
          <p:nvPr/>
        </p:nvSpPr>
        <p:spPr>
          <a:xfrm>
            <a:off x="1530906" y="5713690"/>
            <a:ext cx="1230570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Ideal when fixing classification mistakes is critical and you want the model to learn from difficult cases.</a:t>
            </a:r>
            <a:endParaRPr b="0" i="0" sz="1750" u="none" cap="none" strike="noStrike"/>
          </a:p>
        </p:txBody>
      </p:sp>
      <p:sp>
        <p:nvSpPr>
          <p:cNvPr id="176" name="Google Shape;176;p21"/>
          <p:cNvSpPr/>
          <p:nvPr/>
        </p:nvSpPr>
        <p:spPr>
          <a:xfrm>
            <a:off x="793790" y="6462117"/>
            <a:ext cx="510302" cy="510302"/>
          </a:xfrm>
          <a:prstGeom prst="roundRect">
            <a:avLst>
              <a:gd fmla="val 18669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1530906" y="6532959"/>
            <a:ext cx="6049208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Strong Performance Without Complexity</a:t>
            </a:r>
            <a:endParaRPr b="0" i="0" sz="2550" u="none" cap="none" strike="noStrike"/>
          </a:p>
        </p:txBody>
      </p:sp>
      <p:sp>
        <p:nvSpPr>
          <p:cNvPr id="178" name="Google Shape;178;p21"/>
          <p:cNvSpPr/>
          <p:nvPr/>
        </p:nvSpPr>
        <p:spPr>
          <a:xfrm>
            <a:off x="1530906" y="7092910"/>
            <a:ext cx="12305705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Perfect when you need powerful predictions without building overly complex individual models.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793790" y="1606510"/>
            <a:ext cx="863250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When AdaBoost Is a Bad Idea</a:t>
            </a:r>
            <a:endParaRPr b="0" i="0" sz="5100" u="none" cap="none" strike="noStrike"/>
          </a:p>
        </p:txBody>
      </p:sp>
      <p:sp>
        <p:nvSpPr>
          <p:cNvPr id="185" name="Google Shape;185;p22"/>
          <p:cNvSpPr/>
          <p:nvPr/>
        </p:nvSpPr>
        <p:spPr>
          <a:xfrm>
            <a:off x="793790" y="2544961"/>
            <a:ext cx="339268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Avoid AdaBoost When:</a:t>
            </a:r>
            <a:endParaRPr b="0" i="0" sz="2550" u="none" cap="none" strike="noStrike"/>
          </a:p>
        </p:txBody>
      </p:sp>
      <p:sp>
        <p:nvSpPr>
          <p:cNvPr id="186" name="Google Shape;186;p22"/>
          <p:cNvSpPr/>
          <p:nvPr/>
        </p:nvSpPr>
        <p:spPr>
          <a:xfrm>
            <a:off x="793790" y="3308985"/>
            <a:ext cx="4196358" cy="2253734"/>
          </a:xfrm>
          <a:prstGeom prst="roundRect">
            <a:avLst>
              <a:gd fmla="val 64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CC5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763310" y="3308985"/>
            <a:ext cx="121920" cy="2253734"/>
          </a:xfrm>
          <a:prstGeom prst="roundRect">
            <a:avLst>
              <a:gd fmla="val 78139" name="adj"/>
            </a:avLst>
          </a:prstGeom>
          <a:solidFill>
            <a:srgbClr val="CC52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1142524" y="3566279"/>
            <a:ext cx="332029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Heavy Outliers Present</a:t>
            </a:r>
            <a:endParaRPr b="0" i="0" sz="2550" u="none" cap="none" strike="noStrike"/>
          </a:p>
        </p:txBody>
      </p:sp>
      <p:sp>
        <p:nvSpPr>
          <p:cNvPr id="189" name="Google Shape;189;p22"/>
          <p:cNvSpPr/>
          <p:nvPr/>
        </p:nvSpPr>
        <p:spPr>
          <a:xfrm>
            <a:off x="1142524" y="4126230"/>
            <a:ext cx="359033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Data contains many extreme outliers that don't represent the true pattern.</a:t>
            </a:r>
            <a:endParaRPr b="0" i="0" sz="1750" u="none" cap="none" strike="noStrike"/>
          </a:p>
        </p:txBody>
      </p:sp>
      <p:sp>
        <p:nvSpPr>
          <p:cNvPr id="190" name="Google Shape;190;p22"/>
          <p:cNvSpPr/>
          <p:nvPr/>
        </p:nvSpPr>
        <p:spPr>
          <a:xfrm>
            <a:off x="5216962" y="3308985"/>
            <a:ext cx="4196358" cy="2253734"/>
          </a:xfrm>
          <a:prstGeom prst="roundRect">
            <a:avLst>
              <a:gd fmla="val 64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5186482" y="3308985"/>
            <a:ext cx="121920" cy="2253734"/>
          </a:xfrm>
          <a:prstGeom prst="roundRect">
            <a:avLst>
              <a:gd fmla="val 78139" name="adj"/>
            </a:avLst>
          </a:prstGeom>
          <a:solidFill>
            <a:srgbClr val="7D3E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5565696" y="356627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Noisy Labels</a:t>
            </a:r>
            <a:endParaRPr b="0" i="0" sz="2550" u="none" cap="none" strike="noStrike"/>
          </a:p>
        </p:txBody>
      </p:sp>
      <p:sp>
        <p:nvSpPr>
          <p:cNvPr id="193" name="Google Shape;193;p22"/>
          <p:cNvSpPr/>
          <p:nvPr/>
        </p:nvSpPr>
        <p:spPr>
          <a:xfrm>
            <a:off x="5565696" y="4126230"/>
            <a:ext cx="359033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Target labels are unreliable or contain significant errors and inconsistencies.</a:t>
            </a:r>
            <a:endParaRPr b="0" i="0" sz="1750" u="none" cap="none" strike="noStrike"/>
          </a:p>
        </p:txBody>
      </p:sp>
      <p:sp>
        <p:nvSpPr>
          <p:cNvPr id="194" name="Google Shape;194;p22"/>
          <p:cNvSpPr/>
          <p:nvPr/>
        </p:nvSpPr>
        <p:spPr>
          <a:xfrm>
            <a:off x="9640133" y="3308985"/>
            <a:ext cx="4196358" cy="2253734"/>
          </a:xfrm>
          <a:prstGeom prst="roundRect">
            <a:avLst>
              <a:gd fmla="val 6492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532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9609653" y="3308985"/>
            <a:ext cx="121920" cy="2253734"/>
          </a:xfrm>
          <a:prstGeom prst="roundRect">
            <a:avLst>
              <a:gd fmla="val 78139" name="adj"/>
            </a:avLst>
          </a:prstGeom>
          <a:solidFill>
            <a:srgbClr val="5324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9988868" y="356627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Impossible Samples</a:t>
            </a:r>
            <a:endParaRPr b="0" i="0" sz="2550" u="none" cap="none" strike="noStrike"/>
          </a:p>
        </p:txBody>
      </p:sp>
      <p:sp>
        <p:nvSpPr>
          <p:cNvPr id="197" name="Google Shape;197;p22"/>
          <p:cNvSpPr/>
          <p:nvPr/>
        </p:nvSpPr>
        <p:spPr>
          <a:xfrm>
            <a:off x="9988868" y="4126230"/>
            <a:ext cx="359033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 few samples are fundamentally impossible to classify correctly given the features.</a:t>
            </a:r>
            <a:endParaRPr b="0" i="0" sz="1750" u="none" cap="none" strike="noStrike"/>
          </a:p>
        </p:txBody>
      </p:sp>
      <p:sp>
        <p:nvSpPr>
          <p:cNvPr id="198" name="Google Shape;198;p22"/>
          <p:cNvSpPr/>
          <p:nvPr/>
        </p:nvSpPr>
        <p:spPr>
          <a:xfrm>
            <a:off x="1133951" y="6073021"/>
            <a:ext cx="1270265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Honest line: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AdaBoost can obsess over bad data, continuously trying to fit noise instead of signal.</a:t>
            </a:r>
            <a:endParaRPr b="0" i="0" sz="1750" u="none" cap="none" strike="noStrike"/>
          </a:p>
        </p:txBody>
      </p:sp>
      <p:sp>
        <p:nvSpPr>
          <p:cNvPr id="199" name="Google Shape;199;p22"/>
          <p:cNvSpPr/>
          <p:nvPr/>
        </p:nvSpPr>
        <p:spPr>
          <a:xfrm>
            <a:off x="793790" y="5817870"/>
            <a:ext cx="30480" cy="805101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/>
          <p:nvPr/>
        </p:nvSpPr>
        <p:spPr>
          <a:xfrm>
            <a:off x="742950" y="583763"/>
            <a:ext cx="10296525" cy="793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800"/>
              <a:buFont typeface="Marcellus"/>
              <a:buNone/>
            </a:pPr>
            <a:r>
              <a:rPr b="0" i="0" lang="en-US" sz="48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AdaBoost vs What You Already Know</a:t>
            </a:r>
            <a:endParaRPr b="0" i="0" sz="4800" u="none" cap="none" strike="noStrike"/>
          </a:p>
        </p:txBody>
      </p:sp>
      <p:pic>
        <p:nvPicPr>
          <p:cNvPr descr="preencoded.png" id="206" name="Google Shape;20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950" y="1801535"/>
            <a:ext cx="4204573" cy="259853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/>
          <p:nvPr/>
        </p:nvSpPr>
        <p:spPr>
          <a:xfrm>
            <a:off x="742950" y="4612243"/>
            <a:ext cx="3051453" cy="396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Decision Tree</a:t>
            </a:r>
            <a:endParaRPr b="0" i="0" sz="2400" u="none" cap="none" strike="noStrike"/>
          </a:p>
        </p:txBody>
      </p:sp>
      <p:sp>
        <p:nvSpPr>
          <p:cNvPr id="208" name="Google Shape;208;p23"/>
          <p:cNvSpPr/>
          <p:nvPr/>
        </p:nvSpPr>
        <p:spPr>
          <a:xfrm>
            <a:off x="742950" y="5136118"/>
            <a:ext cx="4204573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Single model, simple and fast</a:t>
            </a:r>
            <a:endParaRPr b="0" i="0" sz="1650" u="none" cap="none" strike="noStrike"/>
          </a:p>
        </p:txBody>
      </p:sp>
      <p:sp>
        <p:nvSpPr>
          <p:cNvPr id="209" name="Google Shape;209;p23"/>
          <p:cNvSpPr/>
          <p:nvPr/>
        </p:nvSpPr>
        <p:spPr>
          <a:xfrm>
            <a:off x="742950" y="5815132"/>
            <a:ext cx="4204573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Limitation: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High variance, prone to overfitting</a:t>
            </a:r>
            <a:endParaRPr b="0" i="0" sz="1650" u="none" cap="none" strike="noStrike"/>
          </a:p>
        </p:txBody>
      </p:sp>
      <p:sp>
        <p:nvSpPr>
          <p:cNvPr id="210" name="Google Shape;210;p23"/>
          <p:cNvSpPr/>
          <p:nvPr/>
        </p:nvSpPr>
        <p:spPr>
          <a:xfrm>
            <a:off x="742950" y="6494145"/>
            <a:ext cx="4204573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Best for: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Quick baselines and interpretability</a:t>
            </a:r>
            <a:endParaRPr b="0" i="0" sz="1650" u="none" cap="none" strike="noStrike"/>
          </a:p>
        </p:txBody>
      </p:sp>
      <p:pic>
        <p:nvPicPr>
          <p:cNvPr descr="preencoded.png" id="211" name="Google Shape;21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2794" y="1801535"/>
            <a:ext cx="4204692" cy="259865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/>
          <p:nvPr/>
        </p:nvSpPr>
        <p:spPr>
          <a:xfrm>
            <a:off x="5212794" y="4612362"/>
            <a:ext cx="3051453" cy="396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Random Forest</a:t>
            </a:r>
            <a:endParaRPr b="0" i="0" sz="2400" u="none" cap="none" strike="noStrike"/>
          </a:p>
        </p:txBody>
      </p:sp>
      <p:sp>
        <p:nvSpPr>
          <p:cNvPr id="213" name="Google Shape;213;p23"/>
          <p:cNvSpPr/>
          <p:nvPr/>
        </p:nvSpPr>
        <p:spPr>
          <a:xfrm>
            <a:off x="5212794" y="5136237"/>
            <a:ext cx="4204692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Parallel ensemble, trains independently</a:t>
            </a:r>
            <a:endParaRPr b="0" i="0" sz="1650" u="none" cap="none" strike="noStrike"/>
          </a:p>
        </p:txBody>
      </p:sp>
      <p:sp>
        <p:nvSpPr>
          <p:cNvPr id="214" name="Google Shape;214;p23"/>
          <p:cNvSpPr/>
          <p:nvPr/>
        </p:nvSpPr>
        <p:spPr>
          <a:xfrm>
            <a:off x="5212794" y="5815251"/>
            <a:ext cx="4204692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Strength: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Reduces variance through averaging</a:t>
            </a:r>
            <a:endParaRPr b="0" i="0" sz="1650" u="none" cap="none" strike="noStrike"/>
          </a:p>
        </p:txBody>
      </p:sp>
      <p:sp>
        <p:nvSpPr>
          <p:cNvPr id="215" name="Google Shape;215;p23"/>
          <p:cNvSpPr/>
          <p:nvPr/>
        </p:nvSpPr>
        <p:spPr>
          <a:xfrm>
            <a:off x="5212794" y="6494264"/>
            <a:ext cx="4204692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Best for: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Stable predictions on noisy data</a:t>
            </a:r>
            <a:endParaRPr b="0" i="0" sz="1650" u="none" cap="none" strike="noStrike"/>
          </a:p>
        </p:txBody>
      </p:sp>
      <p:pic>
        <p:nvPicPr>
          <p:cNvPr descr="preencoded.png" id="216" name="Google Shape;21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2758" y="1801535"/>
            <a:ext cx="4204573" cy="259853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9682758" y="4612243"/>
            <a:ext cx="3051453" cy="396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166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400"/>
              <a:buFont typeface="Marcellus"/>
              <a:buNone/>
            </a:pPr>
            <a:r>
              <a:rPr b="0" i="0" lang="en-US" sz="24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AdaBoost</a:t>
            </a:r>
            <a:endParaRPr b="0" i="0" sz="2400" u="none" cap="none" strike="noStrike"/>
          </a:p>
        </p:txBody>
      </p:sp>
      <p:sp>
        <p:nvSpPr>
          <p:cNvPr id="218" name="Google Shape;218;p23"/>
          <p:cNvSpPr/>
          <p:nvPr/>
        </p:nvSpPr>
        <p:spPr>
          <a:xfrm>
            <a:off x="9682758" y="5136118"/>
            <a:ext cx="4204573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Approach: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Sequential ensemble, adaptive learning</a:t>
            </a:r>
            <a:endParaRPr b="0" i="0" sz="1650" u="none" cap="none" strike="noStrike"/>
          </a:p>
        </p:txBody>
      </p:sp>
      <p:sp>
        <p:nvSpPr>
          <p:cNvPr id="219" name="Google Shape;219;p23"/>
          <p:cNvSpPr/>
          <p:nvPr/>
        </p:nvSpPr>
        <p:spPr>
          <a:xfrm>
            <a:off x="9682758" y="5815132"/>
            <a:ext cx="4204573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Strength: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Reduces bias through error focus</a:t>
            </a:r>
            <a:endParaRPr b="0" i="0" sz="1650" u="none" cap="none" strike="noStrike"/>
          </a:p>
        </p:txBody>
      </p:sp>
      <p:sp>
        <p:nvSpPr>
          <p:cNvPr id="220" name="Google Shape;220;p23"/>
          <p:cNvSpPr/>
          <p:nvPr/>
        </p:nvSpPr>
        <p:spPr>
          <a:xfrm>
            <a:off x="9682758" y="6494145"/>
            <a:ext cx="4204573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Best for: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Clean data needing high accuracy</a:t>
            </a:r>
            <a:endParaRPr b="0" i="0" sz="1650" u="none" cap="none" strike="noStrike"/>
          </a:p>
        </p:txBody>
      </p:sp>
      <p:sp>
        <p:nvSpPr>
          <p:cNvPr id="221" name="Google Shape;221;p23"/>
          <p:cNvSpPr/>
          <p:nvPr/>
        </p:nvSpPr>
        <p:spPr>
          <a:xfrm>
            <a:off x="742950" y="7284720"/>
            <a:ext cx="13144500" cy="5517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03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650"/>
              <a:buFont typeface="Montserrat"/>
              <a:buNone/>
            </a:pPr>
            <a:r>
              <a:rPr b="1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Mindset tip:</a:t>
            </a:r>
            <a:r>
              <a:rPr b="0" i="0" lang="en-US" sz="16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These are different tools for different jobs. Understanding when to apply each is part of becoming a skilled practitioner.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793790" y="1336119"/>
            <a:ext cx="6892647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What You Can Do Now</a:t>
            </a:r>
            <a:endParaRPr b="0" i="0" sz="5100" u="none" cap="none" strike="noStrike"/>
          </a:p>
        </p:txBody>
      </p:sp>
      <p:sp>
        <p:nvSpPr>
          <p:cNvPr id="228" name="Google Shape;228;p24"/>
          <p:cNvSpPr/>
          <p:nvPr/>
        </p:nvSpPr>
        <p:spPr>
          <a:xfrm>
            <a:off x="793790" y="2524006"/>
            <a:ext cx="6407944" cy="1648897"/>
          </a:xfrm>
          <a:prstGeom prst="roundRect">
            <a:avLst>
              <a:gd fmla="val 3301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1043464" y="277368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Explain the Concept</a:t>
            </a:r>
            <a:endParaRPr b="0" i="0" sz="2550" u="none" cap="none" strike="noStrike"/>
          </a:p>
        </p:txBody>
      </p:sp>
      <p:sp>
        <p:nvSpPr>
          <p:cNvPr id="230" name="Google Shape;230;p24"/>
          <p:cNvSpPr/>
          <p:nvPr/>
        </p:nvSpPr>
        <p:spPr>
          <a:xfrm>
            <a:off x="1043464" y="3333631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Describe boosting clearly in simple words to technical and non-technical audiences alike.</a:t>
            </a:r>
            <a:endParaRPr b="0" i="0" sz="1750" u="none" cap="none" strike="noStrike"/>
          </a:p>
        </p:txBody>
      </p:sp>
      <p:sp>
        <p:nvSpPr>
          <p:cNvPr id="231" name="Google Shape;231;p24"/>
          <p:cNvSpPr/>
          <p:nvPr/>
        </p:nvSpPr>
        <p:spPr>
          <a:xfrm>
            <a:off x="7428548" y="2524006"/>
            <a:ext cx="6408063" cy="1648897"/>
          </a:xfrm>
          <a:prstGeom prst="roundRect">
            <a:avLst>
              <a:gd fmla="val 3301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4"/>
          <p:cNvSpPr/>
          <p:nvPr/>
        </p:nvSpPr>
        <p:spPr>
          <a:xfrm>
            <a:off x="7678222" y="2773680"/>
            <a:ext cx="345436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Understand the Process</a:t>
            </a:r>
            <a:endParaRPr b="0" i="0" sz="2550" u="none" cap="none" strike="noStrike"/>
          </a:p>
        </p:txBody>
      </p:sp>
      <p:sp>
        <p:nvSpPr>
          <p:cNvPr id="233" name="Google Shape;233;p24"/>
          <p:cNvSpPr/>
          <p:nvPr/>
        </p:nvSpPr>
        <p:spPr>
          <a:xfrm>
            <a:off x="7678222" y="3333631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Walk through how AdaBoost trains step by step, explaining the adaptive weighting mechanism.</a:t>
            </a:r>
            <a:endParaRPr b="0" i="0" sz="1750" u="none" cap="none" strike="noStrike"/>
          </a:p>
        </p:txBody>
      </p:sp>
      <p:sp>
        <p:nvSpPr>
          <p:cNvPr id="234" name="Google Shape;234;p24"/>
          <p:cNvSpPr/>
          <p:nvPr/>
        </p:nvSpPr>
        <p:spPr>
          <a:xfrm>
            <a:off x="793790" y="4399717"/>
            <a:ext cx="6407944" cy="1648897"/>
          </a:xfrm>
          <a:prstGeom prst="roundRect">
            <a:avLst>
              <a:gd fmla="val 3301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1043464" y="464939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Implement in Python</a:t>
            </a:r>
            <a:endParaRPr b="0" i="0" sz="2550" u="none" cap="none" strike="noStrike"/>
          </a:p>
        </p:txBody>
      </p:sp>
      <p:sp>
        <p:nvSpPr>
          <p:cNvPr id="236" name="Google Shape;236;p24"/>
          <p:cNvSpPr/>
          <p:nvPr/>
        </p:nvSpPr>
        <p:spPr>
          <a:xfrm>
            <a:off x="1043464" y="5209342"/>
            <a:ext cx="590859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Write and run AdaBoost code using scikit-learn with appropriate parameters and preprocessing.</a:t>
            </a:r>
            <a:endParaRPr b="0" i="0" sz="1750" u="none" cap="none" strike="noStrike"/>
          </a:p>
        </p:txBody>
      </p:sp>
      <p:sp>
        <p:nvSpPr>
          <p:cNvPr id="237" name="Google Shape;237;p24"/>
          <p:cNvSpPr/>
          <p:nvPr/>
        </p:nvSpPr>
        <p:spPr>
          <a:xfrm>
            <a:off x="7428548" y="4399717"/>
            <a:ext cx="6408063" cy="1648897"/>
          </a:xfrm>
          <a:prstGeom prst="roundRect">
            <a:avLst>
              <a:gd fmla="val 33015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7678222" y="4649391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Evaluate Performance</a:t>
            </a:r>
            <a:endParaRPr b="0" i="0" sz="2550" u="none" cap="none" strike="noStrike"/>
          </a:p>
        </p:txBody>
      </p:sp>
      <p:sp>
        <p:nvSpPr>
          <p:cNvPr id="239" name="Google Shape;239;p24"/>
          <p:cNvSpPr/>
          <p:nvPr/>
        </p:nvSpPr>
        <p:spPr>
          <a:xfrm>
            <a:off x="7678222" y="5209342"/>
            <a:ext cx="5908715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Assess model quality using proper metrics, cross-validation, and comparison against baselines.</a:t>
            </a:r>
            <a:endParaRPr b="0" i="0" sz="1750" u="none" cap="none" strike="noStrike"/>
          </a:p>
        </p:txBody>
      </p:sp>
      <p:sp>
        <p:nvSpPr>
          <p:cNvPr id="240" name="Google Shape;240;p24"/>
          <p:cNvSpPr/>
          <p:nvPr/>
        </p:nvSpPr>
        <p:spPr>
          <a:xfrm>
            <a:off x="793790" y="630376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You've built a solid foundation in ensemble learning. These skills transfer to more advanced boosting methods and real-world applications.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
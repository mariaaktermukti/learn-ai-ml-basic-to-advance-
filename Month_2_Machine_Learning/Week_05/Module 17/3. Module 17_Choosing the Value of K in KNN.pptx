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Marcellus"/>
      <p:regular r:id="rId13"/>
    </p:embeddedFon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arcellu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Choosing the Value of K in KNN</a:t>
            </a:r>
            <a:endParaRPr b="0" i="0" sz="5100" u="none" cap="none" strike="noStrike"/>
          </a:p>
        </p:txBody>
      </p:sp>
      <p:sp>
        <p:nvSpPr>
          <p:cNvPr id="42" name="Google Shape;42;p11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how the number of neighbors shapes your model's predictions and performance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793790" y="1669137"/>
            <a:ext cx="8129826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K in K-Nearest Neighbors?</a:t>
            </a:r>
            <a:endParaRPr b="0" i="0" sz="4100" u="none" cap="none" strike="noStrike"/>
          </a:p>
        </p:txBody>
      </p:sp>
      <p:sp>
        <p:nvSpPr>
          <p:cNvPr id="49" name="Google Shape;49;p12"/>
          <p:cNvSpPr/>
          <p:nvPr/>
        </p:nvSpPr>
        <p:spPr>
          <a:xfrm>
            <a:off x="793790" y="2891552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value of K defines how many neighboring data points the algorithm considers when making a prediction. It's the fundamental parameter controlling how local or global your model's perspective becomes.</a:t>
            </a:r>
            <a:endParaRPr b="0" i="0" sz="1750" u="none" cap="none" strike="noStrike"/>
          </a:p>
        </p:txBody>
      </p:sp>
      <p:sp>
        <p:nvSpPr>
          <p:cNvPr id="50" name="Google Shape;50;p12"/>
          <p:cNvSpPr/>
          <p:nvPr/>
        </p:nvSpPr>
        <p:spPr>
          <a:xfrm>
            <a:off x="793790" y="4274820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Think of K as adjusting a radius around each prediction point—smaller K means looking at just the closest neighbors, while larger K expands the circle to include more distant points in the decision.</a:t>
            </a:r>
            <a:endParaRPr b="0" i="0" sz="1750" u="none" cap="none" strike="noStrike"/>
          </a:p>
        </p:txBody>
      </p:sp>
      <p:pic>
        <p:nvPicPr>
          <p:cNvPr descr="preencoded.png" id="51" name="Google Shape;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942630"/>
            <a:ext cx="6244709" cy="286369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/>
          <p:nvPr/>
        </p:nvSpPr>
        <p:spPr>
          <a:xfrm>
            <a:off x="7599521" y="6061472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793790" y="1885355"/>
            <a:ext cx="9627751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Small K: High Sensitivity to Local Patterns</a:t>
            </a:r>
            <a:endParaRPr b="0" i="0" sz="41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793790" y="2903696"/>
            <a:ext cx="4196358" cy="3440549"/>
          </a:xfrm>
          <a:prstGeom prst="roundRect">
            <a:avLst>
              <a:gd fmla="val 27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043464" y="3153370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334053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1043464" y="406062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Noise Sensitivity</a:t>
            </a:r>
            <a:endParaRPr b="0" i="0" sz="25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1043464" y="4620578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With few neighbors, even outliers can heavily influence predictions, making the model susceptible to random fluctuations in training data.</a:t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5216962" y="2903696"/>
            <a:ext cx="4196358" cy="3440549"/>
          </a:xfrm>
          <a:prstGeom prst="roundRect">
            <a:avLst>
              <a:gd fmla="val 27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5466636" y="3153370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3802" y="334053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/>
          <p:nvPr/>
        </p:nvSpPr>
        <p:spPr>
          <a:xfrm>
            <a:off x="5466636" y="406062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Complex Boundaries</a:t>
            </a:r>
            <a:endParaRPr b="0" i="0" sz="255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5466636" y="4620578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Decision boundaries become highly irregular and jagged, closely following individual training points rather than general trends.</a:t>
            </a:r>
            <a:endParaRPr b="0" i="0" sz="1750" u="none" cap="none" strike="noStrike"/>
          </a:p>
        </p:txBody>
      </p:sp>
      <p:sp>
        <p:nvSpPr>
          <p:cNvPr id="69" name="Google Shape;69;p13"/>
          <p:cNvSpPr/>
          <p:nvPr/>
        </p:nvSpPr>
        <p:spPr>
          <a:xfrm>
            <a:off x="9640133" y="2903696"/>
            <a:ext cx="4196358" cy="3440549"/>
          </a:xfrm>
          <a:prstGeom prst="roundRect">
            <a:avLst>
              <a:gd fmla="val 27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9889808" y="3153370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6974" y="334053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/>
          <p:nvPr/>
        </p:nvSpPr>
        <p:spPr>
          <a:xfrm>
            <a:off x="9889808" y="4060627"/>
            <a:ext cx="3455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Low Bias, High Variance</a:t>
            </a:r>
            <a:endParaRPr b="0" i="0" sz="2550" u="none" cap="none" strike="noStrike"/>
          </a:p>
        </p:txBody>
      </p:sp>
      <p:sp>
        <p:nvSpPr>
          <p:cNvPr id="73" name="Google Shape;73;p13"/>
          <p:cNvSpPr/>
          <p:nvPr/>
        </p:nvSpPr>
        <p:spPr>
          <a:xfrm>
            <a:off x="9889808" y="4620578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model makes few assumptions but varies dramatically with different training sets—classic overfitting behavior.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793790" y="2127171"/>
            <a:ext cx="862965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Large K: Stability Through Averaging</a:t>
            </a:r>
            <a:endParaRPr b="0" i="0" sz="41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793790" y="3258979"/>
            <a:ext cx="4196358" cy="2843332"/>
          </a:xfrm>
          <a:prstGeom prst="roundRect">
            <a:avLst>
              <a:gd fmla="val 3351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1051084" y="351627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Noise Resistance</a:t>
            </a:r>
            <a:endParaRPr b="0" i="0" sz="255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1051084" y="4076224"/>
            <a:ext cx="3681770" cy="176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averaging over many neighbors, individual outliers have minimal impact. The model becomes robust to local anomalies and random variations.</a:t>
            </a:r>
            <a:endParaRPr b="0" i="0" sz="17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5216962" y="3258979"/>
            <a:ext cx="4196358" cy="2843332"/>
          </a:xfrm>
          <a:prstGeom prst="roundRect">
            <a:avLst>
              <a:gd fmla="val 3351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5474256" y="351627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Smooth Boundaries</a:t>
            </a:r>
            <a:endParaRPr b="0" i="0" sz="255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5474256" y="4076224"/>
            <a:ext cx="368177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Decision boundaries become gentle and regular, capturing only broad patterns while ignoring fine-grained details in the data.</a:t>
            </a:r>
            <a:endParaRPr b="0" i="0" sz="175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9640133" y="3258979"/>
            <a:ext cx="4196358" cy="2843332"/>
          </a:xfrm>
          <a:prstGeom prst="roundRect">
            <a:avLst>
              <a:gd fmla="val 3351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9897427" y="3516273"/>
            <a:ext cx="3455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High Bias, Low Variance</a:t>
            </a:r>
            <a:endParaRPr b="0" i="0" sz="25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9897427" y="4076224"/>
            <a:ext cx="3681770" cy="176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Strong assumptions about smoothness lead to consistent predictions across datasets, but may miss important local structure—the hallmark of underfitting.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773075" y="896175"/>
            <a:ext cx="73623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000"/>
              <a:buFont typeface="Marcellus"/>
              <a:buNone/>
            </a:pPr>
            <a:r>
              <a:rPr b="0" i="0" lang="en-US" sz="40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Bias–Variance Tradeoff</a:t>
            </a:r>
            <a:endParaRPr b="0" i="0" sz="4000" u="none" cap="none" strike="noStrike"/>
          </a:p>
        </p:txBody>
      </p:sp>
      <p:pic>
        <p:nvPicPr>
          <p:cNvPr descr="preencoded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073" y="2136338"/>
            <a:ext cx="4910376" cy="4910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945" y="2136338"/>
            <a:ext cx="1104424" cy="164949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7555230" y="2357199"/>
            <a:ext cx="3175278" cy="412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Small K → Overfitting</a:t>
            </a:r>
            <a:endParaRPr b="0" i="0" sz="250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555230" y="2990850"/>
            <a:ext cx="6309717" cy="57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Captures noise and irrelevant patterns. Excellent training performance but poor generalization to new data.</a:t>
            </a:r>
            <a:endParaRPr b="0" i="0" sz="1700" u="none" cap="none" strike="noStrike"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945" y="3785830"/>
            <a:ext cx="1104424" cy="16494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7555230" y="4006691"/>
            <a:ext cx="3175278" cy="412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Optimal K → Balance</a:t>
            </a:r>
            <a:endParaRPr b="0" i="0" sz="25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555230" y="4640342"/>
            <a:ext cx="6309717" cy="57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sweet spot where the model captures true patterns without memorizing noise.</a:t>
            </a:r>
            <a:endParaRPr b="0" i="0" sz="1700" u="none" cap="none" strike="noStrike"/>
          </a:p>
        </p:txBody>
      </p:sp>
      <p:pic>
        <p:nvPicPr>
          <p:cNvPr descr="preencoded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945" y="5435322"/>
            <a:ext cx="1104424" cy="164949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7555230" y="5656183"/>
            <a:ext cx="3357801" cy="412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Large K → Underfitting</a:t>
            </a:r>
            <a:endParaRPr b="0" i="0" sz="25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7555230" y="6289834"/>
            <a:ext cx="6309717" cy="57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Oversimplifies the problem. Misses important relationships and performs poorly even on training data.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793790" y="2024420"/>
            <a:ext cx="6941939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Starting Point: Rule of Thumb</a:t>
            </a:r>
            <a:endParaRPr b="0" i="0" sz="41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793790" y="3156228"/>
            <a:ext cx="6407944" cy="3048833"/>
          </a:xfrm>
          <a:prstGeom prst="roundRect">
            <a:avLst>
              <a:gd fmla="val 3125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043464" y="3405902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√n Heuristic</a:t>
            </a:r>
            <a:endParaRPr b="0" i="0" sz="305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1043464" y="4050506"/>
            <a:ext cx="590859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Begin with K approximately equal to the square root of your sample size. For 10,000 training examples, start testing around K = 100.</a:t>
            </a:r>
            <a:endParaRPr b="0" i="0" sz="175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1043464" y="5070991"/>
            <a:ext cx="590859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provides a reasonable middle ground between local and global perspectives as a baseline for optimization.</a:t>
            </a:r>
            <a:endParaRPr b="0" i="0" sz="17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7428548" y="3156228"/>
            <a:ext cx="6408063" cy="3048833"/>
          </a:xfrm>
          <a:prstGeom prst="roundRect">
            <a:avLst>
              <a:gd fmla="val 3125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678222" y="3405902"/>
            <a:ext cx="5363885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Odd K for Binary Classification</a:t>
            </a:r>
            <a:endParaRPr b="0" i="0" sz="3050" u="none" cap="none" strike="noStrike"/>
          </a:p>
        </p:txBody>
      </p:sp>
      <p:sp>
        <p:nvSpPr>
          <p:cNvPr id="117" name="Google Shape;117;p16"/>
          <p:cNvSpPr/>
          <p:nvPr/>
        </p:nvSpPr>
        <p:spPr>
          <a:xfrm>
            <a:off x="7678222" y="4050506"/>
            <a:ext cx="5908715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Always use odd values of K when predicting between two classes to avoid ties in neighbor voting.</a:t>
            </a:r>
            <a:endParaRPr b="0" i="0" sz="17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7678222" y="5070991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For example, with K = 4, you could get 2 votes for each class. K = 5 ensures a decisive majority.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493990" y="388144"/>
            <a:ext cx="5567124" cy="4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Finding the Best K Through Validation</a:t>
            </a:r>
            <a:endParaRPr b="0" i="0" sz="25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493990" y="1092518"/>
            <a:ext cx="13642419" cy="18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most reliable approach is systematic experimentation with held-out validation data. Test a range of K values and measure performance using a consistent metric like accuracy or F1-score.</a:t>
            </a:r>
            <a:endParaRPr b="0" i="0" sz="1100" u="none" cap="none" strike="noStrike"/>
          </a:p>
        </p:txBody>
      </p:sp>
      <p:pic>
        <p:nvPicPr>
          <p:cNvPr descr="preencoded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90" y="1434703"/>
            <a:ext cx="13642419" cy="72161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6507718" y="8650843"/>
            <a:ext cx="141089" cy="141089"/>
          </a:xfrm>
          <a:prstGeom prst="roundRect">
            <a:avLst>
              <a:gd fmla="val 12962" name="adj"/>
            </a:avLst>
          </a:prstGeom>
          <a:solidFill>
            <a:srgbClr val="4D1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709767" y="8650843"/>
            <a:ext cx="529233" cy="14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 Value</a:t>
            </a:r>
            <a:endParaRPr b="0" i="0" sz="110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7391400" y="8650843"/>
            <a:ext cx="141089" cy="141089"/>
          </a:xfrm>
          <a:prstGeom prst="roundRect">
            <a:avLst>
              <a:gd fmla="val 12962" name="adj"/>
            </a:avLst>
          </a:prstGeom>
          <a:solidFill>
            <a:srgbClr val="9E3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7593449" y="8650843"/>
            <a:ext cx="1387078" cy="14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Validation Accuracy</a:t>
            </a:r>
            <a:endParaRPr b="0" i="0" sz="11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493990" y="9233059"/>
            <a:ext cx="13642419" cy="36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Look for the peak in validation performance—this represents the optimal balance. The curve typically shows improvement from very small K, reaches a maximum, then declines as K grows too large.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793790" y="1132999"/>
            <a:ext cx="7262693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Practical Guidelines for Success</a:t>
            </a:r>
            <a:endParaRPr b="0" i="0" sz="410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793808" y="2264800"/>
            <a:ext cx="408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139" name="Google Shape;139;p18"/>
          <p:cNvSpPr/>
          <p:nvPr/>
        </p:nvSpPr>
        <p:spPr>
          <a:xfrm>
            <a:off x="793790" y="2631162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93790" y="2805470"/>
            <a:ext cx="406669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Never Assume a Universal K</a:t>
            </a:r>
            <a:endParaRPr b="0" i="0" sz="255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793790" y="3365421"/>
            <a:ext cx="6407944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Different datasets have different optimal values. The best K for one problem may perform poorly on another due to variations in noise levels, feature scales, and class distributions.</a:t>
            </a:r>
            <a:endParaRPr b="0" i="0" sz="175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7428552" y="2264800"/>
            <a:ext cx="408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7428548" y="2631162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7428548" y="2805470"/>
            <a:ext cx="49733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Always Validate with Unseen Data</a:t>
            </a:r>
            <a:endParaRPr b="0" i="0" sz="255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7428548" y="3365421"/>
            <a:ext cx="6408063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cross-validation or a held-out validation set. Testing multiple K values on training data alone will mislead you toward overfitting.</a:t>
            </a:r>
            <a:endParaRPr b="0" i="0" sz="175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793806" y="4941450"/>
            <a:ext cx="408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93790" y="5307806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93790" y="5482114"/>
            <a:ext cx="435554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Consider Computational Cost</a:t>
            </a:r>
            <a:endParaRPr b="0" i="0" sz="255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93790" y="6042065"/>
            <a:ext cx="6407944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Larger K values require more distance computations at prediction time. Balance accuracy gains against inference speed requirements for your application.</a:t>
            </a:r>
            <a:endParaRPr b="0" i="0" sz="175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7428552" y="4941450"/>
            <a:ext cx="408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7428548" y="5307806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428548" y="5482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Monitor Both Metrics</a:t>
            </a:r>
            <a:endParaRPr b="0" i="0" sz="255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7428548" y="6042065"/>
            <a:ext cx="6408063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Track training and validation performance together. A large gap signals overfitting; poor performance on both suggests underfitting or data quality issues.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
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4" r:id="rId3"/>
  </p:sldMasterIdLst>
  <p:notesMasterIdLst>
    <p:notesMasterId r:id="rId4"/>
  </p:notesMasterIdLst>
  <p:sldIdLst>
    <p:sldId id="256" r:id="rId5"/>
    <p:sldId id="257" r:id="rId6"/>
    <p:sldId id="258" r:id="rId7"/>
    <p:sldId id="259" r:id="rId8"/>
    <p:sldId id="260" r:id="rId9"/>
  </p:sldIdLst>
  <p:sldSz cy="8229600" cx="14630400"/>
  <p:notesSz cx="8229600" cy="14630400"/>
  <p:embeddedFontLst>
    <p:embeddedFont>
      <p:font typeface="Marcellus"/>
      <p:regular r:id="rId10"/>
    </p:embeddedFont>
    <p:embeddedFont>
      <p:font typeface="Montserrat"/>
      <p:regular r:id="rId11"/>
      <p:bold r:id="rId12"/>
      <p:italic r:id="rId13"/>
      <p:boldItalic r:id="rId1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font" Target="fonts/Montserrat-regular.fntdata"/><Relationship Id="rId10" Type="http://schemas.openxmlformats.org/officeDocument/2006/relationships/font" Target="fonts/Marcellus-regular.fntdata"/><Relationship Id="rId13" Type="http://schemas.openxmlformats.org/officeDocument/2006/relationships/font" Target="fonts/Montserrat-italic.fntdata"/><Relationship Id="rId12" Type="http://schemas.openxmlformats.org/officeDocument/2006/relationships/font" Target="fonts/Montserrat-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4" Type="http://schemas.openxmlformats.org/officeDocument/2006/relationships/font" Target="fonts/Montserrat-bold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t>‹#›</a:t>
            </a:fld>
            <a:endParaRPr b="0" i="0" sz="1200" u="none" cap="none" strike="noStrik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 name="Shape 26"/>
        <p:cNvGrpSpPr/>
        <p:nvPr/>
      </p:nvGrpSpPr>
      <p:grpSpPr>
        <a:xfrm>
          <a:off x="0" y="0"/>
          <a:ext cx="0" cy="0"/>
          <a:chOff x="0" y="0"/>
          <a:chExt cx="0" cy="0"/>
        </a:xfrm>
      </p:grpSpPr>
      <p:sp>
        <p:nvSpPr>
          <p:cNvPr id="27" name="Google Shape;2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 name="Google Shape;2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 name="Google Shape;29;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 name="Shape 34"/>
        <p:cNvGrpSpPr/>
        <p:nvPr/>
      </p:nvGrpSpPr>
      <p:grpSpPr>
        <a:xfrm>
          <a:off x="0" y="0"/>
          <a:ext cx="0" cy="0"/>
          <a:chOff x="0" y="0"/>
          <a:chExt cx="0" cy="0"/>
        </a:xfrm>
      </p:grpSpPr>
      <p:sp>
        <p:nvSpPr>
          <p:cNvPr id="35" name="Google Shape;3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 name="Google Shape;3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 name="Google Shape;37;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 name="Google Shape;5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 name="Google Shape;5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 name="Google Shape;6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 name="Google Shape;6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 name="Google Shape;80;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 name="Google Shape;81;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spTree>
      <p:nvGrpSpPr>
        <p:cNvPr id="10" name="Shape 10"/>
        <p:cNvGrpSpPr/>
        <p:nvPr/>
      </p:nvGrpSpPr>
      <p:grpSpPr>
        <a:xfrm>
          <a:off x="0" y="0"/>
          <a:ext cx="0" cy="0"/>
          <a:chOff x="0" y="0"/>
          <a:chExt cx="0" cy="0"/>
        </a:xfrm>
      </p:grpSpPr>
      <p:sp>
        <p:nvSpPr>
          <p:cNvPr id="11" name="Google Shape;11;p2"/>
          <p:cNvSpPr/>
          <p:nvPr/>
        </p:nvSpPr>
        <p:spPr>
          <a:xfrm>
            <a:off x="0" y="0"/>
            <a:ext cx="14630400" cy="8229600"/>
          </a:xfrm>
          <a:prstGeom prst="rect">
            <a:avLst/>
          </a:prstGeom>
          <a:solidFill>
            <a:srgbClr val="DEC8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0" y="0"/>
            <a:ext cx="14630400" cy="8229600"/>
          </a:xfrm>
          <a:prstGeom prst="rect">
            <a:avLst/>
          </a:prstGeom>
          <a:solidFill>
            <a:srgbClr val="FFFFF4">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spTree>
      <p:nvGrpSpPr>
        <p:cNvPr id="13" name="Shape 13"/>
        <p:cNvGrpSpPr/>
        <p:nvPr/>
      </p:nvGrpSpPr>
      <p:grpSpPr>
        <a:xfrm>
          <a:off x="0" y="0"/>
          <a:ext cx="0" cy="0"/>
          <a:chOff x="0" y="0"/>
          <a:chExt cx="0" cy="0"/>
        </a:xfrm>
      </p:grpSpPr>
      <p:sp>
        <p:nvSpPr>
          <p:cNvPr id="14" name="Google Shape;14;p3"/>
          <p:cNvSpPr/>
          <p:nvPr/>
        </p:nvSpPr>
        <p:spPr>
          <a:xfrm>
            <a:off x="0" y="0"/>
            <a:ext cx="14630400" cy="8229600"/>
          </a:xfrm>
          <a:prstGeom prst="rect">
            <a:avLst/>
          </a:prstGeom>
          <a:solidFill>
            <a:srgbClr val="DEC8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3"/>
          <p:cNvSpPr/>
          <p:nvPr/>
        </p:nvSpPr>
        <p:spPr>
          <a:xfrm>
            <a:off x="0" y="0"/>
            <a:ext cx="14630400" cy="8229600"/>
          </a:xfrm>
          <a:prstGeom prst="rect">
            <a:avLst/>
          </a:prstGeom>
          <a:solidFill>
            <a:srgbClr val="FFFFF4">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spTree>
      <p:nvGrpSpPr>
        <p:cNvPr id="16" name="Shape 16"/>
        <p:cNvGrpSpPr/>
        <p:nvPr/>
      </p:nvGrpSpPr>
      <p:grpSpPr>
        <a:xfrm>
          <a:off x="0" y="0"/>
          <a:ext cx="0" cy="0"/>
          <a:chOff x="0" y="0"/>
          <a:chExt cx="0" cy="0"/>
        </a:xfrm>
      </p:grpSpPr>
      <p:sp>
        <p:nvSpPr>
          <p:cNvPr id="17" name="Google Shape;17;p4"/>
          <p:cNvSpPr/>
          <p:nvPr/>
        </p:nvSpPr>
        <p:spPr>
          <a:xfrm>
            <a:off x="0" y="0"/>
            <a:ext cx="14630400" cy="8229600"/>
          </a:xfrm>
          <a:prstGeom prst="rect">
            <a:avLst/>
          </a:prstGeom>
          <a:solidFill>
            <a:srgbClr val="DEC8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4"/>
          <p:cNvSpPr/>
          <p:nvPr/>
        </p:nvSpPr>
        <p:spPr>
          <a:xfrm>
            <a:off x="0" y="0"/>
            <a:ext cx="14630400" cy="8229600"/>
          </a:xfrm>
          <a:prstGeom prst="rect">
            <a:avLst/>
          </a:prstGeom>
          <a:solidFill>
            <a:srgbClr val="FFFFF4">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spTree>
      <p:nvGrpSpPr>
        <p:cNvPr id="19" name="Shape 19"/>
        <p:cNvGrpSpPr/>
        <p:nvPr/>
      </p:nvGrpSpPr>
      <p:grpSpPr>
        <a:xfrm>
          <a:off x="0" y="0"/>
          <a:ext cx="0" cy="0"/>
          <a:chOff x="0" y="0"/>
          <a:chExt cx="0" cy="0"/>
        </a:xfrm>
      </p:grpSpPr>
      <p:sp>
        <p:nvSpPr>
          <p:cNvPr id="20" name="Google Shape;20;p5"/>
          <p:cNvSpPr/>
          <p:nvPr/>
        </p:nvSpPr>
        <p:spPr>
          <a:xfrm>
            <a:off x="0" y="0"/>
            <a:ext cx="14630400" cy="8229600"/>
          </a:xfrm>
          <a:prstGeom prst="rect">
            <a:avLst/>
          </a:prstGeom>
          <a:solidFill>
            <a:srgbClr val="DEC8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5"/>
          <p:cNvSpPr/>
          <p:nvPr/>
        </p:nvSpPr>
        <p:spPr>
          <a:xfrm>
            <a:off x="0" y="0"/>
            <a:ext cx="14630400" cy="8229600"/>
          </a:xfrm>
          <a:prstGeom prst="rect">
            <a:avLst/>
          </a:prstGeom>
          <a:solidFill>
            <a:srgbClr val="FFFFF4">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spTree>
      <p:nvGrpSpPr>
        <p:cNvPr id="22" name="Shape 22"/>
        <p:cNvGrpSpPr/>
        <p:nvPr/>
      </p:nvGrpSpPr>
      <p:grpSpPr>
        <a:xfrm>
          <a:off x="0" y="0"/>
          <a:ext cx="0" cy="0"/>
          <a:chOff x="0" y="0"/>
          <a:chExt cx="0" cy="0"/>
        </a:xfrm>
      </p:grpSpPr>
      <p:sp>
        <p:nvSpPr>
          <p:cNvPr id="23" name="Google Shape;23;p6"/>
          <p:cNvSpPr/>
          <p:nvPr/>
        </p:nvSpPr>
        <p:spPr>
          <a:xfrm>
            <a:off x="0" y="0"/>
            <a:ext cx="14630400" cy="8229600"/>
          </a:xfrm>
          <a:prstGeom prst="rect">
            <a:avLst/>
          </a:prstGeom>
          <a:solidFill>
            <a:srgbClr val="DEC8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6"/>
          <p:cNvSpPr/>
          <p:nvPr/>
        </p:nvSpPr>
        <p:spPr>
          <a:xfrm>
            <a:off x="0" y="0"/>
            <a:ext cx="14630400" cy="8229600"/>
          </a:xfrm>
          <a:prstGeom prst="rect">
            <a:avLst/>
          </a:prstGeom>
          <a:solidFill>
            <a:srgbClr val="FFFFF4">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25" name="Shape 2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 name="Shape 30"/>
        <p:cNvGrpSpPr/>
        <p:nvPr/>
      </p:nvGrpSpPr>
      <p:grpSpPr>
        <a:xfrm>
          <a:off x="0" y="0"/>
          <a:ext cx="0" cy="0"/>
          <a:chOff x="0" y="0"/>
          <a:chExt cx="0" cy="0"/>
        </a:xfrm>
      </p:grpSpPr>
      <p:pic>
        <p:nvPicPr>
          <p:cNvPr descr="preencoded.png" id="31" name="Google Shape;31;p8"/>
          <p:cNvPicPr preferRelativeResize="0"/>
          <p:nvPr/>
        </p:nvPicPr>
        <p:blipFill rotWithShape="1">
          <a:blip r:embed="rId3">
            <a:alphaModFix/>
          </a:blip>
          <a:srcRect b="0" l="0" r="0" t="0"/>
          <a:stretch/>
        </p:blipFill>
        <p:spPr>
          <a:xfrm>
            <a:off x="0" y="0"/>
            <a:ext cx="5760720" cy="8229600"/>
          </a:xfrm>
          <a:prstGeom prst="rect">
            <a:avLst/>
          </a:prstGeom>
          <a:noFill/>
          <a:ln>
            <a:noFill/>
          </a:ln>
        </p:spPr>
      </p:pic>
      <p:sp>
        <p:nvSpPr>
          <p:cNvPr id="32" name="Google Shape;32;p8"/>
          <p:cNvSpPr/>
          <p:nvPr/>
        </p:nvSpPr>
        <p:spPr>
          <a:xfrm>
            <a:off x="6280190" y="2654737"/>
            <a:ext cx="7556421" cy="16954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32418"/>
              </a:buClr>
              <a:buSzPts val="5100"/>
              <a:buFont typeface="Marcellus"/>
              <a:buNone/>
            </a:pPr>
            <a:r>
              <a:rPr b="0" i="0" lang="en-US" sz="5100" u="none" cap="none" strike="noStrike">
                <a:solidFill>
                  <a:srgbClr val="532418"/>
                </a:solidFill>
                <a:latin typeface="Marcellus"/>
                <a:ea typeface="Marcellus"/>
                <a:cs typeface="Marcellus"/>
                <a:sym typeface="Marcellus"/>
              </a:rPr>
              <a:t>K-Nearest Neighbors: Key Takeaways</a:t>
            </a:r>
            <a:endParaRPr b="0" i="0" sz="5100" u="none" cap="none" strike="noStrike"/>
          </a:p>
        </p:txBody>
      </p:sp>
      <p:sp>
        <p:nvSpPr>
          <p:cNvPr id="33" name="Google Shape;33;p8"/>
          <p:cNvSpPr/>
          <p:nvPr/>
        </p:nvSpPr>
        <p:spPr>
          <a:xfrm>
            <a:off x="6280190" y="4690348"/>
            <a:ext cx="7556421" cy="884396"/>
          </a:xfrm>
          <a:prstGeom prst="rect">
            <a:avLst/>
          </a:prstGeom>
          <a:noFill/>
          <a:ln>
            <a:noFill/>
          </a:ln>
        </p:spPr>
        <p:txBody>
          <a:bodyPr anchorCtr="0" anchor="t" bIns="0" lIns="0" spcFirstLastPara="1" rIns="0" wrap="square" tIns="0">
            <a:noAutofit/>
          </a:bodyPr>
          <a:lstStyle/>
          <a:p>
            <a:pPr indent="0" lvl="0" marL="0" marR="0" rtl="0" algn="l">
              <a:lnSpc>
                <a:spcPct val="131428"/>
              </a:lnSpc>
              <a:spcBef>
                <a:spcPts val="0"/>
              </a:spcBef>
              <a:spcAft>
                <a:spcPts val="0"/>
              </a:spcAft>
              <a:buClr>
                <a:srgbClr val="67534F"/>
              </a:buClr>
              <a:buSzPts val="1750"/>
              <a:buFont typeface="Montserrat"/>
              <a:buNone/>
            </a:pPr>
            <a:r>
              <a:rPr b="0" i="0" lang="en-US" sz="1750" u="none" cap="none" strike="noStrike">
                <a:solidFill>
                  <a:srgbClr val="67534F"/>
                </a:solidFill>
                <a:latin typeface="Montserrat"/>
                <a:ea typeface="Montserrat"/>
                <a:cs typeface="Montserrat"/>
                <a:sym typeface="Montserrat"/>
              </a:rPr>
              <a:t>As we conclude our exploration of K-Nearest Neighbors, let's revisit the foundational concepts that make this algorithm both powerful and intuitive for classification tasks.</a:t>
            </a:r>
            <a:endParaRPr b="0" i="0" sz="1750" u="none" cap="none" strike="noStrike"/>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 name="Shape 38"/>
        <p:cNvGrpSpPr/>
        <p:nvPr/>
      </p:nvGrpSpPr>
      <p:grpSpPr>
        <a:xfrm>
          <a:off x="0" y="0"/>
          <a:ext cx="0" cy="0"/>
          <a:chOff x="0" y="0"/>
          <a:chExt cx="0" cy="0"/>
        </a:xfrm>
      </p:grpSpPr>
      <p:sp>
        <p:nvSpPr>
          <p:cNvPr id="39" name="Google Shape;39;p9"/>
          <p:cNvSpPr/>
          <p:nvPr/>
        </p:nvSpPr>
        <p:spPr>
          <a:xfrm>
            <a:off x="793790" y="1616631"/>
            <a:ext cx="5391626" cy="678180"/>
          </a:xfrm>
          <a:prstGeom prst="rect">
            <a:avLst/>
          </a:prstGeom>
          <a:noFill/>
          <a:ln>
            <a:noFill/>
          </a:ln>
        </p:spPr>
        <p:txBody>
          <a:bodyPr anchorCtr="0" anchor="t" bIns="0" lIns="0" spcFirstLastPara="1" rIns="0" wrap="square" tIns="0">
            <a:noAutofit/>
          </a:bodyPr>
          <a:lstStyle/>
          <a:p>
            <a:pPr indent="0" lvl="0" marL="0" marR="0" rtl="0" algn="l">
              <a:lnSpc>
                <a:spcPct val="129268"/>
              </a:lnSpc>
              <a:spcBef>
                <a:spcPts val="0"/>
              </a:spcBef>
              <a:spcAft>
                <a:spcPts val="0"/>
              </a:spcAft>
              <a:buClr>
                <a:srgbClr val="532418"/>
              </a:buClr>
              <a:buSzPts val="4100"/>
              <a:buFont typeface="Marcellus"/>
              <a:buNone/>
            </a:pPr>
            <a:r>
              <a:rPr b="0" i="0" lang="en-US" sz="4100" u="none" cap="none" strike="noStrike">
                <a:solidFill>
                  <a:srgbClr val="532418"/>
                </a:solidFill>
                <a:latin typeface="Marcellus"/>
                <a:ea typeface="Marcellus"/>
                <a:cs typeface="Marcellus"/>
                <a:sym typeface="Marcellus"/>
              </a:rPr>
              <a:t>Core Principles of KNN</a:t>
            </a:r>
            <a:endParaRPr b="0" i="0" sz="4100" u="none" cap="none" strike="noStrike"/>
          </a:p>
        </p:txBody>
      </p:sp>
      <p:sp>
        <p:nvSpPr>
          <p:cNvPr id="40" name="Google Shape;40;p9"/>
          <p:cNvSpPr/>
          <p:nvPr/>
        </p:nvSpPr>
        <p:spPr>
          <a:xfrm>
            <a:off x="793790" y="2748439"/>
            <a:ext cx="4196358" cy="3864412"/>
          </a:xfrm>
          <a:prstGeom prst="roundRect">
            <a:avLst>
              <a:gd fmla="val 2465" name="adj"/>
            </a:avLst>
          </a:prstGeom>
          <a:solidFill>
            <a:srgbClr val="FFFFF4"/>
          </a:solidFill>
          <a:ln cap="flat" cmpd="sng" w="22850">
            <a:solidFill>
              <a:srgbClr val="FFE0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9"/>
          <p:cNvSpPr/>
          <p:nvPr/>
        </p:nvSpPr>
        <p:spPr>
          <a:xfrm>
            <a:off x="1043464" y="2998113"/>
            <a:ext cx="680442" cy="680442"/>
          </a:xfrm>
          <a:prstGeom prst="roundRect">
            <a:avLst>
              <a:gd fmla="val 13436980" name="adj"/>
            </a:avLst>
          </a:prstGeom>
          <a:solidFill>
            <a:srgbClr val="FF95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2" name="Google Shape;42;p9"/>
          <p:cNvPicPr preferRelativeResize="0"/>
          <p:nvPr/>
        </p:nvPicPr>
        <p:blipFill rotWithShape="1">
          <a:blip r:embed="rId3">
            <a:alphaModFix/>
          </a:blip>
          <a:srcRect b="0" l="0" r="0" t="0"/>
          <a:stretch/>
        </p:blipFill>
        <p:spPr>
          <a:xfrm>
            <a:off x="1230630" y="3185279"/>
            <a:ext cx="306110" cy="306110"/>
          </a:xfrm>
          <a:prstGeom prst="rect">
            <a:avLst/>
          </a:prstGeom>
          <a:noFill/>
          <a:ln>
            <a:noFill/>
          </a:ln>
        </p:spPr>
      </p:pic>
      <p:sp>
        <p:nvSpPr>
          <p:cNvPr id="43" name="Google Shape;43;p9"/>
          <p:cNvSpPr/>
          <p:nvPr/>
        </p:nvSpPr>
        <p:spPr>
          <a:xfrm>
            <a:off x="1043464" y="3905369"/>
            <a:ext cx="3697010" cy="847725"/>
          </a:xfrm>
          <a:prstGeom prst="rect">
            <a:avLst/>
          </a:prstGeom>
          <a:noFill/>
          <a:ln>
            <a:noFill/>
          </a:ln>
        </p:spPr>
        <p:txBody>
          <a:bodyPr anchorCtr="0" anchor="t" bIns="0" lIns="0" spcFirstLastPara="1" rIns="0" wrap="square" tIns="0">
            <a:noAutofit/>
          </a:bodyPr>
          <a:lstStyle/>
          <a:p>
            <a:pPr indent="0" lvl="0" marL="0" marR="0" rtl="0" algn="l">
              <a:lnSpc>
                <a:spcPct val="129411"/>
              </a:lnSpc>
              <a:spcBef>
                <a:spcPts val="0"/>
              </a:spcBef>
              <a:spcAft>
                <a:spcPts val="0"/>
              </a:spcAft>
              <a:buClr>
                <a:srgbClr val="67534F"/>
              </a:buClr>
              <a:buSzPts val="2550"/>
              <a:buFont typeface="Marcellus"/>
              <a:buNone/>
            </a:pPr>
            <a:r>
              <a:rPr b="0" i="0" lang="en-US" sz="2550" u="none" cap="none" strike="noStrike">
                <a:solidFill>
                  <a:srgbClr val="67534F"/>
                </a:solidFill>
                <a:latin typeface="Marcellus"/>
                <a:ea typeface="Marcellus"/>
                <a:cs typeface="Marcellus"/>
                <a:sym typeface="Marcellus"/>
              </a:rPr>
              <a:t>Distance Defines Neighbors</a:t>
            </a:r>
            <a:endParaRPr b="0" i="0" sz="2550" u="none" cap="none" strike="noStrike"/>
          </a:p>
        </p:txBody>
      </p:sp>
      <p:sp>
        <p:nvSpPr>
          <p:cNvPr id="44" name="Google Shape;44;p9"/>
          <p:cNvSpPr/>
          <p:nvPr/>
        </p:nvSpPr>
        <p:spPr>
          <a:xfrm>
            <a:off x="1043464" y="4889182"/>
            <a:ext cx="3697010" cy="1473994"/>
          </a:xfrm>
          <a:prstGeom prst="rect">
            <a:avLst/>
          </a:prstGeom>
          <a:noFill/>
          <a:ln>
            <a:noFill/>
          </a:ln>
        </p:spPr>
        <p:txBody>
          <a:bodyPr anchorCtr="0" anchor="t" bIns="0" lIns="0" spcFirstLastPara="1" rIns="0" wrap="square" tIns="0">
            <a:noAutofit/>
          </a:bodyPr>
          <a:lstStyle/>
          <a:p>
            <a:pPr indent="0" lvl="0" marL="0" marR="0" rtl="0" algn="l">
              <a:lnSpc>
                <a:spcPct val="131428"/>
              </a:lnSpc>
              <a:spcBef>
                <a:spcPts val="0"/>
              </a:spcBef>
              <a:spcAft>
                <a:spcPts val="0"/>
              </a:spcAft>
              <a:buClr>
                <a:srgbClr val="67534F"/>
              </a:buClr>
              <a:buSzPts val="1750"/>
              <a:buFont typeface="Montserrat"/>
              <a:buNone/>
            </a:pPr>
            <a:r>
              <a:rPr b="0" i="0" lang="en-US" sz="1750" u="none" cap="none" strike="noStrike">
                <a:solidFill>
                  <a:srgbClr val="67534F"/>
                </a:solidFill>
                <a:latin typeface="Montserrat"/>
                <a:ea typeface="Montserrat"/>
                <a:cs typeface="Montserrat"/>
                <a:sym typeface="Montserrat"/>
              </a:rPr>
              <a:t>The algorithm relies on distance metrics (typically Euclidean) to identify which data points are "nearest" to make predictions based on proximity.</a:t>
            </a:r>
            <a:endParaRPr b="0" i="0" sz="1750" u="none" cap="none" strike="noStrike"/>
          </a:p>
        </p:txBody>
      </p:sp>
      <p:sp>
        <p:nvSpPr>
          <p:cNvPr id="45" name="Google Shape;45;p9"/>
          <p:cNvSpPr/>
          <p:nvPr/>
        </p:nvSpPr>
        <p:spPr>
          <a:xfrm>
            <a:off x="5216962" y="2748439"/>
            <a:ext cx="4196358" cy="3864412"/>
          </a:xfrm>
          <a:prstGeom prst="roundRect">
            <a:avLst>
              <a:gd fmla="val 2465" name="adj"/>
            </a:avLst>
          </a:prstGeom>
          <a:solidFill>
            <a:srgbClr val="FFFFF4"/>
          </a:solidFill>
          <a:ln cap="flat" cmpd="sng" w="22850">
            <a:solidFill>
              <a:srgbClr val="FFE0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9"/>
          <p:cNvSpPr/>
          <p:nvPr/>
        </p:nvSpPr>
        <p:spPr>
          <a:xfrm>
            <a:off x="5466636" y="2998113"/>
            <a:ext cx="680442" cy="680442"/>
          </a:xfrm>
          <a:prstGeom prst="roundRect">
            <a:avLst>
              <a:gd fmla="val 13436980" name="adj"/>
            </a:avLst>
          </a:prstGeom>
          <a:solidFill>
            <a:srgbClr val="FF95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7" name="Google Shape;47;p9"/>
          <p:cNvPicPr preferRelativeResize="0"/>
          <p:nvPr/>
        </p:nvPicPr>
        <p:blipFill rotWithShape="1">
          <a:blip r:embed="rId4">
            <a:alphaModFix/>
          </a:blip>
          <a:srcRect b="0" l="0" r="0" t="0"/>
          <a:stretch/>
        </p:blipFill>
        <p:spPr>
          <a:xfrm>
            <a:off x="5653802" y="3185279"/>
            <a:ext cx="306110" cy="306110"/>
          </a:xfrm>
          <a:prstGeom prst="rect">
            <a:avLst/>
          </a:prstGeom>
          <a:noFill/>
          <a:ln>
            <a:noFill/>
          </a:ln>
        </p:spPr>
      </p:pic>
      <p:sp>
        <p:nvSpPr>
          <p:cNvPr id="48" name="Google Shape;48;p9"/>
          <p:cNvSpPr/>
          <p:nvPr/>
        </p:nvSpPr>
        <p:spPr>
          <a:xfrm>
            <a:off x="5466636" y="3905369"/>
            <a:ext cx="3260646" cy="423863"/>
          </a:xfrm>
          <a:prstGeom prst="rect">
            <a:avLst/>
          </a:prstGeom>
          <a:noFill/>
          <a:ln>
            <a:noFill/>
          </a:ln>
        </p:spPr>
        <p:txBody>
          <a:bodyPr anchorCtr="0" anchor="t" bIns="0" lIns="0" spcFirstLastPara="1" rIns="0" wrap="square" tIns="0">
            <a:noAutofit/>
          </a:bodyPr>
          <a:lstStyle/>
          <a:p>
            <a:pPr indent="0" lvl="0" marL="0" marR="0" rtl="0" algn="l">
              <a:lnSpc>
                <a:spcPct val="129411"/>
              </a:lnSpc>
              <a:spcBef>
                <a:spcPts val="0"/>
              </a:spcBef>
              <a:spcAft>
                <a:spcPts val="0"/>
              </a:spcAft>
              <a:buClr>
                <a:srgbClr val="67534F"/>
              </a:buClr>
              <a:buSzPts val="2550"/>
              <a:buFont typeface="Marcellus"/>
              <a:buNone/>
            </a:pPr>
            <a:r>
              <a:rPr b="0" i="0" lang="en-US" sz="2550" u="none" cap="none" strike="noStrike">
                <a:solidFill>
                  <a:srgbClr val="67534F"/>
                </a:solidFill>
                <a:latin typeface="Marcellus"/>
                <a:ea typeface="Marcellus"/>
                <a:cs typeface="Marcellus"/>
                <a:sym typeface="Marcellus"/>
              </a:rPr>
              <a:t>Scaling is Mandatory</a:t>
            </a:r>
            <a:endParaRPr b="0" i="0" sz="2550" u="none" cap="none" strike="noStrike"/>
          </a:p>
        </p:txBody>
      </p:sp>
      <p:sp>
        <p:nvSpPr>
          <p:cNvPr id="49" name="Google Shape;49;p9"/>
          <p:cNvSpPr/>
          <p:nvPr/>
        </p:nvSpPr>
        <p:spPr>
          <a:xfrm>
            <a:off x="5466636" y="4465320"/>
            <a:ext cx="3697010" cy="1473994"/>
          </a:xfrm>
          <a:prstGeom prst="rect">
            <a:avLst/>
          </a:prstGeom>
          <a:noFill/>
          <a:ln>
            <a:noFill/>
          </a:ln>
        </p:spPr>
        <p:txBody>
          <a:bodyPr anchorCtr="0" anchor="t" bIns="0" lIns="0" spcFirstLastPara="1" rIns="0" wrap="square" tIns="0">
            <a:noAutofit/>
          </a:bodyPr>
          <a:lstStyle/>
          <a:p>
            <a:pPr indent="0" lvl="0" marL="0" marR="0" rtl="0" algn="l">
              <a:lnSpc>
                <a:spcPct val="131428"/>
              </a:lnSpc>
              <a:spcBef>
                <a:spcPts val="0"/>
              </a:spcBef>
              <a:spcAft>
                <a:spcPts val="0"/>
              </a:spcAft>
              <a:buClr>
                <a:srgbClr val="67534F"/>
              </a:buClr>
              <a:buSzPts val="1750"/>
              <a:buFont typeface="Montserrat"/>
              <a:buNone/>
            </a:pPr>
            <a:r>
              <a:rPr b="0" i="0" lang="en-US" sz="1750" u="none" cap="none" strike="noStrike">
                <a:solidFill>
                  <a:srgbClr val="67534F"/>
                </a:solidFill>
                <a:latin typeface="Montserrat"/>
                <a:ea typeface="Montserrat"/>
                <a:cs typeface="Montserrat"/>
                <a:sym typeface="Montserrat"/>
              </a:rPr>
              <a:t>Feature scaling is essential because KNN is distance-based. Features with larger ranges will dominate the distance calculation, skewing results.</a:t>
            </a:r>
            <a:endParaRPr b="0" i="0" sz="1750" u="none" cap="none" strike="noStrike"/>
          </a:p>
        </p:txBody>
      </p:sp>
      <p:sp>
        <p:nvSpPr>
          <p:cNvPr id="50" name="Google Shape;50;p9"/>
          <p:cNvSpPr/>
          <p:nvPr/>
        </p:nvSpPr>
        <p:spPr>
          <a:xfrm>
            <a:off x="9640133" y="2748439"/>
            <a:ext cx="4196358" cy="3864412"/>
          </a:xfrm>
          <a:prstGeom prst="roundRect">
            <a:avLst>
              <a:gd fmla="val 2465" name="adj"/>
            </a:avLst>
          </a:prstGeom>
          <a:solidFill>
            <a:srgbClr val="FFFFF4"/>
          </a:solidFill>
          <a:ln cap="flat" cmpd="sng" w="22850">
            <a:solidFill>
              <a:srgbClr val="FFE0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9"/>
          <p:cNvSpPr/>
          <p:nvPr/>
        </p:nvSpPr>
        <p:spPr>
          <a:xfrm>
            <a:off x="9889808" y="2998113"/>
            <a:ext cx="680442" cy="680442"/>
          </a:xfrm>
          <a:prstGeom prst="roundRect">
            <a:avLst>
              <a:gd fmla="val 13436980" name="adj"/>
            </a:avLst>
          </a:prstGeom>
          <a:solidFill>
            <a:srgbClr val="FF95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2" name="Google Shape;52;p9"/>
          <p:cNvPicPr preferRelativeResize="0"/>
          <p:nvPr/>
        </p:nvPicPr>
        <p:blipFill rotWithShape="1">
          <a:blip r:embed="rId5">
            <a:alphaModFix/>
          </a:blip>
          <a:srcRect b="0" l="0" r="0" t="0"/>
          <a:stretch/>
        </p:blipFill>
        <p:spPr>
          <a:xfrm>
            <a:off x="10076974" y="3185279"/>
            <a:ext cx="306110" cy="306110"/>
          </a:xfrm>
          <a:prstGeom prst="rect">
            <a:avLst/>
          </a:prstGeom>
          <a:noFill/>
          <a:ln>
            <a:noFill/>
          </a:ln>
        </p:spPr>
      </p:pic>
      <p:sp>
        <p:nvSpPr>
          <p:cNvPr id="53" name="Google Shape;53;p9"/>
          <p:cNvSpPr/>
          <p:nvPr/>
        </p:nvSpPr>
        <p:spPr>
          <a:xfrm>
            <a:off x="9889808" y="3905369"/>
            <a:ext cx="3381970" cy="423863"/>
          </a:xfrm>
          <a:prstGeom prst="rect">
            <a:avLst/>
          </a:prstGeom>
          <a:noFill/>
          <a:ln>
            <a:noFill/>
          </a:ln>
        </p:spPr>
        <p:txBody>
          <a:bodyPr anchorCtr="0" anchor="t" bIns="0" lIns="0" spcFirstLastPara="1" rIns="0" wrap="square" tIns="0">
            <a:noAutofit/>
          </a:bodyPr>
          <a:lstStyle/>
          <a:p>
            <a:pPr indent="0" lvl="0" marL="0" marR="0" rtl="0" algn="l">
              <a:lnSpc>
                <a:spcPct val="129411"/>
              </a:lnSpc>
              <a:spcBef>
                <a:spcPts val="0"/>
              </a:spcBef>
              <a:spcAft>
                <a:spcPts val="0"/>
              </a:spcAft>
              <a:buClr>
                <a:srgbClr val="67534F"/>
              </a:buClr>
              <a:buSzPts val="2550"/>
              <a:buFont typeface="Marcellus"/>
              <a:buNone/>
            </a:pPr>
            <a:r>
              <a:rPr b="0" i="0" lang="en-US" sz="2550" u="none" cap="none" strike="noStrike">
                <a:solidFill>
                  <a:srgbClr val="67534F"/>
                </a:solidFill>
                <a:latin typeface="Marcellus"/>
                <a:ea typeface="Marcellus"/>
                <a:cs typeface="Marcellus"/>
                <a:sym typeface="Marcellus"/>
              </a:rPr>
              <a:t>K Controls Smoothness</a:t>
            </a:r>
            <a:endParaRPr b="0" i="0" sz="2550" u="none" cap="none" strike="noStrike"/>
          </a:p>
        </p:txBody>
      </p:sp>
      <p:sp>
        <p:nvSpPr>
          <p:cNvPr id="54" name="Google Shape;54;p9"/>
          <p:cNvSpPr/>
          <p:nvPr/>
        </p:nvSpPr>
        <p:spPr>
          <a:xfrm>
            <a:off x="9889808" y="4465320"/>
            <a:ext cx="3697010" cy="1768793"/>
          </a:xfrm>
          <a:prstGeom prst="rect">
            <a:avLst/>
          </a:prstGeom>
          <a:noFill/>
          <a:ln>
            <a:noFill/>
          </a:ln>
        </p:spPr>
        <p:txBody>
          <a:bodyPr anchorCtr="0" anchor="t" bIns="0" lIns="0" spcFirstLastPara="1" rIns="0" wrap="square" tIns="0">
            <a:noAutofit/>
          </a:bodyPr>
          <a:lstStyle/>
          <a:p>
            <a:pPr indent="0" lvl="0" marL="0" marR="0" rtl="0" algn="l">
              <a:lnSpc>
                <a:spcPct val="131428"/>
              </a:lnSpc>
              <a:spcBef>
                <a:spcPts val="0"/>
              </a:spcBef>
              <a:spcAft>
                <a:spcPts val="0"/>
              </a:spcAft>
              <a:buClr>
                <a:srgbClr val="67534F"/>
              </a:buClr>
              <a:buSzPts val="1750"/>
              <a:buFont typeface="Montserrat"/>
              <a:buNone/>
            </a:pPr>
            <a:r>
              <a:rPr b="0" i="0" lang="en-US" sz="1750" u="none" cap="none" strike="noStrike">
                <a:solidFill>
                  <a:srgbClr val="67534F"/>
                </a:solidFill>
                <a:latin typeface="Montserrat"/>
                <a:ea typeface="Montserrat"/>
                <a:cs typeface="Montserrat"/>
                <a:sym typeface="Montserrat"/>
              </a:rPr>
              <a:t>The value of K determines the decision boundary's smoothness. Lower K creates complex boundaries; higher K produces smoother, more generalized ones.</a:t>
            </a:r>
            <a:endParaRPr b="0" i="0" sz="1750" u="none" cap="none" strike="noStrike"/>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0"/>
          <p:cNvSpPr/>
          <p:nvPr/>
        </p:nvSpPr>
        <p:spPr>
          <a:xfrm>
            <a:off x="793790" y="2441377"/>
            <a:ext cx="5216962" cy="678180"/>
          </a:xfrm>
          <a:prstGeom prst="rect">
            <a:avLst/>
          </a:prstGeom>
          <a:noFill/>
          <a:ln>
            <a:noFill/>
          </a:ln>
        </p:spPr>
        <p:txBody>
          <a:bodyPr anchorCtr="0" anchor="t" bIns="0" lIns="0" spcFirstLastPara="1" rIns="0" wrap="square" tIns="0">
            <a:noAutofit/>
          </a:bodyPr>
          <a:lstStyle/>
          <a:p>
            <a:pPr indent="0" lvl="0" marL="0" marR="0" rtl="0" algn="l">
              <a:lnSpc>
                <a:spcPct val="129268"/>
              </a:lnSpc>
              <a:spcBef>
                <a:spcPts val="0"/>
              </a:spcBef>
              <a:spcAft>
                <a:spcPts val="0"/>
              </a:spcAft>
              <a:buClr>
                <a:srgbClr val="532418"/>
              </a:buClr>
              <a:buSzPts val="4100"/>
              <a:buFont typeface="Marcellus"/>
              <a:buNone/>
            </a:pPr>
            <a:r>
              <a:rPr b="0" i="0" lang="en-US" sz="4100" u="none" cap="none" strike="noStrike">
                <a:solidFill>
                  <a:srgbClr val="532418"/>
                </a:solidFill>
                <a:latin typeface="Marcellus"/>
                <a:ea typeface="Marcellus"/>
                <a:cs typeface="Marcellus"/>
                <a:sym typeface="Marcellus"/>
              </a:rPr>
              <a:t>When KNN Excels</a:t>
            </a:r>
            <a:endParaRPr b="0" i="0" sz="4100" u="none" cap="none" strike="noStrike"/>
          </a:p>
        </p:txBody>
      </p:sp>
      <p:sp>
        <p:nvSpPr>
          <p:cNvPr id="61" name="Google Shape;61;p10"/>
          <p:cNvSpPr/>
          <p:nvPr/>
        </p:nvSpPr>
        <p:spPr>
          <a:xfrm>
            <a:off x="793790" y="3210282"/>
            <a:ext cx="3912751" cy="508516"/>
          </a:xfrm>
          <a:prstGeom prst="rect">
            <a:avLst/>
          </a:prstGeom>
          <a:noFill/>
          <a:ln>
            <a:noFill/>
          </a:ln>
        </p:spPr>
        <p:txBody>
          <a:bodyPr anchorCtr="0" anchor="t" bIns="0" lIns="0" spcFirstLastPara="1" rIns="0" wrap="square" tIns="0">
            <a:noAutofit/>
          </a:bodyPr>
          <a:lstStyle/>
          <a:p>
            <a:pPr indent="0" lvl="0" marL="0" marR="0" rtl="0" algn="l">
              <a:lnSpc>
                <a:spcPct val="131147"/>
              </a:lnSpc>
              <a:spcBef>
                <a:spcPts val="0"/>
              </a:spcBef>
              <a:spcAft>
                <a:spcPts val="0"/>
              </a:spcAft>
              <a:buClr>
                <a:srgbClr val="532418"/>
              </a:buClr>
              <a:buSzPts val="3050"/>
              <a:buFont typeface="Marcellus"/>
              <a:buNone/>
            </a:pPr>
            <a:r>
              <a:rPr b="0" i="0" lang="en-US" sz="3050" u="none" cap="none" strike="noStrike">
                <a:solidFill>
                  <a:srgbClr val="532418"/>
                </a:solidFill>
                <a:latin typeface="Marcellus"/>
                <a:ea typeface="Marcellus"/>
                <a:cs typeface="Marcellus"/>
                <a:sym typeface="Marcellus"/>
              </a:rPr>
              <a:t>Ideal Use Cases</a:t>
            </a:r>
            <a:endParaRPr b="0" i="0" sz="3050" u="none" cap="none" strike="noStrike"/>
          </a:p>
        </p:txBody>
      </p:sp>
      <p:sp>
        <p:nvSpPr>
          <p:cNvPr id="62" name="Google Shape;62;p10"/>
          <p:cNvSpPr/>
          <p:nvPr/>
        </p:nvSpPr>
        <p:spPr>
          <a:xfrm>
            <a:off x="793790" y="4058960"/>
            <a:ext cx="13042821" cy="884396"/>
          </a:xfrm>
          <a:prstGeom prst="rect">
            <a:avLst/>
          </a:prstGeom>
          <a:noFill/>
          <a:ln>
            <a:noFill/>
          </a:ln>
        </p:spPr>
        <p:txBody>
          <a:bodyPr anchorCtr="0" anchor="t" bIns="0" lIns="0" spcFirstLastPara="1" rIns="0" wrap="square" tIns="0">
            <a:noAutofit/>
          </a:bodyPr>
          <a:lstStyle/>
          <a:p>
            <a:pPr indent="0" lvl="0" marL="0" marR="0" rtl="0" algn="l">
              <a:lnSpc>
                <a:spcPct val="131428"/>
              </a:lnSpc>
              <a:spcBef>
                <a:spcPts val="0"/>
              </a:spcBef>
              <a:spcAft>
                <a:spcPts val="0"/>
              </a:spcAft>
              <a:buClr>
                <a:srgbClr val="67534F"/>
              </a:buClr>
              <a:buSzPts val="1750"/>
              <a:buFont typeface="Montserrat"/>
              <a:buNone/>
            </a:pPr>
            <a:r>
              <a:rPr b="0" i="0" lang="en-US" sz="1750" u="none" cap="none" strike="noStrike">
                <a:solidFill>
                  <a:srgbClr val="67534F"/>
                </a:solidFill>
                <a:latin typeface="Montserrat"/>
                <a:ea typeface="Montserrat"/>
                <a:cs typeface="Montserrat"/>
                <a:sym typeface="Montserrat"/>
              </a:rPr>
              <a:t>KNN performs best with </a:t>
            </a:r>
            <a:r>
              <a:rPr b="1" i="0" lang="en-US" sz="1750" u="none" cap="none" strike="noStrike">
                <a:solidFill>
                  <a:srgbClr val="67534F"/>
                </a:solidFill>
                <a:latin typeface="Montserrat"/>
                <a:ea typeface="Montserrat"/>
                <a:cs typeface="Montserrat"/>
                <a:sym typeface="Montserrat"/>
              </a:rPr>
              <a:t>small to medium-sized datasets</a:t>
            </a:r>
            <a:r>
              <a:rPr b="0" i="0" lang="en-US" sz="1750" u="none" cap="none" strike="noStrike">
                <a:solidFill>
                  <a:srgbClr val="67534F"/>
                </a:solidFill>
                <a:latin typeface="Montserrat"/>
                <a:ea typeface="Montserrat"/>
                <a:cs typeface="Montserrat"/>
                <a:sym typeface="Montserrat"/>
              </a:rPr>
              <a:t> where computational efficiency isn't critical. The algorithm shines when working with </a:t>
            </a:r>
            <a:r>
              <a:rPr b="1" i="0" lang="en-US" sz="1750" u="none" cap="none" strike="noStrike">
                <a:solidFill>
                  <a:srgbClr val="67534F"/>
                </a:solidFill>
                <a:latin typeface="Montserrat"/>
                <a:ea typeface="Montserrat"/>
                <a:cs typeface="Montserrat"/>
                <a:sym typeface="Montserrat"/>
              </a:rPr>
              <a:t>low-dimensional data</a:t>
            </a:r>
            <a:r>
              <a:rPr b="0" i="0" lang="en-US" sz="1750" u="none" cap="none" strike="noStrike">
                <a:solidFill>
                  <a:srgbClr val="67534F"/>
                </a:solidFill>
                <a:latin typeface="Montserrat"/>
                <a:ea typeface="Montserrat"/>
                <a:cs typeface="Montserrat"/>
                <a:sym typeface="Montserrat"/>
              </a:rPr>
              <a:t> (fewer features), as distance calculations remain meaningful and accurate.</a:t>
            </a:r>
            <a:endParaRPr b="0" i="0" sz="1750" u="none" cap="none" strike="noStrike"/>
          </a:p>
        </p:txBody>
      </p:sp>
      <p:sp>
        <p:nvSpPr>
          <p:cNvPr id="63" name="Google Shape;63;p10"/>
          <p:cNvSpPr/>
          <p:nvPr/>
        </p:nvSpPr>
        <p:spPr>
          <a:xfrm>
            <a:off x="793790" y="5198507"/>
            <a:ext cx="13042821" cy="589598"/>
          </a:xfrm>
          <a:prstGeom prst="rect">
            <a:avLst/>
          </a:prstGeom>
          <a:noFill/>
          <a:ln>
            <a:noFill/>
          </a:ln>
        </p:spPr>
        <p:txBody>
          <a:bodyPr anchorCtr="0" anchor="t" bIns="0" lIns="0" spcFirstLastPara="1" rIns="0" wrap="square" tIns="0">
            <a:noAutofit/>
          </a:bodyPr>
          <a:lstStyle/>
          <a:p>
            <a:pPr indent="0" lvl="0" marL="0" marR="0" rtl="0" algn="l">
              <a:lnSpc>
                <a:spcPct val="131428"/>
              </a:lnSpc>
              <a:spcBef>
                <a:spcPts val="0"/>
              </a:spcBef>
              <a:spcAft>
                <a:spcPts val="0"/>
              </a:spcAft>
              <a:buClr>
                <a:srgbClr val="67534F"/>
              </a:buClr>
              <a:buSzPts val="1750"/>
              <a:buFont typeface="Montserrat"/>
              <a:buNone/>
            </a:pPr>
            <a:r>
              <a:rPr b="0" i="0" lang="en-US" sz="1750" u="none" cap="none" strike="noStrike">
                <a:solidFill>
                  <a:srgbClr val="67534F"/>
                </a:solidFill>
                <a:latin typeface="Montserrat"/>
                <a:ea typeface="Montserrat"/>
                <a:cs typeface="Montserrat"/>
                <a:sym typeface="Montserrat"/>
              </a:rPr>
              <a:t>Perfect for recommendation systems, pattern recognition, and scenarios where the relationship between features and outcomes is complex but proximity-based.</a:t>
            </a:r>
            <a:endParaRPr b="0" i="0" sz="1750" u="none" cap="none" strike="noStrike"/>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1"/>
          <p:cNvSpPr/>
          <p:nvPr/>
        </p:nvSpPr>
        <p:spPr>
          <a:xfrm>
            <a:off x="793790" y="2331363"/>
            <a:ext cx="5216962" cy="678180"/>
          </a:xfrm>
          <a:prstGeom prst="rect">
            <a:avLst/>
          </a:prstGeom>
          <a:noFill/>
          <a:ln>
            <a:noFill/>
          </a:ln>
        </p:spPr>
        <p:txBody>
          <a:bodyPr anchorCtr="0" anchor="t" bIns="0" lIns="0" spcFirstLastPara="1" rIns="0" wrap="square" tIns="0">
            <a:noAutofit/>
          </a:bodyPr>
          <a:lstStyle/>
          <a:p>
            <a:pPr indent="0" lvl="0" marL="0" marR="0" rtl="0" algn="l">
              <a:lnSpc>
                <a:spcPct val="129268"/>
              </a:lnSpc>
              <a:spcBef>
                <a:spcPts val="0"/>
              </a:spcBef>
              <a:spcAft>
                <a:spcPts val="0"/>
              </a:spcAft>
              <a:buClr>
                <a:srgbClr val="532418"/>
              </a:buClr>
              <a:buSzPts val="4100"/>
              <a:buFont typeface="Marcellus"/>
              <a:buNone/>
            </a:pPr>
            <a:r>
              <a:rPr b="0" i="0" lang="en-US" sz="4100" u="none" cap="none" strike="noStrike">
                <a:solidFill>
                  <a:srgbClr val="532418"/>
                </a:solidFill>
                <a:latin typeface="Marcellus"/>
                <a:ea typeface="Marcellus"/>
                <a:cs typeface="Marcellus"/>
                <a:sym typeface="Marcellus"/>
              </a:rPr>
              <a:t>When to Avoid KNN</a:t>
            </a:r>
            <a:endParaRPr b="0" i="0" sz="4100" u="none" cap="none" strike="noStrike"/>
          </a:p>
        </p:txBody>
      </p:sp>
      <p:sp>
        <p:nvSpPr>
          <p:cNvPr id="70" name="Google Shape;70;p11"/>
          <p:cNvSpPr/>
          <p:nvPr/>
        </p:nvSpPr>
        <p:spPr>
          <a:xfrm>
            <a:off x="793790" y="3349704"/>
            <a:ext cx="6407944" cy="2548533"/>
          </a:xfrm>
          <a:prstGeom prst="roundRect">
            <a:avLst>
              <a:gd fmla="val 5741" name="adj"/>
            </a:avLst>
          </a:prstGeom>
          <a:solidFill>
            <a:srgbClr val="FFFFF4">
              <a:alpha val="94901"/>
            </a:srgbClr>
          </a:solidFill>
          <a:ln cap="flat" cmpd="sng" w="30475">
            <a:solidFill>
              <a:srgbClr val="FFE0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11"/>
          <p:cNvSpPr/>
          <p:nvPr/>
        </p:nvSpPr>
        <p:spPr>
          <a:xfrm>
            <a:off x="763310" y="3349704"/>
            <a:ext cx="121920" cy="2548533"/>
          </a:xfrm>
          <a:prstGeom prst="roundRect">
            <a:avLst>
              <a:gd fmla="val 78139" name="adj"/>
            </a:avLst>
          </a:prstGeom>
          <a:solidFill>
            <a:srgbClr val="FF95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1"/>
          <p:cNvSpPr/>
          <p:nvPr/>
        </p:nvSpPr>
        <p:spPr>
          <a:xfrm>
            <a:off x="1142524" y="3606998"/>
            <a:ext cx="3260646" cy="423863"/>
          </a:xfrm>
          <a:prstGeom prst="rect">
            <a:avLst/>
          </a:prstGeom>
          <a:noFill/>
          <a:ln>
            <a:noFill/>
          </a:ln>
        </p:spPr>
        <p:txBody>
          <a:bodyPr anchorCtr="0" anchor="t" bIns="0" lIns="0" spcFirstLastPara="1" rIns="0" wrap="square" tIns="0">
            <a:noAutofit/>
          </a:bodyPr>
          <a:lstStyle/>
          <a:p>
            <a:pPr indent="0" lvl="0" marL="0" marR="0" rtl="0" algn="l">
              <a:lnSpc>
                <a:spcPct val="129411"/>
              </a:lnSpc>
              <a:spcBef>
                <a:spcPts val="0"/>
              </a:spcBef>
              <a:spcAft>
                <a:spcPts val="0"/>
              </a:spcAft>
              <a:buClr>
                <a:srgbClr val="67534F"/>
              </a:buClr>
              <a:buSzPts val="2550"/>
              <a:buFont typeface="Marcellus"/>
              <a:buNone/>
            </a:pPr>
            <a:r>
              <a:rPr b="0" i="0" lang="en-US" sz="2550" u="none" cap="none" strike="noStrike">
                <a:solidFill>
                  <a:srgbClr val="67534F"/>
                </a:solidFill>
                <a:latin typeface="Marcellus"/>
                <a:ea typeface="Marcellus"/>
                <a:cs typeface="Marcellus"/>
                <a:sym typeface="Marcellus"/>
              </a:rPr>
              <a:t>Large Datasets</a:t>
            </a:r>
            <a:endParaRPr b="0" i="0" sz="2550" u="none" cap="none" strike="noStrike"/>
          </a:p>
        </p:txBody>
      </p:sp>
      <p:sp>
        <p:nvSpPr>
          <p:cNvPr id="73" name="Google Shape;73;p11"/>
          <p:cNvSpPr/>
          <p:nvPr/>
        </p:nvSpPr>
        <p:spPr>
          <a:xfrm>
            <a:off x="1142524" y="4166949"/>
            <a:ext cx="5801916" cy="1473994"/>
          </a:xfrm>
          <a:prstGeom prst="rect">
            <a:avLst/>
          </a:prstGeom>
          <a:noFill/>
          <a:ln>
            <a:noFill/>
          </a:ln>
        </p:spPr>
        <p:txBody>
          <a:bodyPr anchorCtr="0" anchor="t" bIns="0" lIns="0" spcFirstLastPara="1" rIns="0" wrap="square" tIns="0">
            <a:noAutofit/>
          </a:bodyPr>
          <a:lstStyle/>
          <a:p>
            <a:pPr indent="0" lvl="0" marL="0" marR="0" rtl="0" algn="l">
              <a:lnSpc>
                <a:spcPct val="131428"/>
              </a:lnSpc>
              <a:spcBef>
                <a:spcPts val="0"/>
              </a:spcBef>
              <a:spcAft>
                <a:spcPts val="0"/>
              </a:spcAft>
              <a:buClr>
                <a:srgbClr val="67534F"/>
              </a:buClr>
              <a:buSzPts val="1750"/>
              <a:buFont typeface="Montserrat"/>
              <a:buNone/>
            </a:pPr>
            <a:r>
              <a:rPr b="0" i="0" lang="en-US" sz="1750" u="none" cap="none" strike="noStrike">
                <a:solidFill>
                  <a:srgbClr val="67534F"/>
                </a:solidFill>
                <a:latin typeface="Montserrat"/>
                <a:ea typeface="Montserrat"/>
                <a:cs typeface="Montserrat"/>
                <a:sym typeface="Montserrat"/>
              </a:rPr>
              <a:t>KNN requires storing all training data and computing distances to every point for each prediction. This becomes computationally expensive and slow as dataset size grows, making it impractical for big data applications.</a:t>
            </a:r>
            <a:endParaRPr b="0" i="0" sz="1750" u="none" cap="none" strike="noStrike"/>
          </a:p>
        </p:txBody>
      </p:sp>
      <p:sp>
        <p:nvSpPr>
          <p:cNvPr id="74" name="Google Shape;74;p11"/>
          <p:cNvSpPr/>
          <p:nvPr/>
        </p:nvSpPr>
        <p:spPr>
          <a:xfrm>
            <a:off x="7428548" y="3349704"/>
            <a:ext cx="6408063" cy="2548533"/>
          </a:xfrm>
          <a:prstGeom prst="roundRect">
            <a:avLst>
              <a:gd fmla="val 5741" name="adj"/>
            </a:avLst>
          </a:prstGeom>
          <a:solidFill>
            <a:srgbClr val="FFFFF4">
              <a:alpha val="94901"/>
            </a:srgbClr>
          </a:solidFill>
          <a:ln cap="flat" cmpd="sng" w="30475">
            <a:solidFill>
              <a:srgbClr val="FFE0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1"/>
          <p:cNvSpPr/>
          <p:nvPr/>
        </p:nvSpPr>
        <p:spPr>
          <a:xfrm>
            <a:off x="7398067" y="3349704"/>
            <a:ext cx="121920" cy="2548533"/>
          </a:xfrm>
          <a:prstGeom prst="roundRect">
            <a:avLst>
              <a:gd fmla="val 78139" name="adj"/>
            </a:avLst>
          </a:prstGeom>
          <a:solidFill>
            <a:srgbClr val="FF95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a:off x="7777282" y="3606998"/>
            <a:ext cx="3401139" cy="423863"/>
          </a:xfrm>
          <a:prstGeom prst="rect">
            <a:avLst/>
          </a:prstGeom>
          <a:noFill/>
          <a:ln>
            <a:noFill/>
          </a:ln>
        </p:spPr>
        <p:txBody>
          <a:bodyPr anchorCtr="0" anchor="t" bIns="0" lIns="0" spcFirstLastPara="1" rIns="0" wrap="square" tIns="0">
            <a:noAutofit/>
          </a:bodyPr>
          <a:lstStyle/>
          <a:p>
            <a:pPr indent="0" lvl="0" marL="0" marR="0" rtl="0" algn="l">
              <a:lnSpc>
                <a:spcPct val="129411"/>
              </a:lnSpc>
              <a:spcBef>
                <a:spcPts val="0"/>
              </a:spcBef>
              <a:spcAft>
                <a:spcPts val="0"/>
              </a:spcAft>
              <a:buClr>
                <a:srgbClr val="67534F"/>
              </a:buClr>
              <a:buSzPts val="2550"/>
              <a:buFont typeface="Marcellus"/>
              <a:buNone/>
            </a:pPr>
            <a:r>
              <a:rPr b="0" i="0" lang="en-US" sz="2550" u="none" cap="none" strike="noStrike">
                <a:solidFill>
                  <a:srgbClr val="67534F"/>
                </a:solidFill>
                <a:latin typeface="Marcellus"/>
                <a:ea typeface="Marcellus"/>
                <a:cs typeface="Marcellus"/>
                <a:sym typeface="Marcellus"/>
              </a:rPr>
              <a:t>High-Dimensional Data</a:t>
            </a:r>
            <a:endParaRPr b="0" i="0" sz="2550" u="none" cap="none" strike="noStrike"/>
          </a:p>
        </p:txBody>
      </p:sp>
      <p:sp>
        <p:nvSpPr>
          <p:cNvPr id="77" name="Google Shape;77;p11"/>
          <p:cNvSpPr/>
          <p:nvPr/>
        </p:nvSpPr>
        <p:spPr>
          <a:xfrm>
            <a:off x="7777282" y="4166949"/>
            <a:ext cx="5802035" cy="1473994"/>
          </a:xfrm>
          <a:prstGeom prst="rect">
            <a:avLst/>
          </a:prstGeom>
          <a:noFill/>
          <a:ln>
            <a:noFill/>
          </a:ln>
        </p:spPr>
        <p:txBody>
          <a:bodyPr anchorCtr="0" anchor="t" bIns="0" lIns="0" spcFirstLastPara="1" rIns="0" wrap="square" tIns="0">
            <a:noAutofit/>
          </a:bodyPr>
          <a:lstStyle/>
          <a:p>
            <a:pPr indent="0" lvl="0" marL="0" marR="0" rtl="0" algn="l">
              <a:lnSpc>
                <a:spcPct val="131428"/>
              </a:lnSpc>
              <a:spcBef>
                <a:spcPts val="0"/>
              </a:spcBef>
              <a:spcAft>
                <a:spcPts val="0"/>
              </a:spcAft>
              <a:buClr>
                <a:srgbClr val="67534F"/>
              </a:buClr>
              <a:buSzPts val="1750"/>
              <a:buFont typeface="Montserrat"/>
              <a:buNone/>
            </a:pPr>
            <a:r>
              <a:rPr b="0" i="0" lang="en-US" sz="1750" u="none" cap="none" strike="noStrike">
                <a:solidFill>
                  <a:srgbClr val="67534F"/>
                </a:solidFill>
                <a:latin typeface="Montserrat"/>
                <a:ea typeface="Montserrat"/>
                <a:cs typeface="Montserrat"/>
                <a:sym typeface="Montserrat"/>
              </a:rPr>
              <a:t>In high dimensions, the "curse of dimensionality" makes distances less meaningful—all points become roughly equidistant. This degrades prediction quality and requires exponentially more data to maintain accuracy.</a:t>
            </a:r>
            <a:endParaRPr b="0" i="0" sz="1750" u="none" cap="none" strike="noStrike"/>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2"/>
          <p:cNvSpPr/>
          <p:nvPr/>
        </p:nvSpPr>
        <p:spPr>
          <a:xfrm>
            <a:off x="793790" y="2018705"/>
            <a:ext cx="8098869" cy="678180"/>
          </a:xfrm>
          <a:prstGeom prst="rect">
            <a:avLst/>
          </a:prstGeom>
          <a:noFill/>
          <a:ln>
            <a:noFill/>
          </a:ln>
        </p:spPr>
        <p:txBody>
          <a:bodyPr anchorCtr="0" anchor="t" bIns="0" lIns="0" spcFirstLastPara="1" rIns="0" wrap="square" tIns="0">
            <a:noAutofit/>
          </a:bodyPr>
          <a:lstStyle/>
          <a:p>
            <a:pPr indent="0" lvl="0" marL="0" marR="0" rtl="0" algn="l">
              <a:lnSpc>
                <a:spcPct val="129268"/>
              </a:lnSpc>
              <a:spcBef>
                <a:spcPts val="0"/>
              </a:spcBef>
              <a:spcAft>
                <a:spcPts val="0"/>
              </a:spcAft>
              <a:buClr>
                <a:srgbClr val="532418"/>
              </a:buClr>
              <a:buSzPts val="4100"/>
              <a:buFont typeface="Marcellus"/>
              <a:buNone/>
            </a:pPr>
            <a:r>
              <a:rPr b="0" i="0" lang="en-US" sz="4100" u="none" cap="none" strike="noStrike">
                <a:solidFill>
                  <a:srgbClr val="532418"/>
                </a:solidFill>
                <a:latin typeface="Marcellus"/>
                <a:ea typeface="Marcellus"/>
                <a:cs typeface="Marcellus"/>
                <a:sym typeface="Marcellus"/>
              </a:rPr>
              <a:t>Bridging to Model-Based Learning</a:t>
            </a:r>
            <a:endParaRPr b="0" i="0" sz="4100" u="none" cap="none" strike="noStrike"/>
          </a:p>
        </p:txBody>
      </p:sp>
      <p:pic>
        <p:nvPicPr>
          <p:cNvPr descr="preencoded.png" id="84" name="Google Shape;84;p12"/>
          <p:cNvPicPr preferRelativeResize="0"/>
          <p:nvPr/>
        </p:nvPicPr>
        <p:blipFill rotWithShape="1">
          <a:blip r:embed="rId3">
            <a:alphaModFix/>
          </a:blip>
          <a:srcRect b="0" l="0" r="0" t="0"/>
          <a:stretch/>
        </p:blipFill>
        <p:spPr>
          <a:xfrm>
            <a:off x="793790" y="3150513"/>
            <a:ext cx="6521410" cy="907256"/>
          </a:xfrm>
          <a:prstGeom prst="rect">
            <a:avLst/>
          </a:prstGeom>
          <a:noFill/>
          <a:ln>
            <a:noFill/>
          </a:ln>
        </p:spPr>
      </p:pic>
      <p:sp>
        <p:nvSpPr>
          <p:cNvPr id="85" name="Google Shape;85;p12"/>
          <p:cNvSpPr/>
          <p:nvPr/>
        </p:nvSpPr>
        <p:spPr>
          <a:xfrm>
            <a:off x="1020604" y="4284583"/>
            <a:ext cx="3260646" cy="423863"/>
          </a:xfrm>
          <a:prstGeom prst="rect">
            <a:avLst/>
          </a:prstGeom>
          <a:noFill/>
          <a:ln>
            <a:noFill/>
          </a:ln>
        </p:spPr>
        <p:txBody>
          <a:bodyPr anchorCtr="0" anchor="t" bIns="0" lIns="0" spcFirstLastPara="1" rIns="0" wrap="square" tIns="0">
            <a:noAutofit/>
          </a:bodyPr>
          <a:lstStyle/>
          <a:p>
            <a:pPr indent="0" lvl="0" marL="0" marR="0" rtl="0" algn="l">
              <a:lnSpc>
                <a:spcPct val="129411"/>
              </a:lnSpc>
              <a:spcBef>
                <a:spcPts val="0"/>
              </a:spcBef>
              <a:spcAft>
                <a:spcPts val="0"/>
              </a:spcAft>
              <a:buClr>
                <a:srgbClr val="67534F"/>
              </a:buClr>
              <a:buSzPts val="2550"/>
              <a:buFont typeface="Marcellus"/>
              <a:buNone/>
            </a:pPr>
            <a:r>
              <a:rPr b="0" i="0" lang="en-US" sz="2550" u="none" cap="none" strike="noStrike">
                <a:solidFill>
                  <a:srgbClr val="67534F"/>
                </a:solidFill>
                <a:latin typeface="Marcellus"/>
                <a:ea typeface="Marcellus"/>
                <a:cs typeface="Marcellus"/>
                <a:sym typeface="Marcellus"/>
              </a:rPr>
              <a:t>Distance-Based KNN</a:t>
            </a:r>
            <a:endParaRPr b="0" i="0" sz="2550" u="none" cap="none" strike="noStrike"/>
          </a:p>
        </p:txBody>
      </p:sp>
      <p:sp>
        <p:nvSpPr>
          <p:cNvPr id="86" name="Google Shape;86;p12"/>
          <p:cNvSpPr/>
          <p:nvPr/>
        </p:nvSpPr>
        <p:spPr>
          <a:xfrm>
            <a:off x="1020604" y="4844534"/>
            <a:ext cx="6067782" cy="589598"/>
          </a:xfrm>
          <a:prstGeom prst="rect">
            <a:avLst/>
          </a:prstGeom>
          <a:noFill/>
          <a:ln>
            <a:noFill/>
          </a:ln>
        </p:spPr>
        <p:txBody>
          <a:bodyPr anchorCtr="0" anchor="t" bIns="0" lIns="0" spcFirstLastPara="1" rIns="0" wrap="square" tIns="0">
            <a:noAutofit/>
          </a:bodyPr>
          <a:lstStyle/>
          <a:p>
            <a:pPr indent="0" lvl="0" marL="0" marR="0" rtl="0" algn="l">
              <a:lnSpc>
                <a:spcPct val="131428"/>
              </a:lnSpc>
              <a:spcBef>
                <a:spcPts val="0"/>
              </a:spcBef>
              <a:spcAft>
                <a:spcPts val="0"/>
              </a:spcAft>
              <a:buClr>
                <a:srgbClr val="67534F"/>
              </a:buClr>
              <a:buSzPts val="1750"/>
              <a:buFont typeface="Montserrat"/>
              <a:buNone/>
            </a:pPr>
            <a:r>
              <a:rPr b="0" i="0" lang="en-US" sz="1750" u="none" cap="none" strike="noStrike">
                <a:solidFill>
                  <a:srgbClr val="67534F"/>
                </a:solidFill>
                <a:latin typeface="Montserrat"/>
                <a:ea typeface="Montserrat"/>
                <a:cs typeface="Montserrat"/>
                <a:sym typeface="Montserrat"/>
              </a:rPr>
              <a:t>Makes predictions by measuring proximity to neighbors—no explicit model is built during training.</a:t>
            </a:r>
            <a:endParaRPr b="0" i="0" sz="1750" u="none" cap="none" strike="noStrike"/>
          </a:p>
        </p:txBody>
      </p:sp>
      <p:pic>
        <p:nvPicPr>
          <p:cNvPr descr="preencoded.png" id="87" name="Google Shape;87;p12"/>
          <p:cNvPicPr preferRelativeResize="0"/>
          <p:nvPr/>
        </p:nvPicPr>
        <p:blipFill rotWithShape="1">
          <a:blip r:embed="rId4">
            <a:alphaModFix/>
          </a:blip>
          <a:srcRect b="0" l="0" r="0" t="0"/>
          <a:stretch/>
        </p:blipFill>
        <p:spPr>
          <a:xfrm>
            <a:off x="7315200" y="3150513"/>
            <a:ext cx="6521410" cy="907256"/>
          </a:xfrm>
          <a:prstGeom prst="rect">
            <a:avLst/>
          </a:prstGeom>
          <a:noFill/>
          <a:ln>
            <a:noFill/>
          </a:ln>
        </p:spPr>
      </p:pic>
      <p:sp>
        <p:nvSpPr>
          <p:cNvPr id="88" name="Google Shape;88;p12"/>
          <p:cNvSpPr/>
          <p:nvPr/>
        </p:nvSpPr>
        <p:spPr>
          <a:xfrm>
            <a:off x="7542014" y="4284583"/>
            <a:ext cx="4145994" cy="423863"/>
          </a:xfrm>
          <a:prstGeom prst="rect">
            <a:avLst/>
          </a:prstGeom>
          <a:noFill/>
          <a:ln>
            <a:noFill/>
          </a:ln>
        </p:spPr>
        <p:txBody>
          <a:bodyPr anchorCtr="0" anchor="t" bIns="0" lIns="0" spcFirstLastPara="1" rIns="0" wrap="square" tIns="0">
            <a:noAutofit/>
          </a:bodyPr>
          <a:lstStyle/>
          <a:p>
            <a:pPr indent="0" lvl="0" marL="0" marR="0" rtl="0" algn="l">
              <a:lnSpc>
                <a:spcPct val="129411"/>
              </a:lnSpc>
              <a:spcBef>
                <a:spcPts val="0"/>
              </a:spcBef>
              <a:spcAft>
                <a:spcPts val="0"/>
              </a:spcAft>
              <a:buClr>
                <a:srgbClr val="67534F"/>
              </a:buClr>
              <a:buSzPts val="2550"/>
              <a:buFont typeface="Marcellus"/>
              <a:buNone/>
            </a:pPr>
            <a:r>
              <a:rPr b="0" i="0" lang="en-US" sz="2550" u="none" cap="none" strike="noStrike">
                <a:solidFill>
                  <a:srgbClr val="67534F"/>
                </a:solidFill>
                <a:latin typeface="Marcellus"/>
                <a:ea typeface="Marcellus"/>
                <a:cs typeface="Marcellus"/>
                <a:sym typeface="Marcellus"/>
              </a:rPr>
              <a:t>Model-Based Decision Trees</a:t>
            </a:r>
            <a:endParaRPr b="0" i="0" sz="2550" u="none" cap="none" strike="noStrike"/>
          </a:p>
        </p:txBody>
      </p:sp>
      <p:sp>
        <p:nvSpPr>
          <p:cNvPr id="89" name="Google Shape;89;p12"/>
          <p:cNvSpPr/>
          <p:nvPr/>
        </p:nvSpPr>
        <p:spPr>
          <a:xfrm>
            <a:off x="7542014" y="4844534"/>
            <a:ext cx="6067782" cy="589598"/>
          </a:xfrm>
          <a:prstGeom prst="rect">
            <a:avLst/>
          </a:prstGeom>
          <a:noFill/>
          <a:ln>
            <a:noFill/>
          </a:ln>
        </p:spPr>
        <p:txBody>
          <a:bodyPr anchorCtr="0" anchor="t" bIns="0" lIns="0" spcFirstLastPara="1" rIns="0" wrap="square" tIns="0">
            <a:noAutofit/>
          </a:bodyPr>
          <a:lstStyle/>
          <a:p>
            <a:pPr indent="0" lvl="0" marL="0" marR="0" rtl="0" algn="l">
              <a:lnSpc>
                <a:spcPct val="131428"/>
              </a:lnSpc>
              <a:spcBef>
                <a:spcPts val="0"/>
              </a:spcBef>
              <a:spcAft>
                <a:spcPts val="0"/>
              </a:spcAft>
              <a:buClr>
                <a:srgbClr val="67534F"/>
              </a:buClr>
              <a:buSzPts val="1750"/>
              <a:buFont typeface="Montserrat"/>
              <a:buNone/>
            </a:pPr>
            <a:r>
              <a:rPr b="0" i="0" lang="en-US" sz="1750" u="none" cap="none" strike="noStrike">
                <a:solidFill>
                  <a:srgbClr val="67534F"/>
                </a:solidFill>
                <a:latin typeface="Montserrat"/>
                <a:ea typeface="Montserrat"/>
                <a:cs typeface="Montserrat"/>
                <a:sym typeface="Montserrat"/>
              </a:rPr>
              <a:t>Learns explicit rules and structures from data, creating a hierarchical decision model.</a:t>
            </a:r>
            <a:endParaRPr b="0" i="0" sz="1750" u="none" cap="none" strike="noStrike"/>
          </a:p>
        </p:txBody>
      </p:sp>
      <p:sp>
        <p:nvSpPr>
          <p:cNvPr id="90" name="Google Shape;90;p12"/>
          <p:cNvSpPr/>
          <p:nvPr/>
        </p:nvSpPr>
        <p:spPr>
          <a:xfrm>
            <a:off x="793790" y="5916097"/>
            <a:ext cx="13042821" cy="294799"/>
          </a:xfrm>
          <a:prstGeom prst="rect">
            <a:avLst/>
          </a:prstGeom>
          <a:noFill/>
          <a:ln>
            <a:noFill/>
          </a:ln>
        </p:spPr>
        <p:txBody>
          <a:bodyPr anchorCtr="0" anchor="t" bIns="0" lIns="0" spcFirstLastPara="1" rIns="0" wrap="square" tIns="0">
            <a:noAutofit/>
          </a:bodyPr>
          <a:lstStyle/>
          <a:p>
            <a:pPr indent="0" lvl="0" marL="0" marR="0" rtl="0" algn="l">
              <a:lnSpc>
                <a:spcPct val="131428"/>
              </a:lnSpc>
              <a:spcBef>
                <a:spcPts val="0"/>
              </a:spcBef>
              <a:spcAft>
                <a:spcPts val="0"/>
              </a:spcAft>
              <a:buClr>
                <a:srgbClr val="67534F"/>
              </a:buClr>
              <a:buSzPts val="1750"/>
              <a:buFont typeface="Montserrat"/>
              <a:buNone/>
            </a:pPr>
            <a:r>
              <a:rPr b="0" i="0" lang="en-US" sz="1750" u="none" cap="none" strike="noStrike">
                <a:solidFill>
                  <a:srgbClr val="67534F"/>
                </a:solidFill>
                <a:latin typeface="Montserrat"/>
                <a:ea typeface="Montserrat"/>
                <a:cs typeface="Montserrat"/>
                <a:sym typeface="Montserrat"/>
              </a:rPr>
              <a:t>We've explored how KNN uses distance and neighborhood to make predictions without building an explicit model.</a:t>
            </a:r>
            <a:endParaRPr b="0" i="0" sz="1750" u="none" cap="none" strike="noStrike"/>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
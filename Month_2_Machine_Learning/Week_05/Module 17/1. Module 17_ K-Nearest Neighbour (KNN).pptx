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8229600" cx="14630400"/>
  <p:notesSz cx="8229600" cy="14630400"/>
  <p:embeddedFontLst>
    <p:embeddedFont>
      <p:font typeface="Marcellus"/>
      <p:regular r:id="rId10"/>
    </p:embeddedFont>
    <p:embeddedFont>
      <p:font typeface="Montserra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font" Target="fonts/Marcellus-regular.fntdata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/>
          <p:nvPr/>
        </p:nvSpPr>
        <p:spPr>
          <a:xfrm>
            <a:off x="6280190" y="3009781"/>
            <a:ext cx="7556421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Module 17: K-Nearest Neighbour (KNN)</a:t>
            </a:r>
            <a:endParaRPr b="0" i="0" sz="5100" u="none" cap="none" strike="noStrike"/>
          </a:p>
        </p:txBody>
      </p:sp>
      <p:sp>
        <p:nvSpPr>
          <p:cNvPr id="33" name="Google Shape;33;p8"/>
          <p:cNvSpPr/>
          <p:nvPr/>
        </p:nvSpPr>
        <p:spPr>
          <a:xfrm>
            <a:off x="6280190" y="4795957"/>
            <a:ext cx="4175522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Learning by Looking Around</a:t>
            </a:r>
            <a:endParaRPr b="0" i="0" sz="25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793790" y="1758553"/>
            <a:ext cx="10933033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Where KNN Fits in Machine Learning</a:t>
            </a:r>
            <a:endParaRPr b="0" i="0" sz="5100" u="none" cap="none" strike="noStrike"/>
          </a:p>
        </p:txBody>
      </p:sp>
      <p:sp>
        <p:nvSpPr>
          <p:cNvPr id="40" name="Google Shape;40;p9"/>
          <p:cNvSpPr/>
          <p:nvPr/>
        </p:nvSpPr>
        <p:spPr>
          <a:xfrm>
            <a:off x="793790" y="2946440"/>
            <a:ext cx="6407944" cy="1648897"/>
          </a:xfrm>
          <a:prstGeom prst="roundRect">
            <a:avLst>
              <a:gd fmla="val 5778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/>
          <p:nvPr/>
        </p:nvSpPr>
        <p:spPr>
          <a:xfrm>
            <a:off x="1043464" y="319611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Supervised Learning</a:t>
            </a:r>
            <a:endParaRPr b="0" i="0" sz="2550" u="none" cap="none" strike="noStrike"/>
          </a:p>
        </p:txBody>
      </p:sp>
      <p:sp>
        <p:nvSpPr>
          <p:cNvPr id="42" name="Google Shape;42;p9"/>
          <p:cNvSpPr/>
          <p:nvPr/>
        </p:nvSpPr>
        <p:spPr>
          <a:xfrm>
            <a:off x="1043464" y="3756065"/>
            <a:ext cx="590859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KNN learns from labeled examples to make predictions on new data</a:t>
            </a:r>
            <a:endParaRPr b="0" i="0" sz="1750" u="none" cap="none" strike="noStrike"/>
          </a:p>
        </p:txBody>
      </p:sp>
      <p:sp>
        <p:nvSpPr>
          <p:cNvPr id="43" name="Google Shape;43;p9"/>
          <p:cNvSpPr/>
          <p:nvPr/>
        </p:nvSpPr>
        <p:spPr>
          <a:xfrm>
            <a:off x="7428548" y="2946440"/>
            <a:ext cx="6408063" cy="1648897"/>
          </a:xfrm>
          <a:prstGeom prst="roundRect">
            <a:avLst>
              <a:gd fmla="val 5778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/>
          <p:nvPr/>
        </p:nvSpPr>
        <p:spPr>
          <a:xfrm>
            <a:off x="7678222" y="319611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Dual Purpose</a:t>
            </a:r>
            <a:endParaRPr b="0" i="0" sz="2550" u="none" cap="none" strike="noStrike"/>
          </a:p>
        </p:txBody>
      </p:sp>
      <p:sp>
        <p:nvSpPr>
          <p:cNvPr id="45" name="Google Shape;45;p9"/>
          <p:cNvSpPr/>
          <p:nvPr/>
        </p:nvSpPr>
        <p:spPr>
          <a:xfrm>
            <a:off x="7678222" y="3756065"/>
            <a:ext cx="5908715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Works for both classification tasks and regression problems</a:t>
            </a:r>
            <a:endParaRPr b="0" i="0" sz="1750" u="none" cap="none" strike="noStrike"/>
          </a:p>
        </p:txBody>
      </p:sp>
      <p:sp>
        <p:nvSpPr>
          <p:cNvPr id="46" name="Google Shape;46;p9"/>
          <p:cNvSpPr/>
          <p:nvPr/>
        </p:nvSpPr>
        <p:spPr>
          <a:xfrm>
            <a:off x="793790" y="4822150"/>
            <a:ext cx="6407944" cy="1648897"/>
          </a:xfrm>
          <a:prstGeom prst="roundRect">
            <a:avLst>
              <a:gd fmla="val 5778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>
            <a:off x="1043464" y="507182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Instance-Based</a:t>
            </a:r>
            <a:endParaRPr b="0" i="0" sz="2550" u="none" cap="none" strike="noStrike"/>
          </a:p>
        </p:txBody>
      </p:sp>
      <p:sp>
        <p:nvSpPr>
          <p:cNvPr id="48" name="Google Shape;48;p9"/>
          <p:cNvSpPr/>
          <p:nvPr/>
        </p:nvSpPr>
        <p:spPr>
          <a:xfrm>
            <a:off x="1043464" y="5631775"/>
            <a:ext cx="590859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 lazy learner that memorizes training data rather than learning patterns</a:t>
            </a:r>
            <a:endParaRPr b="0" i="0" sz="1750" u="none" cap="none" strike="noStrike"/>
          </a:p>
        </p:txBody>
      </p:sp>
      <p:sp>
        <p:nvSpPr>
          <p:cNvPr id="49" name="Google Shape;49;p9"/>
          <p:cNvSpPr/>
          <p:nvPr/>
        </p:nvSpPr>
        <p:spPr>
          <a:xfrm>
            <a:off x="7428548" y="4822150"/>
            <a:ext cx="6408063" cy="1648897"/>
          </a:xfrm>
          <a:prstGeom prst="roundRect">
            <a:avLst>
              <a:gd fmla="val 5778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/>
          <p:nvPr/>
        </p:nvSpPr>
        <p:spPr>
          <a:xfrm>
            <a:off x="7678222" y="507182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Non-Parametric</a:t>
            </a:r>
            <a:endParaRPr b="0" i="0" sz="2550" u="none" cap="none" strike="noStrike"/>
          </a:p>
        </p:txBody>
      </p:sp>
      <p:sp>
        <p:nvSpPr>
          <p:cNvPr id="51" name="Google Shape;51;p9"/>
          <p:cNvSpPr/>
          <p:nvPr/>
        </p:nvSpPr>
        <p:spPr>
          <a:xfrm>
            <a:off x="7678222" y="5631775"/>
            <a:ext cx="5908715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Makes no assumptions about underlying data distribution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/>
          <p:nvPr/>
        </p:nvSpPr>
        <p:spPr>
          <a:xfrm>
            <a:off x="793790" y="1490424"/>
            <a:ext cx="652129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Why We Learn KNN</a:t>
            </a:r>
            <a:endParaRPr b="0" i="0" sz="5100" u="none" cap="none" strike="noStrike"/>
          </a:p>
        </p:txBody>
      </p:sp>
      <p:sp>
        <p:nvSpPr>
          <p:cNvPr id="58" name="Google Shape;58;p10"/>
          <p:cNvSpPr/>
          <p:nvPr/>
        </p:nvSpPr>
        <p:spPr>
          <a:xfrm>
            <a:off x="793804" y="2791775"/>
            <a:ext cx="3099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01</a:t>
            </a:r>
            <a:endParaRPr b="0" i="0" sz="1750" u="none" cap="none" strike="noStrike"/>
          </a:p>
        </p:txBody>
      </p:sp>
      <p:sp>
        <p:nvSpPr>
          <p:cNvPr id="59" name="Google Shape;59;p10"/>
          <p:cNvSpPr/>
          <p:nvPr/>
        </p:nvSpPr>
        <p:spPr>
          <a:xfrm>
            <a:off x="793790" y="3158133"/>
            <a:ext cx="6407944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0"/>
          <p:cNvSpPr/>
          <p:nvPr/>
        </p:nvSpPr>
        <p:spPr>
          <a:xfrm>
            <a:off x="793790" y="3332440"/>
            <a:ext cx="3494484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Foundational Algorithm</a:t>
            </a:r>
            <a:endParaRPr b="0" i="0" sz="2550" u="none" cap="none" strike="noStrike"/>
          </a:p>
        </p:txBody>
      </p:sp>
      <p:sp>
        <p:nvSpPr>
          <p:cNvPr id="61" name="Google Shape;61;p10"/>
          <p:cNvSpPr/>
          <p:nvPr/>
        </p:nvSpPr>
        <p:spPr>
          <a:xfrm>
            <a:off x="793790" y="3892391"/>
            <a:ext cx="6407944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simplest distance-based method for understanding spatial relationships in data</a:t>
            </a:r>
            <a:endParaRPr b="0" i="0" sz="1750" u="none" cap="none" strike="noStrike"/>
          </a:p>
        </p:txBody>
      </p:sp>
      <p:sp>
        <p:nvSpPr>
          <p:cNvPr id="62" name="Google Shape;62;p10"/>
          <p:cNvSpPr/>
          <p:nvPr/>
        </p:nvSpPr>
        <p:spPr>
          <a:xfrm>
            <a:off x="7428551" y="2791775"/>
            <a:ext cx="3924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02</a:t>
            </a:r>
            <a:endParaRPr b="0" i="0" sz="1750" u="none" cap="none" strike="noStrike"/>
          </a:p>
        </p:txBody>
      </p:sp>
      <p:sp>
        <p:nvSpPr>
          <p:cNvPr id="63" name="Google Shape;63;p10"/>
          <p:cNvSpPr/>
          <p:nvPr/>
        </p:nvSpPr>
        <p:spPr>
          <a:xfrm>
            <a:off x="7428548" y="3158133"/>
            <a:ext cx="6408063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0"/>
          <p:cNvSpPr/>
          <p:nvPr/>
        </p:nvSpPr>
        <p:spPr>
          <a:xfrm>
            <a:off x="7428548" y="333244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Geometric Intuition</a:t>
            </a:r>
            <a:endParaRPr b="0" i="0" sz="2550" u="none" cap="none" strike="noStrike"/>
          </a:p>
        </p:txBody>
      </p:sp>
      <p:sp>
        <p:nvSpPr>
          <p:cNvPr id="65" name="Google Shape;65;p10"/>
          <p:cNvSpPr/>
          <p:nvPr/>
        </p:nvSpPr>
        <p:spPr>
          <a:xfrm>
            <a:off x="7428548" y="3892391"/>
            <a:ext cx="6408063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Builds essential spatial reasoning skills for more complex ML methods</a:t>
            </a:r>
            <a:endParaRPr b="0" i="0" sz="1750" u="none" cap="none" strike="noStrike"/>
          </a:p>
        </p:txBody>
      </p:sp>
      <p:sp>
        <p:nvSpPr>
          <p:cNvPr id="66" name="Google Shape;66;p10"/>
          <p:cNvSpPr/>
          <p:nvPr/>
        </p:nvSpPr>
        <p:spPr>
          <a:xfrm>
            <a:off x="793808" y="4878825"/>
            <a:ext cx="3924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03</a:t>
            </a:r>
            <a:endParaRPr b="0" i="0" sz="1750" u="none" cap="none" strike="noStrike"/>
          </a:p>
        </p:txBody>
      </p:sp>
      <p:sp>
        <p:nvSpPr>
          <p:cNvPr id="67" name="Google Shape;67;p10"/>
          <p:cNvSpPr/>
          <p:nvPr/>
        </p:nvSpPr>
        <p:spPr>
          <a:xfrm>
            <a:off x="793790" y="5245179"/>
            <a:ext cx="6407944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"/>
          <p:cNvSpPr/>
          <p:nvPr/>
        </p:nvSpPr>
        <p:spPr>
          <a:xfrm>
            <a:off x="793790" y="5419487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Baseline Model</a:t>
            </a:r>
            <a:endParaRPr b="0" i="0" sz="2550" u="none" cap="none" strike="noStrike"/>
          </a:p>
        </p:txBody>
      </p:sp>
      <p:sp>
        <p:nvSpPr>
          <p:cNvPr id="69" name="Google Shape;69;p10"/>
          <p:cNvSpPr/>
          <p:nvPr/>
        </p:nvSpPr>
        <p:spPr>
          <a:xfrm>
            <a:off x="793790" y="5979438"/>
            <a:ext cx="6407944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Provides a strong reference point for evaluating sophisticated algorithms</a:t>
            </a:r>
            <a:endParaRPr b="0" i="0" sz="1750" u="none" cap="none" strike="noStrike"/>
          </a:p>
        </p:txBody>
      </p:sp>
      <p:sp>
        <p:nvSpPr>
          <p:cNvPr id="70" name="Google Shape;70;p10"/>
          <p:cNvSpPr/>
          <p:nvPr/>
        </p:nvSpPr>
        <p:spPr>
          <a:xfrm>
            <a:off x="7428551" y="4878825"/>
            <a:ext cx="3924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04</a:t>
            </a:r>
            <a:endParaRPr b="0" i="0" sz="1750" u="none" cap="none" strike="noStrike"/>
          </a:p>
        </p:txBody>
      </p:sp>
      <p:sp>
        <p:nvSpPr>
          <p:cNvPr id="71" name="Google Shape;71;p10"/>
          <p:cNvSpPr/>
          <p:nvPr/>
        </p:nvSpPr>
        <p:spPr>
          <a:xfrm>
            <a:off x="7428548" y="5245179"/>
            <a:ext cx="6408063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0"/>
          <p:cNvSpPr/>
          <p:nvPr/>
        </p:nvSpPr>
        <p:spPr>
          <a:xfrm>
            <a:off x="7428548" y="5419487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Preprocessing Lessons</a:t>
            </a:r>
            <a:endParaRPr b="0" i="0" sz="2550" u="none" cap="none" strike="noStrike"/>
          </a:p>
        </p:txBody>
      </p:sp>
      <p:sp>
        <p:nvSpPr>
          <p:cNvPr id="73" name="Google Shape;73;p10"/>
          <p:cNvSpPr/>
          <p:nvPr/>
        </p:nvSpPr>
        <p:spPr>
          <a:xfrm>
            <a:off x="7428548" y="5979438"/>
            <a:ext cx="6408063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Reveals why feature scaling and data preparation matter critically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793790" y="1204555"/>
            <a:ext cx="8103037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Makes KNN Different</a:t>
            </a:r>
            <a:endParaRPr b="0" i="0" sz="5100" u="none" cap="none" strike="noStrike"/>
          </a:p>
        </p:txBody>
      </p:sp>
      <p:pic>
        <p:nvPicPr>
          <p:cNvPr descr="preencoded.png" id="80" name="Google Shape;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392442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1"/>
          <p:cNvSpPr/>
          <p:nvPr/>
        </p:nvSpPr>
        <p:spPr>
          <a:xfrm>
            <a:off x="2154674" y="2619256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No Training Phase</a:t>
            </a:r>
            <a:endParaRPr b="0" i="0" sz="2550" u="none" cap="none" strike="noStrike"/>
          </a:p>
        </p:txBody>
      </p:sp>
      <p:sp>
        <p:nvSpPr>
          <p:cNvPr id="82" name="Google Shape;82;p11"/>
          <p:cNvSpPr/>
          <p:nvPr/>
        </p:nvSpPr>
        <p:spPr>
          <a:xfrm>
            <a:off x="2154674" y="3179207"/>
            <a:ext cx="11681936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Unlike other algorithms, KNN skips the learning step entirely</a:t>
            </a:r>
            <a:endParaRPr b="0" i="0" sz="1750" u="none" cap="none" strike="noStrike"/>
          </a:p>
        </p:txBody>
      </p:sp>
      <p:pic>
        <p:nvPicPr>
          <p:cNvPr descr="preencoded.png" id="83" name="Google Shape;8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3753326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1"/>
          <p:cNvSpPr/>
          <p:nvPr/>
        </p:nvSpPr>
        <p:spPr>
          <a:xfrm>
            <a:off x="2154674" y="398014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Stores All Data</a:t>
            </a:r>
            <a:endParaRPr b="0" i="0" sz="2550" u="none" cap="none" strike="noStrike"/>
          </a:p>
        </p:txBody>
      </p:sp>
      <p:sp>
        <p:nvSpPr>
          <p:cNvPr id="85" name="Google Shape;85;p11"/>
          <p:cNvSpPr/>
          <p:nvPr/>
        </p:nvSpPr>
        <p:spPr>
          <a:xfrm>
            <a:off x="2154674" y="4540091"/>
            <a:ext cx="11681936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Keeps the complete training dataset in memory for lookups</a:t>
            </a:r>
            <a:endParaRPr b="0" i="0" sz="1750" u="none" cap="none" strike="noStrike"/>
          </a:p>
        </p:txBody>
      </p:sp>
      <p:pic>
        <p:nvPicPr>
          <p:cNvPr descr="preencoded.png" id="86" name="Google Shape;8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5114211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1"/>
          <p:cNvSpPr/>
          <p:nvPr/>
        </p:nvSpPr>
        <p:spPr>
          <a:xfrm>
            <a:off x="2154674" y="5341025"/>
            <a:ext cx="3337322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Prediction Works Hard</a:t>
            </a:r>
            <a:endParaRPr b="0" i="0" sz="2550" u="none" cap="none" strike="noStrike"/>
          </a:p>
        </p:txBody>
      </p:sp>
      <p:sp>
        <p:nvSpPr>
          <p:cNvPr id="88" name="Google Shape;88;p11"/>
          <p:cNvSpPr/>
          <p:nvPr/>
        </p:nvSpPr>
        <p:spPr>
          <a:xfrm>
            <a:off x="2154674" y="5900976"/>
            <a:ext cx="11681936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All computation happens at prediction time, not during training</a:t>
            </a:r>
            <a:endParaRPr b="0" i="0" sz="1750" u="none" cap="none" strike="noStrike"/>
          </a:p>
        </p:txBody>
      </p:sp>
      <p:sp>
        <p:nvSpPr>
          <p:cNvPr id="89" name="Google Shape;89;p11"/>
          <p:cNvSpPr/>
          <p:nvPr/>
        </p:nvSpPr>
        <p:spPr>
          <a:xfrm>
            <a:off x="793790" y="6730246"/>
            <a:ext cx="1304282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This "lazy learning" approach makes KNN fast to train but slower to predict, especially with large datasets.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/>
          <p:nvPr/>
        </p:nvSpPr>
        <p:spPr>
          <a:xfrm>
            <a:off x="793790" y="946071"/>
            <a:ext cx="7667982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This Module Covers</a:t>
            </a:r>
            <a:endParaRPr b="0" i="0" sz="5100" u="none" cap="none" strike="noStrike"/>
          </a:p>
        </p:txBody>
      </p:sp>
      <p:sp>
        <p:nvSpPr>
          <p:cNvPr id="96" name="Google Shape;96;p12"/>
          <p:cNvSpPr/>
          <p:nvPr/>
        </p:nvSpPr>
        <p:spPr>
          <a:xfrm>
            <a:off x="793790" y="2474119"/>
            <a:ext cx="6407944" cy="2268617"/>
          </a:xfrm>
          <a:prstGeom prst="roundRect">
            <a:avLst>
              <a:gd fmla="val 6449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2"/>
          <p:cNvSpPr/>
          <p:nvPr/>
        </p:nvSpPr>
        <p:spPr>
          <a:xfrm>
            <a:off x="793790" y="2443639"/>
            <a:ext cx="6407944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2"/>
          <p:cNvSpPr/>
          <p:nvPr/>
        </p:nvSpPr>
        <p:spPr>
          <a:xfrm>
            <a:off x="3657540" y="2133957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2"/>
          <p:cNvSpPr/>
          <p:nvPr/>
        </p:nvSpPr>
        <p:spPr>
          <a:xfrm>
            <a:off x="3861614" y="2297311"/>
            <a:ext cx="272177" cy="35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arcellus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1</a:t>
            </a:r>
            <a:endParaRPr b="0" i="0" sz="2100" u="none" cap="none" strike="noStrike"/>
          </a:p>
        </p:txBody>
      </p:sp>
      <p:sp>
        <p:nvSpPr>
          <p:cNvPr id="100" name="Google Shape;100;p12"/>
          <p:cNvSpPr/>
          <p:nvPr/>
        </p:nvSpPr>
        <p:spPr>
          <a:xfrm>
            <a:off x="1051084" y="3041094"/>
            <a:ext cx="33287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Distance and Similarity</a:t>
            </a:r>
            <a:endParaRPr b="0" i="0" sz="2550" u="none" cap="none" strike="noStrike"/>
          </a:p>
        </p:txBody>
      </p:sp>
      <p:sp>
        <p:nvSpPr>
          <p:cNvPr id="101" name="Google Shape;101;p12"/>
          <p:cNvSpPr/>
          <p:nvPr/>
        </p:nvSpPr>
        <p:spPr>
          <a:xfrm>
            <a:off x="1051084" y="3601045"/>
            <a:ext cx="5893356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Understanding how to measure closeness between data points using metrics like Euclidean and Manhattan distance</a:t>
            </a:r>
            <a:endParaRPr b="0" i="0" sz="1750" u="none" cap="none" strike="noStrike"/>
          </a:p>
        </p:txBody>
      </p:sp>
      <p:sp>
        <p:nvSpPr>
          <p:cNvPr id="102" name="Google Shape;102;p12"/>
          <p:cNvSpPr/>
          <p:nvPr/>
        </p:nvSpPr>
        <p:spPr>
          <a:xfrm>
            <a:off x="7428548" y="2474119"/>
            <a:ext cx="6408063" cy="2268617"/>
          </a:xfrm>
          <a:prstGeom prst="roundRect">
            <a:avLst>
              <a:gd fmla="val 6449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2"/>
          <p:cNvSpPr/>
          <p:nvPr/>
        </p:nvSpPr>
        <p:spPr>
          <a:xfrm>
            <a:off x="7428548" y="2443639"/>
            <a:ext cx="6408063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2"/>
          <p:cNvSpPr/>
          <p:nvPr/>
        </p:nvSpPr>
        <p:spPr>
          <a:xfrm>
            <a:off x="10292298" y="2133957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2"/>
          <p:cNvSpPr/>
          <p:nvPr/>
        </p:nvSpPr>
        <p:spPr>
          <a:xfrm>
            <a:off x="10496371" y="2297311"/>
            <a:ext cx="272177" cy="35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arcellus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2</a:t>
            </a:r>
            <a:endParaRPr b="0" i="0" sz="2100" u="none" cap="none" strike="noStrike"/>
          </a:p>
        </p:txBody>
      </p:sp>
      <p:sp>
        <p:nvSpPr>
          <p:cNvPr id="106" name="Google Shape;106;p12"/>
          <p:cNvSpPr/>
          <p:nvPr/>
        </p:nvSpPr>
        <p:spPr>
          <a:xfrm>
            <a:off x="7685842" y="304109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Choosing K</a:t>
            </a:r>
            <a:endParaRPr b="0" i="0" sz="2550" u="none" cap="none" strike="noStrike"/>
          </a:p>
        </p:txBody>
      </p:sp>
      <p:sp>
        <p:nvSpPr>
          <p:cNvPr id="107" name="Google Shape;107;p12"/>
          <p:cNvSpPr/>
          <p:nvPr/>
        </p:nvSpPr>
        <p:spPr>
          <a:xfrm>
            <a:off x="7685842" y="3601045"/>
            <a:ext cx="5893475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Selecting the optimal number of neighbors to balance bias and variance in predictions</a:t>
            </a:r>
            <a:endParaRPr b="0" i="0" sz="1750" u="none" cap="none" strike="noStrike"/>
          </a:p>
        </p:txBody>
      </p:sp>
      <p:sp>
        <p:nvSpPr>
          <p:cNvPr id="108" name="Google Shape;108;p12"/>
          <p:cNvSpPr/>
          <p:nvPr/>
        </p:nvSpPr>
        <p:spPr>
          <a:xfrm>
            <a:off x="793790" y="5309711"/>
            <a:ext cx="6407944" cy="1973818"/>
          </a:xfrm>
          <a:prstGeom prst="roundRect">
            <a:avLst>
              <a:gd fmla="val 7412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2"/>
          <p:cNvSpPr/>
          <p:nvPr/>
        </p:nvSpPr>
        <p:spPr>
          <a:xfrm>
            <a:off x="793790" y="5279231"/>
            <a:ext cx="6407944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2"/>
          <p:cNvSpPr/>
          <p:nvPr/>
        </p:nvSpPr>
        <p:spPr>
          <a:xfrm>
            <a:off x="3657540" y="4969550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2"/>
          <p:cNvSpPr/>
          <p:nvPr/>
        </p:nvSpPr>
        <p:spPr>
          <a:xfrm>
            <a:off x="3861614" y="5132903"/>
            <a:ext cx="272177" cy="35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arcellus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3</a:t>
            </a:r>
            <a:endParaRPr b="0" i="0" sz="2100" u="none" cap="none" strike="noStrike"/>
          </a:p>
        </p:txBody>
      </p:sp>
      <p:sp>
        <p:nvSpPr>
          <p:cNvPr id="112" name="Google Shape;112;p12"/>
          <p:cNvSpPr/>
          <p:nvPr/>
        </p:nvSpPr>
        <p:spPr>
          <a:xfrm>
            <a:off x="1051084" y="5876687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Prediction Process</a:t>
            </a:r>
            <a:endParaRPr b="0" i="0" sz="2550" u="none" cap="none" strike="noStrike"/>
          </a:p>
        </p:txBody>
      </p:sp>
      <p:sp>
        <p:nvSpPr>
          <p:cNvPr id="113" name="Google Shape;113;p12"/>
          <p:cNvSpPr/>
          <p:nvPr/>
        </p:nvSpPr>
        <p:spPr>
          <a:xfrm>
            <a:off x="1051084" y="6436638"/>
            <a:ext cx="589335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Step-by-step walkthrough of how KNN finds neighbors and makes decisions</a:t>
            </a:r>
            <a:endParaRPr b="0" i="0" sz="1750" u="none" cap="none" strike="noStrike"/>
          </a:p>
        </p:txBody>
      </p:sp>
      <p:sp>
        <p:nvSpPr>
          <p:cNvPr id="114" name="Google Shape;114;p12"/>
          <p:cNvSpPr/>
          <p:nvPr/>
        </p:nvSpPr>
        <p:spPr>
          <a:xfrm>
            <a:off x="7428548" y="5309711"/>
            <a:ext cx="6408063" cy="1973818"/>
          </a:xfrm>
          <a:prstGeom prst="roundRect">
            <a:avLst>
              <a:gd fmla="val 7412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2"/>
          <p:cNvSpPr/>
          <p:nvPr/>
        </p:nvSpPr>
        <p:spPr>
          <a:xfrm>
            <a:off x="7428548" y="5279231"/>
            <a:ext cx="6408063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2"/>
          <p:cNvSpPr/>
          <p:nvPr/>
        </p:nvSpPr>
        <p:spPr>
          <a:xfrm>
            <a:off x="10292298" y="4969550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2"/>
          <p:cNvSpPr/>
          <p:nvPr/>
        </p:nvSpPr>
        <p:spPr>
          <a:xfrm>
            <a:off x="10496371" y="5132903"/>
            <a:ext cx="272177" cy="35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arcellus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4</a:t>
            </a:r>
            <a:endParaRPr b="0" i="0" sz="2100" u="none" cap="none" strike="noStrike"/>
          </a:p>
        </p:txBody>
      </p:sp>
      <p:sp>
        <p:nvSpPr>
          <p:cNvPr id="118" name="Google Shape;118;p12"/>
          <p:cNvSpPr/>
          <p:nvPr/>
        </p:nvSpPr>
        <p:spPr>
          <a:xfrm>
            <a:off x="7685842" y="5876687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Implementation</a:t>
            </a:r>
            <a:endParaRPr b="0" i="0" sz="2550" u="none" cap="none" strike="noStrike"/>
          </a:p>
        </p:txBody>
      </p:sp>
      <p:sp>
        <p:nvSpPr>
          <p:cNvPr id="119" name="Google Shape;119;p12"/>
          <p:cNvSpPr/>
          <p:nvPr/>
        </p:nvSpPr>
        <p:spPr>
          <a:xfrm>
            <a:off x="7685842" y="6436638"/>
            <a:ext cx="5893475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Building KNN from scratch in Python and evaluating performance with real datasets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
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3"/>
  </p:sldMasterIdLst>
  <p:notesMasterIdLst>
    <p:notesMasterId r:id="rId4"/>
  </p:notesMasterIdLst>
  <p:sldIdLst>
    <p:sldId id="256" r:id="rId5"/>
    <p:sldId id="257" r:id="rId6"/>
    <p:sldId id="258" r:id="rId7"/>
    <p:sldId id="259" r:id="rId8"/>
    <p:sldId id="260" r:id="rId9"/>
    <p:sldId id="261" r:id="rId10"/>
    <p:sldId id="262" r:id="rId11"/>
  </p:sldIdLst>
  <p:sldSz cy="8229600" cx="14630400"/>
  <p:notesSz cx="8229600" cy="14630400"/>
  <p:embeddedFontLst>
    <p:embeddedFont>
      <p:font typeface="Marcellus"/>
      <p:regular r:id="rId12"/>
    </p:embeddedFont>
    <p:embeddedFont>
      <p:font typeface="Montserrat"/>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Montserrat-regular.fntdata"/><Relationship Id="rId12" Type="http://schemas.openxmlformats.org/officeDocument/2006/relationships/font" Target="fonts/Marcellu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Montserrat-italic.fntdata"/><Relationship Id="rId14" Type="http://schemas.openxmlformats.org/officeDocument/2006/relationships/font" Target="fonts/Montserrat-bold.fntdata"/><Relationship Id="rId16" Type="http://schemas.openxmlformats.org/officeDocument/2006/relationships/font" Target="fonts/Montserrat-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 name="Google Shape;3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 name="Google Shape;3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 name="Google Shape;4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 name="Google Shape;5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3" name="Shape 13"/>
        <p:cNvGrpSpPr/>
        <p:nvPr/>
      </p:nvGrpSpPr>
      <p:grpSpPr>
        <a:xfrm>
          <a:off x="0" y="0"/>
          <a:ext cx="0" cy="0"/>
          <a:chOff x="0" y="0"/>
          <a:chExt cx="0" cy="0"/>
        </a:xfrm>
      </p:grpSpPr>
      <p:sp>
        <p:nvSpPr>
          <p:cNvPr id="14" name="Google Shape;14;p3"/>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6" name="Shape 16"/>
        <p:cNvGrpSpPr/>
        <p:nvPr/>
      </p:nvGrpSpPr>
      <p:grpSpPr>
        <a:xfrm>
          <a:off x="0" y="0"/>
          <a:ext cx="0" cy="0"/>
          <a:chOff x="0" y="0"/>
          <a:chExt cx="0" cy="0"/>
        </a:xfrm>
      </p:grpSpPr>
      <p:sp>
        <p:nvSpPr>
          <p:cNvPr id="17" name="Google Shape;17;p4"/>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9" name="Shape 19"/>
        <p:cNvGrpSpPr/>
        <p:nvPr/>
      </p:nvGrpSpPr>
      <p:grpSpPr>
        <a:xfrm>
          <a:off x="0" y="0"/>
          <a:ext cx="0" cy="0"/>
          <a:chOff x="0" y="0"/>
          <a:chExt cx="0" cy="0"/>
        </a:xfrm>
      </p:grpSpPr>
      <p:sp>
        <p:nvSpPr>
          <p:cNvPr id="20" name="Google Shape;20;p5"/>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5"/>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2" name="Shape 22"/>
        <p:cNvGrpSpPr/>
        <p:nvPr/>
      </p:nvGrpSpPr>
      <p:grpSpPr>
        <a:xfrm>
          <a:off x="0" y="0"/>
          <a:ext cx="0" cy="0"/>
          <a:chOff x="0" y="0"/>
          <a:chExt cx="0" cy="0"/>
        </a:xfrm>
      </p:grpSpPr>
      <p:sp>
        <p:nvSpPr>
          <p:cNvPr id="23" name="Google Shape;23;p6"/>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6"/>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25" name="Shape 25"/>
        <p:cNvGrpSpPr/>
        <p:nvPr/>
      </p:nvGrpSpPr>
      <p:grpSpPr>
        <a:xfrm>
          <a:off x="0" y="0"/>
          <a:ext cx="0" cy="0"/>
          <a:chOff x="0" y="0"/>
          <a:chExt cx="0" cy="0"/>
        </a:xfrm>
      </p:grpSpPr>
      <p:sp>
        <p:nvSpPr>
          <p:cNvPr id="26" name="Google Shape;26;p7"/>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7"/>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28" name="Shape 28"/>
        <p:cNvGrpSpPr/>
        <p:nvPr/>
      </p:nvGrpSpPr>
      <p:grpSpPr>
        <a:xfrm>
          <a:off x="0" y="0"/>
          <a:ext cx="0" cy="0"/>
          <a:chOff x="0" y="0"/>
          <a:chExt cx="0" cy="0"/>
        </a:xfrm>
      </p:grpSpPr>
      <p:sp>
        <p:nvSpPr>
          <p:cNvPr id="29" name="Google Shape;29;p8"/>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8"/>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1" name="Shape 3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pic>
        <p:nvPicPr>
          <p:cNvPr descr="preencoded.png" id="37" name="Google Shape;37;p10"/>
          <p:cNvPicPr preferRelativeResize="0"/>
          <p:nvPr/>
        </p:nvPicPr>
        <p:blipFill rotWithShape="1">
          <a:blip r:embed="rId3">
            <a:alphaModFix/>
          </a:blip>
          <a:srcRect b="0" l="0" r="0" t="0"/>
          <a:stretch/>
        </p:blipFill>
        <p:spPr>
          <a:xfrm>
            <a:off x="8869680" y="0"/>
            <a:ext cx="5760720" cy="8229600"/>
          </a:xfrm>
          <a:prstGeom prst="rect">
            <a:avLst/>
          </a:prstGeom>
          <a:noFill/>
          <a:ln>
            <a:noFill/>
          </a:ln>
        </p:spPr>
      </p:pic>
      <p:sp>
        <p:nvSpPr>
          <p:cNvPr id="38" name="Google Shape;38;p10"/>
          <p:cNvSpPr/>
          <p:nvPr/>
        </p:nvSpPr>
        <p:spPr>
          <a:xfrm>
            <a:off x="793790" y="2654737"/>
            <a:ext cx="7556421" cy="1695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32418"/>
              </a:buClr>
              <a:buSzPts val="5100"/>
              <a:buFont typeface="Marcellus"/>
              <a:buNone/>
            </a:pPr>
            <a:r>
              <a:rPr b="0" i="0" lang="en-US" sz="5100" u="none" cap="none" strike="noStrike">
                <a:solidFill>
                  <a:srgbClr val="532418"/>
                </a:solidFill>
                <a:latin typeface="Marcellus"/>
                <a:ea typeface="Marcellus"/>
                <a:cs typeface="Marcellus"/>
                <a:sym typeface="Marcellus"/>
              </a:rPr>
              <a:t>Understanding K-Nearest Neighbors</a:t>
            </a:r>
            <a:endParaRPr b="0" i="0" sz="5100" u="none" cap="none" strike="noStrike"/>
          </a:p>
        </p:txBody>
      </p:sp>
      <p:sp>
        <p:nvSpPr>
          <p:cNvPr id="39" name="Google Shape;39;p10"/>
          <p:cNvSpPr/>
          <p:nvPr/>
        </p:nvSpPr>
        <p:spPr>
          <a:xfrm>
            <a:off x="793790" y="4690348"/>
            <a:ext cx="7556421" cy="884396"/>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A visual journey into one of machine learning's most intuitive algorithms — where prediction emerges from the wisdom of nearby neighbors.</a:t>
            </a:r>
            <a:endParaRPr b="0" i="0" sz="175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11"/>
          <p:cNvSpPr/>
          <p:nvPr/>
        </p:nvSpPr>
        <p:spPr>
          <a:xfrm>
            <a:off x="793790" y="1455063"/>
            <a:ext cx="6580346" cy="847725"/>
          </a:xfrm>
          <a:prstGeom prst="rect">
            <a:avLst/>
          </a:prstGeom>
          <a:noFill/>
          <a:ln>
            <a:noFill/>
          </a:ln>
        </p:spPr>
        <p:txBody>
          <a:bodyPr anchorCtr="0" anchor="t" bIns="0" lIns="0" spcFirstLastPara="1" rIns="0" wrap="square" tIns="0">
            <a:noAutofit/>
          </a:bodyPr>
          <a:lstStyle/>
          <a:p>
            <a:pPr indent="0" lvl="0" marL="0" marR="0" rtl="0" algn="l">
              <a:lnSpc>
                <a:spcPct val="130392"/>
              </a:lnSpc>
              <a:spcBef>
                <a:spcPts val="0"/>
              </a:spcBef>
              <a:spcAft>
                <a:spcPts val="0"/>
              </a:spcAft>
              <a:buClr>
                <a:srgbClr val="532418"/>
              </a:buClr>
              <a:buSzPts val="5100"/>
              <a:buFont typeface="Marcellus"/>
              <a:buNone/>
            </a:pPr>
            <a:r>
              <a:rPr b="0" i="0" lang="en-US" sz="5100" u="none" cap="none" strike="noStrike">
                <a:solidFill>
                  <a:srgbClr val="532418"/>
                </a:solidFill>
                <a:latin typeface="Marcellus"/>
                <a:ea typeface="Marcellus"/>
                <a:cs typeface="Marcellus"/>
                <a:sym typeface="Marcellus"/>
              </a:rPr>
              <a:t>The Core Idea of KNN</a:t>
            </a:r>
            <a:endParaRPr b="0" i="0" sz="5100" u="none" cap="none" strike="noStrike"/>
          </a:p>
        </p:txBody>
      </p:sp>
      <p:sp>
        <p:nvSpPr>
          <p:cNvPr id="46" name="Google Shape;46;p11"/>
          <p:cNvSpPr/>
          <p:nvPr/>
        </p:nvSpPr>
        <p:spPr>
          <a:xfrm>
            <a:off x="793790" y="2847023"/>
            <a:ext cx="6244709" cy="1179195"/>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K-Nearest Neighbors predicts new data points by looking at the closest known examples. The algorithm measures distance in the feature space to identify which existing points are "nearest" to the query point.</a:t>
            </a:r>
            <a:endParaRPr b="0" i="0" sz="1750" u="none" cap="none" strike="noStrike"/>
          </a:p>
        </p:txBody>
      </p:sp>
      <p:sp>
        <p:nvSpPr>
          <p:cNvPr id="47" name="Google Shape;47;p11"/>
          <p:cNvSpPr/>
          <p:nvPr/>
        </p:nvSpPr>
        <p:spPr>
          <a:xfrm>
            <a:off x="793790" y="4230291"/>
            <a:ext cx="6244709" cy="884396"/>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Think of it like asking your neighbors for recommendations — you trust those closest to you because they're in a similar situation.</a:t>
            </a:r>
            <a:endParaRPr b="0" i="0" sz="1750" u="none" cap="none" strike="noStrike"/>
          </a:p>
        </p:txBody>
      </p:sp>
      <p:pic>
        <p:nvPicPr>
          <p:cNvPr descr="preencoded.png" id="48" name="Google Shape;48;p11"/>
          <p:cNvPicPr preferRelativeResize="0"/>
          <p:nvPr/>
        </p:nvPicPr>
        <p:blipFill rotWithShape="1">
          <a:blip r:embed="rId3">
            <a:alphaModFix/>
          </a:blip>
          <a:srcRect b="0" l="0" r="0" t="0"/>
          <a:stretch/>
        </p:blipFill>
        <p:spPr>
          <a:xfrm>
            <a:off x="7599521" y="2898100"/>
            <a:ext cx="6244709" cy="3122295"/>
          </a:xfrm>
          <a:prstGeom prst="rect">
            <a:avLst/>
          </a:prstGeom>
          <a:noFill/>
          <a:ln>
            <a:noFill/>
          </a:ln>
        </p:spPr>
      </p:pic>
      <p:sp>
        <p:nvSpPr>
          <p:cNvPr id="49" name="Google Shape;49;p11"/>
          <p:cNvSpPr/>
          <p:nvPr/>
        </p:nvSpPr>
        <p:spPr>
          <a:xfrm>
            <a:off x="7599521" y="6275546"/>
            <a:ext cx="6244709" cy="294799"/>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SzPts val="1750"/>
              <a:buFont typeface="Arial"/>
              <a:buNone/>
            </a:pPr>
            <a:r>
              <a:t/>
            </a:r>
            <a:endParaRPr b="0" i="0" sz="17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2"/>
          <p:cNvSpPr/>
          <p:nvPr/>
        </p:nvSpPr>
        <p:spPr>
          <a:xfrm>
            <a:off x="582454" y="457676"/>
            <a:ext cx="4784884" cy="621983"/>
          </a:xfrm>
          <a:prstGeom prst="rect">
            <a:avLst/>
          </a:prstGeom>
          <a:noFill/>
          <a:ln>
            <a:noFill/>
          </a:ln>
        </p:spPr>
        <p:txBody>
          <a:bodyPr anchorCtr="0" anchor="t" bIns="0" lIns="0" spcFirstLastPara="1" rIns="0" wrap="square" tIns="0">
            <a:noAutofit/>
          </a:bodyPr>
          <a:lstStyle/>
          <a:p>
            <a:pPr indent="0" lvl="0" marL="0" marR="0" rtl="0" algn="l">
              <a:lnSpc>
                <a:spcPct val="129333"/>
              </a:lnSpc>
              <a:spcBef>
                <a:spcPts val="0"/>
              </a:spcBef>
              <a:spcAft>
                <a:spcPts val="0"/>
              </a:spcAft>
              <a:buClr>
                <a:srgbClr val="532418"/>
              </a:buClr>
              <a:buSzPts val="3750"/>
              <a:buFont typeface="Marcellus"/>
              <a:buNone/>
            </a:pPr>
            <a:r>
              <a:rPr b="0" i="0" lang="en-US" sz="3750" u="none" cap="none" strike="noStrike">
                <a:solidFill>
                  <a:srgbClr val="532418"/>
                </a:solidFill>
                <a:latin typeface="Marcellus"/>
                <a:ea typeface="Marcellus"/>
                <a:cs typeface="Marcellus"/>
                <a:sym typeface="Marcellus"/>
              </a:rPr>
              <a:t>KNN for Classification</a:t>
            </a:r>
            <a:endParaRPr b="0" i="0" sz="3750" u="none" cap="none" strike="noStrike"/>
          </a:p>
        </p:txBody>
      </p:sp>
      <p:sp>
        <p:nvSpPr>
          <p:cNvPr id="56" name="Google Shape;56;p12"/>
          <p:cNvSpPr/>
          <p:nvPr/>
        </p:nvSpPr>
        <p:spPr>
          <a:xfrm>
            <a:off x="582444" y="1422000"/>
            <a:ext cx="403500" cy="123600"/>
          </a:xfrm>
          <a:prstGeom prst="rect">
            <a:avLst/>
          </a:prstGeom>
          <a:noFill/>
          <a:ln>
            <a:noFill/>
          </a:ln>
        </p:spPr>
        <p:txBody>
          <a:bodyPr anchorCtr="0" anchor="t" bIns="0" lIns="0" spcFirstLastPara="1" rIns="0" wrap="square" tIns="0">
            <a:noAutofit/>
          </a:bodyPr>
          <a:lstStyle/>
          <a:p>
            <a:pPr indent="0" lvl="0" marL="0" marR="0" rtl="0" algn="l">
              <a:lnSpc>
                <a:spcPct val="130769"/>
              </a:lnSpc>
              <a:spcBef>
                <a:spcPts val="0"/>
              </a:spcBef>
              <a:spcAft>
                <a:spcPts val="0"/>
              </a:spcAft>
              <a:buClr>
                <a:srgbClr val="67534F"/>
              </a:buClr>
              <a:buSzPts val="1300"/>
              <a:buFont typeface="Marcellus"/>
              <a:buNone/>
            </a:pPr>
            <a:r>
              <a:rPr b="0" i="0" lang="en-US" sz="1300" u="none" cap="none" strike="noStrike">
                <a:solidFill>
                  <a:srgbClr val="67534F"/>
                </a:solidFill>
                <a:latin typeface="Marcellus"/>
                <a:ea typeface="Marcellus"/>
                <a:cs typeface="Marcellus"/>
                <a:sym typeface="Marcellus"/>
              </a:rPr>
              <a:t>01</a:t>
            </a:r>
            <a:endParaRPr b="0" i="0" sz="1300" u="none" cap="none" strike="noStrike"/>
          </a:p>
        </p:txBody>
      </p:sp>
      <p:sp>
        <p:nvSpPr>
          <p:cNvPr id="57" name="Google Shape;57;p12"/>
          <p:cNvSpPr/>
          <p:nvPr/>
        </p:nvSpPr>
        <p:spPr>
          <a:xfrm>
            <a:off x="582454" y="1597462"/>
            <a:ext cx="4377571" cy="22860"/>
          </a:xfrm>
          <a:prstGeom prst="rect">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2"/>
          <p:cNvSpPr/>
          <p:nvPr/>
        </p:nvSpPr>
        <p:spPr>
          <a:xfrm>
            <a:off x="582454" y="1726287"/>
            <a:ext cx="2749272" cy="310872"/>
          </a:xfrm>
          <a:prstGeom prst="rect">
            <a:avLst/>
          </a:prstGeom>
          <a:noFill/>
          <a:ln>
            <a:noFill/>
          </a:ln>
        </p:spPr>
        <p:txBody>
          <a:bodyPr anchorCtr="0" anchor="t" bIns="0" lIns="0" spcFirstLastPara="1" rIns="0" wrap="square" tIns="0">
            <a:noAutofit/>
          </a:bodyPr>
          <a:lstStyle/>
          <a:p>
            <a:pPr indent="0" lvl="0" marL="0" marR="0" rtl="0" algn="l">
              <a:lnSpc>
                <a:spcPct val="129729"/>
              </a:lnSpc>
              <a:spcBef>
                <a:spcPts val="0"/>
              </a:spcBef>
              <a:spcAft>
                <a:spcPts val="0"/>
              </a:spcAft>
              <a:buClr>
                <a:srgbClr val="67534F"/>
              </a:buClr>
              <a:buSzPts val="1850"/>
              <a:buFont typeface="Marcellus"/>
              <a:buNone/>
            </a:pPr>
            <a:r>
              <a:rPr b="0" i="0" lang="en-US" sz="1850" u="none" cap="none" strike="noStrike">
                <a:solidFill>
                  <a:srgbClr val="67534F"/>
                </a:solidFill>
                <a:latin typeface="Marcellus"/>
                <a:ea typeface="Marcellus"/>
                <a:cs typeface="Marcellus"/>
                <a:sym typeface="Marcellus"/>
              </a:rPr>
              <a:t>Find K Nearest Neighbors</a:t>
            </a:r>
            <a:endParaRPr b="0" i="0" sz="1850" u="none" cap="none" strike="noStrike"/>
          </a:p>
        </p:txBody>
      </p:sp>
      <p:sp>
        <p:nvSpPr>
          <p:cNvPr id="59" name="Google Shape;59;p12"/>
          <p:cNvSpPr/>
          <p:nvPr/>
        </p:nvSpPr>
        <p:spPr>
          <a:xfrm>
            <a:off x="582454" y="2136934"/>
            <a:ext cx="4377571" cy="432673"/>
          </a:xfrm>
          <a:prstGeom prst="rect">
            <a:avLst/>
          </a:prstGeom>
          <a:noFill/>
          <a:ln>
            <a:noFill/>
          </a:ln>
        </p:spPr>
        <p:txBody>
          <a:bodyPr anchorCtr="0" anchor="t" bIns="0" lIns="0" spcFirstLastPara="1" rIns="0" wrap="square" tIns="0">
            <a:noAutofit/>
          </a:bodyPr>
          <a:lstStyle/>
          <a:p>
            <a:pPr indent="0" lvl="0" marL="0" marR="0" rtl="0" algn="l">
              <a:lnSpc>
                <a:spcPct val="130769"/>
              </a:lnSpc>
              <a:spcBef>
                <a:spcPts val="0"/>
              </a:spcBef>
              <a:spcAft>
                <a:spcPts val="0"/>
              </a:spcAft>
              <a:buClr>
                <a:srgbClr val="67534F"/>
              </a:buClr>
              <a:buSzPts val="1300"/>
              <a:buFont typeface="Montserrat"/>
              <a:buNone/>
            </a:pPr>
            <a:r>
              <a:rPr b="0" i="0" lang="en-US" sz="1300" u="none" cap="none" strike="noStrike">
                <a:solidFill>
                  <a:srgbClr val="67534F"/>
                </a:solidFill>
                <a:latin typeface="Montserrat"/>
                <a:ea typeface="Montserrat"/>
                <a:cs typeface="Montserrat"/>
                <a:sym typeface="Montserrat"/>
              </a:rPr>
              <a:t>Identify the K closest data points to the query using distance calculation</a:t>
            </a:r>
            <a:endParaRPr b="0" i="0" sz="1300" u="none" cap="none" strike="noStrike"/>
          </a:p>
        </p:txBody>
      </p:sp>
      <p:sp>
        <p:nvSpPr>
          <p:cNvPr id="60" name="Google Shape;60;p12"/>
          <p:cNvSpPr/>
          <p:nvPr/>
        </p:nvSpPr>
        <p:spPr>
          <a:xfrm>
            <a:off x="5126342" y="1329225"/>
            <a:ext cx="403500" cy="216300"/>
          </a:xfrm>
          <a:prstGeom prst="rect">
            <a:avLst/>
          </a:prstGeom>
          <a:noFill/>
          <a:ln>
            <a:noFill/>
          </a:ln>
        </p:spPr>
        <p:txBody>
          <a:bodyPr anchorCtr="0" anchor="t" bIns="0" lIns="0" spcFirstLastPara="1" rIns="0" wrap="square" tIns="0">
            <a:noAutofit/>
          </a:bodyPr>
          <a:lstStyle/>
          <a:p>
            <a:pPr indent="0" lvl="0" marL="0" marR="0" rtl="0" algn="l">
              <a:lnSpc>
                <a:spcPct val="130769"/>
              </a:lnSpc>
              <a:spcBef>
                <a:spcPts val="0"/>
              </a:spcBef>
              <a:spcAft>
                <a:spcPts val="0"/>
              </a:spcAft>
              <a:buClr>
                <a:srgbClr val="67534F"/>
              </a:buClr>
              <a:buSzPts val="1300"/>
              <a:buFont typeface="Marcellus"/>
              <a:buNone/>
            </a:pPr>
            <a:r>
              <a:rPr b="0" i="0" lang="en-US" sz="1300" u="none" cap="none" strike="noStrike">
                <a:solidFill>
                  <a:srgbClr val="67534F"/>
                </a:solidFill>
                <a:latin typeface="Marcellus"/>
                <a:ea typeface="Marcellus"/>
                <a:cs typeface="Marcellus"/>
                <a:sym typeface="Marcellus"/>
              </a:rPr>
              <a:t>02</a:t>
            </a:r>
            <a:endParaRPr b="0" i="0" sz="1300" u="none" cap="none" strike="noStrike"/>
          </a:p>
        </p:txBody>
      </p:sp>
      <p:sp>
        <p:nvSpPr>
          <p:cNvPr id="61" name="Google Shape;61;p12"/>
          <p:cNvSpPr/>
          <p:nvPr/>
        </p:nvSpPr>
        <p:spPr>
          <a:xfrm>
            <a:off x="5126355" y="1597462"/>
            <a:ext cx="4377571" cy="22860"/>
          </a:xfrm>
          <a:prstGeom prst="rect">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2"/>
          <p:cNvSpPr/>
          <p:nvPr/>
        </p:nvSpPr>
        <p:spPr>
          <a:xfrm>
            <a:off x="5126355" y="1726287"/>
            <a:ext cx="2392442" cy="310872"/>
          </a:xfrm>
          <a:prstGeom prst="rect">
            <a:avLst/>
          </a:prstGeom>
          <a:noFill/>
          <a:ln>
            <a:noFill/>
          </a:ln>
        </p:spPr>
        <p:txBody>
          <a:bodyPr anchorCtr="0" anchor="t" bIns="0" lIns="0" spcFirstLastPara="1" rIns="0" wrap="square" tIns="0">
            <a:noAutofit/>
          </a:bodyPr>
          <a:lstStyle/>
          <a:p>
            <a:pPr indent="0" lvl="0" marL="0" marR="0" rtl="0" algn="l">
              <a:lnSpc>
                <a:spcPct val="129729"/>
              </a:lnSpc>
              <a:spcBef>
                <a:spcPts val="0"/>
              </a:spcBef>
              <a:spcAft>
                <a:spcPts val="0"/>
              </a:spcAft>
              <a:buClr>
                <a:srgbClr val="67534F"/>
              </a:buClr>
              <a:buSzPts val="1850"/>
              <a:buFont typeface="Marcellus"/>
              <a:buNone/>
            </a:pPr>
            <a:r>
              <a:rPr b="0" i="0" lang="en-US" sz="1850" u="none" cap="none" strike="noStrike">
                <a:solidFill>
                  <a:srgbClr val="67534F"/>
                </a:solidFill>
                <a:latin typeface="Marcellus"/>
                <a:ea typeface="Marcellus"/>
                <a:cs typeface="Marcellus"/>
                <a:sym typeface="Marcellus"/>
              </a:rPr>
              <a:t>Count Class Votes</a:t>
            </a:r>
            <a:endParaRPr b="0" i="0" sz="1850" u="none" cap="none" strike="noStrike"/>
          </a:p>
        </p:txBody>
      </p:sp>
      <p:sp>
        <p:nvSpPr>
          <p:cNvPr id="63" name="Google Shape;63;p12"/>
          <p:cNvSpPr/>
          <p:nvPr/>
        </p:nvSpPr>
        <p:spPr>
          <a:xfrm>
            <a:off x="5126355" y="2136934"/>
            <a:ext cx="4377571" cy="216337"/>
          </a:xfrm>
          <a:prstGeom prst="rect">
            <a:avLst/>
          </a:prstGeom>
          <a:noFill/>
          <a:ln>
            <a:noFill/>
          </a:ln>
        </p:spPr>
        <p:txBody>
          <a:bodyPr anchorCtr="0" anchor="t" bIns="0" lIns="0" spcFirstLastPara="1" rIns="0" wrap="square" tIns="0">
            <a:noAutofit/>
          </a:bodyPr>
          <a:lstStyle/>
          <a:p>
            <a:pPr indent="0" lvl="0" marL="0" marR="0" rtl="0" algn="l">
              <a:lnSpc>
                <a:spcPct val="130769"/>
              </a:lnSpc>
              <a:spcBef>
                <a:spcPts val="0"/>
              </a:spcBef>
              <a:spcAft>
                <a:spcPts val="0"/>
              </a:spcAft>
              <a:buClr>
                <a:srgbClr val="67534F"/>
              </a:buClr>
              <a:buSzPts val="1300"/>
              <a:buFont typeface="Montserrat"/>
              <a:buNone/>
            </a:pPr>
            <a:r>
              <a:rPr b="0" i="0" lang="en-US" sz="1300" u="none" cap="none" strike="noStrike">
                <a:solidFill>
                  <a:srgbClr val="67534F"/>
                </a:solidFill>
                <a:latin typeface="Montserrat"/>
                <a:ea typeface="Montserrat"/>
                <a:cs typeface="Montserrat"/>
                <a:sym typeface="Montserrat"/>
              </a:rPr>
              <a:t>Each neighbor casts a vote for its class label</a:t>
            </a:r>
            <a:endParaRPr b="0" i="0" sz="1300" u="none" cap="none" strike="noStrike"/>
          </a:p>
        </p:txBody>
      </p:sp>
      <p:sp>
        <p:nvSpPr>
          <p:cNvPr id="64" name="Google Shape;64;p12"/>
          <p:cNvSpPr/>
          <p:nvPr/>
        </p:nvSpPr>
        <p:spPr>
          <a:xfrm>
            <a:off x="9670241" y="1329225"/>
            <a:ext cx="403500" cy="216300"/>
          </a:xfrm>
          <a:prstGeom prst="rect">
            <a:avLst/>
          </a:prstGeom>
          <a:noFill/>
          <a:ln>
            <a:noFill/>
          </a:ln>
        </p:spPr>
        <p:txBody>
          <a:bodyPr anchorCtr="0" anchor="t" bIns="0" lIns="0" spcFirstLastPara="1" rIns="0" wrap="square" tIns="0">
            <a:noAutofit/>
          </a:bodyPr>
          <a:lstStyle/>
          <a:p>
            <a:pPr indent="0" lvl="0" marL="0" marR="0" rtl="0" algn="l">
              <a:lnSpc>
                <a:spcPct val="130769"/>
              </a:lnSpc>
              <a:spcBef>
                <a:spcPts val="0"/>
              </a:spcBef>
              <a:spcAft>
                <a:spcPts val="0"/>
              </a:spcAft>
              <a:buClr>
                <a:srgbClr val="67534F"/>
              </a:buClr>
              <a:buSzPts val="1300"/>
              <a:buFont typeface="Marcellus"/>
              <a:buNone/>
            </a:pPr>
            <a:r>
              <a:rPr b="0" i="0" lang="en-US" sz="1300" u="none" cap="none" strike="noStrike">
                <a:solidFill>
                  <a:srgbClr val="67534F"/>
                </a:solidFill>
                <a:latin typeface="Marcellus"/>
                <a:ea typeface="Marcellus"/>
                <a:cs typeface="Marcellus"/>
                <a:sym typeface="Marcellus"/>
              </a:rPr>
              <a:t>03</a:t>
            </a:r>
            <a:endParaRPr b="0" i="0" sz="1300" u="none" cap="none" strike="noStrike"/>
          </a:p>
        </p:txBody>
      </p:sp>
      <p:sp>
        <p:nvSpPr>
          <p:cNvPr id="65" name="Google Shape;65;p12"/>
          <p:cNvSpPr/>
          <p:nvPr/>
        </p:nvSpPr>
        <p:spPr>
          <a:xfrm>
            <a:off x="9670256" y="1597462"/>
            <a:ext cx="4377571" cy="22860"/>
          </a:xfrm>
          <a:prstGeom prst="rect">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2"/>
          <p:cNvSpPr/>
          <p:nvPr/>
        </p:nvSpPr>
        <p:spPr>
          <a:xfrm>
            <a:off x="9670256" y="1726287"/>
            <a:ext cx="2392442" cy="310872"/>
          </a:xfrm>
          <a:prstGeom prst="rect">
            <a:avLst/>
          </a:prstGeom>
          <a:noFill/>
          <a:ln>
            <a:noFill/>
          </a:ln>
        </p:spPr>
        <p:txBody>
          <a:bodyPr anchorCtr="0" anchor="t" bIns="0" lIns="0" spcFirstLastPara="1" rIns="0" wrap="square" tIns="0">
            <a:noAutofit/>
          </a:bodyPr>
          <a:lstStyle/>
          <a:p>
            <a:pPr indent="0" lvl="0" marL="0" marR="0" rtl="0" algn="l">
              <a:lnSpc>
                <a:spcPct val="129729"/>
              </a:lnSpc>
              <a:spcBef>
                <a:spcPts val="0"/>
              </a:spcBef>
              <a:spcAft>
                <a:spcPts val="0"/>
              </a:spcAft>
              <a:buClr>
                <a:srgbClr val="67534F"/>
              </a:buClr>
              <a:buSzPts val="1850"/>
              <a:buFont typeface="Marcellus"/>
              <a:buNone/>
            </a:pPr>
            <a:r>
              <a:rPr b="0" i="0" lang="en-US" sz="1850" u="none" cap="none" strike="noStrike">
                <a:solidFill>
                  <a:srgbClr val="67534F"/>
                </a:solidFill>
                <a:latin typeface="Marcellus"/>
                <a:ea typeface="Marcellus"/>
                <a:cs typeface="Marcellus"/>
                <a:sym typeface="Marcellus"/>
              </a:rPr>
              <a:t>Assign Majority Class</a:t>
            </a:r>
            <a:endParaRPr b="0" i="0" sz="1850" u="none" cap="none" strike="noStrike"/>
          </a:p>
        </p:txBody>
      </p:sp>
      <p:sp>
        <p:nvSpPr>
          <p:cNvPr id="67" name="Google Shape;67;p12"/>
          <p:cNvSpPr/>
          <p:nvPr/>
        </p:nvSpPr>
        <p:spPr>
          <a:xfrm>
            <a:off x="9670256" y="2136934"/>
            <a:ext cx="4377571" cy="432673"/>
          </a:xfrm>
          <a:prstGeom prst="rect">
            <a:avLst/>
          </a:prstGeom>
          <a:noFill/>
          <a:ln>
            <a:noFill/>
          </a:ln>
        </p:spPr>
        <p:txBody>
          <a:bodyPr anchorCtr="0" anchor="t" bIns="0" lIns="0" spcFirstLastPara="1" rIns="0" wrap="square" tIns="0">
            <a:noAutofit/>
          </a:bodyPr>
          <a:lstStyle/>
          <a:p>
            <a:pPr indent="0" lvl="0" marL="0" marR="0" rtl="0" algn="l">
              <a:lnSpc>
                <a:spcPct val="130769"/>
              </a:lnSpc>
              <a:spcBef>
                <a:spcPts val="0"/>
              </a:spcBef>
              <a:spcAft>
                <a:spcPts val="0"/>
              </a:spcAft>
              <a:buClr>
                <a:srgbClr val="67534F"/>
              </a:buClr>
              <a:buSzPts val="1300"/>
              <a:buFont typeface="Montserrat"/>
              <a:buNone/>
            </a:pPr>
            <a:r>
              <a:rPr b="0" i="0" lang="en-US" sz="1300" u="none" cap="none" strike="noStrike">
                <a:solidFill>
                  <a:srgbClr val="67534F"/>
                </a:solidFill>
                <a:latin typeface="Montserrat"/>
                <a:ea typeface="Montserrat"/>
                <a:cs typeface="Montserrat"/>
                <a:sym typeface="Montserrat"/>
              </a:rPr>
              <a:t>The query point receives the class with the most votes</a:t>
            </a:r>
            <a:endParaRPr b="0" i="0" sz="1300" u="none" cap="none" strike="noStrike"/>
          </a:p>
        </p:txBody>
      </p:sp>
      <p:sp>
        <p:nvSpPr>
          <p:cNvPr id="68" name="Google Shape;68;p12"/>
          <p:cNvSpPr/>
          <p:nvPr/>
        </p:nvSpPr>
        <p:spPr>
          <a:xfrm>
            <a:off x="582454" y="2881551"/>
            <a:ext cx="13465493" cy="216337"/>
          </a:xfrm>
          <a:prstGeom prst="rect">
            <a:avLst/>
          </a:prstGeom>
          <a:noFill/>
          <a:ln>
            <a:noFill/>
          </a:ln>
        </p:spPr>
        <p:txBody>
          <a:bodyPr anchorCtr="0" anchor="t" bIns="0" lIns="0" spcFirstLastPara="1" rIns="0" wrap="square" tIns="0">
            <a:noAutofit/>
          </a:bodyPr>
          <a:lstStyle/>
          <a:p>
            <a:pPr indent="0" lvl="0" marL="0" marR="0" rtl="0" algn="l">
              <a:lnSpc>
                <a:spcPct val="130769"/>
              </a:lnSpc>
              <a:spcBef>
                <a:spcPts val="0"/>
              </a:spcBef>
              <a:spcAft>
                <a:spcPts val="0"/>
              </a:spcAft>
              <a:buClr>
                <a:srgbClr val="67534F"/>
              </a:buClr>
              <a:buSzPts val="1300"/>
              <a:buFont typeface="Montserrat"/>
              <a:buNone/>
            </a:pPr>
            <a:r>
              <a:rPr b="0" i="0" lang="en-US" sz="1300" u="none" cap="none" strike="noStrike">
                <a:solidFill>
                  <a:srgbClr val="67534F"/>
                </a:solidFill>
                <a:latin typeface="Montserrat"/>
                <a:ea typeface="Montserrat"/>
                <a:cs typeface="Montserrat"/>
                <a:sym typeface="Montserrat"/>
              </a:rPr>
              <a:t>In classification tasks, KNN operates like a democratic election where nearby neighbors vote to determine the class of an unknown point.</a:t>
            </a:r>
            <a:endParaRPr b="0" i="0" sz="1300" u="none" cap="none" strike="noStrike"/>
          </a:p>
        </p:txBody>
      </p:sp>
      <p:pic>
        <p:nvPicPr>
          <p:cNvPr descr="preencoded.png" id="69" name="Google Shape;69;p12"/>
          <p:cNvPicPr preferRelativeResize="0"/>
          <p:nvPr/>
        </p:nvPicPr>
        <p:blipFill rotWithShape="1">
          <a:blip r:embed="rId3">
            <a:alphaModFix/>
          </a:blip>
          <a:srcRect b="0" l="0" r="0" t="0"/>
          <a:stretch/>
        </p:blipFill>
        <p:spPr>
          <a:xfrm>
            <a:off x="582454" y="3285053"/>
            <a:ext cx="10402014" cy="4087892"/>
          </a:xfrm>
          <a:prstGeom prst="rect">
            <a:avLst/>
          </a:prstGeom>
          <a:noFill/>
          <a:ln>
            <a:noFill/>
          </a:ln>
        </p:spPr>
      </p:pic>
      <p:sp>
        <p:nvSpPr>
          <p:cNvPr id="70" name="Google Shape;70;p12"/>
          <p:cNvSpPr/>
          <p:nvPr/>
        </p:nvSpPr>
        <p:spPr>
          <a:xfrm>
            <a:off x="582454" y="7560112"/>
            <a:ext cx="13465493" cy="216337"/>
          </a:xfrm>
          <a:prstGeom prst="rect">
            <a:avLst/>
          </a:prstGeom>
          <a:noFill/>
          <a:ln>
            <a:noFill/>
          </a:ln>
        </p:spPr>
        <p:txBody>
          <a:bodyPr anchorCtr="0" anchor="t" bIns="0" lIns="0" spcFirstLastPara="1" rIns="0" wrap="square" tIns="0">
            <a:noAutofit/>
          </a:bodyPr>
          <a:lstStyle/>
          <a:p>
            <a:pPr indent="0" lvl="0" marL="0" marR="0" rtl="0" algn="l">
              <a:lnSpc>
                <a:spcPct val="130769"/>
              </a:lnSpc>
              <a:spcBef>
                <a:spcPts val="0"/>
              </a:spcBef>
              <a:spcAft>
                <a:spcPts val="0"/>
              </a:spcAft>
              <a:buSzPts val="1300"/>
              <a:buFont typeface="Arial"/>
              <a:buNone/>
            </a:pPr>
            <a:r>
              <a:t/>
            </a:r>
            <a:endParaRPr b="0" i="0" sz="130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3"/>
          <p:cNvSpPr/>
          <p:nvPr/>
        </p:nvSpPr>
        <p:spPr>
          <a:xfrm>
            <a:off x="793790" y="1209080"/>
            <a:ext cx="6521291" cy="847725"/>
          </a:xfrm>
          <a:prstGeom prst="rect">
            <a:avLst/>
          </a:prstGeom>
          <a:noFill/>
          <a:ln>
            <a:noFill/>
          </a:ln>
        </p:spPr>
        <p:txBody>
          <a:bodyPr anchorCtr="0" anchor="t" bIns="0" lIns="0" spcFirstLastPara="1" rIns="0" wrap="square" tIns="0">
            <a:noAutofit/>
          </a:bodyPr>
          <a:lstStyle/>
          <a:p>
            <a:pPr indent="0" lvl="0" marL="0" marR="0" rtl="0" algn="l">
              <a:lnSpc>
                <a:spcPct val="130392"/>
              </a:lnSpc>
              <a:spcBef>
                <a:spcPts val="0"/>
              </a:spcBef>
              <a:spcAft>
                <a:spcPts val="0"/>
              </a:spcAft>
              <a:buClr>
                <a:srgbClr val="532418"/>
              </a:buClr>
              <a:buSzPts val="5100"/>
              <a:buFont typeface="Marcellus"/>
              <a:buNone/>
            </a:pPr>
            <a:r>
              <a:rPr b="0" i="0" lang="en-US" sz="5100" u="none" cap="none" strike="noStrike">
                <a:solidFill>
                  <a:srgbClr val="532418"/>
                </a:solidFill>
                <a:latin typeface="Marcellus"/>
                <a:ea typeface="Marcellus"/>
                <a:cs typeface="Marcellus"/>
                <a:sym typeface="Marcellus"/>
              </a:rPr>
              <a:t>KNN for Regression</a:t>
            </a:r>
            <a:endParaRPr b="0" i="0" sz="5100" u="none" cap="none" strike="noStrike"/>
          </a:p>
        </p:txBody>
      </p:sp>
      <p:sp>
        <p:nvSpPr>
          <p:cNvPr id="77" name="Google Shape;77;p13"/>
          <p:cNvSpPr/>
          <p:nvPr/>
        </p:nvSpPr>
        <p:spPr>
          <a:xfrm>
            <a:off x="793790" y="2623780"/>
            <a:ext cx="5017532" cy="508516"/>
          </a:xfrm>
          <a:prstGeom prst="rect">
            <a:avLst/>
          </a:prstGeom>
          <a:noFill/>
          <a:ln>
            <a:noFill/>
          </a:ln>
        </p:spPr>
        <p:txBody>
          <a:bodyPr anchorCtr="0" anchor="t" bIns="0" lIns="0" spcFirstLastPara="1" rIns="0" wrap="square" tIns="0">
            <a:noAutofit/>
          </a:bodyPr>
          <a:lstStyle/>
          <a:p>
            <a:pPr indent="0" lvl="0" marL="0" marR="0" rtl="0" algn="l">
              <a:lnSpc>
                <a:spcPct val="131147"/>
              </a:lnSpc>
              <a:spcBef>
                <a:spcPts val="0"/>
              </a:spcBef>
              <a:spcAft>
                <a:spcPts val="0"/>
              </a:spcAft>
              <a:buClr>
                <a:srgbClr val="532418"/>
              </a:buClr>
              <a:buSzPts val="3050"/>
              <a:buFont typeface="Marcellus"/>
              <a:buNone/>
            </a:pPr>
            <a:r>
              <a:rPr b="0" i="0" lang="en-US" sz="3050" u="none" cap="none" strike="noStrike">
                <a:solidFill>
                  <a:srgbClr val="532418"/>
                </a:solidFill>
                <a:latin typeface="Marcellus"/>
                <a:ea typeface="Marcellus"/>
                <a:cs typeface="Marcellus"/>
                <a:sym typeface="Marcellus"/>
              </a:rPr>
              <a:t>Making Numeric Predictions</a:t>
            </a:r>
            <a:endParaRPr b="0" i="0" sz="3050" u="none" cap="none" strike="noStrike"/>
          </a:p>
        </p:txBody>
      </p:sp>
      <p:sp>
        <p:nvSpPr>
          <p:cNvPr id="78" name="Google Shape;78;p13"/>
          <p:cNvSpPr/>
          <p:nvPr/>
        </p:nvSpPr>
        <p:spPr>
          <a:xfrm>
            <a:off x="793790" y="3359110"/>
            <a:ext cx="5564862" cy="1179195"/>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For regression problems, KNN doesn't vote — it averages. The algorithm finds the K nearest neighbors and computes the mean of their numeric values.</a:t>
            </a:r>
            <a:endParaRPr b="0" i="0" sz="1750" u="none" cap="none" strike="noStrike"/>
          </a:p>
        </p:txBody>
      </p:sp>
      <p:sp>
        <p:nvSpPr>
          <p:cNvPr id="79" name="Google Shape;79;p13"/>
          <p:cNvSpPr/>
          <p:nvPr/>
        </p:nvSpPr>
        <p:spPr>
          <a:xfrm>
            <a:off x="793790" y="4742378"/>
            <a:ext cx="5564862" cy="884396"/>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This approach smooths out predictions by incorporating information from multiple similar examples, reducing the impact of outliers.</a:t>
            </a:r>
            <a:endParaRPr b="0" i="0" sz="1750" u="none" cap="none" strike="noStrike"/>
          </a:p>
        </p:txBody>
      </p:sp>
      <p:sp>
        <p:nvSpPr>
          <p:cNvPr id="80" name="Google Shape;80;p13"/>
          <p:cNvSpPr/>
          <p:nvPr/>
        </p:nvSpPr>
        <p:spPr>
          <a:xfrm>
            <a:off x="6919674" y="2765465"/>
            <a:ext cx="3320415" cy="74842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7534F"/>
              </a:buClr>
              <a:buSzPts val="5850"/>
              <a:buFont typeface="Marcellus"/>
              <a:buNone/>
            </a:pPr>
            <a:r>
              <a:rPr b="0" i="0" lang="en-US" sz="5850" u="none" cap="none" strike="noStrike">
                <a:solidFill>
                  <a:srgbClr val="67534F"/>
                </a:solidFill>
                <a:latin typeface="Marcellus"/>
                <a:ea typeface="Marcellus"/>
                <a:cs typeface="Marcellus"/>
                <a:sym typeface="Marcellus"/>
              </a:rPr>
              <a:t>42</a:t>
            </a:r>
            <a:endParaRPr b="0" i="0" sz="5850" u="none" cap="none" strike="noStrike"/>
          </a:p>
        </p:txBody>
      </p:sp>
      <p:sp>
        <p:nvSpPr>
          <p:cNvPr id="81" name="Google Shape;81;p13"/>
          <p:cNvSpPr/>
          <p:nvPr/>
        </p:nvSpPr>
        <p:spPr>
          <a:xfrm>
            <a:off x="6949559" y="3797260"/>
            <a:ext cx="3260646" cy="423863"/>
          </a:xfrm>
          <a:prstGeom prst="rect">
            <a:avLst/>
          </a:prstGeom>
          <a:noFill/>
          <a:ln>
            <a:noFill/>
          </a:ln>
        </p:spPr>
        <p:txBody>
          <a:bodyPr anchorCtr="0" anchor="t" bIns="0" lIns="0" spcFirstLastPara="1" rIns="0" wrap="square" tIns="0">
            <a:noAutofit/>
          </a:bodyPr>
          <a:lstStyle/>
          <a:p>
            <a:pPr indent="0" lvl="0" marL="0" marR="0" rtl="0" algn="ctr">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Neighbor 1</a:t>
            </a:r>
            <a:endParaRPr b="0" i="0" sz="2550" u="none" cap="none" strike="noStrike"/>
          </a:p>
        </p:txBody>
      </p:sp>
      <p:sp>
        <p:nvSpPr>
          <p:cNvPr id="82" name="Google Shape;82;p13"/>
          <p:cNvSpPr/>
          <p:nvPr/>
        </p:nvSpPr>
        <p:spPr>
          <a:xfrm>
            <a:off x="10523577" y="2765465"/>
            <a:ext cx="3320534" cy="74842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7534F"/>
              </a:buClr>
              <a:buSzPts val="5850"/>
              <a:buFont typeface="Marcellus"/>
              <a:buNone/>
            </a:pPr>
            <a:r>
              <a:rPr b="0" i="0" lang="en-US" sz="5850" u="none" cap="none" strike="noStrike">
                <a:solidFill>
                  <a:srgbClr val="67534F"/>
                </a:solidFill>
                <a:latin typeface="Marcellus"/>
                <a:ea typeface="Marcellus"/>
                <a:cs typeface="Marcellus"/>
                <a:sym typeface="Marcellus"/>
              </a:rPr>
              <a:t>38</a:t>
            </a:r>
            <a:endParaRPr b="0" i="0" sz="5850" u="none" cap="none" strike="noStrike"/>
          </a:p>
        </p:txBody>
      </p:sp>
      <p:sp>
        <p:nvSpPr>
          <p:cNvPr id="83" name="Google Shape;83;p13"/>
          <p:cNvSpPr/>
          <p:nvPr/>
        </p:nvSpPr>
        <p:spPr>
          <a:xfrm>
            <a:off x="10553462" y="3797260"/>
            <a:ext cx="3260646" cy="423863"/>
          </a:xfrm>
          <a:prstGeom prst="rect">
            <a:avLst/>
          </a:prstGeom>
          <a:noFill/>
          <a:ln>
            <a:noFill/>
          </a:ln>
        </p:spPr>
        <p:txBody>
          <a:bodyPr anchorCtr="0" anchor="t" bIns="0" lIns="0" spcFirstLastPara="1" rIns="0" wrap="square" tIns="0">
            <a:noAutofit/>
          </a:bodyPr>
          <a:lstStyle/>
          <a:p>
            <a:pPr indent="0" lvl="0" marL="0" marR="0" rtl="0" algn="ctr">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Neighbor 2</a:t>
            </a:r>
            <a:endParaRPr b="0" i="0" sz="2550" u="none" cap="none" strike="noStrike"/>
          </a:p>
        </p:txBody>
      </p:sp>
      <p:sp>
        <p:nvSpPr>
          <p:cNvPr id="84" name="Google Shape;84;p13"/>
          <p:cNvSpPr/>
          <p:nvPr/>
        </p:nvSpPr>
        <p:spPr>
          <a:xfrm>
            <a:off x="6919674" y="4788098"/>
            <a:ext cx="3320415" cy="74842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7534F"/>
              </a:buClr>
              <a:buSzPts val="5850"/>
              <a:buFont typeface="Marcellus"/>
              <a:buNone/>
            </a:pPr>
            <a:r>
              <a:rPr b="0" i="0" lang="en-US" sz="5850" u="none" cap="none" strike="noStrike">
                <a:solidFill>
                  <a:srgbClr val="67534F"/>
                </a:solidFill>
                <a:latin typeface="Marcellus"/>
                <a:ea typeface="Marcellus"/>
                <a:cs typeface="Marcellus"/>
                <a:sym typeface="Marcellus"/>
              </a:rPr>
              <a:t>45</a:t>
            </a:r>
            <a:endParaRPr b="0" i="0" sz="5850" u="none" cap="none" strike="noStrike"/>
          </a:p>
        </p:txBody>
      </p:sp>
      <p:sp>
        <p:nvSpPr>
          <p:cNvPr id="85" name="Google Shape;85;p13"/>
          <p:cNvSpPr/>
          <p:nvPr/>
        </p:nvSpPr>
        <p:spPr>
          <a:xfrm>
            <a:off x="6949559" y="5819894"/>
            <a:ext cx="3260646" cy="423863"/>
          </a:xfrm>
          <a:prstGeom prst="rect">
            <a:avLst/>
          </a:prstGeom>
          <a:noFill/>
          <a:ln>
            <a:noFill/>
          </a:ln>
        </p:spPr>
        <p:txBody>
          <a:bodyPr anchorCtr="0" anchor="t" bIns="0" lIns="0" spcFirstLastPara="1" rIns="0" wrap="square" tIns="0">
            <a:noAutofit/>
          </a:bodyPr>
          <a:lstStyle/>
          <a:p>
            <a:pPr indent="0" lvl="0" marL="0" marR="0" rtl="0" algn="ctr">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Neighbor 3</a:t>
            </a:r>
            <a:endParaRPr b="0" i="0" sz="2550" u="none" cap="none" strike="noStrike"/>
          </a:p>
        </p:txBody>
      </p:sp>
      <p:sp>
        <p:nvSpPr>
          <p:cNvPr id="86" name="Google Shape;86;p13"/>
          <p:cNvSpPr/>
          <p:nvPr/>
        </p:nvSpPr>
        <p:spPr>
          <a:xfrm>
            <a:off x="10523577" y="4788098"/>
            <a:ext cx="3320534" cy="74842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7534F"/>
              </a:buClr>
              <a:buSzPts val="5850"/>
              <a:buFont typeface="Marcellus"/>
              <a:buNone/>
            </a:pPr>
            <a:r>
              <a:rPr b="0" i="0" lang="en-US" sz="5850" u="none" cap="none" strike="noStrike">
                <a:solidFill>
                  <a:srgbClr val="67534F"/>
                </a:solidFill>
                <a:latin typeface="Marcellus"/>
                <a:ea typeface="Marcellus"/>
                <a:cs typeface="Marcellus"/>
                <a:sym typeface="Marcellus"/>
              </a:rPr>
              <a:t>41.7</a:t>
            </a:r>
            <a:endParaRPr b="0" i="0" sz="5850" u="none" cap="none" strike="noStrike"/>
          </a:p>
        </p:txBody>
      </p:sp>
      <p:sp>
        <p:nvSpPr>
          <p:cNvPr id="87" name="Google Shape;87;p13"/>
          <p:cNvSpPr/>
          <p:nvPr/>
        </p:nvSpPr>
        <p:spPr>
          <a:xfrm>
            <a:off x="10553462" y="5819894"/>
            <a:ext cx="3260646" cy="423863"/>
          </a:xfrm>
          <a:prstGeom prst="rect">
            <a:avLst/>
          </a:prstGeom>
          <a:noFill/>
          <a:ln>
            <a:noFill/>
          </a:ln>
        </p:spPr>
        <p:txBody>
          <a:bodyPr anchorCtr="0" anchor="t" bIns="0" lIns="0" spcFirstLastPara="1" rIns="0" wrap="square" tIns="0">
            <a:noAutofit/>
          </a:bodyPr>
          <a:lstStyle/>
          <a:p>
            <a:pPr indent="0" lvl="0" marL="0" marR="0" rtl="0" algn="ctr">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Prediction</a:t>
            </a:r>
            <a:endParaRPr b="0" i="0" sz="2550" u="none" cap="none" strike="noStrike"/>
          </a:p>
        </p:txBody>
      </p:sp>
      <p:sp>
        <p:nvSpPr>
          <p:cNvPr id="88" name="Google Shape;88;p13"/>
          <p:cNvSpPr/>
          <p:nvPr/>
        </p:nvSpPr>
        <p:spPr>
          <a:xfrm>
            <a:off x="10523577" y="6470571"/>
            <a:ext cx="3320534" cy="294799"/>
          </a:xfrm>
          <a:prstGeom prst="rect">
            <a:avLst/>
          </a:prstGeom>
          <a:noFill/>
          <a:ln>
            <a:noFill/>
          </a:ln>
        </p:spPr>
        <p:txBody>
          <a:bodyPr anchorCtr="0" anchor="t" bIns="0" lIns="0" spcFirstLastPara="1" rIns="0" wrap="square" tIns="0">
            <a:noAutofit/>
          </a:bodyPr>
          <a:lstStyle/>
          <a:p>
            <a:pPr indent="0" lvl="0" marL="0" marR="0" rtl="0" algn="ctr">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Average value</a:t>
            </a:r>
            <a:endParaRPr b="0" i="0" sz="175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descr="preencoded.png" id="94" name="Google Shape;94;p14"/>
          <p:cNvPicPr preferRelativeResize="0"/>
          <p:nvPr/>
        </p:nvPicPr>
        <p:blipFill rotWithShape="1">
          <a:blip r:embed="rId3">
            <a:alphaModFix/>
          </a:blip>
          <a:srcRect b="0" l="0" r="0" t="0"/>
          <a:stretch/>
        </p:blipFill>
        <p:spPr>
          <a:xfrm>
            <a:off x="0" y="0"/>
            <a:ext cx="14630400" cy="2795826"/>
          </a:xfrm>
          <a:prstGeom prst="rect">
            <a:avLst/>
          </a:prstGeom>
          <a:noFill/>
          <a:ln>
            <a:noFill/>
          </a:ln>
        </p:spPr>
      </p:pic>
      <p:sp>
        <p:nvSpPr>
          <p:cNvPr id="95" name="Google Shape;95;p14"/>
          <p:cNvSpPr/>
          <p:nvPr/>
        </p:nvSpPr>
        <p:spPr>
          <a:xfrm>
            <a:off x="745569" y="3248501"/>
            <a:ext cx="9381530" cy="796171"/>
          </a:xfrm>
          <a:prstGeom prst="rect">
            <a:avLst/>
          </a:prstGeom>
          <a:noFill/>
          <a:ln>
            <a:noFill/>
          </a:ln>
        </p:spPr>
        <p:txBody>
          <a:bodyPr anchorCtr="0" anchor="t" bIns="0" lIns="0" spcFirstLastPara="1" rIns="0" wrap="square" tIns="0">
            <a:noAutofit/>
          </a:bodyPr>
          <a:lstStyle/>
          <a:p>
            <a:pPr indent="0" lvl="0" marL="0" marR="0" rtl="0" algn="l">
              <a:lnSpc>
                <a:spcPct val="130208"/>
              </a:lnSpc>
              <a:spcBef>
                <a:spcPts val="0"/>
              </a:spcBef>
              <a:spcAft>
                <a:spcPts val="0"/>
              </a:spcAft>
              <a:buClr>
                <a:srgbClr val="532418"/>
              </a:buClr>
              <a:buSzPts val="4800"/>
              <a:buFont typeface="Marcellus"/>
              <a:buNone/>
            </a:pPr>
            <a:r>
              <a:rPr b="0" i="0" lang="en-US" sz="4800" u="none" cap="none" strike="noStrike">
                <a:solidFill>
                  <a:srgbClr val="532418"/>
                </a:solidFill>
                <a:latin typeface="Marcellus"/>
                <a:ea typeface="Marcellus"/>
                <a:cs typeface="Marcellus"/>
                <a:sym typeface="Marcellus"/>
              </a:rPr>
              <a:t>Why KNN Is Called a Lazy Learner</a:t>
            </a:r>
            <a:endParaRPr b="0" i="0" sz="4800" u="none" cap="none" strike="noStrike"/>
          </a:p>
        </p:txBody>
      </p:sp>
      <p:sp>
        <p:nvSpPr>
          <p:cNvPr id="96" name="Google Shape;96;p14"/>
          <p:cNvSpPr/>
          <p:nvPr/>
        </p:nvSpPr>
        <p:spPr>
          <a:xfrm>
            <a:off x="745569" y="4364117"/>
            <a:ext cx="6463070" cy="2488049"/>
          </a:xfrm>
          <a:prstGeom prst="roundRect">
            <a:avLst>
              <a:gd fmla="val 3596" name="adj"/>
            </a:avLst>
          </a:prstGeom>
          <a:solidFill>
            <a:srgbClr val="FFFFF4"/>
          </a:solidFill>
          <a:ln cap="flat" cmpd="sng" w="22850">
            <a:solidFill>
              <a:srgbClr val="FF95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4"/>
          <p:cNvSpPr/>
          <p:nvPr/>
        </p:nvSpPr>
        <p:spPr>
          <a:xfrm>
            <a:off x="981432" y="4599980"/>
            <a:ext cx="3062168" cy="398026"/>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67534F"/>
              </a:buClr>
              <a:buSzPts val="2400"/>
              <a:buFont typeface="Marcellus"/>
              <a:buNone/>
            </a:pPr>
            <a:r>
              <a:rPr b="0" i="0" lang="en-US" sz="2400" u="none" cap="none" strike="noStrike">
                <a:solidFill>
                  <a:srgbClr val="67534F"/>
                </a:solidFill>
                <a:latin typeface="Marcellus"/>
                <a:ea typeface="Marcellus"/>
                <a:cs typeface="Marcellus"/>
                <a:sym typeface="Marcellus"/>
              </a:rPr>
              <a:t>Training Phase</a:t>
            </a:r>
            <a:endParaRPr b="0" i="0" sz="2400" u="none" cap="none" strike="noStrike"/>
          </a:p>
        </p:txBody>
      </p:sp>
      <p:sp>
        <p:nvSpPr>
          <p:cNvPr id="98" name="Google Shape;98;p14"/>
          <p:cNvSpPr/>
          <p:nvPr/>
        </p:nvSpPr>
        <p:spPr>
          <a:xfrm>
            <a:off x="981432" y="5125760"/>
            <a:ext cx="5991344" cy="276820"/>
          </a:xfrm>
          <a:prstGeom prst="rect">
            <a:avLst/>
          </a:prstGeom>
          <a:noFill/>
          <a:ln>
            <a:noFill/>
          </a:ln>
        </p:spPr>
        <p:txBody>
          <a:bodyPr anchorCtr="0" anchor="t" bIns="0" lIns="0" spcFirstLastPara="1" rIns="0" wrap="square" tIns="0">
            <a:noAutofit/>
          </a:bodyPr>
          <a:lstStyle/>
          <a:p>
            <a:pPr indent="0" lvl="0" marL="0" marR="0" rtl="0" algn="l">
              <a:lnSpc>
                <a:spcPct val="130303"/>
              </a:lnSpc>
              <a:spcBef>
                <a:spcPts val="0"/>
              </a:spcBef>
              <a:spcAft>
                <a:spcPts val="0"/>
              </a:spcAft>
              <a:buClr>
                <a:srgbClr val="67534F"/>
              </a:buClr>
              <a:buSzPts val="1650"/>
              <a:buFont typeface="Montserrat"/>
              <a:buNone/>
            </a:pPr>
            <a:r>
              <a:rPr b="0" i="0" lang="en-US" sz="1650" u="none" cap="none" strike="noStrike">
                <a:solidFill>
                  <a:srgbClr val="67534F"/>
                </a:solidFill>
                <a:latin typeface="Montserrat"/>
                <a:ea typeface="Montserrat"/>
                <a:cs typeface="Montserrat"/>
                <a:sym typeface="Montserrat"/>
              </a:rPr>
              <a:t>No model building</a:t>
            </a:r>
            <a:endParaRPr b="0" i="0" sz="1650" u="none" cap="none" strike="noStrike"/>
          </a:p>
        </p:txBody>
      </p:sp>
      <p:sp>
        <p:nvSpPr>
          <p:cNvPr id="99" name="Google Shape;99;p14"/>
          <p:cNvSpPr/>
          <p:nvPr/>
        </p:nvSpPr>
        <p:spPr>
          <a:xfrm>
            <a:off x="981432" y="5530334"/>
            <a:ext cx="5991344" cy="276820"/>
          </a:xfrm>
          <a:prstGeom prst="rect">
            <a:avLst/>
          </a:prstGeom>
          <a:noFill/>
          <a:ln>
            <a:noFill/>
          </a:ln>
        </p:spPr>
        <p:txBody>
          <a:bodyPr anchorCtr="0" anchor="t" bIns="0" lIns="0" spcFirstLastPara="1" rIns="0" wrap="square" tIns="0">
            <a:noAutofit/>
          </a:bodyPr>
          <a:lstStyle/>
          <a:p>
            <a:pPr indent="0" lvl="0" marL="0" marR="0" rtl="0" algn="l">
              <a:lnSpc>
                <a:spcPct val="130303"/>
              </a:lnSpc>
              <a:spcBef>
                <a:spcPts val="0"/>
              </a:spcBef>
              <a:spcAft>
                <a:spcPts val="0"/>
              </a:spcAft>
              <a:buClr>
                <a:srgbClr val="67534F"/>
              </a:buClr>
              <a:buSzPts val="1650"/>
              <a:buFont typeface="Montserrat"/>
              <a:buNone/>
            </a:pPr>
            <a:r>
              <a:rPr b="0" i="0" lang="en-US" sz="1650" u="none" cap="none" strike="noStrike">
                <a:solidFill>
                  <a:srgbClr val="67534F"/>
                </a:solidFill>
                <a:latin typeface="Montserrat"/>
                <a:ea typeface="Montserrat"/>
                <a:cs typeface="Montserrat"/>
                <a:sym typeface="Montserrat"/>
              </a:rPr>
              <a:t>No parameter optimization</a:t>
            </a:r>
            <a:endParaRPr b="0" i="0" sz="1650" u="none" cap="none" strike="noStrike"/>
          </a:p>
        </p:txBody>
      </p:sp>
      <p:sp>
        <p:nvSpPr>
          <p:cNvPr id="100" name="Google Shape;100;p14"/>
          <p:cNvSpPr/>
          <p:nvPr/>
        </p:nvSpPr>
        <p:spPr>
          <a:xfrm>
            <a:off x="981432" y="5934908"/>
            <a:ext cx="5991344" cy="276820"/>
          </a:xfrm>
          <a:prstGeom prst="rect">
            <a:avLst/>
          </a:prstGeom>
          <a:noFill/>
          <a:ln>
            <a:noFill/>
          </a:ln>
        </p:spPr>
        <p:txBody>
          <a:bodyPr anchorCtr="0" anchor="t" bIns="0" lIns="0" spcFirstLastPara="1" rIns="0" wrap="square" tIns="0">
            <a:noAutofit/>
          </a:bodyPr>
          <a:lstStyle/>
          <a:p>
            <a:pPr indent="0" lvl="0" marL="0" marR="0" rtl="0" algn="l">
              <a:lnSpc>
                <a:spcPct val="130303"/>
              </a:lnSpc>
              <a:spcBef>
                <a:spcPts val="0"/>
              </a:spcBef>
              <a:spcAft>
                <a:spcPts val="0"/>
              </a:spcAft>
              <a:buClr>
                <a:srgbClr val="67534F"/>
              </a:buClr>
              <a:buSzPts val="1650"/>
              <a:buFont typeface="Montserrat"/>
              <a:buNone/>
            </a:pPr>
            <a:r>
              <a:rPr b="0" i="0" lang="en-US" sz="1650" u="none" cap="none" strike="noStrike">
                <a:solidFill>
                  <a:srgbClr val="67534F"/>
                </a:solidFill>
                <a:latin typeface="Montserrat"/>
                <a:ea typeface="Montserrat"/>
                <a:cs typeface="Montserrat"/>
                <a:sym typeface="Montserrat"/>
              </a:rPr>
              <a:t>Just stores the dataset</a:t>
            </a:r>
            <a:endParaRPr b="0" i="0" sz="1650" u="none" cap="none" strike="noStrike"/>
          </a:p>
        </p:txBody>
      </p:sp>
      <p:sp>
        <p:nvSpPr>
          <p:cNvPr id="101" name="Google Shape;101;p14"/>
          <p:cNvSpPr/>
          <p:nvPr/>
        </p:nvSpPr>
        <p:spPr>
          <a:xfrm>
            <a:off x="981432" y="6339483"/>
            <a:ext cx="5991344" cy="276820"/>
          </a:xfrm>
          <a:prstGeom prst="rect">
            <a:avLst/>
          </a:prstGeom>
          <a:noFill/>
          <a:ln>
            <a:noFill/>
          </a:ln>
        </p:spPr>
        <p:txBody>
          <a:bodyPr anchorCtr="0" anchor="t" bIns="0" lIns="0" spcFirstLastPara="1" rIns="0" wrap="square" tIns="0">
            <a:noAutofit/>
          </a:bodyPr>
          <a:lstStyle/>
          <a:p>
            <a:pPr indent="0" lvl="0" marL="0" marR="0" rtl="0" algn="l">
              <a:lnSpc>
                <a:spcPct val="130303"/>
              </a:lnSpc>
              <a:spcBef>
                <a:spcPts val="0"/>
              </a:spcBef>
              <a:spcAft>
                <a:spcPts val="0"/>
              </a:spcAft>
              <a:buClr>
                <a:srgbClr val="67534F"/>
              </a:buClr>
              <a:buSzPts val="1650"/>
              <a:buFont typeface="Montserrat"/>
              <a:buNone/>
            </a:pPr>
            <a:r>
              <a:rPr b="1" i="0" lang="en-US" sz="1650" u="none" cap="none" strike="noStrike">
                <a:solidFill>
                  <a:srgbClr val="67534F"/>
                </a:solidFill>
                <a:latin typeface="Montserrat"/>
                <a:ea typeface="Montserrat"/>
                <a:cs typeface="Montserrat"/>
                <a:sym typeface="Montserrat"/>
              </a:rPr>
              <a:t>Zero computation</a:t>
            </a:r>
            <a:endParaRPr b="0" i="0" sz="1650" u="none" cap="none" strike="noStrike"/>
          </a:p>
        </p:txBody>
      </p:sp>
      <p:sp>
        <p:nvSpPr>
          <p:cNvPr id="102" name="Google Shape;102;p14"/>
          <p:cNvSpPr/>
          <p:nvPr/>
        </p:nvSpPr>
        <p:spPr>
          <a:xfrm>
            <a:off x="7421642" y="4364117"/>
            <a:ext cx="6463189" cy="2488049"/>
          </a:xfrm>
          <a:prstGeom prst="roundRect">
            <a:avLst>
              <a:gd fmla="val 3596" name="adj"/>
            </a:avLst>
          </a:prstGeom>
          <a:solidFill>
            <a:srgbClr val="FFFFF4"/>
          </a:solidFill>
          <a:ln cap="flat" cmpd="sng" w="22850">
            <a:solidFill>
              <a:srgbClr val="7D3E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4"/>
          <p:cNvSpPr/>
          <p:nvPr/>
        </p:nvSpPr>
        <p:spPr>
          <a:xfrm>
            <a:off x="7657505" y="4599980"/>
            <a:ext cx="3062168" cy="398026"/>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67534F"/>
              </a:buClr>
              <a:buSzPts val="2400"/>
              <a:buFont typeface="Marcellus"/>
              <a:buNone/>
            </a:pPr>
            <a:r>
              <a:rPr b="0" i="0" lang="en-US" sz="2400" u="none" cap="none" strike="noStrike">
                <a:solidFill>
                  <a:srgbClr val="67534F"/>
                </a:solidFill>
                <a:latin typeface="Marcellus"/>
                <a:ea typeface="Marcellus"/>
                <a:cs typeface="Marcellus"/>
                <a:sym typeface="Marcellus"/>
              </a:rPr>
              <a:t>Prediction Phase</a:t>
            </a:r>
            <a:endParaRPr b="0" i="0" sz="2400" u="none" cap="none" strike="noStrike"/>
          </a:p>
        </p:txBody>
      </p:sp>
      <p:sp>
        <p:nvSpPr>
          <p:cNvPr id="104" name="Google Shape;104;p14"/>
          <p:cNvSpPr/>
          <p:nvPr/>
        </p:nvSpPr>
        <p:spPr>
          <a:xfrm>
            <a:off x="7657505" y="5125760"/>
            <a:ext cx="5991463" cy="276820"/>
          </a:xfrm>
          <a:prstGeom prst="rect">
            <a:avLst/>
          </a:prstGeom>
          <a:noFill/>
          <a:ln>
            <a:noFill/>
          </a:ln>
        </p:spPr>
        <p:txBody>
          <a:bodyPr anchorCtr="0" anchor="t" bIns="0" lIns="0" spcFirstLastPara="1" rIns="0" wrap="square" tIns="0">
            <a:noAutofit/>
          </a:bodyPr>
          <a:lstStyle/>
          <a:p>
            <a:pPr indent="0" lvl="0" marL="0" marR="0" rtl="0" algn="l">
              <a:lnSpc>
                <a:spcPct val="130303"/>
              </a:lnSpc>
              <a:spcBef>
                <a:spcPts val="0"/>
              </a:spcBef>
              <a:spcAft>
                <a:spcPts val="0"/>
              </a:spcAft>
              <a:buClr>
                <a:srgbClr val="67534F"/>
              </a:buClr>
              <a:buSzPts val="1650"/>
              <a:buFont typeface="Montserrat"/>
              <a:buNone/>
            </a:pPr>
            <a:r>
              <a:rPr b="0" i="0" lang="en-US" sz="1650" u="none" cap="none" strike="noStrike">
                <a:solidFill>
                  <a:srgbClr val="67534F"/>
                </a:solidFill>
                <a:latin typeface="Montserrat"/>
                <a:ea typeface="Montserrat"/>
                <a:cs typeface="Montserrat"/>
                <a:sym typeface="Montserrat"/>
              </a:rPr>
              <a:t>Calculates all distances</a:t>
            </a:r>
            <a:endParaRPr b="0" i="0" sz="1650" u="none" cap="none" strike="noStrike"/>
          </a:p>
        </p:txBody>
      </p:sp>
      <p:sp>
        <p:nvSpPr>
          <p:cNvPr id="105" name="Google Shape;105;p14"/>
          <p:cNvSpPr/>
          <p:nvPr/>
        </p:nvSpPr>
        <p:spPr>
          <a:xfrm>
            <a:off x="7657505" y="5530334"/>
            <a:ext cx="5991463" cy="276820"/>
          </a:xfrm>
          <a:prstGeom prst="rect">
            <a:avLst/>
          </a:prstGeom>
          <a:noFill/>
          <a:ln>
            <a:noFill/>
          </a:ln>
        </p:spPr>
        <p:txBody>
          <a:bodyPr anchorCtr="0" anchor="t" bIns="0" lIns="0" spcFirstLastPara="1" rIns="0" wrap="square" tIns="0">
            <a:noAutofit/>
          </a:bodyPr>
          <a:lstStyle/>
          <a:p>
            <a:pPr indent="0" lvl="0" marL="0" marR="0" rtl="0" algn="l">
              <a:lnSpc>
                <a:spcPct val="130303"/>
              </a:lnSpc>
              <a:spcBef>
                <a:spcPts val="0"/>
              </a:spcBef>
              <a:spcAft>
                <a:spcPts val="0"/>
              </a:spcAft>
              <a:buClr>
                <a:srgbClr val="67534F"/>
              </a:buClr>
              <a:buSzPts val="1650"/>
              <a:buFont typeface="Montserrat"/>
              <a:buNone/>
            </a:pPr>
            <a:r>
              <a:rPr b="0" i="0" lang="en-US" sz="1650" u="none" cap="none" strike="noStrike">
                <a:solidFill>
                  <a:srgbClr val="67534F"/>
                </a:solidFill>
                <a:latin typeface="Montserrat"/>
                <a:ea typeface="Montserrat"/>
                <a:cs typeface="Montserrat"/>
                <a:sym typeface="Montserrat"/>
              </a:rPr>
              <a:t>Sorts neighbors</a:t>
            </a:r>
            <a:endParaRPr b="0" i="0" sz="1650" u="none" cap="none" strike="noStrike"/>
          </a:p>
        </p:txBody>
      </p:sp>
      <p:sp>
        <p:nvSpPr>
          <p:cNvPr id="106" name="Google Shape;106;p14"/>
          <p:cNvSpPr/>
          <p:nvPr/>
        </p:nvSpPr>
        <p:spPr>
          <a:xfrm>
            <a:off x="7657505" y="5934908"/>
            <a:ext cx="5991463" cy="276820"/>
          </a:xfrm>
          <a:prstGeom prst="rect">
            <a:avLst/>
          </a:prstGeom>
          <a:noFill/>
          <a:ln>
            <a:noFill/>
          </a:ln>
        </p:spPr>
        <p:txBody>
          <a:bodyPr anchorCtr="0" anchor="t" bIns="0" lIns="0" spcFirstLastPara="1" rIns="0" wrap="square" tIns="0">
            <a:noAutofit/>
          </a:bodyPr>
          <a:lstStyle/>
          <a:p>
            <a:pPr indent="0" lvl="0" marL="0" marR="0" rtl="0" algn="l">
              <a:lnSpc>
                <a:spcPct val="130303"/>
              </a:lnSpc>
              <a:spcBef>
                <a:spcPts val="0"/>
              </a:spcBef>
              <a:spcAft>
                <a:spcPts val="0"/>
              </a:spcAft>
              <a:buClr>
                <a:srgbClr val="67534F"/>
              </a:buClr>
              <a:buSzPts val="1650"/>
              <a:buFont typeface="Montserrat"/>
              <a:buNone/>
            </a:pPr>
            <a:r>
              <a:rPr b="0" i="0" lang="en-US" sz="1650" u="none" cap="none" strike="noStrike">
                <a:solidFill>
                  <a:srgbClr val="67534F"/>
                </a:solidFill>
                <a:latin typeface="Montserrat"/>
                <a:ea typeface="Montserrat"/>
                <a:cs typeface="Montserrat"/>
                <a:sym typeface="Montserrat"/>
              </a:rPr>
              <a:t>Aggregates results</a:t>
            </a:r>
            <a:endParaRPr b="0" i="0" sz="1650" u="none" cap="none" strike="noStrike"/>
          </a:p>
        </p:txBody>
      </p:sp>
      <p:sp>
        <p:nvSpPr>
          <p:cNvPr id="107" name="Google Shape;107;p14"/>
          <p:cNvSpPr/>
          <p:nvPr/>
        </p:nvSpPr>
        <p:spPr>
          <a:xfrm>
            <a:off x="7657505" y="6339483"/>
            <a:ext cx="5991463" cy="276820"/>
          </a:xfrm>
          <a:prstGeom prst="rect">
            <a:avLst/>
          </a:prstGeom>
          <a:noFill/>
          <a:ln>
            <a:noFill/>
          </a:ln>
        </p:spPr>
        <p:txBody>
          <a:bodyPr anchorCtr="0" anchor="t" bIns="0" lIns="0" spcFirstLastPara="1" rIns="0" wrap="square" tIns="0">
            <a:noAutofit/>
          </a:bodyPr>
          <a:lstStyle/>
          <a:p>
            <a:pPr indent="0" lvl="0" marL="0" marR="0" rtl="0" algn="l">
              <a:lnSpc>
                <a:spcPct val="130303"/>
              </a:lnSpc>
              <a:spcBef>
                <a:spcPts val="0"/>
              </a:spcBef>
              <a:spcAft>
                <a:spcPts val="0"/>
              </a:spcAft>
              <a:buClr>
                <a:srgbClr val="67534F"/>
              </a:buClr>
              <a:buSzPts val="1650"/>
              <a:buFont typeface="Montserrat"/>
              <a:buNone/>
            </a:pPr>
            <a:r>
              <a:rPr b="1" i="0" lang="en-US" sz="1650" u="none" cap="none" strike="noStrike">
                <a:solidFill>
                  <a:srgbClr val="67534F"/>
                </a:solidFill>
                <a:latin typeface="Montserrat"/>
                <a:ea typeface="Montserrat"/>
                <a:cs typeface="Montserrat"/>
                <a:sym typeface="Montserrat"/>
              </a:rPr>
              <a:t>All the work happens here</a:t>
            </a:r>
            <a:endParaRPr b="0" i="0" sz="1650" u="none" cap="none" strike="noStrike"/>
          </a:p>
        </p:txBody>
      </p:sp>
      <p:sp>
        <p:nvSpPr>
          <p:cNvPr id="108" name="Google Shape;108;p14"/>
          <p:cNvSpPr/>
          <p:nvPr/>
        </p:nvSpPr>
        <p:spPr>
          <a:xfrm>
            <a:off x="745569" y="7091720"/>
            <a:ext cx="13139261" cy="553641"/>
          </a:xfrm>
          <a:prstGeom prst="rect">
            <a:avLst/>
          </a:prstGeom>
          <a:noFill/>
          <a:ln>
            <a:noFill/>
          </a:ln>
        </p:spPr>
        <p:txBody>
          <a:bodyPr anchorCtr="0" anchor="t" bIns="0" lIns="0" spcFirstLastPara="1" rIns="0" wrap="square" tIns="0">
            <a:noAutofit/>
          </a:bodyPr>
          <a:lstStyle/>
          <a:p>
            <a:pPr indent="0" lvl="0" marL="0" marR="0" rtl="0" algn="l">
              <a:lnSpc>
                <a:spcPct val="130303"/>
              </a:lnSpc>
              <a:spcBef>
                <a:spcPts val="0"/>
              </a:spcBef>
              <a:spcAft>
                <a:spcPts val="0"/>
              </a:spcAft>
              <a:buClr>
                <a:srgbClr val="67534F"/>
              </a:buClr>
              <a:buSzPts val="1650"/>
              <a:buFont typeface="Montserrat"/>
              <a:buNone/>
            </a:pPr>
            <a:r>
              <a:rPr b="0" i="0" lang="en-US" sz="1650" u="none" cap="none" strike="noStrike">
                <a:solidFill>
                  <a:srgbClr val="67534F"/>
                </a:solidFill>
                <a:latin typeface="Montserrat"/>
                <a:ea typeface="Montserrat"/>
                <a:cs typeface="Montserrat"/>
                <a:sym typeface="Montserrat"/>
              </a:rPr>
              <a:t>Unlike eager learners that build models during training, KNN delays all computation until prediction time. This makes training instant but prediction potentially slower.</a:t>
            </a:r>
            <a:endParaRPr b="0" i="0" sz="16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5"/>
          <p:cNvSpPr/>
          <p:nvPr/>
        </p:nvSpPr>
        <p:spPr>
          <a:xfrm>
            <a:off x="793790" y="1849636"/>
            <a:ext cx="8622268" cy="847725"/>
          </a:xfrm>
          <a:prstGeom prst="rect">
            <a:avLst/>
          </a:prstGeom>
          <a:noFill/>
          <a:ln>
            <a:noFill/>
          </a:ln>
        </p:spPr>
        <p:txBody>
          <a:bodyPr anchorCtr="0" anchor="t" bIns="0" lIns="0" spcFirstLastPara="1" rIns="0" wrap="square" tIns="0">
            <a:noAutofit/>
          </a:bodyPr>
          <a:lstStyle/>
          <a:p>
            <a:pPr indent="0" lvl="0" marL="0" marR="0" rtl="0" algn="l">
              <a:lnSpc>
                <a:spcPct val="130392"/>
              </a:lnSpc>
              <a:spcBef>
                <a:spcPts val="0"/>
              </a:spcBef>
              <a:spcAft>
                <a:spcPts val="0"/>
              </a:spcAft>
              <a:buClr>
                <a:srgbClr val="532418"/>
              </a:buClr>
              <a:buSzPts val="5100"/>
              <a:buFont typeface="Marcellus"/>
              <a:buNone/>
            </a:pPr>
            <a:r>
              <a:rPr b="0" i="0" lang="en-US" sz="5100" u="none" cap="none" strike="noStrike">
                <a:solidFill>
                  <a:srgbClr val="532418"/>
                </a:solidFill>
                <a:latin typeface="Marcellus"/>
                <a:ea typeface="Marcellus"/>
                <a:cs typeface="Marcellus"/>
                <a:sym typeface="Marcellus"/>
              </a:rPr>
              <a:t>What Controls KNN Behavior</a:t>
            </a:r>
            <a:endParaRPr b="0" i="0" sz="5100" u="none" cap="none" strike="noStrike"/>
          </a:p>
        </p:txBody>
      </p:sp>
      <p:sp>
        <p:nvSpPr>
          <p:cNvPr id="115" name="Google Shape;115;p15"/>
          <p:cNvSpPr/>
          <p:nvPr/>
        </p:nvSpPr>
        <p:spPr>
          <a:xfrm>
            <a:off x="793790" y="3150989"/>
            <a:ext cx="4196358" cy="3228975"/>
          </a:xfrm>
          <a:prstGeom prst="roundRect">
            <a:avLst>
              <a:gd fmla="val 2950" name="adj"/>
            </a:avLst>
          </a:prstGeom>
          <a:solidFill>
            <a:srgbClr val="FFFFF4">
              <a:alpha val="94901"/>
            </a:srgbClr>
          </a:solidFill>
          <a:ln cap="flat" cmpd="sng" w="30475">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5"/>
          <p:cNvSpPr/>
          <p:nvPr/>
        </p:nvSpPr>
        <p:spPr>
          <a:xfrm>
            <a:off x="824270" y="3181469"/>
            <a:ext cx="4135398" cy="680442"/>
          </a:xfrm>
          <a:prstGeom prst="roundRect">
            <a:avLst>
              <a:gd fmla="val 8626" name="adj"/>
            </a:avLst>
          </a:prstGeom>
          <a:solidFill>
            <a:srgbClr val="FFF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7" name="Google Shape;117;p15"/>
          <p:cNvPicPr preferRelativeResize="0"/>
          <p:nvPr/>
        </p:nvPicPr>
        <p:blipFill rotWithShape="1">
          <a:blip r:embed="rId3">
            <a:alphaModFix/>
          </a:blip>
          <a:srcRect b="0" l="0" r="0" t="0"/>
          <a:stretch/>
        </p:blipFill>
        <p:spPr>
          <a:xfrm>
            <a:off x="2721888" y="3340060"/>
            <a:ext cx="340162" cy="340162"/>
          </a:xfrm>
          <a:prstGeom prst="rect">
            <a:avLst/>
          </a:prstGeom>
          <a:noFill/>
          <a:ln>
            <a:noFill/>
          </a:ln>
        </p:spPr>
      </p:pic>
      <p:sp>
        <p:nvSpPr>
          <p:cNvPr id="118" name="Google Shape;118;p15"/>
          <p:cNvSpPr/>
          <p:nvPr/>
        </p:nvSpPr>
        <p:spPr>
          <a:xfrm>
            <a:off x="1051084" y="4088725"/>
            <a:ext cx="3260646"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Distance Metric</a:t>
            </a:r>
            <a:endParaRPr b="0" i="0" sz="2550" u="none" cap="none" strike="noStrike"/>
          </a:p>
        </p:txBody>
      </p:sp>
      <p:sp>
        <p:nvSpPr>
          <p:cNvPr id="119" name="Google Shape;119;p15"/>
          <p:cNvSpPr/>
          <p:nvPr/>
        </p:nvSpPr>
        <p:spPr>
          <a:xfrm>
            <a:off x="1051084" y="4648676"/>
            <a:ext cx="3681770" cy="1473994"/>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How we measure "nearness" between points — Euclidean, Manhattan, or other distance functions shape the neighborhood geometry.</a:t>
            </a:r>
            <a:endParaRPr b="0" i="0" sz="1750" u="none" cap="none" strike="noStrike"/>
          </a:p>
        </p:txBody>
      </p:sp>
      <p:sp>
        <p:nvSpPr>
          <p:cNvPr id="120" name="Google Shape;120;p15"/>
          <p:cNvSpPr/>
          <p:nvPr/>
        </p:nvSpPr>
        <p:spPr>
          <a:xfrm>
            <a:off x="5216962" y="3150989"/>
            <a:ext cx="4196358" cy="3228975"/>
          </a:xfrm>
          <a:prstGeom prst="roundRect">
            <a:avLst>
              <a:gd fmla="val 2950" name="adj"/>
            </a:avLst>
          </a:prstGeom>
          <a:solidFill>
            <a:srgbClr val="FFFFF4">
              <a:alpha val="94901"/>
            </a:srgbClr>
          </a:solidFill>
          <a:ln cap="flat" cmpd="sng" w="30475">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5"/>
          <p:cNvSpPr/>
          <p:nvPr/>
        </p:nvSpPr>
        <p:spPr>
          <a:xfrm>
            <a:off x="5247442" y="3181469"/>
            <a:ext cx="4135398" cy="680442"/>
          </a:xfrm>
          <a:prstGeom prst="roundRect">
            <a:avLst>
              <a:gd fmla="val 8626" name="adj"/>
            </a:avLst>
          </a:prstGeom>
          <a:solidFill>
            <a:srgbClr val="FFF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2" name="Google Shape;122;p15"/>
          <p:cNvPicPr preferRelativeResize="0"/>
          <p:nvPr/>
        </p:nvPicPr>
        <p:blipFill rotWithShape="1">
          <a:blip r:embed="rId4">
            <a:alphaModFix/>
          </a:blip>
          <a:srcRect b="0" l="0" r="0" t="0"/>
          <a:stretch/>
        </p:blipFill>
        <p:spPr>
          <a:xfrm>
            <a:off x="7145060" y="3340060"/>
            <a:ext cx="340162" cy="340162"/>
          </a:xfrm>
          <a:prstGeom prst="rect">
            <a:avLst/>
          </a:prstGeom>
          <a:noFill/>
          <a:ln>
            <a:noFill/>
          </a:ln>
        </p:spPr>
      </p:pic>
      <p:sp>
        <p:nvSpPr>
          <p:cNvPr id="123" name="Google Shape;123;p15"/>
          <p:cNvSpPr/>
          <p:nvPr/>
        </p:nvSpPr>
        <p:spPr>
          <a:xfrm>
            <a:off x="5474256" y="4088725"/>
            <a:ext cx="3260646"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Value of K</a:t>
            </a:r>
            <a:endParaRPr b="0" i="0" sz="2550" u="none" cap="none" strike="noStrike"/>
          </a:p>
        </p:txBody>
      </p:sp>
      <p:sp>
        <p:nvSpPr>
          <p:cNvPr id="124" name="Google Shape;124;p15"/>
          <p:cNvSpPr/>
          <p:nvPr/>
        </p:nvSpPr>
        <p:spPr>
          <a:xfrm>
            <a:off x="5474256" y="4648676"/>
            <a:ext cx="3681770" cy="1473994"/>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The number of neighbors to consider — small K captures local patterns but risks noise; large K provides stability but may over-smooth.</a:t>
            </a:r>
            <a:endParaRPr b="0" i="0" sz="1750" u="none" cap="none" strike="noStrike"/>
          </a:p>
        </p:txBody>
      </p:sp>
      <p:sp>
        <p:nvSpPr>
          <p:cNvPr id="125" name="Google Shape;125;p15"/>
          <p:cNvSpPr/>
          <p:nvPr/>
        </p:nvSpPr>
        <p:spPr>
          <a:xfrm>
            <a:off x="9640133" y="3150989"/>
            <a:ext cx="4196358" cy="3228975"/>
          </a:xfrm>
          <a:prstGeom prst="roundRect">
            <a:avLst>
              <a:gd fmla="val 2950" name="adj"/>
            </a:avLst>
          </a:prstGeom>
          <a:solidFill>
            <a:srgbClr val="FFFFF4">
              <a:alpha val="94901"/>
            </a:srgbClr>
          </a:solidFill>
          <a:ln cap="flat" cmpd="sng" w="30475">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5"/>
          <p:cNvSpPr/>
          <p:nvPr/>
        </p:nvSpPr>
        <p:spPr>
          <a:xfrm>
            <a:off x="9670613" y="3181469"/>
            <a:ext cx="4135398" cy="680442"/>
          </a:xfrm>
          <a:prstGeom prst="roundRect">
            <a:avLst>
              <a:gd fmla="val 8626" name="adj"/>
            </a:avLst>
          </a:prstGeom>
          <a:solidFill>
            <a:srgbClr val="FFF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7" name="Google Shape;127;p15"/>
          <p:cNvPicPr preferRelativeResize="0"/>
          <p:nvPr/>
        </p:nvPicPr>
        <p:blipFill rotWithShape="1">
          <a:blip r:embed="rId5">
            <a:alphaModFix/>
          </a:blip>
          <a:srcRect b="0" l="0" r="0" t="0"/>
          <a:stretch/>
        </p:blipFill>
        <p:spPr>
          <a:xfrm>
            <a:off x="11568232" y="3340060"/>
            <a:ext cx="340162" cy="340162"/>
          </a:xfrm>
          <a:prstGeom prst="rect">
            <a:avLst/>
          </a:prstGeom>
          <a:noFill/>
          <a:ln>
            <a:noFill/>
          </a:ln>
        </p:spPr>
      </p:pic>
      <p:sp>
        <p:nvSpPr>
          <p:cNvPr id="128" name="Google Shape;128;p15"/>
          <p:cNvSpPr/>
          <p:nvPr/>
        </p:nvSpPr>
        <p:spPr>
          <a:xfrm>
            <a:off x="9897427" y="4088725"/>
            <a:ext cx="3260646"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Feature Scaling</a:t>
            </a:r>
            <a:endParaRPr b="0" i="0" sz="2550" u="none" cap="none" strike="noStrike"/>
          </a:p>
        </p:txBody>
      </p:sp>
      <p:sp>
        <p:nvSpPr>
          <p:cNvPr id="129" name="Google Shape;129;p15"/>
          <p:cNvSpPr/>
          <p:nvPr/>
        </p:nvSpPr>
        <p:spPr>
          <a:xfrm>
            <a:off x="9897427" y="4648676"/>
            <a:ext cx="3681770" cy="1473994"/>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Normalizing feature ranges ensures no single dimension dominates distance calculations — critical for fair comparison across different units.</a:t>
            </a:r>
            <a:endParaRPr b="0" i="0" sz="17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6"/>
          <p:cNvSpPr/>
          <p:nvPr/>
        </p:nvSpPr>
        <p:spPr>
          <a:xfrm>
            <a:off x="793790" y="1963222"/>
            <a:ext cx="6521291" cy="847725"/>
          </a:xfrm>
          <a:prstGeom prst="rect">
            <a:avLst/>
          </a:prstGeom>
          <a:noFill/>
          <a:ln>
            <a:noFill/>
          </a:ln>
        </p:spPr>
        <p:txBody>
          <a:bodyPr anchorCtr="0" anchor="t" bIns="0" lIns="0" spcFirstLastPara="1" rIns="0" wrap="square" tIns="0">
            <a:noAutofit/>
          </a:bodyPr>
          <a:lstStyle/>
          <a:p>
            <a:pPr indent="0" lvl="0" marL="0" marR="0" rtl="0" algn="l">
              <a:lnSpc>
                <a:spcPct val="130392"/>
              </a:lnSpc>
              <a:spcBef>
                <a:spcPts val="0"/>
              </a:spcBef>
              <a:spcAft>
                <a:spcPts val="0"/>
              </a:spcAft>
              <a:buClr>
                <a:srgbClr val="532418"/>
              </a:buClr>
              <a:buSzPts val="5100"/>
              <a:buFont typeface="Marcellus"/>
              <a:buNone/>
            </a:pPr>
            <a:r>
              <a:rPr b="0" i="0" lang="en-US" sz="5100" u="none" cap="none" strike="noStrike">
                <a:solidFill>
                  <a:srgbClr val="532418"/>
                </a:solidFill>
                <a:latin typeface="Marcellus"/>
                <a:ea typeface="Marcellus"/>
                <a:cs typeface="Marcellus"/>
                <a:sym typeface="Marcellus"/>
              </a:rPr>
              <a:t>Key Intuition</a:t>
            </a:r>
            <a:endParaRPr b="0" i="0" sz="5100" u="none" cap="none" strike="noStrike"/>
          </a:p>
        </p:txBody>
      </p:sp>
      <p:sp>
        <p:nvSpPr>
          <p:cNvPr id="136" name="Google Shape;136;p16"/>
          <p:cNvSpPr/>
          <p:nvPr/>
        </p:nvSpPr>
        <p:spPr>
          <a:xfrm>
            <a:off x="793790" y="2901672"/>
            <a:ext cx="8670727" cy="508516"/>
          </a:xfrm>
          <a:prstGeom prst="rect">
            <a:avLst/>
          </a:prstGeom>
          <a:noFill/>
          <a:ln>
            <a:noFill/>
          </a:ln>
        </p:spPr>
        <p:txBody>
          <a:bodyPr anchorCtr="0" anchor="t" bIns="0" lIns="0" spcFirstLastPara="1" rIns="0" wrap="square" tIns="0">
            <a:noAutofit/>
          </a:bodyPr>
          <a:lstStyle/>
          <a:p>
            <a:pPr indent="0" lvl="0" marL="0" marR="0" rtl="0" algn="l">
              <a:lnSpc>
                <a:spcPct val="131147"/>
              </a:lnSpc>
              <a:spcBef>
                <a:spcPts val="0"/>
              </a:spcBef>
              <a:spcAft>
                <a:spcPts val="0"/>
              </a:spcAft>
              <a:buClr>
                <a:srgbClr val="532418"/>
              </a:buClr>
              <a:buSzPts val="3050"/>
              <a:buFont typeface="Marcellus"/>
              <a:buNone/>
            </a:pPr>
            <a:r>
              <a:rPr b="0" i="0" lang="en-US" sz="3050" u="none" cap="none" strike="noStrike">
                <a:solidFill>
                  <a:srgbClr val="532418"/>
                </a:solidFill>
                <a:latin typeface="Marcellus"/>
                <a:ea typeface="Marcellus"/>
                <a:cs typeface="Marcellus"/>
                <a:sym typeface="Marcellus"/>
              </a:rPr>
              <a:t>Your answer depends on who your neighbors are</a:t>
            </a:r>
            <a:endParaRPr b="0" i="0" sz="3050" u="none" cap="none" strike="noStrike"/>
          </a:p>
        </p:txBody>
      </p:sp>
      <p:sp>
        <p:nvSpPr>
          <p:cNvPr id="137" name="Google Shape;137;p16"/>
          <p:cNvSpPr/>
          <p:nvPr/>
        </p:nvSpPr>
        <p:spPr>
          <a:xfrm>
            <a:off x="793790" y="3977164"/>
            <a:ext cx="3260646"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532418"/>
              </a:buClr>
              <a:buSzPts val="2550"/>
              <a:buFont typeface="Marcellus"/>
              <a:buNone/>
            </a:pPr>
            <a:r>
              <a:rPr b="0" i="0" lang="en-US" sz="2550" u="none" cap="none" strike="noStrike">
                <a:solidFill>
                  <a:srgbClr val="532418"/>
                </a:solidFill>
                <a:latin typeface="Marcellus"/>
                <a:ea typeface="Marcellus"/>
                <a:cs typeface="Marcellus"/>
                <a:sym typeface="Marcellus"/>
              </a:rPr>
              <a:t>Sparse Neighborhood</a:t>
            </a:r>
            <a:endParaRPr b="0" i="0" sz="2550" u="none" cap="none" strike="noStrike"/>
          </a:p>
        </p:txBody>
      </p:sp>
      <p:sp>
        <p:nvSpPr>
          <p:cNvPr id="138" name="Google Shape;138;p16"/>
          <p:cNvSpPr/>
          <p:nvPr/>
        </p:nvSpPr>
        <p:spPr>
          <a:xfrm>
            <a:off x="793790" y="4627840"/>
            <a:ext cx="6244709" cy="294799"/>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Different context leads to different predictions</a:t>
            </a:r>
            <a:endParaRPr b="0" i="0" sz="1750" u="none" cap="none" strike="noStrike"/>
          </a:p>
        </p:txBody>
      </p:sp>
      <p:sp>
        <p:nvSpPr>
          <p:cNvPr id="139" name="Google Shape;139;p16"/>
          <p:cNvSpPr/>
          <p:nvPr/>
        </p:nvSpPr>
        <p:spPr>
          <a:xfrm>
            <a:off x="7599521" y="3977164"/>
            <a:ext cx="3260646"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532418"/>
              </a:buClr>
              <a:buSzPts val="2550"/>
              <a:buFont typeface="Marcellus"/>
              <a:buNone/>
            </a:pPr>
            <a:r>
              <a:rPr b="0" i="0" lang="en-US" sz="2550" u="none" cap="none" strike="noStrike">
                <a:solidFill>
                  <a:srgbClr val="532418"/>
                </a:solidFill>
                <a:latin typeface="Marcellus"/>
                <a:ea typeface="Marcellus"/>
                <a:cs typeface="Marcellus"/>
                <a:sym typeface="Marcellus"/>
              </a:rPr>
              <a:t>Dense Neighborhood</a:t>
            </a:r>
            <a:endParaRPr b="0" i="0" sz="2550" u="none" cap="none" strike="noStrike"/>
          </a:p>
        </p:txBody>
      </p:sp>
      <p:sp>
        <p:nvSpPr>
          <p:cNvPr id="140" name="Google Shape;140;p16"/>
          <p:cNvSpPr/>
          <p:nvPr/>
        </p:nvSpPr>
        <p:spPr>
          <a:xfrm>
            <a:off x="7599521" y="4627840"/>
            <a:ext cx="6244709" cy="589598"/>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Same point, different answer based on local environment</a:t>
            </a:r>
            <a:endParaRPr b="0" i="0" sz="1750" u="none" cap="none" strike="noStrike"/>
          </a:p>
        </p:txBody>
      </p:sp>
      <p:sp>
        <p:nvSpPr>
          <p:cNvPr id="141" name="Google Shape;141;p16"/>
          <p:cNvSpPr/>
          <p:nvPr/>
        </p:nvSpPr>
        <p:spPr>
          <a:xfrm>
            <a:off x="793790" y="5676662"/>
            <a:ext cx="13042821" cy="589598"/>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KNN's elegance lies in its simplicity: predictions emerge naturally from local structure. The algorithm's behavior is entirely determined by the training data and the choice of K — no complex optimization required.</a:t>
            </a:r>
            <a:endParaRPr b="0" i="0" sz="17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
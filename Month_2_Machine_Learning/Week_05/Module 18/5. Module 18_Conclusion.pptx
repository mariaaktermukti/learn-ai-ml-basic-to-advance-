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8229600" cx="14630400"/>
  <p:notesSz cx="8229600" cy="14630400"/>
  <p:embeddedFontLst>
    <p:embeddedFont>
      <p:font typeface="Marcellus"/>
      <p:regular r:id="rId10"/>
    </p:embeddedFont>
    <p:embeddedFont>
      <p:font typeface="Montserra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font" Target="fonts/Marcellus-regular.fntdata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/>
          <p:nvPr/>
        </p:nvSpPr>
        <p:spPr>
          <a:xfrm>
            <a:off x="6280190" y="2709386"/>
            <a:ext cx="5706070" cy="741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3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450"/>
              <a:buFont typeface="Marcellus"/>
              <a:buNone/>
            </a:pPr>
            <a:r>
              <a:rPr b="0" i="0" lang="en-US" sz="44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Module 18 Summary</a:t>
            </a:r>
            <a:endParaRPr b="0" i="0" sz="4450" u="none" cap="none" strike="noStrike"/>
          </a:p>
        </p:txBody>
      </p:sp>
      <p:sp>
        <p:nvSpPr>
          <p:cNvPr id="33" name="Google Shape;33;p8"/>
          <p:cNvSpPr/>
          <p:nvPr/>
        </p:nvSpPr>
        <p:spPr>
          <a:xfrm>
            <a:off x="6280190" y="3748802"/>
            <a:ext cx="7556421" cy="774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Random Forest is a powerful and widely-used machine learning algorithm. This module introduced its principles and applications in classification and regression tasks.</a:t>
            </a:r>
            <a:endParaRPr b="0" i="0" sz="1550" u="none" cap="none" strike="noStrike"/>
          </a:p>
        </p:txBody>
      </p:sp>
      <p:sp>
        <p:nvSpPr>
          <p:cNvPr id="34" name="Google Shape;34;p8"/>
          <p:cNvSpPr/>
          <p:nvPr/>
        </p:nvSpPr>
        <p:spPr>
          <a:xfrm>
            <a:off x="6280190" y="4746069"/>
            <a:ext cx="7556421" cy="774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We explored ensemble learning, where combining multiple models improves performance. Random Forest leverages many decision trees, using their collective predictions for more accurate and stable results.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793790" y="1770221"/>
            <a:ext cx="9743361" cy="741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3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450"/>
              <a:buFont typeface="Marcellus"/>
              <a:buNone/>
            </a:pPr>
            <a:r>
              <a:rPr b="0" i="0" lang="en-US" sz="44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Decision Trees and Ensemble Concept</a:t>
            </a:r>
            <a:endParaRPr b="0" i="0" sz="4450" u="none" cap="none" strike="noStrike"/>
          </a:p>
        </p:txBody>
      </p:sp>
      <p:sp>
        <p:nvSpPr>
          <p:cNvPr id="41" name="Google Shape;41;p9"/>
          <p:cNvSpPr/>
          <p:nvPr/>
        </p:nvSpPr>
        <p:spPr>
          <a:xfrm>
            <a:off x="793790" y="3007995"/>
            <a:ext cx="3296483" cy="370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How Decision Trees Work</a:t>
            </a:r>
            <a:endParaRPr b="0" i="0" sz="2200" u="none" cap="none" strike="noStrike"/>
          </a:p>
        </p:txBody>
      </p:sp>
      <p:sp>
        <p:nvSpPr>
          <p:cNvPr id="42" name="Google Shape;42;p9"/>
          <p:cNvSpPr/>
          <p:nvPr/>
        </p:nvSpPr>
        <p:spPr>
          <a:xfrm>
            <a:off x="793790" y="3577114"/>
            <a:ext cx="6279356" cy="1032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Decision trees recursively split data, forming a tree of decisions. Each node tests a feature, branches represent outcomes, and leaves hold predictions. While intuitive, individual trees are highly sensitive to small data changes.</a:t>
            </a:r>
            <a:endParaRPr b="0" i="0" sz="1550" u="none" cap="none" strike="noStrike"/>
          </a:p>
        </p:txBody>
      </p:sp>
      <p:sp>
        <p:nvSpPr>
          <p:cNvPr id="43" name="Google Shape;43;p9"/>
          <p:cNvSpPr/>
          <p:nvPr/>
        </p:nvSpPr>
        <p:spPr>
          <a:xfrm>
            <a:off x="7564874" y="3007995"/>
            <a:ext cx="2950726" cy="370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The Instability Problem</a:t>
            </a:r>
            <a:endParaRPr b="0" i="0" sz="2200" u="none" cap="none" strike="noStrike"/>
          </a:p>
        </p:txBody>
      </p:sp>
      <p:sp>
        <p:nvSpPr>
          <p:cNvPr id="44" name="Google Shape;44;p9"/>
          <p:cNvSpPr/>
          <p:nvPr/>
        </p:nvSpPr>
        <p:spPr>
          <a:xfrm>
            <a:off x="7564874" y="3577114"/>
            <a:ext cx="6279356" cy="1032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 single decision tree suffers from high variance. Slight data modifications can lead to entirely different tree structures and unreliable predictions. This instability stems from their greedy, local optimization.</a:t>
            </a:r>
            <a:endParaRPr b="0" i="0" sz="1550" u="none" cap="none" strike="noStrike"/>
          </a:p>
        </p:txBody>
      </p:sp>
      <p:sp>
        <p:nvSpPr>
          <p:cNvPr id="45" name="Google Shape;45;p9"/>
          <p:cNvSpPr/>
          <p:nvPr/>
        </p:nvSpPr>
        <p:spPr>
          <a:xfrm>
            <a:off x="793790" y="5010983"/>
            <a:ext cx="13042821" cy="1448276"/>
          </a:xfrm>
          <a:prstGeom prst="roundRect">
            <a:avLst>
              <a:gd fmla="val 5756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/>
          <p:nvPr/>
        </p:nvSpPr>
        <p:spPr>
          <a:xfrm>
            <a:off x="1015008" y="5232202"/>
            <a:ext cx="2852976" cy="370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Ensemble Solution</a:t>
            </a:r>
            <a:endParaRPr b="0" i="0" sz="2200" u="none" cap="none" strike="noStrike"/>
          </a:p>
        </p:txBody>
      </p:sp>
      <p:sp>
        <p:nvSpPr>
          <p:cNvPr id="47" name="Google Shape;47;p9"/>
          <p:cNvSpPr/>
          <p:nvPr/>
        </p:nvSpPr>
        <p:spPr>
          <a:xfrm>
            <a:off x="1015008" y="5722025"/>
            <a:ext cx="12600384" cy="516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By training multiple trees on diverse data subsets and averaging predictions, we reduce variance. This ensemble approach transforms an unstable learner into a robust predictive model.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/>
          <p:nvPr/>
        </p:nvSpPr>
        <p:spPr>
          <a:xfrm>
            <a:off x="793790" y="1976914"/>
            <a:ext cx="11572875" cy="741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3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450"/>
              <a:buFont typeface="Marcellus"/>
              <a:buNone/>
            </a:pPr>
            <a:r>
              <a:rPr b="0" i="0" lang="en-US" sz="44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Bootstrap Sampling and Feature Randomness</a:t>
            </a:r>
            <a:endParaRPr b="0" i="0" sz="4450" u="none" cap="none" strike="noStrike"/>
          </a:p>
        </p:txBody>
      </p:sp>
      <p:sp>
        <p:nvSpPr>
          <p:cNvPr id="54" name="Google Shape;54;p10"/>
          <p:cNvSpPr/>
          <p:nvPr/>
        </p:nvSpPr>
        <p:spPr>
          <a:xfrm>
            <a:off x="793809" y="3115500"/>
            <a:ext cx="3720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arcellus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01</a:t>
            </a:r>
            <a:endParaRPr b="0" i="0" sz="1550" u="none" cap="none" strike="noStrike"/>
          </a:p>
        </p:txBody>
      </p:sp>
      <p:sp>
        <p:nvSpPr>
          <p:cNvPr id="55" name="Google Shape;55;p10"/>
          <p:cNvSpPr/>
          <p:nvPr/>
        </p:nvSpPr>
        <p:spPr>
          <a:xfrm>
            <a:off x="793790" y="3439835"/>
            <a:ext cx="4215289" cy="2286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793790" y="3584734"/>
            <a:ext cx="2852976" cy="370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Bootstrap Sampling</a:t>
            </a:r>
            <a:endParaRPr b="0" i="0" sz="2200" u="none" cap="none" strike="noStrike"/>
          </a:p>
        </p:txBody>
      </p:sp>
      <p:sp>
        <p:nvSpPr>
          <p:cNvPr id="57" name="Google Shape;57;p10"/>
          <p:cNvSpPr/>
          <p:nvPr/>
        </p:nvSpPr>
        <p:spPr>
          <a:xfrm>
            <a:off x="793790" y="4074557"/>
            <a:ext cx="4215289" cy="1290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Random Forest creates diversity through bootstrap sampling. Samples are drawn with replacement from training data, so each tree trains on a slightly different dataset.</a:t>
            </a:r>
            <a:endParaRPr b="0" i="0" sz="1550" u="none" cap="none" strike="noStrike"/>
          </a:p>
        </p:txBody>
      </p:sp>
      <p:sp>
        <p:nvSpPr>
          <p:cNvPr id="58" name="Google Shape;58;p10"/>
          <p:cNvSpPr/>
          <p:nvPr/>
        </p:nvSpPr>
        <p:spPr>
          <a:xfrm>
            <a:off x="5207411" y="3115500"/>
            <a:ext cx="3720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arcellus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02</a:t>
            </a:r>
            <a:endParaRPr b="0" i="0" sz="1550" u="none" cap="none" strike="noStrike"/>
          </a:p>
        </p:txBody>
      </p:sp>
      <p:sp>
        <p:nvSpPr>
          <p:cNvPr id="59" name="Google Shape;59;p10"/>
          <p:cNvSpPr/>
          <p:nvPr/>
        </p:nvSpPr>
        <p:spPr>
          <a:xfrm>
            <a:off x="5207437" y="3439835"/>
            <a:ext cx="4215408" cy="2286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0"/>
          <p:cNvSpPr/>
          <p:nvPr/>
        </p:nvSpPr>
        <p:spPr>
          <a:xfrm>
            <a:off x="5207437" y="3584734"/>
            <a:ext cx="2852976" cy="370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Out-of-Bag Samples</a:t>
            </a:r>
            <a:endParaRPr b="0" i="0" sz="2200" u="none" cap="none" strike="noStrike"/>
          </a:p>
        </p:txBody>
      </p:sp>
      <p:sp>
        <p:nvSpPr>
          <p:cNvPr id="61" name="Google Shape;61;p10"/>
          <p:cNvSpPr/>
          <p:nvPr/>
        </p:nvSpPr>
        <p:spPr>
          <a:xfrm>
            <a:off x="5207437" y="4074557"/>
            <a:ext cx="4215408" cy="1290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Observations not selected in a bootstrap sample (roughly 37%) become out-of-bag (OOB) samples. They serve as a built-in validation set for each tree, enabling OOB error estimation.</a:t>
            </a:r>
            <a:endParaRPr b="0" i="0" sz="1550" u="none" cap="none" strike="noStrike"/>
          </a:p>
        </p:txBody>
      </p:sp>
      <p:sp>
        <p:nvSpPr>
          <p:cNvPr id="62" name="Google Shape;62;p10"/>
          <p:cNvSpPr/>
          <p:nvPr/>
        </p:nvSpPr>
        <p:spPr>
          <a:xfrm>
            <a:off x="9621197" y="3115500"/>
            <a:ext cx="3720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arcellus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03</a:t>
            </a:r>
            <a:endParaRPr b="0" i="0" sz="1550" u="none" cap="none" strike="noStrike"/>
          </a:p>
        </p:txBody>
      </p:sp>
      <p:sp>
        <p:nvSpPr>
          <p:cNvPr id="63" name="Google Shape;63;p10"/>
          <p:cNvSpPr/>
          <p:nvPr/>
        </p:nvSpPr>
        <p:spPr>
          <a:xfrm>
            <a:off x="9621203" y="3439835"/>
            <a:ext cx="4215289" cy="2286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0"/>
          <p:cNvSpPr/>
          <p:nvPr/>
        </p:nvSpPr>
        <p:spPr>
          <a:xfrm>
            <a:off x="9621203" y="3584734"/>
            <a:ext cx="3373160" cy="370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Random Feature Selection</a:t>
            </a:r>
            <a:endParaRPr b="0" i="0" sz="2200" u="none" cap="none" strike="noStrike"/>
          </a:p>
        </p:txBody>
      </p:sp>
      <p:sp>
        <p:nvSpPr>
          <p:cNvPr id="65" name="Google Shape;65;p10"/>
          <p:cNvSpPr/>
          <p:nvPr/>
        </p:nvSpPr>
        <p:spPr>
          <a:xfrm>
            <a:off x="9621203" y="4074557"/>
            <a:ext cx="4215289" cy="1290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At each split, Random Forest considers only a random subset of features. This decorrelates trees, preventing dominant features from influencing every tree and ensuring diverse perspectives.</a:t>
            </a:r>
            <a:endParaRPr b="0" i="0" sz="1550" u="none" cap="none" strike="noStrike"/>
          </a:p>
        </p:txBody>
      </p:sp>
      <p:sp>
        <p:nvSpPr>
          <p:cNvPr id="66" name="Google Shape;66;p10"/>
          <p:cNvSpPr/>
          <p:nvPr/>
        </p:nvSpPr>
        <p:spPr>
          <a:xfrm>
            <a:off x="793790" y="5736669"/>
            <a:ext cx="13042821" cy="516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Bootstrap sampling and feature randomness make Random Forest 'random'. This ensures trees learn different patterns, collectively capturing the data's complexity.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/>
          <p:nvPr/>
        </p:nvSpPr>
        <p:spPr>
          <a:xfrm>
            <a:off x="793790" y="1690687"/>
            <a:ext cx="10505003" cy="741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3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450"/>
              <a:buFont typeface="Marcellus"/>
              <a:buNone/>
            </a:pPr>
            <a:r>
              <a:rPr b="0" i="0" lang="en-US" sz="44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Training, Prediction, and Implementation</a:t>
            </a:r>
            <a:endParaRPr b="0" i="0" sz="4450" u="none" cap="none" strike="noStrike"/>
          </a:p>
        </p:txBody>
      </p:sp>
      <p:pic>
        <p:nvPicPr>
          <p:cNvPr descr="preencoded.png" id="73" name="Google Shape;7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829282"/>
            <a:ext cx="4347567" cy="79379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1"/>
          <p:cNvSpPr/>
          <p:nvPr/>
        </p:nvSpPr>
        <p:spPr>
          <a:xfrm>
            <a:off x="992148" y="3821430"/>
            <a:ext cx="2852976" cy="370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Training Workflow</a:t>
            </a:r>
            <a:endParaRPr b="0" i="0" sz="2200" u="none" cap="none" strike="noStrike"/>
          </a:p>
        </p:txBody>
      </p:sp>
      <p:sp>
        <p:nvSpPr>
          <p:cNvPr id="75" name="Google Shape;75;p11"/>
          <p:cNvSpPr/>
          <p:nvPr/>
        </p:nvSpPr>
        <p:spPr>
          <a:xfrm>
            <a:off x="992148" y="4311253"/>
            <a:ext cx="3950851" cy="1290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Training sets the number of trees. Each tree is built from a bootstrap sample, growing by splitting nodes with random feature subsets until predefined stopping criteria are met.</a:t>
            </a:r>
            <a:endParaRPr b="0" i="0" sz="1550" u="none" cap="none" strike="noStrike"/>
          </a:p>
        </p:txBody>
      </p:sp>
      <p:pic>
        <p:nvPicPr>
          <p:cNvPr descr="preencoded.png" id="76" name="Google Shape;7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1357" y="2829282"/>
            <a:ext cx="4347567" cy="79379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/>
          <p:nvPr/>
        </p:nvSpPr>
        <p:spPr>
          <a:xfrm>
            <a:off x="5339715" y="3821430"/>
            <a:ext cx="2852976" cy="370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Prediction Process</a:t>
            </a:r>
            <a:endParaRPr b="0" i="0" sz="2200" u="none" cap="none" strike="noStrike"/>
          </a:p>
        </p:txBody>
      </p:sp>
      <p:sp>
        <p:nvSpPr>
          <p:cNvPr id="78" name="Google Shape;78;p11"/>
          <p:cNvSpPr/>
          <p:nvPr/>
        </p:nvSpPr>
        <p:spPr>
          <a:xfrm>
            <a:off x="5339715" y="4311253"/>
            <a:ext cx="3950851" cy="1290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For classification, trees vote for a class. For regression, trees predict values, which are then averaged. This aggregation improves prediction reliability and reduces errors.</a:t>
            </a:r>
            <a:endParaRPr b="0" i="0" sz="1550" u="none" cap="none" strike="noStrike"/>
          </a:p>
        </p:txBody>
      </p:sp>
      <p:pic>
        <p:nvPicPr>
          <p:cNvPr descr="preencoded.png" id="79" name="Google Shape;7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88924" y="2829282"/>
            <a:ext cx="4347567" cy="79379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/>
          <p:nvPr/>
        </p:nvSpPr>
        <p:spPr>
          <a:xfrm>
            <a:off x="9687282" y="3821430"/>
            <a:ext cx="2852976" cy="370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Implementation</a:t>
            </a:r>
            <a:endParaRPr b="0" i="0" sz="2200" u="none" cap="none" strike="noStrike"/>
          </a:p>
        </p:txBody>
      </p:sp>
      <p:sp>
        <p:nvSpPr>
          <p:cNvPr id="81" name="Google Shape;81;p11"/>
          <p:cNvSpPr/>
          <p:nvPr/>
        </p:nvSpPr>
        <p:spPr>
          <a:xfrm>
            <a:off x="9687282" y="4311253"/>
            <a:ext cx="3950851" cy="1290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Scikit-learn implements Random Forest. Steps involve data loading, train/test split, model instantiation with hyperparameters, fitting to data, and generating predictions.</a:t>
            </a:r>
            <a:endParaRPr b="0" i="0" sz="1550" u="none" cap="none" strike="noStrike"/>
          </a:p>
        </p:txBody>
      </p:sp>
      <p:sp>
        <p:nvSpPr>
          <p:cNvPr id="82" name="Google Shape;82;p11"/>
          <p:cNvSpPr/>
          <p:nvPr/>
        </p:nvSpPr>
        <p:spPr>
          <a:xfrm>
            <a:off x="793790" y="6022896"/>
            <a:ext cx="13042821" cy="516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50"/>
              <a:buFont typeface="Montserrat"/>
              <a:buNone/>
            </a:pPr>
            <a:r>
              <a:rPr b="0" i="0" lang="en-US" sz="15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Random Forest is favored for its simplicity: minimal preprocessing, natural handling of mixed feature types, and strong performance, making it a great starting point for many ML projects.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/>
          <p:nvPr/>
        </p:nvSpPr>
        <p:spPr>
          <a:xfrm>
            <a:off x="786527" y="540782"/>
            <a:ext cx="5653683" cy="734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213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450"/>
              <a:buFont typeface="Marcellus"/>
              <a:buNone/>
            </a:pPr>
            <a:r>
              <a:rPr b="0" i="0" lang="en-US" sz="44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Evaluation and Tuning</a:t>
            </a:r>
            <a:endParaRPr b="0" i="0" sz="4450" u="none" cap="none" strike="noStrike"/>
          </a:p>
        </p:txBody>
      </p:sp>
      <p:sp>
        <p:nvSpPr>
          <p:cNvPr id="89" name="Google Shape;89;p12"/>
          <p:cNvSpPr/>
          <p:nvPr/>
        </p:nvSpPr>
        <p:spPr>
          <a:xfrm>
            <a:off x="786527" y="1354336"/>
            <a:ext cx="3290292" cy="367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545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Model Evaluation Metrics</a:t>
            </a:r>
            <a:endParaRPr b="0" i="0" sz="2200" u="none" cap="none" strike="noStrike"/>
          </a:p>
        </p:txBody>
      </p:sp>
      <p:sp>
        <p:nvSpPr>
          <p:cNvPr id="90" name="Google Shape;90;p12"/>
          <p:cNvSpPr/>
          <p:nvPr/>
        </p:nvSpPr>
        <p:spPr>
          <a:xfrm>
            <a:off x="786527" y="2016681"/>
            <a:ext cx="13057346" cy="511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Evaluation metrics vary by task. For classification: accuracy, precision, recall, F1-score, and ROC-AUC. For regression: mean squared error (MSE), root mean squared error (RMSE), and R-squared. Cross-validation ensures robust performance estimates.</a:t>
            </a:r>
            <a:endParaRPr b="0" i="0" sz="1500" u="none" cap="none" strike="noStrike"/>
          </a:p>
        </p:txBody>
      </p:sp>
      <p:sp>
        <p:nvSpPr>
          <p:cNvPr id="91" name="Google Shape;91;p12"/>
          <p:cNvSpPr/>
          <p:nvPr/>
        </p:nvSpPr>
        <p:spPr>
          <a:xfrm>
            <a:off x="786527" y="2822853"/>
            <a:ext cx="2826782" cy="367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545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Feature Importance</a:t>
            </a:r>
            <a:endParaRPr b="0" i="0" sz="2200" u="none" cap="none" strike="noStrike"/>
          </a:p>
        </p:txBody>
      </p:sp>
      <p:sp>
        <p:nvSpPr>
          <p:cNvPr id="92" name="Google Shape;92;p12"/>
          <p:cNvSpPr/>
          <p:nvPr/>
        </p:nvSpPr>
        <p:spPr>
          <a:xfrm>
            <a:off x="786527" y="3485198"/>
            <a:ext cx="13057346" cy="511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Random Forest quantifies feature importance by measuring impurity decrease across trees. This highlights key variables driving predictions, aids feature selection, and clarifies model behavior to stakeholders.</a:t>
            </a:r>
            <a:endParaRPr b="0" i="0" sz="1500" u="none" cap="none" strike="noStrike"/>
          </a:p>
        </p:txBody>
      </p:sp>
      <p:sp>
        <p:nvSpPr>
          <p:cNvPr id="93" name="Google Shape;93;p12"/>
          <p:cNvSpPr/>
          <p:nvPr/>
        </p:nvSpPr>
        <p:spPr>
          <a:xfrm>
            <a:off x="786527" y="4217670"/>
            <a:ext cx="13057346" cy="2743200"/>
          </a:xfrm>
          <a:prstGeom prst="roundRect">
            <a:avLst>
              <a:gd fmla="val 3011" name="adj"/>
            </a:avLst>
          </a:prstGeom>
          <a:solidFill>
            <a:srgbClr val="FFFFF4">
              <a:alpha val="94901"/>
            </a:srgbClr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2"/>
          <p:cNvSpPr/>
          <p:nvPr/>
        </p:nvSpPr>
        <p:spPr>
          <a:xfrm>
            <a:off x="809387" y="4240530"/>
            <a:ext cx="13011626" cy="589955"/>
          </a:xfrm>
          <a:prstGeom prst="roundRect">
            <a:avLst>
              <a:gd fmla="val 9350" name="adj"/>
            </a:avLst>
          </a:prstGeom>
          <a:solidFill>
            <a:srgbClr val="FFF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7682" y="4376499"/>
            <a:ext cx="294918" cy="29491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2"/>
          <p:cNvSpPr/>
          <p:nvPr/>
        </p:nvSpPr>
        <p:spPr>
          <a:xfrm>
            <a:off x="1005959" y="5027057"/>
            <a:ext cx="2826782" cy="367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54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Key Hyperparameters</a:t>
            </a:r>
            <a:endParaRPr b="0" i="0" sz="2200" u="none" cap="none" strike="noStrike"/>
          </a:p>
        </p:txBody>
      </p:sp>
      <p:sp>
        <p:nvSpPr>
          <p:cNvPr id="97" name="Google Shape;97;p12"/>
          <p:cNvSpPr/>
          <p:nvPr/>
        </p:nvSpPr>
        <p:spPr>
          <a:xfrm>
            <a:off x="1005959" y="5512475"/>
            <a:ext cx="12618482" cy="255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n_estimators:</a:t>
            </a: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Number of trees</a:t>
            </a:r>
            <a:endParaRPr b="0" i="0" sz="1500" u="none" cap="none" strike="noStrike"/>
          </a:p>
        </p:txBody>
      </p:sp>
      <p:sp>
        <p:nvSpPr>
          <p:cNvPr id="98" name="Google Shape;98;p12"/>
          <p:cNvSpPr/>
          <p:nvPr/>
        </p:nvSpPr>
        <p:spPr>
          <a:xfrm>
            <a:off x="1005959" y="5836920"/>
            <a:ext cx="12618482" cy="255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max_depth:</a:t>
            </a: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Maximum tree depth</a:t>
            </a:r>
            <a:endParaRPr b="0" i="0" sz="1500" u="none" cap="none" strike="noStrike"/>
          </a:p>
        </p:txBody>
      </p:sp>
      <p:sp>
        <p:nvSpPr>
          <p:cNvPr id="99" name="Google Shape;99;p12"/>
          <p:cNvSpPr/>
          <p:nvPr/>
        </p:nvSpPr>
        <p:spPr>
          <a:xfrm>
            <a:off x="1005959" y="6161365"/>
            <a:ext cx="12618482" cy="255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min_samples_split:</a:t>
            </a: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Minimum samples per split</a:t>
            </a:r>
            <a:endParaRPr b="0" i="0" sz="1500" u="none" cap="none" strike="noStrike"/>
          </a:p>
        </p:txBody>
      </p:sp>
      <p:sp>
        <p:nvSpPr>
          <p:cNvPr id="100" name="Google Shape;100;p12"/>
          <p:cNvSpPr/>
          <p:nvPr/>
        </p:nvSpPr>
        <p:spPr>
          <a:xfrm>
            <a:off x="1005959" y="6485811"/>
            <a:ext cx="12618482" cy="255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max_features:</a:t>
            </a: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Features considered at each split</a:t>
            </a:r>
            <a:endParaRPr b="0" i="0" sz="1500" u="none" cap="none" strike="noStrike"/>
          </a:p>
        </p:txBody>
      </p:sp>
      <p:sp>
        <p:nvSpPr>
          <p:cNvPr id="101" name="Google Shape;101;p12"/>
          <p:cNvSpPr/>
          <p:nvPr/>
        </p:nvSpPr>
        <p:spPr>
          <a:xfrm>
            <a:off x="786527" y="7182088"/>
            <a:ext cx="13057346" cy="511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Hyperparameter tuning (e.g., grid or randomized search) optimizes performance. Random Forest is often forgiving, performing well with default settings, making it accessible yet powerful for advanced users.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
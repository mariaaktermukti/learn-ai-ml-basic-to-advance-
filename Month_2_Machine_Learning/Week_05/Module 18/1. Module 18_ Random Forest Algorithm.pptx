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4630400"/>
  <p:notesSz cx="8229600" cy="14630400"/>
  <p:embeddedFontLst>
    <p:embeddedFont>
      <p:font typeface="Marcellus"/>
      <p:regular r:id="rId10"/>
    </p:embeddedFon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font" Target="fonts/Marcellus-regular.fntdata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/>
          <p:nvPr/>
        </p:nvSpPr>
        <p:spPr>
          <a:xfrm>
            <a:off x="793790" y="2507337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Module 18: Random Forest Algorithm</a:t>
            </a:r>
            <a:endParaRPr b="0" i="0" sz="5100" u="none" cap="none" strike="noStrike"/>
          </a:p>
        </p:txBody>
      </p:sp>
      <p:sp>
        <p:nvSpPr>
          <p:cNvPr id="33" name="Google Shape;33;p8"/>
          <p:cNvSpPr/>
          <p:nvPr/>
        </p:nvSpPr>
        <p:spPr>
          <a:xfrm>
            <a:off x="793790" y="4542949"/>
            <a:ext cx="7556421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Random Forest is a powerful ensemble learning method that combines multiple decision trees to tackle both classification and regression problems. It's one of the most practical and widely adopted algorithms in machine learning today.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793790" y="1446371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Module Objective</a:t>
            </a:r>
            <a:endParaRPr b="0" i="0" sz="5100" u="none" cap="none" strike="noStrike"/>
          </a:p>
        </p:txBody>
      </p:sp>
      <p:sp>
        <p:nvSpPr>
          <p:cNvPr id="40" name="Google Shape;40;p9"/>
          <p:cNvSpPr/>
          <p:nvPr/>
        </p:nvSpPr>
        <p:spPr>
          <a:xfrm>
            <a:off x="793790" y="2384822"/>
            <a:ext cx="3912751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You'll Learn</a:t>
            </a:r>
            <a:endParaRPr b="0" i="0" sz="3050" u="none" cap="none" strike="noStrike"/>
          </a:p>
        </p:txBody>
      </p:sp>
      <p:sp>
        <p:nvSpPr>
          <p:cNvPr id="41" name="Google Shape;41;p9"/>
          <p:cNvSpPr/>
          <p:nvPr/>
        </p:nvSpPr>
        <p:spPr>
          <a:xfrm>
            <a:off x="793790" y="3233499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By the end of this module, you'll have a solid grasp of how Random Forest operates under the hood and why it's so effective.</a:t>
            </a:r>
            <a:endParaRPr b="0" i="0" sz="1750" u="none" cap="none" strike="noStrike"/>
          </a:p>
        </p:txBody>
      </p:sp>
      <p:sp>
        <p:nvSpPr>
          <p:cNvPr id="42" name="Google Shape;42;p9"/>
          <p:cNvSpPr/>
          <p:nvPr/>
        </p:nvSpPr>
        <p:spPr>
          <a:xfrm>
            <a:off x="793790" y="4078248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We'll explore how individual decision trees come together to form a robust ensemble model that outperforms single trees.</a:t>
            </a:r>
            <a:endParaRPr b="0" i="0" sz="1750" u="none" cap="none" strike="noStrike"/>
          </a:p>
        </p:txBody>
      </p:sp>
      <p:sp>
        <p:nvSpPr>
          <p:cNvPr id="43" name="Google Shape;43;p9"/>
          <p:cNvSpPr/>
          <p:nvPr/>
        </p:nvSpPr>
        <p:spPr>
          <a:xfrm>
            <a:off x="793817" y="4923000"/>
            <a:ext cx="604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750" u="none" cap="none" strike="noStrike"/>
          </a:p>
        </p:txBody>
      </p:sp>
      <p:sp>
        <p:nvSpPr>
          <p:cNvPr id="44" name="Google Shape;44;p9"/>
          <p:cNvSpPr/>
          <p:nvPr/>
        </p:nvSpPr>
        <p:spPr>
          <a:xfrm>
            <a:off x="793790" y="5289352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/>
          <p:nvPr/>
        </p:nvSpPr>
        <p:spPr>
          <a:xfrm>
            <a:off x="793790" y="5463659"/>
            <a:ext cx="3951803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Conceptual Understanding</a:t>
            </a:r>
            <a:endParaRPr b="0" i="0" sz="2550" u="none" cap="none" strike="noStrike"/>
          </a:p>
        </p:txBody>
      </p:sp>
      <p:sp>
        <p:nvSpPr>
          <p:cNvPr id="46" name="Google Shape;46;p9"/>
          <p:cNvSpPr/>
          <p:nvPr/>
        </p:nvSpPr>
        <p:spPr>
          <a:xfrm>
            <a:off x="793790" y="6023610"/>
            <a:ext cx="4196358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Grasp the core mechanics of Random Forest</a:t>
            </a:r>
            <a:endParaRPr b="0" i="0" sz="1750" u="none" cap="none" strike="noStrike"/>
          </a:p>
        </p:txBody>
      </p:sp>
      <p:sp>
        <p:nvSpPr>
          <p:cNvPr id="47" name="Google Shape;47;p9"/>
          <p:cNvSpPr/>
          <p:nvPr/>
        </p:nvSpPr>
        <p:spPr>
          <a:xfrm>
            <a:off x="5216939" y="4923000"/>
            <a:ext cx="4410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750" u="none" cap="none" strike="noStrike"/>
          </a:p>
        </p:txBody>
      </p:sp>
      <p:sp>
        <p:nvSpPr>
          <p:cNvPr id="48" name="Google Shape;48;p9"/>
          <p:cNvSpPr/>
          <p:nvPr/>
        </p:nvSpPr>
        <p:spPr>
          <a:xfrm>
            <a:off x="5216962" y="5289352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9"/>
          <p:cNvSpPr/>
          <p:nvPr/>
        </p:nvSpPr>
        <p:spPr>
          <a:xfrm>
            <a:off x="5216962" y="546365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Ensemble Learning</a:t>
            </a:r>
            <a:endParaRPr b="0" i="0" sz="2550" u="none" cap="none" strike="noStrike"/>
          </a:p>
        </p:txBody>
      </p:sp>
      <p:sp>
        <p:nvSpPr>
          <p:cNvPr id="50" name="Google Shape;50;p9"/>
          <p:cNvSpPr/>
          <p:nvPr/>
        </p:nvSpPr>
        <p:spPr>
          <a:xfrm>
            <a:off x="5216962" y="6023610"/>
            <a:ext cx="4196358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See how multiple trees work together</a:t>
            </a:r>
            <a:endParaRPr b="0" i="0" sz="1750" u="none" cap="none" strike="noStrike"/>
          </a:p>
        </p:txBody>
      </p:sp>
      <p:sp>
        <p:nvSpPr>
          <p:cNvPr id="51" name="Google Shape;51;p9"/>
          <p:cNvSpPr/>
          <p:nvPr/>
        </p:nvSpPr>
        <p:spPr>
          <a:xfrm>
            <a:off x="9640114" y="4923000"/>
            <a:ext cx="604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750" u="none" cap="none" strike="noStrike"/>
          </a:p>
        </p:txBody>
      </p:sp>
      <p:sp>
        <p:nvSpPr>
          <p:cNvPr id="52" name="Google Shape;52;p9"/>
          <p:cNvSpPr/>
          <p:nvPr/>
        </p:nvSpPr>
        <p:spPr>
          <a:xfrm>
            <a:off x="9640133" y="5289352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/>
          <p:nvPr/>
        </p:nvSpPr>
        <p:spPr>
          <a:xfrm>
            <a:off x="9640133" y="546365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Practical Application</a:t>
            </a:r>
            <a:endParaRPr b="0" i="0" sz="2550" u="none" cap="none" strike="noStrike"/>
          </a:p>
        </p:txBody>
      </p:sp>
      <p:sp>
        <p:nvSpPr>
          <p:cNvPr id="54" name="Google Shape;54;p9"/>
          <p:cNvSpPr/>
          <p:nvPr/>
        </p:nvSpPr>
        <p:spPr>
          <a:xfrm>
            <a:off x="9640133" y="6023610"/>
            <a:ext cx="4196358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Apply the algorithm to real-world datasets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/>
          <p:nvPr/>
        </p:nvSpPr>
        <p:spPr>
          <a:xfrm>
            <a:off x="793790" y="1461016"/>
            <a:ext cx="982206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Conceptual Foundations Covered</a:t>
            </a:r>
            <a:endParaRPr b="0" i="0" sz="5100" u="none" cap="none" strike="noStrike"/>
          </a:p>
        </p:txBody>
      </p:sp>
      <p:sp>
        <p:nvSpPr>
          <p:cNvPr id="61" name="Google Shape;61;p10"/>
          <p:cNvSpPr/>
          <p:nvPr/>
        </p:nvSpPr>
        <p:spPr>
          <a:xfrm>
            <a:off x="793790" y="2648903"/>
            <a:ext cx="4196358" cy="3274814"/>
          </a:xfrm>
          <a:prstGeom prst="roundRect">
            <a:avLst>
              <a:gd fmla="val 290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0"/>
          <p:cNvSpPr/>
          <p:nvPr/>
        </p:nvSpPr>
        <p:spPr>
          <a:xfrm>
            <a:off x="1043464" y="2898577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630" y="3085743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"/>
          <p:cNvSpPr/>
          <p:nvPr/>
        </p:nvSpPr>
        <p:spPr>
          <a:xfrm>
            <a:off x="1043464" y="3805833"/>
            <a:ext cx="369701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Introduction to Random Forest</a:t>
            </a:r>
            <a:endParaRPr b="0" i="0" sz="2550" u="none" cap="none" strike="noStrike"/>
          </a:p>
        </p:txBody>
      </p:sp>
      <p:sp>
        <p:nvSpPr>
          <p:cNvPr id="65" name="Google Shape;65;p10"/>
          <p:cNvSpPr/>
          <p:nvPr/>
        </p:nvSpPr>
        <p:spPr>
          <a:xfrm>
            <a:off x="1043464" y="4789646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the "forest" metaphor and why combining trees creates a stronger model</a:t>
            </a:r>
            <a:endParaRPr b="0" i="0" sz="1750" u="none" cap="none" strike="noStrike"/>
          </a:p>
        </p:txBody>
      </p:sp>
      <p:sp>
        <p:nvSpPr>
          <p:cNvPr id="66" name="Google Shape;66;p10"/>
          <p:cNvSpPr/>
          <p:nvPr/>
        </p:nvSpPr>
        <p:spPr>
          <a:xfrm>
            <a:off x="5216962" y="2648903"/>
            <a:ext cx="4196358" cy="3274814"/>
          </a:xfrm>
          <a:prstGeom prst="roundRect">
            <a:avLst>
              <a:gd fmla="val 290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0"/>
          <p:cNvSpPr/>
          <p:nvPr/>
        </p:nvSpPr>
        <p:spPr>
          <a:xfrm>
            <a:off x="5466636" y="2898577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3802" y="3085743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/>
          <p:nvPr/>
        </p:nvSpPr>
        <p:spPr>
          <a:xfrm>
            <a:off x="5466636" y="3805833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Ensemble Concept</a:t>
            </a:r>
            <a:endParaRPr b="0" i="0" sz="2550" u="none" cap="none" strike="noStrike"/>
          </a:p>
        </p:txBody>
      </p:sp>
      <p:sp>
        <p:nvSpPr>
          <p:cNvPr id="70" name="Google Shape;70;p10"/>
          <p:cNvSpPr/>
          <p:nvPr/>
        </p:nvSpPr>
        <p:spPr>
          <a:xfrm>
            <a:off x="5466636" y="4365784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How decision trees aggregate their predictions through voting or averaging</a:t>
            </a:r>
            <a:endParaRPr b="0" i="0" sz="1750" u="none" cap="none" strike="noStrike"/>
          </a:p>
        </p:txBody>
      </p:sp>
      <p:sp>
        <p:nvSpPr>
          <p:cNvPr id="71" name="Google Shape;71;p10"/>
          <p:cNvSpPr/>
          <p:nvPr/>
        </p:nvSpPr>
        <p:spPr>
          <a:xfrm>
            <a:off x="9640133" y="2648903"/>
            <a:ext cx="4196358" cy="3274814"/>
          </a:xfrm>
          <a:prstGeom prst="roundRect">
            <a:avLst>
              <a:gd fmla="val 290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0"/>
          <p:cNvSpPr/>
          <p:nvPr/>
        </p:nvSpPr>
        <p:spPr>
          <a:xfrm>
            <a:off x="9889808" y="2898577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6974" y="3085743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/>
          <p:nvPr/>
        </p:nvSpPr>
        <p:spPr>
          <a:xfrm>
            <a:off x="9889808" y="3805833"/>
            <a:ext cx="368677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Bootstrap &amp; Randomness</a:t>
            </a:r>
            <a:endParaRPr b="0" i="0" sz="2550" u="none" cap="none" strike="noStrike"/>
          </a:p>
        </p:txBody>
      </p:sp>
      <p:sp>
        <p:nvSpPr>
          <p:cNvPr id="75" name="Google Shape;75;p10"/>
          <p:cNvSpPr/>
          <p:nvPr/>
        </p:nvSpPr>
        <p:spPr>
          <a:xfrm>
            <a:off x="9889808" y="4365784"/>
            <a:ext cx="369701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Bootstrap sampling creates diverse training sets while feature randomness reduces correlation</a:t>
            </a:r>
            <a:endParaRPr b="0" i="0" sz="1750" u="none" cap="none" strike="noStrike"/>
          </a:p>
        </p:txBody>
      </p:sp>
      <p:sp>
        <p:nvSpPr>
          <p:cNvPr id="76" name="Google Shape;76;p10"/>
          <p:cNvSpPr/>
          <p:nvPr/>
        </p:nvSpPr>
        <p:spPr>
          <a:xfrm>
            <a:off x="793790" y="6178868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These three pillars form the theoretical foundation that makes Random Forest both accurate and resistant to overfitting.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/>
          <p:nvPr/>
        </p:nvSpPr>
        <p:spPr>
          <a:xfrm>
            <a:off x="793790" y="897255"/>
            <a:ext cx="1173349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Workflow and Implementation Covered</a:t>
            </a:r>
            <a:endParaRPr b="0" i="0" sz="5100" u="none" cap="none" strike="noStrike"/>
          </a:p>
        </p:txBody>
      </p:sp>
      <p:pic>
        <p:nvPicPr>
          <p:cNvPr descr="preencoded.png" id="83" name="Google Shape;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198608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1"/>
          <p:cNvSpPr/>
          <p:nvPr/>
        </p:nvSpPr>
        <p:spPr>
          <a:xfrm>
            <a:off x="1020604" y="333267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Data Preparation</a:t>
            </a:r>
            <a:endParaRPr b="0" i="0" sz="2550" u="none" cap="none" strike="noStrike"/>
          </a:p>
        </p:txBody>
      </p:sp>
      <p:sp>
        <p:nvSpPr>
          <p:cNvPr id="85" name="Google Shape;85;p11"/>
          <p:cNvSpPr/>
          <p:nvPr/>
        </p:nvSpPr>
        <p:spPr>
          <a:xfrm>
            <a:off x="1020604" y="3892629"/>
            <a:ext cx="389393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Load and split your dataset into training and testing sets</a:t>
            </a:r>
            <a:endParaRPr b="0" i="0" sz="1750" u="none" cap="none" strike="noStrike"/>
          </a:p>
        </p:txBody>
      </p:sp>
      <p:pic>
        <p:nvPicPr>
          <p:cNvPr descr="preencoded.png" id="86" name="Google Shape;8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1357" y="2198608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1"/>
          <p:cNvSpPr/>
          <p:nvPr/>
        </p:nvSpPr>
        <p:spPr>
          <a:xfrm>
            <a:off x="5368171" y="333267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Model Training</a:t>
            </a:r>
            <a:endParaRPr b="0" i="0" sz="2550" u="none" cap="none" strike="noStrike"/>
          </a:p>
        </p:txBody>
      </p:sp>
      <p:sp>
        <p:nvSpPr>
          <p:cNvPr id="88" name="Google Shape;88;p11"/>
          <p:cNvSpPr/>
          <p:nvPr/>
        </p:nvSpPr>
        <p:spPr>
          <a:xfrm>
            <a:off x="5368171" y="3892629"/>
            <a:ext cx="3893939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Build the forest by training multiple trees on bootstrapped samples</a:t>
            </a:r>
            <a:endParaRPr b="0" i="0" sz="1750" u="none" cap="none" strike="noStrike"/>
          </a:p>
        </p:txBody>
      </p:sp>
      <p:pic>
        <p:nvPicPr>
          <p:cNvPr descr="preencoded.png" id="89" name="Google Shape;8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88924" y="2198608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1"/>
          <p:cNvSpPr/>
          <p:nvPr/>
        </p:nvSpPr>
        <p:spPr>
          <a:xfrm>
            <a:off x="9715738" y="333267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Prediction</a:t>
            </a:r>
            <a:endParaRPr b="0" i="0" sz="2550" u="none" cap="none" strike="noStrike"/>
          </a:p>
        </p:txBody>
      </p:sp>
      <p:sp>
        <p:nvSpPr>
          <p:cNvPr id="91" name="Google Shape;91;p11"/>
          <p:cNvSpPr/>
          <p:nvPr/>
        </p:nvSpPr>
        <p:spPr>
          <a:xfrm>
            <a:off x="9715738" y="3892629"/>
            <a:ext cx="3893939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Aggregate individual tree predictions to generate final output</a:t>
            </a:r>
            <a:endParaRPr b="0" i="0" sz="1750" u="none" cap="none" strike="noStrike"/>
          </a:p>
        </p:txBody>
      </p:sp>
      <p:sp>
        <p:nvSpPr>
          <p:cNvPr id="92" name="Google Shape;92;p11"/>
          <p:cNvSpPr/>
          <p:nvPr/>
        </p:nvSpPr>
        <p:spPr>
          <a:xfrm>
            <a:off x="793790" y="5344001"/>
            <a:ext cx="5217319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Step-by-Step Implementation</a:t>
            </a:r>
            <a:endParaRPr b="0" i="0" sz="3050" u="none" cap="none" strike="noStrike"/>
          </a:p>
        </p:txBody>
      </p:sp>
      <p:sp>
        <p:nvSpPr>
          <p:cNvPr id="93" name="Google Shape;93;p11"/>
          <p:cNvSpPr/>
          <p:nvPr/>
        </p:nvSpPr>
        <p:spPr>
          <a:xfrm>
            <a:off x="793790" y="6192679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We'll walk through a complete implementation on a real dataset, examining each stage of the workflow.</a:t>
            </a:r>
            <a:endParaRPr b="0" i="0" sz="1750" u="none" cap="none" strike="noStrike"/>
          </a:p>
        </p:txBody>
      </p:sp>
      <p:sp>
        <p:nvSpPr>
          <p:cNvPr id="94" name="Google Shape;94;p11"/>
          <p:cNvSpPr/>
          <p:nvPr/>
        </p:nvSpPr>
        <p:spPr>
          <a:xfrm>
            <a:off x="793790" y="6742628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You'll see how the model behaves, interprets the outputs, and understand what's happening behind the scenes at each step.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/>
          <p:nvPr/>
        </p:nvSpPr>
        <p:spPr>
          <a:xfrm>
            <a:off x="793790" y="1646634"/>
            <a:ext cx="1064228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Evaluation and Model Improvement</a:t>
            </a:r>
            <a:endParaRPr b="0" i="0" sz="5100" u="none" cap="none" strike="noStrike"/>
          </a:p>
        </p:txBody>
      </p:sp>
      <p:sp>
        <p:nvSpPr>
          <p:cNvPr id="101" name="Google Shape;101;p12"/>
          <p:cNvSpPr/>
          <p:nvPr/>
        </p:nvSpPr>
        <p:spPr>
          <a:xfrm>
            <a:off x="793790" y="3174682"/>
            <a:ext cx="4196358" cy="2563416"/>
          </a:xfrm>
          <a:prstGeom prst="roundRect">
            <a:avLst>
              <a:gd fmla="val 5707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2"/>
          <p:cNvSpPr/>
          <p:nvPr/>
        </p:nvSpPr>
        <p:spPr>
          <a:xfrm>
            <a:off x="793790" y="3144203"/>
            <a:ext cx="4196358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2"/>
          <p:cNvSpPr/>
          <p:nvPr/>
        </p:nvSpPr>
        <p:spPr>
          <a:xfrm>
            <a:off x="2551688" y="2834521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2"/>
          <p:cNvSpPr/>
          <p:nvPr/>
        </p:nvSpPr>
        <p:spPr>
          <a:xfrm>
            <a:off x="2755761" y="2997875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1</a:t>
            </a:r>
            <a:endParaRPr b="0" i="0" sz="2100" u="none" cap="none" strike="noStrike"/>
          </a:p>
        </p:txBody>
      </p:sp>
      <p:sp>
        <p:nvSpPr>
          <p:cNvPr id="105" name="Google Shape;105;p12"/>
          <p:cNvSpPr/>
          <p:nvPr/>
        </p:nvSpPr>
        <p:spPr>
          <a:xfrm>
            <a:off x="1051084" y="374165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Model Evaluation</a:t>
            </a:r>
            <a:endParaRPr b="0" i="0" sz="2550" u="none" cap="none" strike="noStrike"/>
          </a:p>
        </p:txBody>
      </p:sp>
      <p:sp>
        <p:nvSpPr>
          <p:cNvPr id="106" name="Google Shape;106;p12"/>
          <p:cNvSpPr/>
          <p:nvPr/>
        </p:nvSpPr>
        <p:spPr>
          <a:xfrm>
            <a:off x="1051084" y="4301609"/>
            <a:ext cx="368177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Use appropriate metrics like accuracy, precision, recall, or RMSE depending on your task type</a:t>
            </a:r>
            <a:endParaRPr b="0" i="0" sz="1750" u="none" cap="none" strike="noStrike"/>
          </a:p>
        </p:txBody>
      </p:sp>
      <p:sp>
        <p:nvSpPr>
          <p:cNvPr id="107" name="Google Shape;107;p12"/>
          <p:cNvSpPr/>
          <p:nvPr/>
        </p:nvSpPr>
        <p:spPr>
          <a:xfrm>
            <a:off x="5216962" y="3174682"/>
            <a:ext cx="4196358" cy="2563416"/>
          </a:xfrm>
          <a:prstGeom prst="roundRect">
            <a:avLst>
              <a:gd fmla="val 5707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/>
          <p:nvPr/>
        </p:nvSpPr>
        <p:spPr>
          <a:xfrm>
            <a:off x="5216962" y="3144203"/>
            <a:ext cx="4196358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2"/>
          <p:cNvSpPr/>
          <p:nvPr/>
        </p:nvSpPr>
        <p:spPr>
          <a:xfrm>
            <a:off x="6974860" y="2834521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"/>
          <p:cNvSpPr/>
          <p:nvPr/>
        </p:nvSpPr>
        <p:spPr>
          <a:xfrm>
            <a:off x="7178933" y="2997875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2</a:t>
            </a:r>
            <a:endParaRPr b="0" i="0" sz="2100" u="none" cap="none" strike="noStrike"/>
          </a:p>
        </p:txBody>
      </p:sp>
      <p:sp>
        <p:nvSpPr>
          <p:cNvPr id="111" name="Google Shape;111;p12"/>
          <p:cNvSpPr/>
          <p:nvPr/>
        </p:nvSpPr>
        <p:spPr>
          <a:xfrm>
            <a:off x="5474256" y="374165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Feature Importance</a:t>
            </a:r>
            <a:endParaRPr b="0" i="0" sz="2550" u="none" cap="none" strike="noStrike"/>
          </a:p>
        </p:txBody>
      </p:sp>
      <p:sp>
        <p:nvSpPr>
          <p:cNvPr id="112" name="Google Shape;112;p12"/>
          <p:cNvSpPr/>
          <p:nvPr/>
        </p:nvSpPr>
        <p:spPr>
          <a:xfrm>
            <a:off x="5474256" y="4301609"/>
            <a:ext cx="368177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Analyze which features contribute most to predictions and gain interpretability</a:t>
            </a:r>
            <a:endParaRPr b="0" i="0" sz="1750" u="none" cap="none" strike="noStrike"/>
          </a:p>
        </p:txBody>
      </p:sp>
      <p:sp>
        <p:nvSpPr>
          <p:cNvPr id="113" name="Google Shape;113;p12"/>
          <p:cNvSpPr/>
          <p:nvPr/>
        </p:nvSpPr>
        <p:spPr>
          <a:xfrm>
            <a:off x="9640133" y="3174682"/>
            <a:ext cx="4196358" cy="2563416"/>
          </a:xfrm>
          <a:prstGeom prst="roundRect">
            <a:avLst>
              <a:gd fmla="val 5707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2"/>
          <p:cNvSpPr/>
          <p:nvPr/>
        </p:nvSpPr>
        <p:spPr>
          <a:xfrm>
            <a:off x="9640133" y="3144203"/>
            <a:ext cx="4196358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2"/>
          <p:cNvSpPr/>
          <p:nvPr/>
        </p:nvSpPr>
        <p:spPr>
          <a:xfrm>
            <a:off x="11398032" y="2834521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2"/>
          <p:cNvSpPr/>
          <p:nvPr/>
        </p:nvSpPr>
        <p:spPr>
          <a:xfrm>
            <a:off x="11602105" y="2997875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3</a:t>
            </a:r>
            <a:endParaRPr b="0" i="0" sz="2100" u="none" cap="none" strike="noStrike"/>
          </a:p>
        </p:txBody>
      </p:sp>
      <p:sp>
        <p:nvSpPr>
          <p:cNvPr id="117" name="Google Shape;117;p12"/>
          <p:cNvSpPr/>
          <p:nvPr/>
        </p:nvSpPr>
        <p:spPr>
          <a:xfrm>
            <a:off x="9897427" y="3741658"/>
            <a:ext cx="3532465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Hyperparameter Tuning</a:t>
            </a:r>
            <a:endParaRPr b="0" i="0" sz="2550" u="none" cap="none" strike="noStrike"/>
          </a:p>
        </p:txBody>
      </p:sp>
      <p:sp>
        <p:nvSpPr>
          <p:cNvPr id="118" name="Google Shape;118;p12"/>
          <p:cNvSpPr/>
          <p:nvPr/>
        </p:nvSpPr>
        <p:spPr>
          <a:xfrm>
            <a:off x="9897427" y="4301609"/>
            <a:ext cx="368177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Optimize parameters like number of trees, max depth, and min samples split for better performance</a:t>
            </a:r>
            <a:endParaRPr b="0" i="0" sz="1750" u="none" cap="none" strike="noStrike"/>
          </a:p>
        </p:txBody>
      </p:sp>
      <p:sp>
        <p:nvSpPr>
          <p:cNvPr id="119" name="Google Shape;119;p12"/>
          <p:cNvSpPr/>
          <p:nvPr/>
        </p:nvSpPr>
        <p:spPr>
          <a:xfrm>
            <a:off x="793790" y="5993249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Mastering evaluation and tuning transforms a good model into a great one, ensuring your Random Forest performs optimally on unseen data.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
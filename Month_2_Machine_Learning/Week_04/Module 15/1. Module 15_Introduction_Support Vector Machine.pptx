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3267075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15 — Support Vector Machine</a:t>
            </a:r>
            <a:endParaRPr b="0" i="0" sz="5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/>
          <p:nvPr/>
        </p:nvSpPr>
        <p:spPr>
          <a:xfrm>
            <a:off x="6280190" y="1508998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Learn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6280190" y="29236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Core Concepts</a:t>
            </a:r>
            <a:endParaRPr b="0" i="0" sz="25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6280190" y="3574375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SVM intuition and geometric foundations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6280190" y="4243268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Margins and support vectors</a:t>
            </a:r>
            <a:endParaRPr b="0" i="0" sz="17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6280190" y="4912162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vs nonlinear separation strategies</a:t>
            </a:r>
            <a:endParaRPr b="0" i="0" sz="175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10342721" y="29236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Technical Tools</a:t>
            </a:r>
            <a:endParaRPr b="0" i="0" sz="25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10342721" y="3574375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functions: Linear, Polynomial, RBF</a:t>
            </a:r>
            <a:endParaRPr b="0" i="0" sz="17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10342721" y="4243268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Classifiers (SVC)</a:t>
            </a:r>
            <a:endParaRPr b="0" i="0" sz="17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10342721" y="4912162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 (SVR)</a:t>
            </a:r>
            <a:endParaRPr b="0" i="0" sz="17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6280190" y="5836206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provides both theoretical understanding and practical implementation skills for one of machine learning's most powerful algorithms.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793790" y="794504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SVM Matters</a:t>
            </a:r>
            <a:endParaRPr b="0" i="0" sz="5100" u="none" cap="none" strike="noStrike"/>
          </a:p>
        </p:txBody>
      </p:sp>
      <p:sp>
        <p:nvSpPr>
          <p:cNvPr id="55" name="Google Shape;55;p10"/>
          <p:cNvSpPr/>
          <p:nvPr/>
        </p:nvSpPr>
        <p:spPr>
          <a:xfrm>
            <a:off x="793790" y="2095857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1043464" y="234553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2532698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/>
        </p:nvSpPr>
        <p:spPr>
          <a:xfrm>
            <a:off x="1043464" y="32527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Data Efficiency</a:t>
            </a:r>
            <a:endParaRPr b="0" i="0" sz="25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1043464" y="3812738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Works exceptionally well on small and medium-sized datasets where other algorithms struggle</a:t>
            </a:r>
            <a:endParaRPr b="0" i="0" sz="17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7428548" y="2095857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7678222" y="234553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388" y="2532698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/>
          <p:nvPr/>
        </p:nvSpPr>
        <p:spPr>
          <a:xfrm>
            <a:off x="7678222" y="32527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Strong Boundaries</a:t>
            </a:r>
            <a:endParaRPr b="0" i="0" sz="2550" u="none" cap="none" strike="noStrike"/>
          </a:p>
        </p:txBody>
      </p:sp>
      <p:sp>
        <p:nvSpPr>
          <p:cNvPr id="64" name="Google Shape;64;p10"/>
          <p:cNvSpPr/>
          <p:nvPr/>
        </p:nvSpPr>
        <p:spPr>
          <a:xfrm>
            <a:off x="7678222" y="3812738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very robust decision boundaries that generalize well to unseen data</a:t>
            </a:r>
            <a:endParaRPr b="0" i="0" sz="175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93790" y="4878824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1043464" y="512849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630" y="531566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1043464" y="603575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Nonlinear Power</a:t>
            </a:r>
            <a:endParaRPr b="0" i="0" sz="2550" u="none" cap="none" strike="noStrike"/>
          </a:p>
        </p:txBody>
      </p:sp>
      <p:sp>
        <p:nvSpPr>
          <p:cNvPr id="69" name="Google Shape;69;p10"/>
          <p:cNvSpPr/>
          <p:nvPr/>
        </p:nvSpPr>
        <p:spPr>
          <a:xfrm>
            <a:off x="1043464" y="659570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Handles complex nonlinear relationships through kernel transformations</a:t>
            </a:r>
            <a:endParaRPr b="0" i="0" sz="175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7428548" y="4878824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7678222" y="512849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5388" y="531566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/>
          <p:nvPr/>
        </p:nvSpPr>
        <p:spPr>
          <a:xfrm>
            <a:off x="7678222" y="603575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Simple Yet Strong</a:t>
            </a:r>
            <a:endParaRPr b="0" i="0" sz="2550" u="none" cap="none" strike="noStrike"/>
          </a:p>
        </p:txBody>
      </p:sp>
      <p:sp>
        <p:nvSpPr>
          <p:cNvPr id="74" name="Google Shape;74;p10"/>
          <p:cNvSpPr/>
          <p:nvPr/>
        </p:nvSpPr>
        <p:spPr>
          <a:xfrm>
            <a:off x="7678222" y="659570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Elegant mathematical concept that delivers consistently high performance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793790" y="1343025"/>
            <a:ext cx="709648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Real-World Applications</a:t>
            </a:r>
            <a:endParaRPr b="0" i="0" sz="5100" u="none" cap="none" strike="noStrike"/>
          </a:p>
        </p:txBody>
      </p:sp>
      <p:sp>
        <p:nvSpPr>
          <p:cNvPr id="81" name="Google Shape;81;p11"/>
          <p:cNvSpPr/>
          <p:nvPr/>
        </p:nvSpPr>
        <p:spPr>
          <a:xfrm>
            <a:off x="793806" y="264437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793790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793790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Text Classification</a:t>
            </a:r>
            <a:endParaRPr b="0" i="0" sz="2550" u="none" cap="none" strike="noStrike"/>
          </a:p>
        </p:txBody>
      </p:sp>
      <p:sp>
        <p:nvSpPr>
          <p:cNvPr id="84" name="Google Shape;84;p11"/>
          <p:cNvSpPr/>
          <p:nvPr/>
        </p:nvSpPr>
        <p:spPr>
          <a:xfrm>
            <a:off x="793790" y="3744992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Spam filtering, sentiment analysis, and document categorization</a:t>
            </a:r>
            <a:endParaRPr b="0" i="0" sz="1750" u="none" cap="none" strike="noStrike"/>
          </a:p>
        </p:txBody>
      </p:sp>
      <p:sp>
        <p:nvSpPr>
          <p:cNvPr id="85" name="Google Shape;85;p11"/>
          <p:cNvSpPr/>
          <p:nvPr/>
        </p:nvSpPr>
        <p:spPr>
          <a:xfrm>
            <a:off x="5216931" y="2644375"/>
            <a:ext cx="576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86" name="Google Shape;86;p11"/>
          <p:cNvSpPr/>
          <p:nvPr/>
        </p:nvSpPr>
        <p:spPr>
          <a:xfrm>
            <a:off x="5216962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5216962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Image Recognition</a:t>
            </a:r>
            <a:endParaRPr b="0" i="0" sz="2550" u="none" cap="none" strike="noStrike"/>
          </a:p>
        </p:txBody>
      </p:sp>
      <p:sp>
        <p:nvSpPr>
          <p:cNvPr id="88" name="Google Shape;88;p11"/>
          <p:cNvSpPr/>
          <p:nvPr/>
        </p:nvSpPr>
        <p:spPr>
          <a:xfrm>
            <a:off x="5216962" y="3744992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Facial detection, object classification, and pattern recognition</a:t>
            </a:r>
            <a:endParaRPr b="0" i="0" sz="1750" u="none" cap="none" strike="noStrike"/>
          </a:p>
        </p:txBody>
      </p:sp>
      <p:sp>
        <p:nvSpPr>
          <p:cNvPr id="89" name="Google Shape;89;p11"/>
          <p:cNvSpPr/>
          <p:nvPr/>
        </p:nvSpPr>
        <p:spPr>
          <a:xfrm>
            <a:off x="9640120" y="264437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90" name="Google Shape;90;p11"/>
          <p:cNvSpPr/>
          <p:nvPr/>
        </p:nvSpPr>
        <p:spPr>
          <a:xfrm>
            <a:off x="9640133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9640133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Medical Diagnosis</a:t>
            </a:r>
            <a:endParaRPr b="0" i="0" sz="2550" u="none" cap="none" strike="noStrike"/>
          </a:p>
        </p:txBody>
      </p:sp>
      <p:sp>
        <p:nvSpPr>
          <p:cNvPr id="92" name="Google Shape;92;p11"/>
          <p:cNvSpPr/>
          <p:nvPr/>
        </p:nvSpPr>
        <p:spPr>
          <a:xfrm>
            <a:off x="9640133" y="374499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Disease prediction, tumor classification, and patient outcome analysis</a:t>
            </a:r>
            <a:endParaRPr b="0" i="0" sz="1750" u="none" cap="none" strike="noStrike"/>
          </a:p>
        </p:txBody>
      </p:sp>
      <p:sp>
        <p:nvSpPr>
          <p:cNvPr id="93" name="Google Shape;93;p11"/>
          <p:cNvSpPr/>
          <p:nvPr/>
        </p:nvSpPr>
        <p:spPr>
          <a:xfrm>
            <a:off x="793805" y="502622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94" name="Google Shape;94;p11"/>
          <p:cNvSpPr/>
          <p:nvPr/>
        </p:nvSpPr>
        <p:spPr>
          <a:xfrm>
            <a:off x="793790" y="5392579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793790" y="55668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Bioinformatics</a:t>
            </a:r>
            <a:endParaRPr b="0" i="0" sz="2550" u="none" cap="none" strike="noStrike"/>
          </a:p>
        </p:txBody>
      </p:sp>
      <p:sp>
        <p:nvSpPr>
          <p:cNvPr id="96" name="Google Shape;96;p11"/>
          <p:cNvSpPr/>
          <p:nvPr/>
        </p:nvSpPr>
        <p:spPr>
          <a:xfrm>
            <a:off x="793790" y="6126837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Protein structure prediction and gene expression analysis</a:t>
            </a:r>
            <a:endParaRPr b="0" i="0" sz="1750" u="none" cap="none" strike="noStrike"/>
          </a:p>
        </p:txBody>
      </p:sp>
      <p:sp>
        <p:nvSpPr>
          <p:cNvPr id="97" name="Google Shape;97;p11"/>
          <p:cNvSpPr/>
          <p:nvPr/>
        </p:nvSpPr>
        <p:spPr>
          <a:xfrm>
            <a:off x="7428553" y="5026225"/>
            <a:ext cx="576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05</a:t>
            </a:r>
            <a:endParaRPr b="0" i="0" sz="1750" u="none" cap="none" strike="noStrike"/>
          </a:p>
        </p:txBody>
      </p:sp>
      <p:sp>
        <p:nvSpPr>
          <p:cNvPr id="98" name="Google Shape;98;p11"/>
          <p:cNvSpPr/>
          <p:nvPr/>
        </p:nvSpPr>
        <p:spPr>
          <a:xfrm>
            <a:off x="7428548" y="5392579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7428548" y="55668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Financial Modeling</a:t>
            </a:r>
            <a:endParaRPr b="0" i="0" sz="2550" u="none" cap="none" strike="noStrike"/>
          </a:p>
        </p:txBody>
      </p:sp>
      <p:sp>
        <p:nvSpPr>
          <p:cNvPr id="100" name="Google Shape;100;p11"/>
          <p:cNvSpPr/>
          <p:nvPr/>
        </p:nvSpPr>
        <p:spPr>
          <a:xfrm>
            <a:off x="7428548" y="6126837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Credit risk assessment, fraud detection, and market prediction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>
            <a:off x="793790" y="1210270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Roadmap</a:t>
            </a:r>
            <a:endParaRPr b="0" i="0" sz="5100" u="none" cap="none" strike="noStrike"/>
          </a:p>
        </p:txBody>
      </p:sp>
      <p:sp>
        <p:nvSpPr>
          <p:cNvPr id="107" name="Google Shape;107;p12"/>
          <p:cNvSpPr/>
          <p:nvPr/>
        </p:nvSpPr>
        <p:spPr>
          <a:xfrm>
            <a:off x="793790" y="2398157"/>
            <a:ext cx="6407944" cy="2344579"/>
          </a:xfrm>
          <a:prstGeom prst="roundRect">
            <a:avLst>
              <a:gd fmla="val 4063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824270" y="2428637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3827621" y="2536269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650" u="none" cap="none" strike="noStrike"/>
          </a:p>
        </p:txBody>
      </p:sp>
      <p:sp>
        <p:nvSpPr>
          <p:cNvPr id="110" name="Google Shape;110;p12"/>
          <p:cNvSpPr/>
          <p:nvPr/>
        </p:nvSpPr>
        <p:spPr>
          <a:xfrm>
            <a:off x="1051084" y="333589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SVC Basics</a:t>
            </a:r>
            <a:endParaRPr b="0" i="0" sz="2550" u="none" cap="none" strike="noStrike"/>
          </a:p>
        </p:txBody>
      </p:sp>
      <p:sp>
        <p:nvSpPr>
          <p:cNvPr id="111" name="Google Shape;111;p12"/>
          <p:cNvSpPr/>
          <p:nvPr/>
        </p:nvSpPr>
        <p:spPr>
          <a:xfrm>
            <a:off x="1051084" y="3895844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margins, hyperplanes, and support vectors</a:t>
            </a:r>
            <a:endParaRPr b="0" i="0" sz="1750" u="none" cap="none" strike="noStrike"/>
          </a:p>
        </p:txBody>
      </p:sp>
      <p:sp>
        <p:nvSpPr>
          <p:cNvPr id="112" name="Google Shape;112;p12"/>
          <p:cNvSpPr/>
          <p:nvPr/>
        </p:nvSpPr>
        <p:spPr>
          <a:xfrm>
            <a:off x="7428548" y="2398157"/>
            <a:ext cx="6408063" cy="2344579"/>
          </a:xfrm>
          <a:prstGeom prst="roundRect">
            <a:avLst>
              <a:gd fmla="val 4063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7459027" y="2428637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10462498" y="2536269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650" u="none" cap="none" strike="noStrike"/>
          </a:p>
        </p:txBody>
      </p:sp>
      <p:sp>
        <p:nvSpPr>
          <p:cNvPr id="115" name="Google Shape;115;p12"/>
          <p:cNvSpPr/>
          <p:nvPr/>
        </p:nvSpPr>
        <p:spPr>
          <a:xfrm>
            <a:off x="7685842" y="333589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Kernel Methods</a:t>
            </a:r>
            <a:endParaRPr b="0" i="0" sz="2550" u="none" cap="none" strike="noStrike"/>
          </a:p>
        </p:txBody>
      </p:sp>
      <p:sp>
        <p:nvSpPr>
          <p:cNvPr id="116" name="Google Shape;116;p12"/>
          <p:cNvSpPr/>
          <p:nvPr/>
        </p:nvSpPr>
        <p:spPr>
          <a:xfrm>
            <a:off x="7685842" y="3895844"/>
            <a:ext cx="589347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Linear, Polynomial, and RBF kernels for nonlinear problems</a:t>
            </a:r>
            <a:endParaRPr b="0" i="0" sz="1750" u="none" cap="none" strike="noStrike"/>
          </a:p>
        </p:txBody>
      </p:sp>
      <p:sp>
        <p:nvSpPr>
          <p:cNvPr id="117" name="Google Shape;117;p12"/>
          <p:cNvSpPr/>
          <p:nvPr/>
        </p:nvSpPr>
        <p:spPr>
          <a:xfrm>
            <a:off x="793790" y="4969550"/>
            <a:ext cx="6407944" cy="2049780"/>
          </a:xfrm>
          <a:prstGeom prst="roundRect">
            <a:avLst>
              <a:gd fmla="val 4648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824270" y="5000030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3827621" y="5107662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650" u="none" cap="none" strike="noStrike"/>
          </a:p>
        </p:txBody>
      </p:sp>
      <p:sp>
        <p:nvSpPr>
          <p:cNvPr id="120" name="Google Shape;120;p12"/>
          <p:cNvSpPr/>
          <p:nvPr/>
        </p:nvSpPr>
        <p:spPr>
          <a:xfrm>
            <a:off x="1051084" y="5907286"/>
            <a:ext cx="432458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Classification Implementation</a:t>
            </a:r>
            <a:endParaRPr b="0" i="0" sz="2550" u="none" cap="none" strike="noStrike"/>
          </a:p>
        </p:txBody>
      </p:sp>
      <p:sp>
        <p:nvSpPr>
          <p:cNvPr id="121" name="Google Shape;121;p12"/>
          <p:cNvSpPr/>
          <p:nvPr/>
        </p:nvSpPr>
        <p:spPr>
          <a:xfrm>
            <a:off x="1051084" y="6467237"/>
            <a:ext cx="589335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Building and tuning Support Vector Classifiers</a:t>
            </a:r>
            <a:endParaRPr b="0" i="0" sz="1750" u="none" cap="none" strike="noStrike"/>
          </a:p>
        </p:txBody>
      </p:sp>
      <p:sp>
        <p:nvSpPr>
          <p:cNvPr id="122" name="Google Shape;122;p12"/>
          <p:cNvSpPr/>
          <p:nvPr/>
        </p:nvSpPr>
        <p:spPr>
          <a:xfrm>
            <a:off x="7428548" y="4969550"/>
            <a:ext cx="6408063" cy="2049780"/>
          </a:xfrm>
          <a:prstGeom prst="roundRect">
            <a:avLst>
              <a:gd fmla="val 4648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7459027" y="5000030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10462498" y="5107662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2650" u="none" cap="none" strike="noStrike"/>
          </a:p>
        </p:txBody>
      </p:sp>
      <p:sp>
        <p:nvSpPr>
          <p:cNvPr id="125" name="Google Shape;125;p12"/>
          <p:cNvSpPr/>
          <p:nvPr/>
        </p:nvSpPr>
        <p:spPr>
          <a:xfrm>
            <a:off x="7685842" y="59072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SVR Applications</a:t>
            </a:r>
            <a:endParaRPr b="0" i="0" sz="2550" u="none" cap="none" strike="noStrike"/>
          </a:p>
        </p:txBody>
      </p:sp>
      <p:sp>
        <p:nvSpPr>
          <p:cNvPr id="126" name="Google Shape;126;p12"/>
          <p:cNvSpPr/>
          <p:nvPr/>
        </p:nvSpPr>
        <p:spPr>
          <a:xfrm>
            <a:off x="7685842" y="6467237"/>
            <a:ext cx="589347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Extending SVM to regression problems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
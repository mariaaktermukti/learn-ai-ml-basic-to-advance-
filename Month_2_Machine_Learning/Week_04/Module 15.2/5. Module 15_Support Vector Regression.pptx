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6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8229600" cx="14630400"/>
  <p:notesSz cx="8229600" cy="14630400"/>
  <p:embeddedFontLst>
    <p:embeddedFont>
      <p:font typeface="Marcellus"/>
      <p:regular r:id="rId11"/>
    </p:embeddedFont>
    <p:embeddedFont>
      <p:font typeface="Montserrat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arcellus-regular.fntdata"/><Relationship Id="rId10" Type="http://schemas.openxmlformats.org/officeDocument/2006/relationships/slide" Target="slides/slide6.xml"/><Relationship Id="rId13" Type="http://schemas.openxmlformats.org/officeDocument/2006/relationships/font" Target="fonts/Montserrat-bold.fntdata"/><Relationship Id="rId12" Type="http://schemas.openxmlformats.org/officeDocument/2006/relationships/font" Target="fonts/Montserrat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-boldItalic.fntdata"/><Relationship Id="rId14" Type="http://schemas.openxmlformats.org/officeDocument/2006/relationships/font" Target="fonts/Montserrat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7" name="Google Shape;3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968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10"/>
          <p:cNvSpPr/>
          <p:nvPr/>
        </p:nvSpPr>
        <p:spPr>
          <a:xfrm>
            <a:off x="793790" y="2802136"/>
            <a:ext cx="7556421" cy="1695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Support Vector Regression</a:t>
            </a:r>
            <a:endParaRPr b="0" i="0" sz="5100" u="none" cap="none" strike="noStrike"/>
          </a:p>
        </p:txBody>
      </p:sp>
      <p:sp>
        <p:nvSpPr>
          <p:cNvPr id="39" name="Google Shape;39;p10"/>
          <p:cNvSpPr/>
          <p:nvPr/>
        </p:nvSpPr>
        <p:spPr>
          <a:xfrm>
            <a:off x="793790" y="4837748"/>
            <a:ext cx="7556421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Understanding margin-based regression through intuitive visualization and gentle mathematical foundations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/>
          <p:nvPr/>
        </p:nvSpPr>
        <p:spPr>
          <a:xfrm>
            <a:off x="793790" y="1951315"/>
            <a:ext cx="9625251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Why Support Vector Regression?</a:t>
            </a:r>
            <a:endParaRPr b="0" i="0" sz="5100" u="none" cap="none" strike="noStrike"/>
          </a:p>
        </p:txBody>
      </p:sp>
      <p:sp>
        <p:nvSpPr>
          <p:cNvPr id="46" name="Google Shape;46;p11"/>
          <p:cNvSpPr/>
          <p:nvPr/>
        </p:nvSpPr>
        <p:spPr>
          <a:xfrm>
            <a:off x="793790" y="3366016"/>
            <a:ext cx="3912751" cy="508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147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3050"/>
              <a:buFont typeface="Marcellus"/>
              <a:buNone/>
            </a:pPr>
            <a:r>
              <a:rPr b="0" i="0" lang="en-US" sz="305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The Challenge</a:t>
            </a:r>
            <a:endParaRPr b="0" i="0" sz="3050" u="none" cap="none" strike="noStrike"/>
          </a:p>
        </p:txBody>
      </p:sp>
      <p:sp>
        <p:nvSpPr>
          <p:cNvPr id="47" name="Google Shape;47;p11"/>
          <p:cNvSpPr/>
          <p:nvPr/>
        </p:nvSpPr>
        <p:spPr>
          <a:xfrm>
            <a:off x="793790" y="4101346"/>
            <a:ext cx="6244709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Traditional regression methods are sensitive to outliers and noise. They minimize every error equally, which can lead to overfitting on noisy data.</a:t>
            </a:r>
            <a:endParaRPr b="0" i="0" sz="1750" u="none" cap="none" strike="noStrike"/>
          </a:p>
        </p:txBody>
      </p:sp>
      <p:sp>
        <p:nvSpPr>
          <p:cNvPr id="48" name="Google Shape;48;p11"/>
          <p:cNvSpPr/>
          <p:nvPr/>
        </p:nvSpPr>
        <p:spPr>
          <a:xfrm>
            <a:off x="793790" y="5189815"/>
            <a:ext cx="6244709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We need a more </a:t>
            </a:r>
            <a:r>
              <a:rPr b="0" i="0" lang="en-US" sz="1750" u="none" cap="none" strike="noStrike">
                <a:solidFill>
                  <a:srgbClr val="67534F"/>
                </a:solidFill>
                <a:highlight>
                  <a:srgbClr val="FF954F"/>
                </a:highlight>
                <a:latin typeface="Montserrat"/>
                <a:ea typeface="Montserrat"/>
                <a:cs typeface="Montserrat"/>
                <a:sym typeface="Montserrat"/>
              </a:rPr>
              <a:t>stable, robust approach</a:t>
            </a: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that focuses on the general pattern rather than fitting every point.</a:t>
            </a:r>
            <a:endParaRPr b="0" i="0" sz="1750" u="none" cap="none" strike="noStrike"/>
          </a:p>
        </p:txBody>
      </p:sp>
      <p:sp>
        <p:nvSpPr>
          <p:cNvPr id="49" name="Google Shape;49;p11"/>
          <p:cNvSpPr/>
          <p:nvPr/>
        </p:nvSpPr>
        <p:spPr>
          <a:xfrm>
            <a:off x="7599521" y="3366016"/>
            <a:ext cx="3912751" cy="508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147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3050"/>
              <a:buFont typeface="Marcellus"/>
              <a:buNone/>
            </a:pPr>
            <a:r>
              <a:rPr b="0" i="0" lang="en-US" sz="305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The SVR Solution</a:t>
            </a:r>
            <a:endParaRPr b="0" i="0" sz="3050" u="none" cap="none" strike="noStrike"/>
          </a:p>
        </p:txBody>
      </p:sp>
      <p:sp>
        <p:nvSpPr>
          <p:cNvPr id="50" name="Google Shape;50;p11"/>
          <p:cNvSpPr/>
          <p:nvPr/>
        </p:nvSpPr>
        <p:spPr>
          <a:xfrm>
            <a:off x="7599521" y="4101346"/>
            <a:ext cx="6244709" cy="1179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Support Vector Regression introduces a </a:t>
            </a:r>
            <a:r>
              <a:rPr b="1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margin-based approach</a:t>
            </a: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to regression problems. Instead of fitting all points exactly, SVR creates a tolerance zone around the prediction function.</a:t>
            </a:r>
            <a:endParaRPr b="0" i="0" sz="1750" u="none" cap="none" strike="noStrike"/>
          </a:p>
        </p:txBody>
      </p:sp>
      <p:sp>
        <p:nvSpPr>
          <p:cNvPr id="51" name="Google Shape;51;p11"/>
          <p:cNvSpPr/>
          <p:nvPr/>
        </p:nvSpPr>
        <p:spPr>
          <a:xfrm>
            <a:off x="7599521" y="5484614"/>
            <a:ext cx="6244709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This margin-focused strategy produces models that generalize better to unseen data.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/>
          <p:nvPr/>
        </p:nvSpPr>
        <p:spPr>
          <a:xfrm>
            <a:off x="596860" y="583763"/>
            <a:ext cx="5768340" cy="6373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870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3850"/>
              <a:buFont typeface="Marcellus"/>
              <a:buNone/>
            </a:pPr>
            <a:r>
              <a:rPr b="0" i="0" lang="en-US" sz="385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The Epsilon Tube Concept</a:t>
            </a:r>
            <a:endParaRPr b="0" i="0" sz="3850" u="none" cap="none" strike="noStrike"/>
          </a:p>
        </p:txBody>
      </p:sp>
      <p:sp>
        <p:nvSpPr>
          <p:cNvPr id="58" name="Google Shape;58;p12"/>
          <p:cNvSpPr/>
          <p:nvPr/>
        </p:nvSpPr>
        <p:spPr>
          <a:xfrm>
            <a:off x="596860" y="1476851"/>
            <a:ext cx="4365188" cy="2139196"/>
          </a:xfrm>
          <a:prstGeom prst="roundRect">
            <a:avLst>
              <a:gd fmla="val 3348" name="adj"/>
            </a:avLst>
          </a:prstGeom>
          <a:solidFill>
            <a:srgbClr val="FFFFF4"/>
          </a:solidFill>
          <a:ln cap="flat" cmpd="sng" w="1522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2"/>
          <p:cNvSpPr/>
          <p:nvPr/>
        </p:nvSpPr>
        <p:spPr>
          <a:xfrm>
            <a:off x="782598" y="1662589"/>
            <a:ext cx="511612" cy="511612"/>
          </a:xfrm>
          <a:prstGeom prst="roundRect">
            <a:avLst>
              <a:gd fmla="val 17871132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" name="Google Shape;6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330" y="1803321"/>
            <a:ext cx="230148" cy="23014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2"/>
          <p:cNvSpPr/>
          <p:nvPr/>
        </p:nvSpPr>
        <p:spPr>
          <a:xfrm>
            <a:off x="782598" y="2344698"/>
            <a:ext cx="2451497" cy="31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57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900"/>
              <a:buFont typeface="Marcellus"/>
              <a:buNone/>
            </a:pPr>
            <a:r>
              <a:rPr b="0" i="0" lang="en-US" sz="19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The Tolerance Zone</a:t>
            </a:r>
            <a:endParaRPr b="0" i="0" sz="1900" u="none" cap="none" strike="noStrike"/>
          </a:p>
        </p:txBody>
      </p:sp>
      <p:sp>
        <p:nvSpPr>
          <p:cNvPr id="62" name="Google Shape;62;p12"/>
          <p:cNvSpPr/>
          <p:nvPr/>
        </p:nvSpPr>
        <p:spPr>
          <a:xfrm>
            <a:off x="782598" y="2765584"/>
            <a:ext cx="3993713" cy="664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300"/>
              <a:buFont typeface="Montserrat"/>
              <a:buNone/>
            </a:pPr>
            <a:r>
              <a:rPr b="0" i="0" lang="en-US" sz="13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SVR constructs an </a:t>
            </a:r>
            <a:r>
              <a:rPr b="1" i="0" lang="en-US" sz="13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epsilon (ε) tube</a:t>
            </a:r>
            <a:r>
              <a:rPr b="0" i="0" lang="en-US" sz="13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around the regression function. This tube defines an acceptable margin of error.</a:t>
            </a:r>
            <a:endParaRPr b="0" i="0" sz="1300" u="none" cap="none" strike="noStrike"/>
          </a:p>
        </p:txBody>
      </p:sp>
      <p:sp>
        <p:nvSpPr>
          <p:cNvPr id="63" name="Google Shape;63;p12"/>
          <p:cNvSpPr/>
          <p:nvPr/>
        </p:nvSpPr>
        <p:spPr>
          <a:xfrm>
            <a:off x="5132546" y="1476851"/>
            <a:ext cx="4365188" cy="2139196"/>
          </a:xfrm>
          <a:prstGeom prst="roundRect">
            <a:avLst>
              <a:gd fmla="val 3348" name="adj"/>
            </a:avLst>
          </a:prstGeom>
          <a:solidFill>
            <a:srgbClr val="FFFFF4"/>
          </a:solidFill>
          <a:ln cap="flat" cmpd="sng" w="1522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2"/>
          <p:cNvSpPr/>
          <p:nvPr/>
        </p:nvSpPr>
        <p:spPr>
          <a:xfrm>
            <a:off x="5318284" y="1662589"/>
            <a:ext cx="511612" cy="511612"/>
          </a:xfrm>
          <a:prstGeom prst="roundRect">
            <a:avLst>
              <a:gd fmla="val 17871132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5" name="Google Shape;6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59016" y="1803321"/>
            <a:ext cx="230148" cy="230148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2"/>
          <p:cNvSpPr/>
          <p:nvPr/>
        </p:nvSpPr>
        <p:spPr>
          <a:xfrm>
            <a:off x="5318284" y="2344698"/>
            <a:ext cx="2451497" cy="31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57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900"/>
              <a:buFont typeface="Marcellus"/>
              <a:buNone/>
            </a:pPr>
            <a:r>
              <a:rPr b="0" i="0" lang="en-US" sz="19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Zero Loss Region</a:t>
            </a:r>
            <a:endParaRPr b="0" i="0" sz="1900" u="none" cap="none" strike="noStrike"/>
          </a:p>
        </p:txBody>
      </p:sp>
      <p:sp>
        <p:nvSpPr>
          <p:cNvPr id="67" name="Google Shape;67;p12"/>
          <p:cNvSpPr/>
          <p:nvPr/>
        </p:nvSpPr>
        <p:spPr>
          <a:xfrm>
            <a:off x="5318284" y="2765584"/>
            <a:ext cx="3993713" cy="664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300"/>
              <a:buFont typeface="Montserrat"/>
              <a:buNone/>
            </a:pPr>
            <a:r>
              <a:rPr b="0" i="0" lang="en-US" sz="13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Points falling </a:t>
            </a:r>
            <a:r>
              <a:rPr b="1" i="0" lang="en-US" sz="13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inside the tube</a:t>
            </a:r>
            <a:r>
              <a:rPr b="0" i="0" lang="en-US" sz="13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contribute zero loss to the model. The model tolerates small deviations without penalty.</a:t>
            </a:r>
            <a:endParaRPr b="0" i="0" sz="1300" u="none" cap="none" strike="noStrike"/>
          </a:p>
        </p:txBody>
      </p:sp>
      <p:sp>
        <p:nvSpPr>
          <p:cNvPr id="68" name="Google Shape;68;p12"/>
          <p:cNvSpPr/>
          <p:nvPr/>
        </p:nvSpPr>
        <p:spPr>
          <a:xfrm>
            <a:off x="9668232" y="1476851"/>
            <a:ext cx="4365188" cy="2139196"/>
          </a:xfrm>
          <a:prstGeom prst="roundRect">
            <a:avLst>
              <a:gd fmla="val 3348" name="adj"/>
            </a:avLst>
          </a:prstGeom>
          <a:solidFill>
            <a:srgbClr val="FFFFF4"/>
          </a:solidFill>
          <a:ln cap="flat" cmpd="sng" w="1522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2"/>
          <p:cNvSpPr/>
          <p:nvPr/>
        </p:nvSpPr>
        <p:spPr>
          <a:xfrm>
            <a:off x="9853970" y="1662589"/>
            <a:ext cx="511612" cy="511612"/>
          </a:xfrm>
          <a:prstGeom prst="roundRect">
            <a:avLst>
              <a:gd fmla="val 17871132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" name="Google Shape;7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994702" y="1803321"/>
            <a:ext cx="230148" cy="230148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2"/>
          <p:cNvSpPr/>
          <p:nvPr/>
        </p:nvSpPr>
        <p:spPr>
          <a:xfrm>
            <a:off x="9853970" y="2344698"/>
            <a:ext cx="2451497" cy="31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57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900"/>
              <a:buFont typeface="Marcellus"/>
              <a:buNone/>
            </a:pPr>
            <a:r>
              <a:rPr b="0" i="0" lang="en-US" sz="19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Beyond the Margin</a:t>
            </a:r>
            <a:endParaRPr b="0" i="0" sz="1900" u="none" cap="none" strike="noStrike"/>
          </a:p>
        </p:txBody>
      </p:sp>
      <p:sp>
        <p:nvSpPr>
          <p:cNvPr id="72" name="Google Shape;72;p12"/>
          <p:cNvSpPr/>
          <p:nvPr/>
        </p:nvSpPr>
        <p:spPr>
          <a:xfrm>
            <a:off x="9853970" y="2765584"/>
            <a:ext cx="3993713" cy="664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300"/>
              <a:buFont typeface="Montserrat"/>
              <a:buNone/>
            </a:pPr>
            <a:r>
              <a:rPr b="0" i="0" lang="en-US" sz="13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Only points </a:t>
            </a:r>
            <a:r>
              <a:rPr b="1" i="0" lang="en-US" sz="13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outside the tube</a:t>
            </a:r>
            <a:r>
              <a:rPr b="0" i="0" lang="en-US" sz="13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are penalized. This creates a sparse solution focused on boundary cases.</a:t>
            </a:r>
            <a:endParaRPr b="0" i="0" sz="1300" u="none" cap="none" strike="noStrike"/>
          </a:p>
        </p:txBody>
      </p:sp>
      <p:pic>
        <p:nvPicPr>
          <p:cNvPr descr="preencoded.png" id="73" name="Google Shape;73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78337" y="3807850"/>
            <a:ext cx="8131376" cy="3011101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2"/>
          <p:cNvSpPr/>
          <p:nvPr/>
        </p:nvSpPr>
        <p:spPr>
          <a:xfrm>
            <a:off x="596860" y="7010757"/>
            <a:ext cx="13436679" cy="221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None/>
            </a:pPr>
            <a:r>
              <a:t/>
            </a:r>
            <a:endParaRPr b="0" i="0" sz="1300" u="none" cap="none" strike="noStrike"/>
          </a:p>
        </p:txBody>
      </p:sp>
      <p:sp>
        <p:nvSpPr>
          <p:cNvPr id="75" name="Google Shape;75;p12"/>
          <p:cNvSpPr/>
          <p:nvPr/>
        </p:nvSpPr>
        <p:spPr>
          <a:xfrm>
            <a:off x="596860" y="7424142"/>
            <a:ext cx="13436679" cy="221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300"/>
              <a:buFont typeface="Montserrat"/>
              <a:buNone/>
            </a:pPr>
            <a:r>
              <a:rPr b="0" i="0" lang="en-US" sz="13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The epsilon parameter controls the tube width, balancing model complexity against fitting accuracy.</a:t>
            </a:r>
            <a:endParaRPr b="0" i="0" sz="130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/>
          <p:nvPr/>
        </p:nvSpPr>
        <p:spPr>
          <a:xfrm>
            <a:off x="689729" y="541853"/>
            <a:ext cx="10073164" cy="736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213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4450"/>
              <a:buFont typeface="Marcellus"/>
              <a:buNone/>
            </a:pPr>
            <a:r>
              <a:rPr b="0" i="0" lang="en-US" sz="445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Handling Violations with Slack Variables</a:t>
            </a:r>
            <a:endParaRPr b="0" i="0" sz="4450" u="none" cap="none" strike="noStrike"/>
          </a:p>
        </p:txBody>
      </p:sp>
      <p:sp>
        <p:nvSpPr>
          <p:cNvPr id="82" name="Google Shape;82;p13"/>
          <p:cNvSpPr/>
          <p:nvPr/>
        </p:nvSpPr>
        <p:spPr>
          <a:xfrm>
            <a:off x="689729" y="1357193"/>
            <a:ext cx="3399353" cy="4418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188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2650"/>
              <a:buFont typeface="Marcellus"/>
              <a:buNone/>
            </a:pPr>
            <a:r>
              <a:rPr b="0" i="0" lang="en-US" sz="265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Real Data Is Imperfect</a:t>
            </a:r>
            <a:endParaRPr b="0" i="0" sz="2650" u="none" cap="none" strike="noStrike"/>
          </a:p>
        </p:txBody>
      </p:sp>
      <p:sp>
        <p:nvSpPr>
          <p:cNvPr id="83" name="Google Shape;83;p13"/>
          <p:cNvSpPr/>
          <p:nvPr/>
        </p:nvSpPr>
        <p:spPr>
          <a:xfrm>
            <a:off x="689729" y="2094547"/>
            <a:ext cx="13250942" cy="2561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3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50"/>
              <a:buFont typeface="Montserrat"/>
              <a:buNone/>
            </a:pPr>
            <a:r>
              <a:rPr b="0" i="0" lang="en-US" sz="15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In practice, not all points can fit within the epsilon tube. Some observations will inevitably fall outside the margin.</a:t>
            </a:r>
            <a:endParaRPr b="0" i="0" sz="1550" u="none" cap="none" strike="noStrike"/>
          </a:p>
        </p:txBody>
      </p:sp>
      <p:sp>
        <p:nvSpPr>
          <p:cNvPr id="84" name="Google Shape;84;p13"/>
          <p:cNvSpPr/>
          <p:nvPr/>
        </p:nvSpPr>
        <p:spPr>
          <a:xfrm>
            <a:off x="689729" y="2572345"/>
            <a:ext cx="13250942" cy="512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3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50"/>
              <a:buFont typeface="Montserrat"/>
              <a:buNone/>
            </a:pPr>
            <a:r>
              <a:rPr b="0" i="0" lang="en-US" sz="15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SVR introduces </a:t>
            </a:r>
            <a:r>
              <a:rPr b="1" i="0" lang="en-US" sz="15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slack variables (ξ)</a:t>
            </a:r>
            <a:r>
              <a:rPr b="0" i="0" lang="en-US" sz="15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to measure these violations. Each point outside the tube contributes a penalty proportional to its distance from the tube boundary.</a:t>
            </a:r>
            <a:endParaRPr b="0" i="0" sz="1550" u="none" cap="none" strike="noStrike"/>
          </a:p>
        </p:txBody>
      </p:sp>
      <p:sp>
        <p:nvSpPr>
          <p:cNvPr id="85" name="Google Shape;85;p13"/>
          <p:cNvSpPr/>
          <p:nvPr/>
        </p:nvSpPr>
        <p:spPr>
          <a:xfrm>
            <a:off x="689729" y="3306247"/>
            <a:ext cx="13250942" cy="2561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3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50"/>
              <a:buFont typeface="Montserrat"/>
              <a:buNone/>
            </a:pPr>
            <a:r>
              <a:rPr b="0" i="0" lang="en-US" sz="15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This linear penalty creates a balance: the model seeks to minimize tube width while keeping most points inside.</a:t>
            </a:r>
            <a:endParaRPr b="0" i="0" sz="1550" u="none" cap="none" strike="noStrike"/>
          </a:p>
        </p:txBody>
      </p:sp>
      <p:pic>
        <p:nvPicPr>
          <p:cNvPr descr="preencoded.png" id="86" name="Google Shape;8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9729" y="4005739"/>
            <a:ext cx="6047423" cy="3460909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/>
          <p:nvPr/>
        </p:nvSpPr>
        <p:spPr>
          <a:xfrm>
            <a:off x="7887669" y="4939803"/>
            <a:ext cx="5973000" cy="7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3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50"/>
              <a:buFont typeface="Montserrat"/>
              <a:buNone/>
            </a:pPr>
            <a:r>
              <a:rPr b="1" i="0" lang="en-US" sz="15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Mathematical Insight:</a:t>
            </a:r>
            <a:r>
              <a:rPr b="0" i="0" lang="en-US" sz="15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The slack variables ξᵢ and ξᵢ* allow symmetric violations above and below the tube, making SVR robust to various noise patterns.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793790" y="1559719"/>
            <a:ext cx="7122914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SVR vs Linear Regression</a:t>
            </a:r>
            <a:endParaRPr b="0" i="0" sz="5100" u="none" cap="none" strike="noStrike"/>
          </a:p>
        </p:txBody>
      </p:sp>
      <p:pic>
        <p:nvPicPr>
          <p:cNvPr descr="preencoded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747605"/>
            <a:ext cx="6521410" cy="907256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/>
          <p:nvPr/>
        </p:nvSpPr>
        <p:spPr>
          <a:xfrm>
            <a:off x="1020604" y="3881676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Linear Regression</a:t>
            </a:r>
            <a:endParaRPr b="0" i="0" sz="2550" u="none" cap="none" strike="noStrike"/>
          </a:p>
        </p:txBody>
      </p:sp>
      <p:sp>
        <p:nvSpPr>
          <p:cNvPr id="96" name="Google Shape;96;p14"/>
          <p:cNvSpPr/>
          <p:nvPr/>
        </p:nvSpPr>
        <p:spPr>
          <a:xfrm>
            <a:off x="1020604" y="4441627"/>
            <a:ext cx="6067782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1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Objective:</a:t>
            </a: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Minimize sum of squared errors</a:t>
            </a:r>
            <a:endParaRPr b="0" i="0" sz="1750" u="none" cap="none" strike="noStrike"/>
          </a:p>
        </p:txBody>
      </p:sp>
      <p:sp>
        <p:nvSpPr>
          <p:cNvPr id="97" name="Google Shape;97;p14"/>
          <p:cNvSpPr/>
          <p:nvPr/>
        </p:nvSpPr>
        <p:spPr>
          <a:xfrm>
            <a:off x="1020604" y="4872514"/>
            <a:ext cx="6067782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1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Sensitivity:</a:t>
            </a: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Every point affects the model equally</a:t>
            </a:r>
            <a:endParaRPr b="0" i="0" sz="1750" u="none" cap="none" strike="noStrike"/>
          </a:p>
        </p:txBody>
      </p:sp>
      <p:sp>
        <p:nvSpPr>
          <p:cNvPr id="98" name="Google Shape;98;p14"/>
          <p:cNvSpPr/>
          <p:nvPr/>
        </p:nvSpPr>
        <p:spPr>
          <a:xfrm>
            <a:off x="1020604" y="5303401"/>
            <a:ext cx="6067782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1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Result:</a:t>
            </a: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Can overfit to outliers and noise</a:t>
            </a:r>
            <a:endParaRPr b="0" i="0" sz="1750" u="none" cap="none" strike="noStrike"/>
          </a:p>
        </p:txBody>
      </p:sp>
      <p:pic>
        <p:nvPicPr>
          <p:cNvPr descr="preencoded.png" id="99" name="Google Shape;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5200" y="2747605"/>
            <a:ext cx="6521410" cy="907256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/>
          <p:nvPr/>
        </p:nvSpPr>
        <p:spPr>
          <a:xfrm>
            <a:off x="7542014" y="3881676"/>
            <a:ext cx="3905012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Support Vector Regression</a:t>
            </a:r>
            <a:endParaRPr b="0" i="0" sz="2550" u="none" cap="none" strike="noStrike"/>
          </a:p>
        </p:txBody>
      </p:sp>
      <p:sp>
        <p:nvSpPr>
          <p:cNvPr id="101" name="Google Shape;101;p14"/>
          <p:cNvSpPr/>
          <p:nvPr/>
        </p:nvSpPr>
        <p:spPr>
          <a:xfrm>
            <a:off x="7542014" y="4441627"/>
            <a:ext cx="6067782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1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Objective:</a:t>
            </a: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Maintain epsilon-insensitive margin</a:t>
            </a:r>
            <a:endParaRPr b="0" i="0" sz="1750" u="none" cap="none" strike="noStrike"/>
          </a:p>
        </p:txBody>
      </p:sp>
      <p:sp>
        <p:nvSpPr>
          <p:cNvPr id="102" name="Google Shape;102;p14"/>
          <p:cNvSpPr/>
          <p:nvPr/>
        </p:nvSpPr>
        <p:spPr>
          <a:xfrm>
            <a:off x="7542014" y="4872514"/>
            <a:ext cx="6067782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1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Sensitivity:</a:t>
            </a: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Only boundary points matter</a:t>
            </a:r>
            <a:endParaRPr b="0" i="0" sz="1750" u="none" cap="none" strike="noStrike"/>
          </a:p>
        </p:txBody>
      </p:sp>
      <p:sp>
        <p:nvSpPr>
          <p:cNvPr id="103" name="Google Shape;103;p14"/>
          <p:cNvSpPr/>
          <p:nvPr/>
        </p:nvSpPr>
        <p:spPr>
          <a:xfrm>
            <a:off x="7542014" y="5303401"/>
            <a:ext cx="6067782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1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Result:</a:t>
            </a: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0" i="0" lang="en-US" sz="1750" u="none" cap="none" strike="noStrike">
                <a:solidFill>
                  <a:srgbClr val="FF954F"/>
                </a:solidFill>
                <a:latin typeface="Montserrat"/>
                <a:ea typeface="Montserrat"/>
                <a:cs typeface="Montserrat"/>
                <a:sym typeface="Montserrat"/>
              </a:rPr>
              <a:t>Better generalization</a:t>
            </a: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and robustness</a:t>
            </a:r>
            <a:endParaRPr b="0" i="0" sz="1750" u="none" cap="none" strike="noStrike"/>
          </a:p>
        </p:txBody>
      </p:sp>
      <p:sp>
        <p:nvSpPr>
          <p:cNvPr id="104" name="Google Shape;104;p14"/>
          <p:cNvSpPr/>
          <p:nvPr/>
        </p:nvSpPr>
        <p:spPr>
          <a:xfrm>
            <a:off x="793790" y="6080165"/>
            <a:ext cx="13042821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The margin-based approach of SVR produces models that are less influenced by noise, leading to improved performance on unseen data.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/>
          <p:nvPr/>
        </p:nvSpPr>
        <p:spPr>
          <a:xfrm>
            <a:off x="793790" y="741759"/>
            <a:ext cx="9047678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SVR Implementation Workflow</a:t>
            </a:r>
            <a:endParaRPr b="0" i="0" sz="5100" u="none" cap="none" strike="noStrike"/>
          </a:p>
        </p:txBody>
      </p:sp>
      <p:sp>
        <p:nvSpPr>
          <p:cNvPr id="111" name="Google Shape;111;p15"/>
          <p:cNvSpPr/>
          <p:nvPr/>
        </p:nvSpPr>
        <p:spPr>
          <a:xfrm>
            <a:off x="793811" y="2043125"/>
            <a:ext cx="4677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arcellus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01</a:t>
            </a:r>
            <a:endParaRPr b="0" i="0" sz="1750" u="none" cap="none" strike="noStrike"/>
          </a:p>
        </p:txBody>
      </p:sp>
      <p:sp>
        <p:nvSpPr>
          <p:cNvPr id="112" name="Google Shape;112;p15"/>
          <p:cNvSpPr/>
          <p:nvPr/>
        </p:nvSpPr>
        <p:spPr>
          <a:xfrm>
            <a:off x="793790" y="2409468"/>
            <a:ext cx="6407944" cy="30480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5"/>
          <p:cNvSpPr/>
          <p:nvPr/>
        </p:nvSpPr>
        <p:spPr>
          <a:xfrm>
            <a:off x="793790" y="2583775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Scale Features</a:t>
            </a:r>
            <a:endParaRPr b="0" i="0" sz="2550" u="none" cap="none" strike="noStrike"/>
          </a:p>
        </p:txBody>
      </p:sp>
      <p:sp>
        <p:nvSpPr>
          <p:cNvPr id="114" name="Google Shape;114;p15"/>
          <p:cNvSpPr/>
          <p:nvPr/>
        </p:nvSpPr>
        <p:spPr>
          <a:xfrm>
            <a:off x="793790" y="3143726"/>
            <a:ext cx="6407944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Normalize input data to ensure features contribute equally</a:t>
            </a:r>
            <a:endParaRPr b="0" i="0" sz="1750" u="none" cap="none" strike="noStrike"/>
          </a:p>
        </p:txBody>
      </p:sp>
      <p:sp>
        <p:nvSpPr>
          <p:cNvPr id="115" name="Google Shape;115;p15"/>
          <p:cNvSpPr/>
          <p:nvPr/>
        </p:nvSpPr>
        <p:spPr>
          <a:xfrm>
            <a:off x="7428552" y="2043125"/>
            <a:ext cx="4677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arcellus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02</a:t>
            </a:r>
            <a:endParaRPr b="0" i="0" sz="1750" u="none" cap="none" strike="noStrike"/>
          </a:p>
        </p:txBody>
      </p:sp>
      <p:sp>
        <p:nvSpPr>
          <p:cNvPr id="116" name="Google Shape;116;p15"/>
          <p:cNvSpPr/>
          <p:nvPr/>
        </p:nvSpPr>
        <p:spPr>
          <a:xfrm>
            <a:off x="7428548" y="2409468"/>
            <a:ext cx="6408063" cy="30480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7428548" y="2583775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Choose Kernel</a:t>
            </a:r>
            <a:endParaRPr b="0" i="0" sz="2550" u="none" cap="none" strike="noStrike"/>
          </a:p>
        </p:txBody>
      </p:sp>
      <p:sp>
        <p:nvSpPr>
          <p:cNvPr id="118" name="Google Shape;118;p15"/>
          <p:cNvSpPr/>
          <p:nvPr/>
        </p:nvSpPr>
        <p:spPr>
          <a:xfrm>
            <a:off x="7428548" y="3143726"/>
            <a:ext cx="6408063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Select linear, polynomial, or RBF kernel based on data structure</a:t>
            </a:r>
            <a:endParaRPr b="0" i="0" sz="1750" u="none" cap="none" strike="noStrike"/>
          </a:p>
        </p:txBody>
      </p:sp>
      <p:sp>
        <p:nvSpPr>
          <p:cNvPr id="119" name="Google Shape;119;p15"/>
          <p:cNvSpPr/>
          <p:nvPr/>
        </p:nvSpPr>
        <p:spPr>
          <a:xfrm>
            <a:off x="793814" y="4130150"/>
            <a:ext cx="5376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arcellus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03</a:t>
            </a:r>
            <a:endParaRPr b="0" i="0" sz="1750" u="none" cap="none" strike="noStrike"/>
          </a:p>
        </p:txBody>
      </p:sp>
      <p:sp>
        <p:nvSpPr>
          <p:cNvPr id="120" name="Google Shape;120;p15"/>
          <p:cNvSpPr/>
          <p:nvPr/>
        </p:nvSpPr>
        <p:spPr>
          <a:xfrm>
            <a:off x="793790" y="4496514"/>
            <a:ext cx="6407944" cy="30480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793790" y="4670822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Set Epsilon (ε)</a:t>
            </a:r>
            <a:endParaRPr b="0" i="0" sz="2550" u="none" cap="none" strike="noStrike"/>
          </a:p>
        </p:txBody>
      </p:sp>
      <p:sp>
        <p:nvSpPr>
          <p:cNvPr id="122" name="Google Shape;122;p15"/>
          <p:cNvSpPr/>
          <p:nvPr/>
        </p:nvSpPr>
        <p:spPr>
          <a:xfrm>
            <a:off x="793790" y="5230773"/>
            <a:ext cx="6407944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Define the tube width—larger ε creates simpler models</a:t>
            </a:r>
            <a:endParaRPr b="0" i="0" sz="1750" u="none" cap="none" strike="noStrike"/>
          </a:p>
        </p:txBody>
      </p:sp>
      <p:sp>
        <p:nvSpPr>
          <p:cNvPr id="123" name="Google Shape;123;p15"/>
          <p:cNvSpPr/>
          <p:nvPr/>
        </p:nvSpPr>
        <p:spPr>
          <a:xfrm>
            <a:off x="7428551" y="4130150"/>
            <a:ext cx="3678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arcellus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04</a:t>
            </a:r>
            <a:endParaRPr b="0" i="0" sz="1750" u="none" cap="none" strike="noStrike"/>
          </a:p>
        </p:txBody>
      </p:sp>
      <p:sp>
        <p:nvSpPr>
          <p:cNvPr id="124" name="Google Shape;124;p15"/>
          <p:cNvSpPr/>
          <p:nvPr/>
        </p:nvSpPr>
        <p:spPr>
          <a:xfrm>
            <a:off x="7428548" y="4496514"/>
            <a:ext cx="6408063" cy="30480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5"/>
          <p:cNvSpPr/>
          <p:nvPr/>
        </p:nvSpPr>
        <p:spPr>
          <a:xfrm>
            <a:off x="7428548" y="4670822"/>
            <a:ext cx="3284458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Pick Regularization (C)</a:t>
            </a:r>
            <a:endParaRPr b="0" i="0" sz="2550" u="none" cap="none" strike="noStrike"/>
          </a:p>
        </p:txBody>
      </p:sp>
      <p:sp>
        <p:nvSpPr>
          <p:cNvPr id="126" name="Google Shape;126;p15"/>
          <p:cNvSpPr/>
          <p:nvPr/>
        </p:nvSpPr>
        <p:spPr>
          <a:xfrm>
            <a:off x="7428548" y="5230773"/>
            <a:ext cx="6408063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Balance margin width vs. violation penalties</a:t>
            </a:r>
            <a:endParaRPr b="0" i="0" sz="1750" u="none" cap="none" strike="noStrike"/>
          </a:p>
        </p:txBody>
      </p:sp>
      <p:sp>
        <p:nvSpPr>
          <p:cNvPr id="127" name="Google Shape;127;p15"/>
          <p:cNvSpPr/>
          <p:nvPr/>
        </p:nvSpPr>
        <p:spPr>
          <a:xfrm>
            <a:off x="793815" y="5922400"/>
            <a:ext cx="5376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arcellus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05</a:t>
            </a:r>
            <a:endParaRPr b="0" i="0" sz="1750" u="none" cap="none" strike="noStrike"/>
          </a:p>
        </p:txBody>
      </p:sp>
      <p:sp>
        <p:nvSpPr>
          <p:cNvPr id="128" name="Google Shape;128;p15"/>
          <p:cNvSpPr/>
          <p:nvPr/>
        </p:nvSpPr>
        <p:spPr>
          <a:xfrm>
            <a:off x="793790" y="6288762"/>
            <a:ext cx="6407944" cy="30480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5"/>
          <p:cNvSpPr/>
          <p:nvPr/>
        </p:nvSpPr>
        <p:spPr>
          <a:xfrm>
            <a:off x="793790" y="6463070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Train Model</a:t>
            </a:r>
            <a:endParaRPr b="0" i="0" sz="2550" u="none" cap="none" strike="noStrike"/>
          </a:p>
        </p:txBody>
      </p:sp>
      <p:sp>
        <p:nvSpPr>
          <p:cNvPr id="130" name="Google Shape;130;p15"/>
          <p:cNvSpPr/>
          <p:nvPr/>
        </p:nvSpPr>
        <p:spPr>
          <a:xfrm>
            <a:off x="793790" y="7023021"/>
            <a:ext cx="6407944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Solve the optimization to find support vectors</a:t>
            </a:r>
            <a:endParaRPr b="0" i="0" sz="1750" u="none" cap="none" strike="noStrike"/>
          </a:p>
        </p:txBody>
      </p:sp>
      <p:sp>
        <p:nvSpPr>
          <p:cNvPr id="131" name="Google Shape;131;p15"/>
          <p:cNvSpPr/>
          <p:nvPr/>
        </p:nvSpPr>
        <p:spPr>
          <a:xfrm>
            <a:off x="7428553" y="5922400"/>
            <a:ext cx="5376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arcellus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06</a:t>
            </a:r>
            <a:endParaRPr b="0" i="0" sz="1750" u="none" cap="none" strike="noStrike"/>
          </a:p>
        </p:txBody>
      </p:sp>
      <p:sp>
        <p:nvSpPr>
          <p:cNvPr id="132" name="Google Shape;132;p15"/>
          <p:cNvSpPr/>
          <p:nvPr/>
        </p:nvSpPr>
        <p:spPr>
          <a:xfrm>
            <a:off x="7428548" y="6288762"/>
            <a:ext cx="6408063" cy="30480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5"/>
          <p:cNvSpPr/>
          <p:nvPr/>
        </p:nvSpPr>
        <p:spPr>
          <a:xfrm>
            <a:off x="7428548" y="6463070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Predict &amp; Evaluate</a:t>
            </a:r>
            <a:endParaRPr b="0" i="0" sz="2550" u="none" cap="none" strike="noStrike"/>
          </a:p>
        </p:txBody>
      </p:sp>
      <p:sp>
        <p:nvSpPr>
          <p:cNvPr id="134" name="Google Shape;134;p15"/>
          <p:cNvSpPr/>
          <p:nvPr/>
        </p:nvSpPr>
        <p:spPr>
          <a:xfrm>
            <a:off x="7428548" y="7023021"/>
            <a:ext cx="6408063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Apply model to new data and assess performance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
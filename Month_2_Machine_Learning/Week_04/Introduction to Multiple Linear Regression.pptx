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Marcellus"/>
      <p:regular r:id="rId15"/>
    </p:embeddedFont>
    <p:embeddedFont>
      <p:font typeface="Montserrat"/>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g3tv6C3UJb+aTfWNrTAZIzv//Q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arcellus-regular.fntdata"/><Relationship Id="rId14" Type="http://schemas.openxmlformats.org/officeDocument/2006/relationships/slide" Target="slides/slide10.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slide" Target="slides/slide1.xml"/><Relationship Id="rId19" Type="http://schemas.openxmlformats.org/officeDocument/2006/relationships/font" Target="fonts/Montserrat-boldItalic.fntdata"/><Relationship Id="rId6" Type="http://schemas.openxmlformats.org/officeDocument/2006/relationships/slide" Target="slides/slide2.xml"/><Relationship Id="rId18" Type="http://schemas.openxmlformats.org/officeDocument/2006/relationships/font" Target="fonts/Montserrat-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2"/>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1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3"/>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1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4"/>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1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5"/>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1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6"/>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17"/>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7"/>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18"/>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8"/>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19"/>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9"/>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20"/>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0"/>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21"/>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1"/>
          <p:cNvSpPr/>
          <p:nvPr/>
        </p:nvSpPr>
        <p:spPr>
          <a:xfrm>
            <a:off x="0" y="0"/>
            <a:ext cx="14630400" cy="8229600"/>
          </a:xfrm>
          <a:prstGeom prst="rect">
            <a:avLst/>
          </a:prstGeom>
          <a:solidFill>
            <a:srgbClr val="FFFFF4">
              <a:alpha val="9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5.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descr="preencoded.png" id="46" name="Google Shape;46;p1"/>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47" name="Google Shape;47;p1"/>
          <p:cNvSpPr/>
          <p:nvPr/>
        </p:nvSpPr>
        <p:spPr>
          <a:xfrm>
            <a:off x="793790" y="3095149"/>
            <a:ext cx="7556421" cy="148351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Introduction to Multiple Linear Regression</a:t>
            </a:r>
            <a:endParaRPr b="0" i="0" sz="4450" u="none" cap="none" strike="noStrike">
              <a:solidFill>
                <a:srgbClr val="000000"/>
              </a:solidFill>
              <a:latin typeface="Arial"/>
              <a:ea typeface="Arial"/>
              <a:cs typeface="Arial"/>
              <a:sym typeface="Arial"/>
            </a:endParaRPr>
          </a:p>
        </p:txBody>
      </p:sp>
      <p:sp>
        <p:nvSpPr>
          <p:cNvPr id="48" name="Google Shape;48;p1"/>
          <p:cNvSpPr/>
          <p:nvPr/>
        </p:nvSpPr>
        <p:spPr>
          <a:xfrm>
            <a:off x="793790" y="4876324"/>
            <a:ext cx="75564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Predicting real-world outcomes using several key factors.</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793790" y="2132290"/>
            <a:ext cx="912018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What is Multiple Linear Regression?</a:t>
            </a:r>
            <a:endParaRPr b="0" i="0" sz="4450" u="none" cap="none" strike="noStrike">
              <a:solidFill>
                <a:srgbClr val="000000"/>
              </a:solidFill>
              <a:latin typeface="Arial"/>
              <a:ea typeface="Arial"/>
              <a:cs typeface="Arial"/>
              <a:sym typeface="Arial"/>
            </a:endParaRPr>
          </a:p>
        </p:txBody>
      </p:sp>
      <p:sp>
        <p:nvSpPr>
          <p:cNvPr id="55" name="Google Shape;55;p2"/>
          <p:cNvSpPr/>
          <p:nvPr/>
        </p:nvSpPr>
        <p:spPr>
          <a:xfrm>
            <a:off x="793790" y="337006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Defining MLR</a:t>
            </a:r>
            <a:endParaRPr b="0" i="0" sz="2200" u="none" cap="none" strike="noStrike">
              <a:solidFill>
                <a:srgbClr val="000000"/>
              </a:solidFill>
              <a:latin typeface="Arial"/>
              <a:ea typeface="Arial"/>
              <a:cs typeface="Arial"/>
              <a:sym typeface="Arial"/>
            </a:endParaRPr>
          </a:p>
        </p:txBody>
      </p:sp>
      <p:sp>
        <p:nvSpPr>
          <p:cNvPr id="56" name="Google Shape;56;p2"/>
          <p:cNvSpPr/>
          <p:nvPr/>
        </p:nvSpPr>
        <p:spPr>
          <a:xfrm>
            <a:off x="793790" y="3939183"/>
            <a:ext cx="6279356" cy="774025"/>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Multiple Linear Regression (MLR) predicts a continuous outcome using several input factors simultaneously, instead of just one.</a:t>
            </a:r>
            <a:endParaRPr b="0" i="0" sz="1550" u="none" cap="none" strike="noStrike">
              <a:solidFill>
                <a:srgbClr val="000000"/>
              </a:solidFill>
              <a:latin typeface="Arial"/>
              <a:ea typeface="Arial"/>
              <a:cs typeface="Arial"/>
              <a:sym typeface="Arial"/>
            </a:endParaRPr>
          </a:p>
        </p:txBody>
      </p:sp>
      <p:sp>
        <p:nvSpPr>
          <p:cNvPr id="57" name="Google Shape;57;p2"/>
          <p:cNvSpPr/>
          <p:nvPr/>
        </p:nvSpPr>
        <p:spPr>
          <a:xfrm>
            <a:off x="793790" y="4891802"/>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model learns how important, or "weighted," each factor is to make an accurate prediction.</a:t>
            </a:r>
            <a:endParaRPr b="0" i="0" sz="1550" u="none" cap="none" strike="noStrike">
              <a:solidFill>
                <a:srgbClr val="000000"/>
              </a:solidFill>
              <a:latin typeface="Arial"/>
              <a:ea typeface="Arial"/>
              <a:cs typeface="Arial"/>
              <a:sym typeface="Arial"/>
            </a:endParaRPr>
          </a:p>
        </p:txBody>
      </p:sp>
      <p:sp>
        <p:nvSpPr>
          <p:cNvPr id="58" name="Google Shape;58;p2"/>
          <p:cNvSpPr/>
          <p:nvPr/>
        </p:nvSpPr>
        <p:spPr>
          <a:xfrm>
            <a:off x="7564874" y="3370064"/>
            <a:ext cx="290250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House Price Prediction</a:t>
            </a:r>
            <a:endParaRPr b="0" i="0" sz="2200" u="none" cap="none" strike="noStrike">
              <a:solidFill>
                <a:srgbClr val="000000"/>
              </a:solidFill>
              <a:latin typeface="Arial"/>
              <a:ea typeface="Arial"/>
              <a:cs typeface="Arial"/>
              <a:sym typeface="Arial"/>
            </a:endParaRPr>
          </a:p>
        </p:txBody>
      </p:sp>
      <p:sp>
        <p:nvSpPr>
          <p:cNvPr id="59" name="Google Shape;59;p2"/>
          <p:cNvSpPr/>
          <p:nvPr/>
        </p:nvSpPr>
        <p:spPr>
          <a:xfrm>
            <a:off x="7564874" y="3939183"/>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about predicting a </a:t>
            </a:r>
            <a:r>
              <a:rPr b="1" i="0" lang="en-US" sz="1550" u="none" cap="none" strike="noStrike">
                <a:solidFill>
                  <a:srgbClr val="67534F"/>
                </a:solidFill>
                <a:latin typeface="Montserrat"/>
                <a:ea typeface="Montserrat"/>
                <a:cs typeface="Montserrat"/>
                <a:sym typeface="Montserrat"/>
              </a:rPr>
              <a:t>house price</a:t>
            </a:r>
            <a:r>
              <a:rPr b="0" i="0" lang="en-US" sz="1550" u="none" cap="none" strike="noStrike">
                <a:solidFill>
                  <a:srgbClr val="67534F"/>
                </a:solidFill>
                <a:latin typeface="Montserrat"/>
                <a:ea typeface="Montserrat"/>
                <a:cs typeface="Montserrat"/>
                <a:sym typeface="Montserrat"/>
              </a:rPr>
              <a:t>. Instead of just square footage, MLR considers multiple features like:</a:t>
            </a:r>
            <a:endParaRPr b="0" i="0" sz="1550" u="none" cap="none" strike="noStrike">
              <a:solidFill>
                <a:srgbClr val="000000"/>
              </a:solidFill>
              <a:latin typeface="Arial"/>
              <a:ea typeface="Arial"/>
              <a:cs typeface="Arial"/>
              <a:sym typeface="Arial"/>
            </a:endParaRPr>
          </a:p>
        </p:txBody>
      </p:sp>
      <p:sp>
        <p:nvSpPr>
          <p:cNvPr id="60" name="Google Shape;60;p2"/>
          <p:cNvSpPr/>
          <p:nvPr/>
        </p:nvSpPr>
        <p:spPr>
          <a:xfrm>
            <a:off x="7564874" y="4633793"/>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Number of bedrooms</a:t>
            </a:r>
            <a:endParaRPr b="0" i="0" sz="1550" u="none" cap="none" strike="noStrike">
              <a:solidFill>
                <a:srgbClr val="000000"/>
              </a:solidFill>
              <a:latin typeface="Arial"/>
              <a:ea typeface="Arial"/>
              <a:cs typeface="Arial"/>
              <a:sym typeface="Arial"/>
            </a:endParaRPr>
          </a:p>
        </p:txBody>
      </p:sp>
      <p:sp>
        <p:nvSpPr>
          <p:cNvPr id="61" name="Google Shape;61;p2"/>
          <p:cNvSpPr/>
          <p:nvPr/>
        </p:nvSpPr>
        <p:spPr>
          <a:xfrm>
            <a:off x="7564874" y="4961215"/>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Location (e.g., school district rating)</a:t>
            </a:r>
            <a:endParaRPr b="0" i="0" sz="1550" u="none" cap="none" strike="noStrike">
              <a:solidFill>
                <a:srgbClr val="000000"/>
              </a:solidFill>
              <a:latin typeface="Arial"/>
              <a:ea typeface="Arial"/>
              <a:cs typeface="Arial"/>
              <a:sym typeface="Arial"/>
            </a:endParaRPr>
          </a:p>
        </p:txBody>
      </p:sp>
      <p:sp>
        <p:nvSpPr>
          <p:cNvPr id="62" name="Google Shape;62;p2"/>
          <p:cNvSpPr/>
          <p:nvPr/>
        </p:nvSpPr>
        <p:spPr>
          <a:xfrm>
            <a:off x="7564874" y="528863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Age of the house</a:t>
            </a:r>
            <a:endParaRPr b="0" i="0" sz="1550" u="none" cap="none" strike="noStrike">
              <a:solidFill>
                <a:srgbClr val="000000"/>
              </a:solidFill>
              <a:latin typeface="Arial"/>
              <a:ea typeface="Arial"/>
              <a:cs typeface="Arial"/>
              <a:sym typeface="Arial"/>
            </a:endParaRPr>
          </a:p>
        </p:txBody>
      </p:sp>
      <p:sp>
        <p:nvSpPr>
          <p:cNvPr id="63" name="Google Shape;63;p2"/>
          <p:cNvSpPr/>
          <p:nvPr/>
        </p:nvSpPr>
        <p:spPr>
          <a:xfrm>
            <a:off x="793790" y="5839301"/>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Each column represents a different feature, like bedrooms or location, that helps predict the final outcome.</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793790" y="1619369"/>
            <a:ext cx="958119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Why Do We Need Multiple Features?</a:t>
            </a:r>
            <a:endParaRPr b="0" i="0" sz="4450" u="none" cap="none" strike="noStrike">
              <a:solidFill>
                <a:srgbClr val="000000"/>
              </a:solidFill>
              <a:latin typeface="Arial"/>
              <a:ea typeface="Arial"/>
              <a:cs typeface="Arial"/>
              <a:sym typeface="Arial"/>
            </a:endParaRPr>
          </a:p>
        </p:txBody>
      </p:sp>
      <p:sp>
        <p:nvSpPr>
          <p:cNvPr id="70" name="Google Shape;70;p3"/>
          <p:cNvSpPr/>
          <p:nvPr/>
        </p:nvSpPr>
        <p:spPr>
          <a:xfrm>
            <a:off x="793790" y="2757964"/>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Real-world outcomes are complex. Predicting them accurately often requires more than just one piece of information. Think about predicting house prices:</a:t>
            </a:r>
            <a:endParaRPr b="0" i="0" sz="1550" u="none" cap="none" strike="noStrike">
              <a:solidFill>
                <a:srgbClr val="000000"/>
              </a:solidFill>
              <a:latin typeface="Arial"/>
              <a:ea typeface="Arial"/>
              <a:cs typeface="Arial"/>
              <a:sym typeface="Arial"/>
            </a:endParaRPr>
          </a:p>
        </p:txBody>
      </p:sp>
      <p:pic>
        <p:nvPicPr>
          <p:cNvPr descr="preencoded.png" id="71" name="Google Shape;71;p3"/>
          <p:cNvPicPr preferRelativeResize="0"/>
          <p:nvPr/>
        </p:nvPicPr>
        <p:blipFill rotWithShape="1">
          <a:blip r:embed="rId3">
            <a:alphaModFix/>
          </a:blip>
          <a:srcRect b="0" l="0" r="0" t="0"/>
          <a:stretch/>
        </p:blipFill>
        <p:spPr>
          <a:xfrm>
            <a:off x="793790" y="3497223"/>
            <a:ext cx="496133" cy="496133"/>
          </a:xfrm>
          <a:prstGeom prst="rect">
            <a:avLst/>
          </a:prstGeom>
          <a:noFill/>
          <a:ln>
            <a:noFill/>
          </a:ln>
        </p:spPr>
      </p:pic>
      <p:sp>
        <p:nvSpPr>
          <p:cNvPr id="72" name="Google Shape;72;p3"/>
          <p:cNvSpPr/>
          <p:nvPr/>
        </p:nvSpPr>
        <p:spPr>
          <a:xfrm>
            <a:off x="1537930" y="360878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Local Economy</a:t>
            </a:r>
            <a:endParaRPr b="0" i="0" sz="2200" u="none" cap="none" strike="noStrike">
              <a:solidFill>
                <a:srgbClr val="000000"/>
              </a:solidFill>
              <a:latin typeface="Arial"/>
              <a:ea typeface="Arial"/>
              <a:cs typeface="Arial"/>
              <a:sym typeface="Arial"/>
            </a:endParaRPr>
          </a:p>
        </p:txBody>
      </p:sp>
      <p:sp>
        <p:nvSpPr>
          <p:cNvPr id="73" name="Google Shape;73;p3"/>
          <p:cNvSpPr/>
          <p:nvPr/>
        </p:nvSpPr>
        <p:spPr>
          <a:xfrm>
            <a:off x="1537930" y="4098608"/>
            <a:ext cx="5653207"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Local income levels directly impact property values.</a:t>
            </a:r>
            <a:endParaRPr b="0" i="0" sz="1550" u="none" cap="none" strike="noStrike">
              <a:solidFill>
                <a:srgbClr val="000000"/>
              </a:solidFill>
              <a:latin typeface="Arial"/>
              <a:ea typeface="Arial"/>
              <a:cs typeface="Arial"/>
              <a:sym typeface="Arial"/>
            </a:endParaRPr>
          </a:p>
        </p:txBody>
      </p:sp>
      <p:pic>
        <p:nvPicPr>
          <p:cNvPr descr="preencoded.png" id="74" name="Google Shape;74;p3"/>
          <p:cNvPicPr preferRelativeResize="0"/>
          <p:nvPr/>
        </p:nvPicPr>
        <p:blipFill rotWithShape="1">
          <a:blip r:embed="rId4">
            <a:alphaModFix/>
          </a:blip>
          <a:srcRect b="0" l="0" r="0" t="0"/>
          <a:stretch/>
        </p:blipFill>
        <p:spPr>
          <a:xfrm>
            <a:off x="7439144" y="3497223"/>
            <a:ext cx="496133" cy="496133"/>
          </a:xfrm>
          <a:prstGeom prst="rect">
            <a:avLst/>
          </a:prstGeom>
          <a:noFill/>
          <a:ln>
            <a:noFill/>
          </a:ln>
        </p:spPr>
      </p:pic>
      <p:sp>
        <p:nvSpPr>
          <p:cNvPr id="75" name="Google Shape;75;p3"/>
          <p:cNvSpPr/>
          <p:nvPr/>
        </p:nvSpPr>
        <p:spPr>
          <a:xfrm>
            <a:off x="8183285" y="360878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Home Age</a:t>
            </a:r>
            <a:endParaRPr b="0" i="0" sz="2200" u="none" cap="none" strike="noStrike">
              <a:solidFill>
                <a:srgbClr val="000000"/>
              </a:solidFill>
              <a:latin typeface="Arial"/>
              <a:ea typeface="Arial"/>
              <a:cs typeface="Arial"/>
              <a:sym typeface="Arial"/>
            </a:endParaRPr>
          </a:p>
        </p:txBody>
      </p:sp>
      <p:sp>
        <p:nvSpPr>
          <p:cNvPr id="76" name="Google Shape;76;p3"/>
          <p:cNvSpPr/>
          <p:nvPr/>
        </p:nvSpPr>
        <p:spPr>
          <a:xfrm>
            <a:off x="8183285" y="4098608"/>
            <a:ext cx="565332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Newer homes generally sell for more; older ones might need updates.</a:t>
            </a:r>
            <a:endParaRPr b="0" i="0" sz="1550" u="none" cap="none" strike="noStrike">
              <a:solidFill>
                <a:srgbClr val="000000"/>
              </a:solidFill>
              <a:latin typeface="Arial"/>
              <a:ea typeface="Arial"/>
              <a:cs typeface="Arial"/>
              <a:sym typeface="Arial"/>
            </a:endParaRPr>
          </a:p>
        </p:txBody>
      </p:sp>
      <p:pic>
        <p:nvPicPr>
          <p:cNvPr descr="preencoded.png" id="77" name="Google Shape;77;p3"/>
          <p:cNvPicPr preferRelativeResize="0"/>
          <p:nvPr/>
        </p:nvPicPr>
        <p:blipFill rotWithShape="1">
          <a:blip r:embed="rId5">
            <a:alphaModFix/>
          </a:blip>
          <a:srcRect b="0" l="0" r="0" t="0"/>
          <a:stretch/>
        </p:blipFill>
        <p:spPr>
          <a:xfrm>
            <a:off x="793790" y="5011460"/>
            <a:ext cx="496133" cy="496133"/>
          </a:xfrm>
          <a:prstGeom prst="rect">
            <a:avLst/>
          </a:prstGeom>
          <a:noFill/>
          <a:ln>
            <a:noFill/>
          </a:ln>
        </p:spPr>
      </p:pic>
      <p:sp>
        <p:nvSpPr>
          <p:cNvPr id="78" name="Google Shape;78;p3"/>
          <p:cNvSpPr/>
          <p:nvPr/>
        </p:nvSpPr>
        <p:spPr>
          <a:xfrm>
            <a:off x="1537930" y="5123021"/>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Size &amp; Rooms</a:t>
            </a:r>
            <a:endParaRPr b="0" i="0" sz="2200" u="none" cap="none" strike="noStrike">
              <a:solidFill>
                <a:srgbClr val="000000"/>
              </a:solidFill>
              <a:latin typeface="Arial"/>
              <a:ea typeface="Arial"/>
              <a:cs typeface="Arial"/>
              <a:sym typeface="Arial"/>
            </a:endParaRPr>
          </a:p>
        </p:txBody>
      </p:sp>
      <p:sp>
        <p:nvSpPr>
          <p:cNvPr id="79" name="Google Shape;79;p3"/>
          <p:cNvSpPr/>
          <p:nvPr/>
        </p:nvSpPr>
        <p:spPr>
          <a:xfrm>
            <a:off x="1537930" y="5612844"/>
            <a:ext cx="5653207"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More bedrooms and living space usually mean higher prices.</a:t>
            </a:r>
            <a:endParaRPr b="0" i="0" sz="1550" u="none" cap="none" strike="noStrike">
              <a:solidFill>
                <a:srgbClr val="000000"/>
              </a:solidFill>
              <a:latin typeface="Arial"/>
              <a:ea typeface="Arial"/>
              <a:cs typeface="Arial"/>
              <a:sym typeface="Arial"/>
            </a:endParaRPr>
          </a:p>
        </p:txBody>
      </p:sp>
      <p:pic>
        <p:nvPicPr>
          <p:cNvPr descr="preencoded.png" id="80" name="Google Shape;80;p3"/>
          <p:cNvPicPr preferRelativeResize="0"/>
          <p:nvPr/>
        </p:nvPicPr>
        <p:blipFill rotWithShape="1">
          <a:blip r:embed="rId6">
            <a:alphaModFix/>
          </a:blip>
          <a:srcRect b="0" l="0" r="0" t="0"/>
          <a:stretch/>
        </p:blipFill>
        <p:spPr>
          <a:xfrm>
            <a:off x="7439144" y="5011460"/>
            <a:ext cx="496133" cy="496133"/>
          </a:xfrm>
          <a:prstGeom prst="rect">
            <a:avLst/>
          </a:prstGeom>
          <a:noFill/>
          <a:ln>
            <a:noFill/>
          </a:ln>
        </p:spPr>
      </p:pic>
      <p:sp>
        <p:nvSpPr>
          <p:cNvPr id="81" name="Google Shape;81;p3"/>
          <p:cNvSpPr/>
          <p:nvPr/>
        </p:nvSpPr>
        <p:spPr>
          <a:xfrm>
            <a:off x="8183285" y="5123021"/>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Neighborhood</a:t>
            </a:r>
            <a:endParaRPr b="0" i="0" sz="2200" u="none" cap="none" strike="noStrike">
              <a:solidFill>
                <a:srgbClr val="000000"/>
              </a:solidFill>
              <a:latin typeface="Arial"/>
              <a:ea typeface="Arial"/>
              <a:cs typeface="Arial"/>
              <a:sym typeface="Arial"/>
            </a:endParaRPr>
          </a:p>
        </p:txBody>
      </p:sp>
      <p:sp>
        <p:nvSpPr>
          <p:cNvPr id="82" name="Google Shape;82;p3"/>
          <p:cNvSpPr/>
          <p:nvPr/>
        </p:nvSpPr>
        <p:spPr>
          <a:xfrm>
            <a:off x="8183285" y="5612844"/>
            <a:ext cx="5653326"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Demand and amenities in the area affect market value.</a:t>
            </a:r>
            <a:endParaRPr b="0" i="0" sz="1550" u="none" cap="none" strike="noStrike">
              <a:solidFill>
                <a:srgbClr val="000000"/>
              </a:solidFill>
              <a:latin typeface="Arial"/>
              <a:ea typeface="Arial"/>
              <a:cs typeface="Arial"/>
              <a:sym typeface="Arial"/>
            </a:endParaRPr>
          </a:p>
        </p:txBody>
      </p:sp>
      <p:sp>
        <p:nvSpPr>
          <p:cNvPr id="83" name="Google Shape;83;p3"/>
          <p:cNvSpPr/>
          <p:nvPr/>
        </p:nvSpPr>
        <p:spPr>
          <a:xfrm>
            <a:off x="793790" y="6352103"/>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By combining these details, we get a far more accurate and reliable house price prediction than relying on any single factor.</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p:nvPr/>
        </p:nvSpPr>
        <p:spPr>
          <a:xfrm>
            <a:off x="621387" y="427196"/>
            <a:ext cx="6237684" cy="58054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32418"/>
              </a:buClr>
              <a:buSzPts val="3500"/>
              <a:buFont typeface="Marcellus"/>
              <a:buNone/>
            </a:pPr>
            <a:r>
              <a:rPr b="0" i="0" lang="en-US" sz="3500" u="none" cap="none" strike="noStrike">
                <a:solidFill>
                  <a:srgbClr val="532418"/>
                </a:solidFill>
                <a:latin typeface="Marcellus"/>
                <a:ea typeface="Marcellus"/>
                <a:cs typeface="Marcellus"/>
                <a:sym typeface="Marcellus"/>
              </a:rPr>
              <a:t>The California Housing Dataset</a:t>
            </a:r>
            <a:endParaRPr b="0" i="0" sz="3500" u="none" cap="none" strike="noStrike">
              <a:solidFill>
                <a:srgbClr val="000000"/>
              </a:solidFill>
              <a:latin typeface="Arial"/>
              <a:ea typeface="Arial"/>
              <a:cs typeface="Arial"/>
              <a:sym typeface="Arial"/>
            </a:endParaRPr>
          </a:p>
        </p:txBody>
      </p:sp>
      <p:sp>
        <p:nvSpPr>
          <p:cNvPr id="90" name="Google Shape;90;p4"/>
          <p:cNvSpPr/>
          <p:nvPr/>
        </p:nvSpPr>
        <p:spPr>
          <a:xfrm>
            <a:off x="621387" y="1318379"/>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
          <p:cNvSpPr/>
          <p:nvPr/>
        </p:nvSpPr>
        <p:spPr>
          <a:xfrm>
            <a:off x="791885" y="1488877"/>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 name="Google Shape;92;p4"/>
          <p:cNvPicPr preferRelativeResize="0"/>
          <p:nvPr/>
        </p:nvPicPr>
        <p:blipFill rotWithShape="1">
          <a:blip r:embed="rId3">
            <a:alphaModFix/>
          </a:blip>
          <a:srcRect b="0" l="0" r="0" t="0"/>
          <a:stretch/>
        </p:blipFill>
        <p:spPr>
          <a:xfrm>
            <a:off x="919996" y="1616988"/>
            <a:ext cx="209669" cy="209669"/>
          </a:xfrm>
          <a:prstGeom prst="rect">
            <a:avLst/>
          </a:prstGeom>
          <a:noFill/>
          <a:ln>
            <a:noFill/>
          </a:ln>
        </p:spPr>
      </p:pic>
      <p:sp>
        <p:nvSpPr>
          <p:cNvPr id="93" name="Google Shape;93;p4"/>
          <p:cNvSpPr/>
          <p:nvPr/>
        </p:nvSpPr>
        <p:spPr>
          <a:xfrm>
            <a:off x="791885" y="2110145"/>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MedInc</a:t>
            </a:r>
            <a:endParaRPr b="0" i="0" sz="1750" u="none" cap="none" strike="noStrike">
              <a:solidFill>
                <a:srgbClr val="000000"/>
              </a:solidFill>
              <a:latin typeface="Arial"/>
              <a:ea typeface="Arial"/>
              <a:cs typeface="Arial"/>
              <a:sym typeface="Arial"/>
            </a:endParaRPr>
          </a:p>
        </p:txBody>
      </p:sp>
      <p:sp>
        <p:nvSpPr>
          <p:cNvPr id="94" name="Google Shape;94;p4"/>
          <p:cNvSpPr/>
          <p:nvPr/>
        </p:nvSpPr>
        <p:spPr>
          <a:xfrm>
            <a:off x="791885" y="2493526"/>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Median income in block</a:t>
            </a:r>
            <a:endParaRPr b="0" i="0" sz="1200" u="none" cap="none" strike="noStrike">
              <a:solidFill>
                <a:srgbClr val="000000"/>
              </a:solidFill>
              <a:latin typeface="Arial"/>
              <a:ea typeface="Arial"/>
              <a:cs typeface="Arial"/>
              <a:sym typeface="Arial"/>
            </a:endParaRPr>
          </a:p>
        </p:txBody>
      </p:sp>
      <p:sp>
        <p:nvSpPr>
          <p:cNvPr id="95" name="Google Shape;95;p4"/>
          <p:cNvSpPr/>
          <p:nvPr/>
        </p:nvSpPr>
        <p:spPr>
          <a:xfrm>
            <a:off x="7392829" y="1318379"/>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4"/>
          <p:cNvSpPr/>
          <p:nvPr/>
        </p:nvSpPr>
        <p:spPr>
          <a:xfrm>
            <a:off x="7563326" y="1488877"/>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7" name="Google Shape;97;p4"/>
          <p:cNvPicPr preferRelativeResize="0"/>
          <p:nvPr/>
        </p:nvPicPr>
        <p:blipFill rotWithShape="1">
          <a:blip r:embed="rId4">
            <a:alphaModFix/>
          </a:blip>
          <a:srcRect b="0" l="0" r="0" t="0"/>
          <a:stretch/>
        </p:blipFill>
        <p:spPr>
          <a:xfrm>
            <a:off x="7691438" y="1616988"/>
            <a:ext cx="209669" cy="209669"/>
          </a:xfrm>
          <a:prstGeom prst="rect">
            <a:avLst/>
          </a:prstGeom>
          <a:noFill/>
          <a:ln>
            <a:noFill/>
          </a:ln>
        </p:spPr>
      </p:pic>
      <p:sp>
        <p:nvSpPr>
          <p:cNvPr id="98" name="Google Shape;98;p4"/>
          <p:cNvSpPr/>
          <p:nvPr/>
        </p:nvSpPr>
        <p:spPr>
          <a:xfrm>
            <a:off x="7563326" y="2110145"/>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HouseAge</a:t>
            </a:r>
            <a:endParaRPr b="0" i="0" sz="1750" u="none" cap="none" strike="noStrike">
              <a:solidFill>
                <a:srgbClr val="000000"/>
              </a:solidFill>
              <a:latin typeface="Arial"/>
              <a:ea typeface="Arial"/>
              <a:cs typeface="Arial"/>
              <a:sym typeface="Arial"/>
            </a:endParaRPr>
          </a:p>
        </p:txBody>
      </p:sp>
      <p:sp>
        <p:nvSpPr>
          <p:cNvPr id="99" name="Google Shape;99;p4"/>
          <p:cNvSpPr/>
          <p:nvPr/>
        </p:nvSpPr>
        <p:spPr>
          <a:xfrm>
            <a:off x="7563326" y="2493526"/>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Median house age</a:t>
            </a:r>
            <a:endParaRPr b="0" i="0" sz="1200" u="none" cap="none" strike="noStrike">
              <a:solidFill>
                <a:srgbClr val="000000"/>
              </a:solidFill>
              <a:latin typeface="Arial"/>
              <a:ea typeface="Arial"/>
              <a:cs typeface="Arial"/>
              <a:sym typeface="Arial"/>
            </a:endParaRPr>
          </a:p>
        </p:txBody>
      </p:sp>
      <p:sp>
        <p:nvSpPr>
          <p:cNvPr id="100" name="Google Shape;100;p4"/>
          <p:cNvSpPr/>
          <p:nvPr/>
        </p:nvSpPr>
        <p:spPr>
          <a:xfrm>
            <a:off x="621387" y="3021211"/>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
          <p:cNvSpPr/>
          <p:nvPr/>
        </p:nvSpPr>
        <p:spPr>
          <a:xfrm>
            <a:off x="791885" y="3191708"/>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 name="Google Shape;102;p4"/>
          <p:cNvPicPr preferRelativeResize="0"/>
          <p:nvPr/>
        </p:nvPicPr>
        <p:blipFill rotWithShape="1">
          <a:blip r:embed="rId5">
            <a:alphaModFix/>
          </a:blip>
          <a:srcRect b="0" l="0" r="0" t="0"/>
          <a:stretch/>
        </p:blipFill>
        <p:spPr>
          <a:xfrm>
            <a:off x="919996" y="3319820"/>
            <a:ext cx="209669" cy="209669"/>
          </a:xfrm>
          <a:prstGeom prst="rect">
            <a:avLst/>
          </a:prstGeom>
          <a:noFill/>
          <a:ln>
            <a:noFill/>
          </a:ln>
        </p:spPr>
      </p:pic>
      <p:sp>
        <p:nvSpPr>
          <p:cNvPr id="103" name="Google Shape;103;p4"/>
          <p:cNvSpPr/>
          <p:nvPr/>
        </p:nvSpPr>
        <p:spPr>
          <a:xfrm>
            <a:off x="791885" y="3812977"/>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AveRooms</a:t>
            </a:r>
            <a:endParaRPr b="0" i="0" sz="1750" u="none" cap="none" strike="noStrike">
              <a:solidFill>
                <a:srgbClr val="000000"/>
              </a:solidFill>
              <a:latin typeface="Arial"/>
              <a:ea typeface="Arial"/>
              <a:cs typeface="Arial"/>
              <a:sym typeface="Arial"/>
            </a:endParaRPr>
          </a:p>
        </p:txBody>
      </p:sp>
      <p:sp>
        <p:nvSpPr>
          <p:cNvPr id="104" name="Google Shape;104;p4"/>
          <p:cNvSpPr/>
          <p:nvPr/>
        </p:nvSpPr>
        <p:spPr>
          <a:xfrm>
            <a:off x="791885" y="4196358"/>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rooms per household</a:t>
            </a:r>
            <a:endParaRPr b="0" i="0" sz="1200" u="none" cap="none" strike="noStrike">
              <a:solidFill>
                <a:srgbClr val="000000"/>
              </a:solidFill>
              <a:latin typeface="Arial"/>
              <a:ea typeface="Arial"/>
              <a:cs typeface="Arial"/>
              <a:sym typeface="Arial"/>
            </a:endParaRPr>
          </a:p>
        </p:txBody>
      </p:sp>
      <p:sp>
        <p:nvSpPr>
          <p:cNvPr id="105" name="Google Shape;105;p4"/>
          <p:cNvSpPr/>
          <p:nvPr/>
        </p:nvSpPr>
        <p:spPr>
          <a:xfrm>
            <a:off x="7392829" y="3021211"/>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7563326" y="3191708"/>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 name="Google Shape;107;p4"/>
          <p:cNvPicPr preferRelativeResize="0"/>
          <p:nvPr/>
        </p:nvPicPr>
        <p:blipFill rotWithShape="1">
          <a:blip r:embed="rId6">
            <a:alphaModFix/>
          </a:blip>
          <a:srcRect b="0" l="0" r="0" t="0"/>
          <a:stretch/>
        </p:blipFill>
        <p:spPr>
          <a:xfrm>
            <a:off x="7691438" y="3319820"/>
            <a:ext cx="209669" cy="209669"/>
          </a:xfrm>
          <a:prstGeom prst="rect">
            <a:avLst/>
          </a:prstGeom>
          <a:noFill/>
          <a:ln>
            <a:noFill/>
          </a:ln>
        </p:spPr>
      </p:pic>
      <p:sp>
        <p:nvSpPr>
          <p:cNvPr id="108" name="Google Shape;108;p4"/>
          <p:cNvSpPr/>
          <p:nvPr/>
        </p:nvSpPr>
        <p:spPr>
          <a:xfrm>
            <a:off x="7563326" y="3812977"/>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AveBedrms</a:t>
            </a:r>
            <a:endParaRPr b="0" i="0" sz="1750" u="none" cap="none" strike="noStrike">
              <a:solidFill>
                <a:srgbClr val="000000"/>
              </a:solidFill>
              <a:latin typeface="Arial"/>
              <a:ea typeface="Arial"/>
              <a:cs typeface="Arial"/>
              <a:sym typeface="Arial"/>
            </a:endParaRPr>
          </a:p>
        </p:txBody>
      </p:sp>
      <p:sp>
        <p:nvSpPr>
          <p:cNvPr id="109" name="Google Shape;109;p4"/>
          <p:cNvSpPr/>
          <p:nvPr/>
        </p:nvSpPr>
        <p:spPr>
          <a:xfrm>
            <a:off x="7563326" y="4196358"/>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bedrooms per household</a:t>
            </a:r>
            <a:endParaRPr b="0" i="0" sz="1200" u="none" cap="none" strike="noStrike">
              <a:solidFill>
                <a:srgbClr val="000000"/>
              </a:solidFill>
              <a:latin typeface="Arial"/>
              <a:ea typeface="Arial"/>
              <a:cs typeface="Arial"/>
              <a:sym typeface="Arial"/>
            </a:endParaRPr>
          </a:p>
        </p:txBody>
      </p:sp>
      <p:sp>
        <p:nvSpPr>
          <p:cNvPr id="110" name="Google Shape;110;p4"/>
          <p:cNvSpPr/>
          <p:nvPr/>
        </p:nvSpPr>
        <p:spPr>
          <a:xfrm>
            <a:off x="621387" y="4724043"/>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p:nvPr/>
        </p:nvSpPr>
        <p:spPr>
          <a:xfrm>
            <a:off x="791885" y="4894540"/>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 name="Google Shape;112;p4"/>
          <p:cNvPicPr preferRelativeResize="0"/>
          <p:nvPr/>
        </p:nvPicPr>
        <p:blipFill rotWithShape="1">
          <a:blip r:embed="rId7">
            <a:alphaModFix/>
          </a:blip>
          <a:srcRect b="0" l="0" r="0" t="0"/>
          <a:stretch/>
        </p:blipFill>
        <p:spPr>
          <a:xfrm>
            <a:off x="919996" y="5022652"/>
            <a:ext cx="209669" cy="209669"/>
          </a:xfrm>
          <a:prstGeom prst="rect">
            <a:avLst/>
          </a:prstGeom>
          <a:noFill/>
          <a:ln>
            <a:noFill/>
          </a:ln>
        </p:spPr>
      </p:pic>
      <p:sp>
        <p:nvSpPr>
          <p:cNvPr id="113" name="Google Shape;113;p4"/>
          <p:cNvSpPr/>
          <p:nvPr/>
        </p:nvSpPr>
        <p:spPr>
          <a:xfrm>
            <a:off x="791885" y="5515808"/>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Population</a:t>
            </a:r>
            <a:endParaRPr b="0" i="0" sz="1750" u="none" cap="none" strike="noStrike">
              <a:solidFill>
                <a:srgbClr val="000000"/>
              </a:solidFill>
              <a:latin typeface="Arial"/>
              <a:ea typeface="Arial"/>
              <a:cs typeface="Arial"/>
              <a:sym typeface="Arial"/>
            </a:endParaRPr>
          </a:p>
        </p:txBody>
      </p:sp>
      <p:sp>
        <p:nvSpPr>
          <p:cNvPr id="114" name="Google Shape;114;p4"/>
          <p:cNvSpPr/>
          <p:nvPr/>
        </p:nvSpPr>
        <p:spPr>
          <a:xfrm>
            <a:off x="791885" y="5899190"/>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Block group population</a:t>
            </a:r>
            <a:endParaRPr b="0" i="0" sz="1200" u="none" cap="none" strike="noStrike">
              <a:solidFill>
                <a:srgbClr val="000000"/>
              </a:solidFill>
              <a:latin typeface="Arial"/>
              <a:ea typeface="Arial"/>
              <a:cs typeface="Arial"/>
              <a:sym typeface="Arial"/>
            </a:endParaRPr>
          </a:p>
        </p:txBody>
      </p:sp>
      <p:sp>
        <p:nvSpPr>
          <p:cNvPr id="115" name="Google Shape;115;p4"/>
          <p:cNvSpPr/>
          <p:nvPr/>
        </p:nvSpPr>
        <p:spPr>
          <a:xfrm>
            <a:off x="7392829" y="4724043"/>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7563326" y="4894540"/>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 name="Google Shape;117;p4"/>
          <p:cNvPicPr preferRelativeResize="0"/>
          <p:nvPr/>
        </p:nvPicPr>
        <p:blipFill rotWithShape="1">
          <a:blip r:embed="rId8">
            <a:alphaModFix/>
          </a:blip>
          <a:srcRect b="0" l="0" r="0" t="0"/>
          <a:stretch/>
        </p:blipFill>
        <p:spPr>
          <a:xfrm>
            <a:off x="7691438" y="5022652"/>
            <a:ext cx="209669" cy="209669"/>
          </a:xfrm>
          <a:prstGeom prst="rect">
            <a:avLst/>
          </a:prstGeom>
          <a:noFill/>
          <a:ln>
            <a:noFill/>
          </a:ln>
        </p:spPr>
      </p:pic>
      <p:sp>
        <p:nvSpPr>
          <p:cNvPr id="118" name="Google Shape;118;p4"/>
          <p:cNvSpPr/>
          <p:nvPr/>
        </p:nvSpPr>
        <p:spPr>
          <a:xfrm>
            <a:off x="7563326" y="5515808"/>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AveOccup</a:t>
            </a:r>
            <a:endParaRPr b="0" i="0" sz="1750" u="none" cap="none" strike="noStrike">
              <a:solidFill>
                <a:srgbClr val="000000"/>
              </a:solidFill>
              <a:latin typeface="Arial"/>
              <a:ea typeface="Arial"/>
              <a:cs typeface="Arial"/>
              <a:sym typeface="Arial"/>
            </a:endParaRPr>
          </a:p>
        </p:txBody>
      </p:sp>
      <p:sp>
        <p:nvSpPr>
          <p:cNvPr id="119" name="Google Shape;119;p4"/>
          <p:cNvSpPr/>
          <p:nvPr/>
        </p:nvSpPr>
        <p:spPr>
          <a:xfrm>
            <a:off x="7563326" y="5899190"/>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household occupancy</a:t>
            </a:r>
            <a:endParaRPr b="0" i="0" sz="1200" u="none" cap="none" strike="noStrike">
              <a:solidFill>
                <a:srgbClr val="000000"/>
              </a:solidFill>
              <a:latin typeface="Arial"/>
              <a:ea typeface="Arial"/>
              <a:cs typeface="Arial"/>
              <a:sym typeface="Arial"/>
            </a:endParaRPr>
          </a:p>
        </p:txBody>
      </p:sp>
      <p:sp>
        <p:nvSpPr>
          <p:cNvPr id="120" name="Google Shape;120;p4"/>
          <p:cNvSpPr/>
          <p:nvPr/>
        </p:nvSpPr>
        <p:spPr>
          <a:xfrm>
            <a:off x="621387" y="6446282"/>
            <a:ext cx="13387626" cy="40386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We'll explore the California Housing dataset, real data from the 1990 California census. It lists median house values across districts, alongside various features that help us understand property prices.</a:t>
            </a:r>
            <a:endParaRPr b="0" i="0" sz="1200" u="none" cap="none" strike="noStrike">
              <a:solidFill>
                <a:srgbClr val="000000"/>
              </a:solidFill>
              <a:latin typeface="Arial"/>
              <a:ea typeface="Arial"/>
              <a:cs typeface="Arial"/>
              <a:sym typeface="Arial"/>
            </a:endParaRPr>
          </a:p>
        </p:txBody>
      </p:sp>
      <p:sp>
        <p:nvSpPr>
          <p:cNvPr id="121" name="Google Shape;121;p4"/>
          <p:cNvSpPr/>
          <p:nvPr/>
        </p:nvSpPr>
        <p:spPr>
          <a:xfrm>
            <a:off x="621387" y="7024807"/>
            <a:ext cx="13387626" cy="40386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Each entry represents a neighborhood, and our goal is simple: predict the median house value using these available characteristics. It's a great way to see how different factors influence home prices.</a:t>
            </a:r>
            <a:endParaRPr b="0" i="0" sz="1200" u="none" cap="none" strike="noStrike">
              <a:solidFill>
                <a:srgbClr val="000000"/>
              </a:solidFill>
              <a:latin typeface="Arial"/>
              <a:ea typeface="Arial"/>
              <a:cs typeface="Arial"/>
              <a:sym typeface="Arial"/>
            </a:endParaRPr>
          </a:p>
        </p:txBody>
      </p:sp>
      <p:sp>
        <p:nvSpPr>
          <p:cNvPr id="122" name="Google Shape;122;p4"/>
          <p:cNvSpPr/>
          <p:nvPr/>
        </p:nvSpPr>
        <p:spPr>
          <a:xfrm>
            <a:off x="621387" y="7603331"/>
            <a:ext cx="13387626"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By understanding how these features relate to each other and to house values, we can better predict what makes a home desirable and valuable.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793790" y="1355765"/>
            <a:ext cx="873656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Feature Matrix and Target Vector</a:t>
            </a:r>
            <a:endParaRPr b="0" i="0" sz="4450" u="none" cap="none" strike="noStrike">
              <a:solidFill>
                <a:srgbClr val="000000"/>
              </a:solidFill>
              <a:latin typeface="Arial"/>
              <a:ea typeface="Arial"/>
              <a:cs typeface="Arial"/>
              <a:sym typeface="Arial"/>
            </a:endParaRPr>
          </a:p>
        </p:txBody>
      </p:sp>
      <p:sp>
        <p:nvSpPr>
          <p:cNvPr id="129" name="Google Shape;129;p5"/>
          <p:cNvSpPr/>
          <p:nvPr/>
        </p:nvSpPr>
        <p:spPr>
          <a:xfrm>
            <a:off x="793790" y="2494359"/>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To predict things like house prices, we use two main ingredients: a "feature matrix"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and a "target vector"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a:t>
            </a:r>
            <a:endParaRPr b="0" i="0" sz="1550" u="none" cap="none" strike="noStrike">
              <a:solidFill>
                <a:srgbClr val="000000"/>
              </a:solidFill>
              <a:latin typeface="Arial"/>
              <a:ea typeface="Arial"/>
              <a:cs typeface="Arial"/>
              <a:sym typeface="Arial"/>
            </a:endParaRPr>
          </a:p>
        </p:txBody>
      </p:sp>
      <p:sp>
        <p:nvSpPr>
          <p:cNvPr id="130" name="Google Shape;130;p5"/>
          <p:cNvSpPr/>
          <p:nvPr/>
        </p:nvSpPr>
        <p:spPr>
          <a:xfrm>
            <a:off x="793790" y="2975610"/>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of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as a spreadsheet of information. Each row is a unique item (like one house), and each column is a piece of data about that item (like its size, age, or neighborhood).</a:t>
            </a:r>
            <a:endParaRPr b="0" i="0" sz="1550" u="none" cap="none" strike="noStrike">
              <a:solidFill>
                <a:srgbClr val="000000"/>
              </a:solidFill>
              <a:latin typeface="Arial"/>
              <a:ea typeface="Arial"/>
              <a:cs typeface="Arial"/>
              <a:sym typeface="Arial"/>
            </a:endParaRPr>
          </a:p>
        </p:txBody>
      </p:sp>
      <p:sp>
        <p:nvSpPr>
          <p:cNvPr id="131" name="Google Shape;131;p5"/>
          <p:cNvSpPr/>
          <p:nvPr/>
        </p:nvSpPr>
        <p:spPr>
          <a:xfrm>
            <a:off x="793790" y="3714869"/>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 is the answer key—the actual value we want to predict for each item in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(e.g., the actual price of each house).</a:t>
            </a:r>
            <a:endParaRPr b="0" i="0" sz="1550" u="none" cap="none" strike="noStrike">
              <a:solidFill>
                <a:srgbClr val="000000"/>
              </a:solidFill>
              <a:latin typeface="Arial"/>
              <a:ea typeface="Arial"/>
              <a:cs typeface="Arial"/>
              <a:sym typeface="Arial"/>
            </a:endParaRPr>
          </a:p>
        </p:txBody>
      </p:sp>
      <p:sp>
        <p:nvSpPr>
          <p:cNvPr id="132" name="Google Shape;132;p5"/>
          <p:cNvSpPr/>
          <p:nvPr/>
        </p:nvSpPr>
        <p:spPr>
          <a:xfrm>
            <a:off x="793790" y="4196120"/>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Our goal is for a model to learn how to combine the data in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to guess the values in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 as accurately as possible.</a:t>
            </a:r>
            <a:endParaRPr b="0" i="0" sz="1550" u="none" cap="none" strike="noStrike">
              <a:solidFill>
                <a:srgbClr val="000000"/>
              </a:solidFill>
              <a:latin typeface="Arial"/>
              <a:ea typeface="Arial"/>
              <a:cs typeface="Arial"/>
              <a:sym typeface="Arial"/>
            </a:endParaRPr>
          </a:p>
        </p:txBody>
      </p:sp>
      <p:pic>
        <p:nvPicPr>
          <p:cNvPr descr="preencoded.png" id="133" name="Google Shape;133;p5"/>
          <p:cNvPicPr preferRelativeResize="0"/>
          <p:nvPr/>
        </p:nvPicPr>
        <p:blipFill rotWithShape="1">
          <a:blip r:embed="rId3">
            <a:alphaModFix/>
          </a:blip>
          <a:srcRect b="0" l="0" r="0" t="0"/>
          <a:stretch/>
        </p:blipFill>
        <p:spPr>
          <a:xfrm>
            <a:off x="793790" y="4677370"/>
            <a:ext cx="4347567" cy="793790"/>
          </a:xfrm>
          <a:prstGeom prst="rect">
            <a:avLst/>
          </a:prstGeom>
          <a:noFill/>
          <a:ln>
            <a:noFill/>
          </a:ln>
        </p:spPr>
      </p:pic>
      <p:sp>
        <p:nvSpPr>
          <p:cNvPr id="134" name="Google Shape;134;p5"/>
          <p:cNvSpPr/>
          <p:nvPr/>
        </p:nvSpPr>
        <p:spPr>
          <a:xfrm>
            <a:off x="992148"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Feature Matrix (X)</a:t>
            </a:r>
            <a:endParaRPr b="0" i="0" sz="2200" u="none" cap="none" strike="noStrike">
              <a:solidFill>
                <a:srgbClr val="000000"/>
              </a:solidFill>
              <a:latin typeface="Arial"/>
              <a:ea typeface="Arial"/>
              <a:cs typeface="Arial"/>
              <a:sym typeface="Arial"/>
            </a:endParaRPr>
          </a:p>
        </p:txBody>
      </p:sp>
      <p:sp>
        <p:nvSpPr>
          <p:cNvPr id="135" name="Google Shape;135;p5"/>
          <p:cNvSpPr/>
          <p:nvPr/>
        </p:nvSpPr>
        <p:spPr>
          <a:xfrm>
            <a:off x="992148" y="6159341"/>
            <a:ext cx="395085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All the data points and their characteristics.</a:t>
            </a:r>
            <a:endParaRPr b="0" i="0" sz="1550" u="none" cap="none" strike="noStrike">
              <a:solidFill>
                <a:srgbClr val="000000"/>
              </a:solidFill>
              <a:latin typeface="Arial"/>
              <a:ea typeface="Arial"/>
              <a:cs typeface="Arial"/>
              <a:sym typeface="Arial"/>
            </a:endParaRPr>
          </a:p>
        </p:txBody>
      </p:sp>
      <p:pic>
        <p:nvPicPr>
          <p:cNvPr descr="preencoded.png" id="136" name="Google Shape;136;p5"/>
          <p:cNvPicPr preferRelativeResize="0"/>
          <p:nvPr/>
        </p:nvPicPr>
        <p:blipFill rotWithShape="1">
          <a:blip r:embed="rId4">
            <a:alphaModFix/>
          </a:blip>
          <a:srcRect b="0" l="0" r="0" t="0"/>
          <a:stretch/>
        </p:blipFill>
        <p:spPr>
          <a:xfrm>
            <a:off x="5141357" y="4677370"/>
            <a:ext cx="4347567" cy="793790"/>
          </a:xfrm>
          <a:prstGeom prst="rect">
            <a:avLst/>
          </a:prstGeom>
          <a:noFill/>
          <a:ln>
            <a:noFill/>
          </a:ln>
        </p:spPr>
      </p:pic>
      <p:sp>
        <p:nvSpPr>
          <p:cNvPr id="137" name="Google Shape;137;p5"/>
          <p:cNvSpPr/>
          <p:nvPr/>
        </p:nvSpPr>
        <p:spPr>
          <a:xfrm>
            <a:off x="5339715"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Model Learns</a:t>
            </a:r>
            <a:endParaRPr b="0" i="0" sz="2200" u="none" cap="none" strike="noStrike">
              <a:solidFill>
                <a:srgbClr val="000000"/>
              </a:solidFill>
              <a:latin typeface="Arial"/>
              <a:ea typeface="Arial"/>
              <a:cs typeface="Arial"/>
              <a:sym typeface="Arial"/>
            </a:endParaRPr>
          </a:p>
        </p:txBody>
      </p:sp>
      <p:sp>
        <p:nvSpPr>
          <p:cNvPr id="138" name="Google Shape;138;p5"/>
          <p:cNvSpPr/>
          <p:nvPr/>
        </p:nvSpPr>
        <p:spPr>
          <a:xfrm>
            <a:off x="5339715" y="6159341"/>
            <a:ext cx="395085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Finds patterns in X to predict Y.</a:t>
            </a:r>
            <a:endParaRPr b="0" i="0" sz="1550" u="none" cap="none" strike="noStrike">
              <a:solidFill>
                <a:srgbClr val="000000"/>
              </a:solidFill>
              <a:latin typeface="Arial"/>
              <a:ea typeface="Arial"/>
              <a:cs typeface="Arial"/>
              <a:sym typeface="Arial"/>
            </a:endParaRPr>
          </a:p>
        </p:txBody>
      </p:sp>
      <p:pic>
        <p:nvPicPr>
          <p:cNvPr descr="preencoded.png" id="139" name="Google Shape;139;p5"/>
          <p:cNvPicPr preferRelativeResize="0"/>
          <p:nvPr/>
        </p:nvPicPr>
        <p:blipFill rotWithShape="1">
          <a:blip r:embed="rId5">
            <a:alphaModFix/>
          </a:blip>
          <a:srcRect b="0" l="0" r="0" t="0"/>
          <a:stretch/>
        </p:blipFill>
        <p:spPr>
          <a:xfrm>
            <a:off x="9488924" y="4677370"/>
            <a:ext cx="4347567" cy="793790"/>
          </a:xfrm>
          <a:prstGeom prst="rect">
            <a:avLst/>
          </a:prstGeom>
          <a:noFill/>
          <a:ln>
            <a:noFill/>
          </a:ln>
        </p:spPr>
      </p:pic>
      <p:sp>
        <p:nvSpPr>
          <p:cNvPr id="140" name="Google Shape;140;p5"/>
          <p:cNvSpPr/>
          <p:nvPr/>
        </p:nvSpPr>
        <p:spPr>
          <a:xfrm>
            <a:off x="9687282"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Target Vector (Y)</a:t>
            </a:r>
            <a:endParaRPr b="0" i="0" sz="2200" u="none" cap="none" strike="noStrike">
              <a:solidFill>
                <a:srgbClr val="000000"/>
              </a:solidFill>
              <a:latin typeface="Arial"/>
              <a:ea typeface="Arial"/>
              <a:cs typeface="Arial"/>
              <a:sym typeface="Arial"/>
            </a:endParaRPr>
          </a:p>
        </p:txBody>
      </p:sp>
      <p:sp>
        <p:nvSpPr>
          <p:cNvPr id="141" name="Google Shape;141;p5"/>
          <p:cNvSpPr/>
          <p:nvPr/>
        </p:nvSpPr>
        <p:spPr>
          <a:xfrm>
            <a:off x="9687282" y="6159341"/>
            <a:ext cx="395085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What we want to predict.</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p:nvPr/>
        </p:nvSpPr>
        <p:spPr>
          <a:xfrm>
            <a:off x="793790" y="563880"/>
            <a:ext cx="11470005"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Feature Matrix and Target Vector - Example</a:t>
            </a:r>
            <a:endParaRPr b="0" i="0" sz="4450" u="none" cap="none" strike="noStrike">
              <a:solidFill>
                <a:srgbClr val="000000"/>
              </a:solidFill>
              <a:latin typeface="Arial"/>
              <a:ea typeface="Arial"/>
              <a:cs typeface="Arial"/>
              <a:sym typeface="Arial"/>
            </a:endParaRPr>
          </a:p>
        </p:txBody>
      </p:sp>
      <p:sp>
        <p:nvSpPr>
          <p:cNvPr id="148" name="Google Shape;148;p6"/>
          <p:cNvSpPr/>
          <p:nvPr/>
        </p:nvSpPr>
        <p:spPr>
          <a:xfrm>
            <a:off x="793790" y="1702475"/>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Let's see this in action with a simple house price example:</a:t>
            </a:r>
            <a:endParaRPr b="0" i="0" sz="1550" u="none" cap="none" strike="noStrike">
              <a:solidFill>
                <a:srgbClr val="000000"/>
              </a:solidFill>
              <a:latin typeface="Arial"/>
              <a:ea typeface="Arial"/>
              <a:cs typeface="Arial"/>
              <a:sym typeface="Arial"/>
            </a:endParaRPr>
          </a:p>
        </p:txBody>
      </p:sp>
      <p:sp>
        <p:nvSpPr>
          <p:cNvPr id="149" name="Google Shape;149;p6"/>
          <p:cNvSpPr/>
          <p:nvPr/>
        </p:nvSpPr>
        <p:spPr>
          <a:xfrm>
            <a:off x="793790" y="2183725"/>
            <a:ext cx="13042821" cy="1549360"/>
          </a:xfrm>
          <a:prstGeom prst="roundRect">
            <a:avLst>
              <a:gd fmla="val 5380" name="adj"/>
            </a:avLst>
          </a:prstGeom>
          <a:noFill/>
          <a:ln cap="flat" cmpd="sng" w="9525">
            <a:solidFill>
              <a:srgbClr val="000000">
                <a:alpha val="745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6"/>
          <p:cNvSpPr/>
          <p:nvPr/>
        </p:nvSpPr>
        <p:spPr>
          <a:xfrm>
            <a:off x="801410" y="2191345"/>
            <a:ext cx="13027581" cy="511373"/>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6"/>
          <p:cNvSpPr/>
          <p:nvPr/>
        </p:nvSpPr>
        <p:spPr>
          <a:xfrm>
            <a:off x="1000006" y="2318028"/>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1000</a:t>
            </a:r>
            <a:endParaRPr b="0" i="0" sz="1550" u="none" cap="none" strike="noStrike">
              <a:solidFill>
                <a:srgbClr val="000000"/>
              </a:solidFill>
              <a:latin typeface="Arial"/>
              <a:ea typeface="Arial"/>
              <a:cs typeface="Arial"/>
              <a:sym typeface="Arial"/>
            </a:endParaRPr>
          </a:p>
        </p:txBody>
      </p:sp>
      <p:sp>
        <p:nvSpPr>
          <p:cNvPr id="152" name="Google Shape;152;p6"/>
          <p:cNvSpPr/>
          <p:nvPr/>
        </p:nvSpPr>
        <p:spPr>
          <a:xfrm>
            <a:off x="4260652" y="2318028"/>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a:t>
            </a:r>
            <a:endParaRPr b="0" i="0" sz="1550" u="none" cap="none" strike="noStrike">
              <a:solidFill>
                <a:srgbClr val="000000"/>
              </a:solidFill>
              <a:latin typeface="Arial"/>
              <a:ea typeface="Arial"/>
              <a:cs typeface="Arial"/>
              <a:sym typeface="Arial"/>
            </a:endParaRPr>
          </a:p>
        </p:txBody>
      </p:sp>
      <p:sp>
        <p:nvSpPr>
          <p:cNvPr id="153" name="Google Shape;153;p6"/>
          <p:cNvSpPr/>
          <p:nvPr/>
        </p:nvSpPr>
        <p:spPr>
          <a:xfrm>
            <a:off x="7517487" y="2318028"/>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10</a:t>
            </a:r>
            <a:endParaRPr b="0" i="0" sz="1550" u="none" cap="none" strike="noStrike">
              <a:solidFill>
                <a:srgbClr val="000000"/>
              </a:solidFill>
              <a:latin typeface="Arial"/>
              <a:ea typeface="Arial"/>
              <a:cs typeface="Arial"/>
              <a:sym typeface="Arial"/>
            </a:endParaRPr>
          </a:p>
        </p:txBody>
      </p:sp>
      <p:sp>
        <p:nvSpPr>
          <p:cNvPr id="154" name="Google Shape;154;p6"/>
          <p:cNvSpPr/>
          <p:nvPr/>
        </p:nvSpPr>
        <p:spPr>
          <a:xfrm>
            <a:off x="10774323" y="2318028"/>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55</a:t>
            </a:r>
            <a:endParaRPr b="0" i="0" sz="1550" u="none" cap="none" strike="noStrike">
              <a:solidFill>
                <a:srgbClr val="000000"/>
              </a:solidFill>
              <a:latin typeface="Arial"/>
              <a:ea typeface="Arial"/>
              <a:cs typeface="Arial"/>
              <a:sym typeface="Arial"/>
            </a:endParaRPr>
          </a:p>
        </p:txBody>
      </p:sp>
      <p:sp>
        <p:nvSpPr>
          <p:cNvPr id="155" name="Google Shape;155;p6"/>
          <p:cNvSpPr/>
          <p:nvPr/>
        </p:nvSpPr>
        <p:spPr>
          <a:xfrm>
            <a:off x="801410" y="2702719"/>
            <a:ext cx="13027581" cy="511373"/>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
          <p:cNvSpPr/>
          <p:nvPr/>
        </p:nvSpPr>
        <p:spPr>
          <a:xfrm>
            <a:off x="1000006" y="2829401"/>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1500</a:t>
            </a:r>
            <a:endParaRPr b="0" i="0" sz="1550" u="none" cap="none" strike="noStrike">
              <a:solidFill>
                <a:srgbClr val="000000"/>
              </a:solidFill>
              <a:latin typeface="Arial"/>
              <a:ea typeface="Arial"/>
              <a:cs typeface="Arial"/>
              <a:sym typeface="Arial"/>
            </a:endParaRPr>
          </a:p>
        </p:txBody>
      </p:sp>
      <p:sp>
        <p:nvSpPr>
          <p:cNvPr id="157" name="Google Shape;157;p6"/>
          <p:cNvSpPr/>
          <p:nvPr/>
        </p:nvSpPr>
        <p:spPr>
          <a:xfrm>
            <a:off x="4260652" y="2829401"/>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3</a:t>
            </a:r>
            <a:endParaRPr b="0" i="0" sz="1550" u="none" cap="none" strike="noStrike">
              <a:solidFill>
                <a:srgbClr val="000000"/>
              </a:solidFill>
              <a:latin typeface="Arial"/>
              <a:ea typeface="Arial"/>
              <a:cs typeface="Arial"/>
              <a:sym typeface="Arial"/>
            </a:endParaRPr>
          </a:p>
        </p:txBody>
      </p:sp>
      <p:sp>
        <p:nvSpPr>
          <p:cNvPr id="158" name="Google Shape;158;p6"/>
          <p:cNvSpPr/>
          <p:nvPr/>
        </p:nvSpPr>
        <p:spPr>
          <a:xfrm>
            <a:off x="7517487" y="2829401"/>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5</a:t>
            </a:r>
            <a:endParaRPr b="0" i="0" sz="1550" u="none" cap="none" strike="noStrike">
              <a:solidFill>
                <a:srgbClr val="000000"/>
              </a:solidFill>
              <a:latin typeface="Arial"/>
              <a:ea typeface="Arial"/>
              <a:cs typeface="Arial"/>
              <a:sym typeface="Arial"/>
            </a:endParaRPr>
          </a:p>
        </p:txBody>
      </p:sp>
      <p:sp>
        <p:nvSpPr>
          <p:cNvPr id="159" name="Google Shape;159;p6"/>
          <p:cNvSpPr/>
          <p:nvPr/>
        </p:nvSpPr>
        <p:spPr>
          <a:xfrm>
            <a:off x="10774323" y="2829401"/>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82</a:t>
            </a:r>
            <a:endParaRPr b="0" i="0" sz="1550" u="none" cap="none" strike="noStrike">
              <a:solidFill>
                <a:srgbClr val="000000"/>
              </a:solidFill>
              <a:latin typeface="Arial"/>
              <a:ea typeface="Arial"/>
              <a:cs typeface="Arial"/>
              <a:sym typeface="Arial"/>
            </a:endParaRPr>
          </a:p>
        </p:txBody>
      </p:sp>
      <p:sp>
        <p:nvSpPr>
          <p:cNvPr id="160" name="Google Shape;160;p6"/>
          <p:cNvSpPr/>
          <p:nvPr/>
        </p:nvSpPr>
        <p:spPr>
          <a:xfrm>
            <a:off x="801410" y="3214092"/>
            <a:ext cx="13027581" cy="511373"/>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6"/>
          <p:cNvSpPr/>
          <p:nvPr/>
        </p:nvSpPr>
        <p:spPr>
          <a:xfrm>
            <a:off x="1000006" y="3340775"/>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800</a:t>
            </a:r>
            <a:endParaRPr b="0" i="0" sz="1550" u="none" cap="none" strike="noStrike">
              <a:solidFill>
                <a:srgbClr val="000000"/>
              </a:solidFill>
              <a:latin typeface="Arial"/>
              <a:ea typeface="Arial"/>
              <a:cs typeface="Arial"/>
              <a:sym typeface="Arial"/>
            </a:endParaRPr>
          </a:p>
        </p:txBody>
      </p:sp>
      <p:sp>
        <p:nvSpPr>
          <p:cNvPr id="162" name="Google Shape;162;p6"/>
          <p:cNvSpPr/>
          <p:nvPr/>
        </p:nvSpPr>
        <p:spPr>
          <a:xfrm>
            <a:off x="4260652" y="3340775"/>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a:t>
            </a:r>
            <a:endParaRPr b="0" i="0" sz="1550" u="none" cap="none" strike="noStrike">
              <a:solidFill>
                <a:srgbClr val="000000"/>
              </a:solidFill>
              <a:latin typeface="Arial"/>
              <a:ea typeface="Arial"/>
              <a:cs typeface="Arial"/>
              <a:sym typeface="Arial"/>
            </a:endParaRPr>
          </a:p>
        </p:txBody>
      </p:sp>
      <p:sp>
        <p:nvSpPr>
          <p:cNvPr id="163" name="Google Shape;163;p6"/>
          <p:cNvSpPr/>
          <p:nvPr/>
        </p:nvSpPr>
        <p:spPr>
          <a:xfrm>
            <a:off x="7517487" y="3340775"/>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20</a:t>
            </a:r>
            <a:endParaRPr b="0" i="0" sz="1550" u="none" cap="none" strike="noStrike">
              <a:solidFill>
                <a:srgbClr val="000000"/>
              </a:solidFill>
              <a:latin typeface="Arial"/>
              <a:ea typeface="Arial"/>
              <a:cs typeface="Arial"/>
              <a:sym typeface="Arial"/>
            </a:endParaRPr>
          </a:p>
        </p:txBody>
      </p:sp>
      <p:sp>
        <p:nvSpPr>
          <p:cNvPr id="164" name="Google Shape;164;p6"/>
          <p:cNvSpPr/>
          <p:nvPr/>
        </p:nvSpPr>
        <p:spPr>
          <a:xfrm>
            <a:off x="10774323" y="3340775"/>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40</a:t>
            </a:r>
            <a:endParaRPr b="0" i="0" sz="1550" u="none" cap="none" strike="noStrike">
              <a:solidFill>
                <a:srgbClr val="000000"/>
              </a:solidFill>
              <a:latin typeface="Arial"/>
              <a:ea typeface="Arial"/>
              <a:cs typeface="Arial"/>
              <a:sym typeface="Arial"/>
            </a:endParaRPr>
          </a:p>
        </p:txBody>
      </p:sp>
      <p:sp>
        <p:nvSpPr>
          <p:cNvPr id="165" name="Google Shape;165;p6"/>
          <p:cNvSpPr/>
          <p:nvPr/>
        </p:nvSpPr>
        <p:spPr>
          <a:xfrm>
            <a:off x="793790" y="4154686"/>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Feature Matrix (X)</a:t>
            </a:r>
            <a:endParaRPr b="0" i="0" sz="2200" u="none" cap="none" strike="noStrike">
              <a:solidFill>
                <a:srgbClr val="000000"/>
              </a:solidFill>
              <a:latin typeface="Arial"/>
              <a:ea typeface="Arial"/>
              <a:cs typeface="Arial"/>
              <a:sym typeface="Arial"/>
            </a:endParaRPr>
          </a:p>
        </p:txBody>
      </p:sp>
      <p:sp>
        <p:nvSpPr>
          <p:cNvPr id="166" name="Google Shape;166;p6"/>
          <p:cNvSpPr/>
          <p:nvPr/>
        </p:nvSpPr>
        <p:spPr>
          <a:xfrm>
            <a:off x="793790" y="4723805"/>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first three columns become our X - all the information we know about each house:</a:t>
            </a:r>
            <a:endParaRPr b="0" i="0" sz="1550" u="none" cap="none" strike="noStrike">
              <a:solidFill>
                <a:srgbClr val="000000"/>
              </a:solidFill>
              <a:latin typeface="Arial"/>
              <a:ea typeface="Arial"/>
              <a:cs typeface="Arial"/>
              <a:sym typeface="Arial"/>
            </a:endParaRPr>
          </a:p>
        </p:txBody>
      </p:sp>
      <p:sp>
        <p:nvSpPr>
          <p:cNvPr id="167" name="Google Shape;167;p6"/>
          <p:cNvSpPr/>
          <p:nvPr/>
        </p:nvSpPr>
        <p:spPr>
          <a:xfrm>
            <a:off x="793790" y="5418415"/>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1: 1000 sq ft, 2 bedrooms, 10 years old</a:t>
            </a:r>
            <a:endParaRPr b="0" i="0" sz="1550" u="none" cap="none" strike="noStrike">
              <a:solidFill>
                <a:srgbClr val="000000"/>
              </a:solidFill>
              <a:latin typeface="Arial"/>
              <a:ea typeface="Arial"/>
              <a:cs typeface="Arial"/>
              <a:sym typeface="Arial"/>
            </a:endParaRPr>
          </a:p>
        </p:txBody>
      </p:sp>
      <p:sp>
        <p:nvSpPr>
          <p:cNvPr id="168" name="Google Shape;168;p6"/>
          <p:cNvSpPr/>
          <p:nvPr/>
        </p:nvSpPr>
        <p:spPr>
          <a:xfrm>
            <a:off x="793790" y="574583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2: 1500 sq ft, 3 bedrooms, 5 years old</a:t>
            </a:r>
            <a:endParaRPr b="0" i="0" sz="1550" u="none" cap="none" strike="noStrike">
              <a:solidFill>
                <a:srgbClr val="000000"/>
              </a:solidFill>
              <a:latin typeface="Arial"/>
              <a:ea typeface="Arial"/>
              <a:cs typeface="Arial"/>
              <a:sym typeface="Arial"/>
            </a:endParaRPr>
          </a:p>
        </p:txBody>
      </p:sp>
      <p:sp>
        <p:nvSpPr>
          <p:cNvPr id="169" name="Google Shape;169;p6"/>
          <p:cNvSpPr/>
          <p:nvPr/>
        </p:nvSpPr>
        <p:spPr>
          <a:xfrm>
            <a:off x="793790" y="6073259"/>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3: 800 sq ft, 2 bedrooms, 20 years old</a:t>
            </a:r>
            <a:endParaRPr b="0" i="0" sz="1550" u="none" cap="none" strike="noStrike">
              <a:solidFill>
                <a:srgbClr val="000000"/>
              </a:solidFill>
              <a:latin typeface="Arial"/>
              <a:ea typeface="Arial"/>
              <a:cs typeface="Arial"/>
              <a:sym typeface="Arial"/>
            </a:endParaRPr>
          </a:p>
        </p:txBody>
      </p:sp>
      <p:sp>
        <p:nvSpPr>
          <p:cNvPr id="170" name="Google Shape;170;p6"/>
          <p:cNvSpPr/>
          <p:nvPr/>
        </p:nvSpPr>
        <p:spPr>
          <a:xfrm>
            <a:off x="7564874" y="4154686"/>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Target Vector (y)</a:t>
            </a:r>
            <a:endParaRPr b="0" i="0" sz="2200" u="none" cap="none" strike="noStrike">
              <a:solidFill>
                <a:srgbClr val="000000"/>
              </a:solidFill>
              <a:latin typeface="Arial"/>
              <a:ea typeface="Arial"/>
              <a:cs typeface="Arial"/>
              <a:sym typeface="Arial"/>
            </a:endParaRPr>
          </a:p>
        </p:txBody>
      </p:sp>
      <p:sp>
        <p:nvSpPr>
          <p:cNvPr id="171" name="Google Shape;171;p6"/>
          <p:cNvSpPr/>
          <p:nvPr/>
        </p:nvSpPr>
        <p:spPr>
          <a:xfrm>
            <a:off x="7564874" y="4723805"/>
            <a:ext cx="6279356"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last column is our y - what we want to predict:</a:t>
            </a:r>
            <a:endParaRPr b="0" i="0" sz="1550" u="none" cap="none" strike="noStrike">
              <a:solidFill>
                <a:srgbClr val="000000"/>
              </a:solidFill>
              <a:latin typeface="Arial"/>
              <a:ea typeface="Arial"/>
              <a:cs typeface="Arial"/>
              <a:sym typeface="Arial"/>
            </a:endParaRPr>
          </a:p>
        </p:txBody>
      </p:sp>
      <p:sp>
        <p:nvSpPr>
          <p:cNvPr id="172" name="Google Shape;172;p6"/>
          <p:cNvSpPr/>
          <p:nvPr/>
        </p:nvSpPr>
        <p:spPr>
          <a:xfrm>
            <a:off x="7564874" y="516040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1: $55,000</a:t>
            </a:r>
            <a:endParaRPr b="0" i="0" sz="1550" u="none" cap="none" strike="noStrike">
              <a:solidFill>
                <a:srgbClr val="000000"/>
              </a:solidFill>
              <a:latin typeface="Arial"/>
              <a:ea typeface="Arial"/>
              <a:cs typeface="Arial"/>
              <a:sym typeface="Arial"/>
            </a:endParaRPr>
          </a:p>
        </p:txBody>
      </p:sp>
      <p:sp>
        <p:nvSpPr>
          <p:cNvPr id="173" name="Google Shape;173;p6"/>
          <p:cNvSpPr/>
          <p:nvPr/>
        </p:nvSpPr>
        <p:spPr>
          <a:xfrm>
            <a:off x="7564874" y="5487829"/>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2: $82,000</a:t>
            </a:r>
            <a:endParaRPr b="0" i="0" sz="1550" u="none" cap="none" strike="noStrike">
              <a:solidFill>
                <a:srgbClr val="000000"/>
              </a:solidFill>
              <a:latin typeface="Arial"/>
              <a:ea typeface="Arial"/>
              <a:cs typeface="Arial"/>
              <a:sym typeface="Arial"/>
            </a:endParaRPr>
          </a:p>
        </p:txBody>
      </p:sp>
      <p:sp>
        <p:nvSpPr>
          <p:cNvPr id="174" name="Google Shape;174;p6"/>
          <p:cNvSpPr/>
          <p:nvPr/>
        </p:nvSpPr>
        <p:spPr>
          <a:xfrm>
            <a:off x="7564874" y="5815251"/>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3: $40,000</a:t>
            </a:r>
            <a:endParaRPr b="0" i="0" sz="1550" u="none" cap="none" strike="noStrike">
              <a:solidFill>
                <a:srgbClr val="000000"/>
              </a:solidFill>
              <a:latin typeface="Arial"/>
              <a:ea typeface="Arial"/>
              <a:cs typeface="Arial"/>
              <a:sym typeface="Arial"/>
            </a:endParaRPr>
          </a:p>
        </p:txBody>
      </p:sp>
      <p:sp>
        <p:nvSpPr>
          <p:cNvPr id="175" name="Google Shape;175;p6"/>
          <p:cNvSpPr/>
          <p:nvPr/>
        </p:nvSpPr>
        <p:spPr>
          <a:xfrm>
            <a:off x="793790" y="6623923"/>
            <a:ext cx="13042821" cy="1041678"/>
          </a:xfrm>
          <a:prstGeom prst="roundRect">
            <a:avLst>
              <a:gd fmla="val 8002" name="adj"/>
            </a:avLst>
          </a:prstGeom>
          <a:solidFill>
            <a:srgbClr val="FFD1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6" name="Google Shape;176;p6"/>
          <p:cNvPicPr preferRelativeResize="0"/>
          <p:nvPr/>
        </p:nvPicPr>
        <p:blipFill rotWithShape="1">
          <a:blip r:embed="rId3">
            <a:alphaModFix/>
          </a:blip>
          <a:srcRect b="0" l="0" r="0" t="0"/>
          <a:stretch/>
        </p:blipFill>
        <p:spPr>
          <a:xfrm>
            <a:off x="992148" y="6888718"/>
            <a:ext cx="248007" cy="198358"/>
          </a:xfrm>
          <a:prstGeom prst="rect">
            <a:avLst/>
          </a:prstGeom>
          <a:noFill/>
          <a:ln>
            <a:noFill/>
          </a:ln>
        </p:spPr>
      </p:pic>
      <p:sp>
        <p:nvSpPr>
          <p:cNvPr id="177" name="Google Shape;177;p6"/>
          <p:cNvSpPr/>
          <p:nvPr/>
        </p:nvSpPr>
        <p:spPr>
          <a:xfrm>
            <a:off x="1438513" y="6871811"/>
            <a:ext cx="12199739"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000000"/>
              </a:buClr>
              <a:buSzPts val="1550"/>
              <a:buFont typeface="Montserrat"/>
              <a:buNone/>
            </a:pPr>
            <a:r>
              <a:rPr b="0" i="0" lang="en-US" sz="1550" u="none" cap="none" strike="noStrike">
                <a:solidFill>
                  <a:srgbClr val="000000"/>
                </a:solidFill>
                <a:latin typeface="Montserrat"/>
                <a:ea typeface="Montserrat"/>
                <a:cs typeface="Montserrat"/>
                <a:sym typeface="Montserrat"/>
              </a:rPr>
              <a:t>Goal: The model learns how size, bedrooms, and age combine to predict price. Once trained, give it new house features and it predicts the price!</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p:nvPr/>
        </p:nvSpPr>
        <p:spPr>
          <a:xfrm>
            <a:off x="793790" y="1928813"/>
            <a:ext cx="11304865"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Finding the Best Fit: The Hyperplane in MLR</a:t>
            </a:r>
            <a:endParaRPr b="0" i="0" sz="4450" u="none" cap="none" strike="noStrike">
              <a:solidFill>
                <a:srgbClr val="000000"/>
              </a:solidFill>
              <a:latin typeface="Arial"/>
              <a:ea typeface="Arial"/>
              <a:cs typeface="Arial"/>
              <a:sym typeface="Arial"/>
            </a:endParaRPr>
          </a:p>
        </p:txBody>
      </p:sp>
      <p:sp>
        <p:nvSpPr>
          <p:cNvPr id="184" name="Google Shape;184;p7"/>
          <p:cNvSpPr/>
          <p:nvPr/>
        </p:nvSpPr>
        <p:spPr>
          <a:xfrm>
            <a:off x="793790" y="3067407"/>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of simple prediction as drawing a straight line. With Multiple Linear Regression (MLR) and many factors, we fit a more complex "hyperplane"—a multi-dimensional line—to capture all the relationships in our data.</a:t>
            </a:r>
            <a:endParaRPr b="0" i="0" sz="1550" u="none" cap="none" strike="noStrike">
              <a:solidFill>
                <a:srgbClr val="000000"/>
              </a:solidFill>
              <a:latin typeface="Arial"/>
              <a:ea typeface="Arial"/>
              <a:cs typeface="Arial"/>
              <a:sym typeface="Arial"/>
            </a:endParaRPr>
          </a:p>
        </p:txBody>
      </p:sp>
      <p:sp>
        <p:nvSpPr>
          <p:cNvPr id="185" name="Google Shape;185;p7"/>
          <p:cNvSpPr/>
          <p:nvPr/>
        </p:nvSpPr>
        <p:spPr>
          <a:xfrm>
            <a:off x="793790" y="4005024"/>
            <a:ext cx="3469362"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The "Recipe" for Prediction</a:t>
            </a:r>
            <a:endParaRPr b="0" i="0" sz="2200" u="none" cap="none" strike="noStrike">
              <a:solidFill>
                <a:srgbClr val="000000"/>
              </a:solidFill>
              <a:latin typeface="Arial"/>
              <a:ea typeface="Arial"/>
              <a:cs typeface="Arial"/>
              <a:sym typeface="Arial"/>
            </a:endParaRPr>
          </a:p>
        </p:txBody>
      </p:sp>
      <p:sp>
        <p:nvSpPr>
          <p:cNvPr id="186" name="Google Shape;186;p7"/>
          <p:cNvSpPr/>
          <p:nvPr/>
        </p:nvSpPr>
        <p:spPr>
          <a:xfrm>
            <a:off x="793790" y="4574143"/>
            <a:ext cx="6279356" cy="1290042"/>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MLR's goal is to find the perfect "recipe" (combination of weights) for each factor. It constantly adjusts these weights to make its predictions as close as possible to the actual results. Imagine a chef tweaking ingredients until the dish tastes just right.</a:t>
            </a:r>
            <a:endParaRPr b="0" i="0" sz="1550" u="none" cap="none" strike="noStrike">
              <a:solidFill>
                <a:srgbClr val="000000"/>
              </a:solidFill>
              <a:latin typeface="Arial"/>
              <a:ea typeface="Arial"/>
              <a:cs typeface="Arial"/>
              <a:sym typeface="Arial"/>
            </a:endParaRPr>
          </a:p>
        </p:txBody>
      </p:sp>
      <p:sp>
        <p:nvSpPr>
          <p:cNvPr id="187" name="Google Shape;187;p7"/>
          <p:cNvSpPr/>
          <p:nvPr/>
        </p:nvSpPr>
        <p:spPr>
          <a:xfrm>
            <a:off x="7564874" y="4005024"/>
            <a:ext cx="3011091"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Learning from Mistakes</a:t>
            </a:r>
            <a:endParaRPr b="0" i="0" sz="2200" u="none" cap="none" strike="noStrike">
              <a:solidFill>
                <a:srgbClr val="000000"/>
              </a:solidFill>
              <a:latin typeface="Arial"/>
              <a:ea typeface="Arial"/>
              <a:cs typeface="Arial"/>
              <a:sym typeface="Arial"/>
            </a:endParaRPr>
          </a:p>
        </p:txBody>
      </p:sp>
      <p:sp>
        <p:nvSpPr>
          <p:cNvPr id="188" name="Google Shape;188;p7"/>
          <p:cNvSpPr/>
          <p:nvPr/>
        </p:nvSpPr>
        <p:spPr>
          <a:xfrm>
            <a:off x="7564874" y="4574143"/>
            <a:ext cx="6279356" cy="1548051"/>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model learns by testing different weight combinations, much like a student trying various approaches to a math problem. It identifies and minimizes errors in its predictions. Once trained, it has a reliable formula: give it new information (e.g., house size, location) and it can predict the outcome (e.g., house price).</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p:nvPr/>
        </p:nvSpPr>
        <p:spPr>
          <a:xfrm>
            <a:off x="793790" y="560784"/>
            <a:ext cx="13042821" cy="148351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Example: Predicting House Price with Two Features</a:t>
            </a:r>
            <a:endParaRPr b="0" i="0" sz="4450" u="none" cap="none" strike="noStrike">
              <a:solidFill>
                <a:srgbClr val="000000"/>
              </a:solidFill>
              <a:latin typeface="Arial"/>
              <a:ea typeface="Arial"/>
              <a:cs typeface="Arial"/>
              <a:sym typeface="Arial"/>
            </a:endParaRPr>
          </a:p>
        </p:txBody>
      </p:sp>
      <p:sp>
        <p:nvSpPr>
          <p:cNvPr id="195" name="Google Shape;195;p8"/>
          <p:cNvSpPr/>
          <p:nvPr/>
        </p:nvSpPr>
        <p:spPr>
          <a:xfrm>
            <a:off x="793790" y="2441138"/>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Suppose we want to predict house price using only two features: Size (in sqft) and Number of Bedrooms.</a:t>
            </a:r>
            <a:endParaRPr b="0" i="0" sz="1550" u="none" cap="none" strike="noStrike">
              <a:solidFill>
                <a:srgbClr val="000000"/>
              </a:solidFill>
              <a:latin typeface="Arial"/>
              <a:ea typeface="Arial"/>
              <a:cs typeface="Arial"/>
              <a:sym typeface="Arial"/>
            </a:endParaRPr>
          </a:p>
        </p:txBody>
      </p:sp>
      <p:sp>
        <p:nvSpPr>
          <p:cNvPr id="196" name="Google Shape;196;p8"/>
          <p:cNvSpPr/>
          <p:nvPr/>
        </p:nvSpPr>
        <p:spPr>
          <a:xfrm>
            <a:off x="793790" y="2922389"/>
            <a:ext cx="13042821" cy="1041678"/>
          </a:xfrm>
          <a:prstGeom prst="roundRect">
            <a:avLst>
              <a:gd fmla="val 8002" name="adj"/>
            </a:avLst>
          </a:prstGeom>
          <a:solidFill>
            <a:srgbClr val="FFD1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7" name="Google Shape;197;p8"/>
          <p:cNvPicPr preferRelativeResize="0"/>
          <p:nvPr/>
        </p:nvPicPr>
        <p:blipFill rotWithShape="1">
          <a:blip r:embed="rId3">
            <a:alphaModFix/>
          </a:blip>
          <a:srcRect b="0" l="0" r="0" t="0"/>
          <a:stretch/>
        </p:blipFill>
        <p:spPr>
          <a:xfrm>
            <a:off x="992148" y="3187184"/>
            <a:ext cx="248007" cy="198358"/>
          </a:xfrm>
          <a:prstGeom prst="rect">
            <a:avLst/>
          </a:prstGeom>
          <a:noFill/>
          <a:ln>
            <a:noFill/>
          </a:ln>
        </p:spPr>
      </p:pic>
      <p:sp>
        <p:nvSpPr>
          <p:cNvPr id="198" name="Google Shape;198;p8"/>
          <p:cNvSpPr/>
          <p:nvPr/>
        </p:nvSpPr>
        <p:spPr>
          <a:xfrm>
            <a:off x="1438513" y="3170277"/>
            <a:ext cx="12199739"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000000"/>
              </a:buClr>
              <a:buSzPts val="1550"/>
              <a:buFont typeface="Montserrat"/>
              <a:buNone/>
            </a:pPr>
            <a:r>
              <a:rPr b="0" i="0" lang="en-US" sz="1550" u="none" cap="none" strike="noStrike">
                <a:solidFill>
                  <a:srgbClr val="000000"/>
                </a:solidFill>
                <a:latin typeface="Montserrat"/>
                <a:ea typeface="Montserrat"/>
                <a:cs typeface="Montserrat"/>
                <a:sym typeface="Montserrat"/>
              </a:rPr>
              <a:t>Your model might learn something like this:Price = 20 + 0.05(Size) + 5(Bedrooms)</a:t>
            </a:r>
            <a:endParaRPr b="0" i="0" sz="1550" u="none" cap="none" strike="noStrike">
              <a:solidFill>
                <a:srgbClr val="000000"/>
              </a:solidFill>
              <a:latin typeface="Arial"/>
              <a:ea typeface="Arial"/>
              <a:cs typeface="Arial"/>
              <a:sym typeface="Arial"/>
            </a:endParaRPr>
          </a:p>
        </p:txBody>
      </p:sp>
      <p:sp>
        <p:nvSpPr>
          <p:cNvPr id="199" name="Google Shape;199;p8"/>
          <p:cNvSpPr/>
          <p:nvPr/>
        </p:nvSpPr>
        <p:spPr>
          <a:xfrm>
            <a:off x="793790" y="4385667"/>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For House A:</a:t>
            </a:r>
            <a:endParaRPr b="0" i="0" sz="2200" u="none" cap="none" strike="noStrike">
              <a:solidFill>
                <a:srgbClr val="000000"/>
              </a:solidFill>
              <a:latin typeface="Arial"/>
              <a:ea typeface="Arial"/>
              <a:cs typeface="Arial"/>
              <a:sym typeface="Arial"/>
            </a:endParaRPr>
          </a:p>
        </p:txBody>
      </p:sp>
      <p:sp>
        <p:nvSpPr>
          <p:cNvPr id="200" name="Google Shape;200;p8"/>
          <p:cNvSpPr/>
          <p:nvPr/>
        </p:nvSpPr>
        <p:spPr>
          <a:xfrm>
            <a:off x="793790" y="4954786"/>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Size = 1000 sqft</a:t>
            </a:r>
            <a:endParaRPr b="0" i="0" sz="1550" u="none" cap="none" strike="noStrike">
              <a:solidFill>
                <a:srgbClr val="000000"/>
              </a:solidFill>
              <a:latin typeface="Arial"/>
              <a:ea typeface="Arial"/>
              <a:cs typeface="Arial"/>
              <a:sym typeface="Arial"/>
            </a:endParaRPr>
          </a:p>
        </p:txBody>
      </p:sp>
      <p:sp>
        <p:nvSpPr>
          <p:cNvPr id="201" name="Google Shape;201;p8"/>
          <p:cNvSpPr/>
          <p:nvPr/>
        </p:nvSpPr>
        <p:spPr>
          <a:xfrm>
            <a:off x="793790" y="5282208"/>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Bedrooms = 2</a:t>
            </a:r>
            <a:endParaRPr b="0" i="0" sz="1550" u="none" cap="none" strike="noStrike">
              <a:solidFill>
                <a:srgbClr val="000000"/>
              </a:solidFill>
              <a:latin typeface="Arial"/>
              <a:ea typeface="Arial"/>
              <a:cs typeface="Arial"/>
              <a:sym typeface="Arial"/>
            </a:endParaRPr>
          </a:p>
        </p:txBody>
      </p:sp>
      <p:sp>
        <p:nvSpPr>
          <p:cNvPr id="202" name="Google Shape;202;p8"/>
          <p:cNvSpPr/>
          <p:nvPr/>
        </p:nvSpPr>
        <p:spPr>
          <a:xfrm>
            <a:off x="793790" y="5718810"/>
            <a:ext cx="6279356" cy="1032034"/>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1" i="0" lang="en-US" sz="1550" u="none" cap="none" strike="noStrike">
                <a:solidFill>
                  <a:srgbClr val="67534F"/>
                </a:solidFill>
                <a:latin typeface="Montserrat"/>
                <a:ea typeface="Montserrat"/>
                <a:cs typeface="Montserrat"/>
                <a:sym typeface="Montserrat"/>
              </a:rPr>
              <a:t>Prediction:</a:t>
            </a:r>
            <a:r>
              <a:rPr b="0" i="0" lang="en-US" sz="1550" u="none" cap="none" strike="noStrike">
                <a:solidFill>
                  <a:srgbClr val="67534F"/>
                </a:solidFill>
                <a:latin typeface="Montserrat"/>
                <a:ea typeface="Montserrat"/>
                <a:cs typeface="Montserrat"/>
                <a:sym typeface="Montserrat"/>
              </a:rPr>
              <a:t>20 + 0.05(1000) + 5(2)= 20 + 50 + 10= 80 lakh Tk</a:t>
            </a:r>
            <a:endParaRPr b="0" i="0" sz="1550" u="none" cap="none" strike="noStrike">
              <a:solidFill>
                <a:srgbClr val="000000"/>
              </a:solidFill>
              <a:latin typeface="Arial"/>
              <a:ea typeface="Arial"/>
              <a:cs typeface="Arial"/>
              <a:sym typeface="Arial"/>
            </a:endParaRPr>
          </a:p>
        </p:txBody>
      </p:sp>
      <p:sp>
        <p:nvSpPr>
          <p:cNvPr id="203" name="Google Shape;203;p8"/>
          <p:cNvSpPr/>
          <p:nvPr/>
        </p:nvSpPr>
        <p:spPr>
          <a:xfrm>
            <a:off x="7564874" y="4385667"/>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For House B:</a:t>
            </a:r>
            <a:endParaRPr b="0" i="0" sz="2200" u="none" cap="none" strike="noStrike">
              <a:solidFill>
                <a:srgbClr val="000000"/>
              </a:solidFill>
              <a:latin typeface="Arial"/>
              <a:ea typeface="Arial"/>
              <a:cs typeface="Arial"/>
              <a:sym typeface="Arial"/>
            </a:endParaRPr>
          </a:p>
        </p:txBody>
      </p:sp>
      <p:sp>
        <p:nvSpPr>
          <p:cNvPr id="204" name="Google Shape;204;p8"/>
          <p:cNvSpPr/>
          <p:nvPr/>
        </p:nvSpPr>
        <p:spPr>
          <a:xfrm>
            <a:off x="7564874" y="4954786"/>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Size = 1500 sqft</a:t>
            </a:r>
            <a:endParaRPr b="0" i="0" sz="1550" u="none" cap="none" strike="noStrike">
              <a:solidFill>
                <a:srgbClr val="000000"/>
              </a:solidFill>
              <a:latin typeface="Arial"/>
              <a:ea typeface="Arial"/>
              <a:cs typeface="Arial"/>
              <a:sym typeface="Arial"/>
            </a:endParaRPr>
          </a:p>
        </p:txBody>
      </p:sp>
      <p:sp>
        <p:nvSpPr>
          <p:cNvPr id="205" name="Google Shape;205;p8"/>
          <p:cNvSpPr/>
          <p:nvPr/>
        </p:nvSpPr>
        <p:spPr>
          <a:xfrm>
            <a:off x="7564874" y="5282208"/>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Bedrooms = 3</a:t>
            </a:r>
            <a:endParaRPr b="0" i="0" sz="1550" u="none" cap="none" strike="noStrike">
              <a:solidFill>
                <a:srgbClr val="000000"/>
              </a:solidFill>
              <a:latin typeface="Arial"/>
              <a:ea typeface="Arial"/>
              <a:cs typeface="Arial"/>
              <a:sym typeface="Arial"/>
            </a:endParaRPr>
          </a:p>
        </p:txBody>
      </p:sp>
      <p:sp>
        <p:nvSpPr>
          <p:cNvPr id="206" name="Google Shape;206;p8"/>
          <p:cNvSpPr/>
          <p:nvPr/>
        </p:nvSpPr>
        <p:spPr>
          <a:xfrm>
            <a:off x="7564874" y="5718810"/>
            <a:ext cx="6279356" cy="1032034"/>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1" i="0" lang="en-US" sz="1550" u="none" cap="none" strike="noStrike">
                <a:solidFill>
                  <a:srgbClr val="67534F"/>
                </a:solidFill>
                <a:latin typeface="Montserrat"/>
                <a:ea typeface="Montserrat"/>
                <a:cs typeface="Montserrat"/>
                <a:sym typeface="Montserrat"/>
              </a:rPr>
              <a:t>Prediction:</a:t>
            </a:r>
            <a:r>
              <a:rPr b="0" i="0" lang="en-US" sz="1550" u="none" cap="none" strike="noStrike">
                <a:solidFill>
                  <a:srgbClr val="67534F"/>
                </a:solidFill>
                <a:latin typeface="Montserrat"/>
                <a:ea typeface="Montserrat"/>
                <a:cs typeface="Montserrat"/>
                <a:sym typeface="Montserrat"/>
              </a:rPr>
              <a:t>20 + 0.05(1500) + 5(3)= 20 + 75 + 15= 110 lakh Tk</a:t>
            </a:r>
            <a:endParaRPr b="0" i="0" sz="1550" u="none" cap="none" strike="noStrike">
              <a:solidFill>
                <a:srgbClr val="000000"/>
              </a:solidFill>
              <a:latin typeface="Arial"/>
              <a:ea typeface="Arial"/>
              <a:cs typeface="Arial"/>
              <a:sym typeface="Arial"/>
            </a:endParaRPr>
          </a:p>
        </p:txBody>
      </p:sp>
      <p:sp>
        <p:nvSpPr>
          <p:cNvPr id="207" name="Google Shape;207;p8"/>
          <p:cNvSpPr/>
          <p:nvPr/>
        </p:nvSpPr>
        <p:spPr>
          <a:xfrm>
            <a:off x="793790" y="7152680"/>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Each combination of features gives a point in space, and the model finds the plane that passes closest to all those points—that's the hyperplane!</a:t>
            </a:r>
            <a:endParaRPr b="0" i="0" sz="155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9"/>
          <p:cNvSpPr/>
          <p:nvPr/>
        </p:nvSpPr>
        <p:spPr>
          <a:xfrm>
            <a:off x="771644" y="531971"/>
            <a:ext cx="6628090" cy="721043"/>
          </a:xfrm>
          <a:prstGeom prst="rect">
            <a:avLst/>
          </a:prstGeom>
          <a:noFill/>
          <a:ln>
            <a:noFill/>
          </a:ln>
        </p:spPr>
        <p:txBody>
          <a:bodyPr anchorCtr="0" anchor="t" bIns="0" lIns="0" spcFirstLastPara="1" rIns="0" wrap="square" tIns="0">
            <a:noAutofit/>
          </a:bodyPr>
          <a:lstStyle/>
          <a:p>
            <a:pPr indent="0" lvl="0" marL="0" marR="0" rtl="0" algn="l">
              <a:lnSpc>
                <a:spcPct val="129884"/>
              </a:lnSpc>
              <a:spcBef>
                <a:spcPts val="0"/>
              </a:spcBef>
              <a:spcAft>
                <a:spcPts val="0"/>
              </a:spcAft>
              <a:buClr>
                <a:srgbClr val="532418"/>
              </a:buClr>
              <a:buSzPts val="4350"/>
              <a:buFont typeface="Marcellus"/>
              <a:buNone/>
            </a:pPr>
            <a:r>
              <a:rPr b="0" i="0" lang="en-US" sz="4350" u="none" cap="none" strike="noStrike">
                <a:solidFill>
                  <a:srgbClr val="532418"/>
                </a:solidFill>
                <a:latin typeface="Marcellus"/>
                <a:ea typeface="Marcellus"/>
                <a:cs typeface="Marcellus"/>
                <a:sym typeface="Marcellus"/>
              </a:rPr>
              <a:t>Visualizing the Hyperplane</a:t>
            </a:r>
            <a:endParaRPr b="0" i="0" sz="4350" u="none" cap="none" strike="noStrike">
              <a:solidFill>
                <a:srgbClr val="000000"/>
              </a:solidFill>
              <a:latin typeface="Arial"/>
              <a:ea typeface="Arial"/>
              <a:cs typeface="Arial"/>
              <a:sym typeface="Arial"/>
            </a:endParaRPr>
          </a:p>
        </p:txBody>
      </p:sp>
      <p:pic>
        <p:nvPicPr>
          <p:cNvPr descr="preencoded.png" id="214" name="Google Shape;214;p9"/>
          <p:cNvPicPr preferRelativeResize="0"/>
          <p:nvPr/>
        </p:nvPicPr>
        <p:blipFill rotWithShape="1">
          <a:blip r:embed="rId3">
            <a:alphaModFix/>
          </a:blip>
          <a:srcRect b="0" l="0" r="0" t="0"/>
          <a:stretch/>
        </p:blipFill>
        <p:spPr>
          <a:xfrm>
            <a:off x="771644" y="1759387"/>
            <a:ext cx="5101232" cy="5253394"/>
          </a:xfrm>
          <a:prstGeom prst="rect">
            <a:avLst/>
          </a:prstGeom>
          <a:noFill/>
          <a:ln>
            <a:noFill/>
          </a:ln>
        </p:spPr>
      </p:pic>
      <p:sp>
        <p:nvSpPr>
          <p:cNvPr id="215" name="Google Shape;215;p9"/>
          <p:cNvSpPr/>
          <p:nvPr/>
        </p:nvSpPr>
        <p:spPr>
          <a:xfrm>
            <a:off x="6744533" y="1715929"/>
            <a:ext cx="7121723" cy="5014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This 3D graph shows how Multiple Linear Regression works with two features (Size and Bedrooms) to predict house prices.</a:t>
            </a:r>
            <a:endParaRPr b="0" i="0" sz="1500" u="none" cap="none" strike="noStrike">
              <a:solidFill>
                <a:srgbClr val="000000"/>
              </a:solidFill>
              <a:latin typeface="Arial"/>
              <a:ea typeface="Arial"/>
              <a:cs typeface="Arial"/>
              <a:sym typeface="Arial"/>
            </a:endParaRPr>
          </a:p>
        </p:txBody>
      </p:sp>
      <p:sp>
        <p:nvSpPr>
          <p:cNvPr id="216" name="Google Shape;216;p9"/>
          <p:cNvSpPr/>
          <p:nvPr/>
        </p:nvSpPr>
        <p:spPr>
          <a:xfrm>
            <a:off x="6744533" y="2391013"/>
            <a:ext cx="7121723" cy="250746"/>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Each blue dot represents a real house with its actual price</a:t>
            </a:r>
            <a:endParaRPr b="0" i="0" sz="1500" u="none" cap="none" strike="noStrike">
              <a:solidFill>
                <a:srgbClr val="000000"/>
              </a:solidFill>
              <a:latin typeface="Arial"/>
              <a:ea typeface="Arial"/>
              <a:cs typeface="Arial"/>
              <a:sym typeface="Arial"/>
            </a:endParaRPr>
          </a:p>
        </p:txBody>
      </p:sp>
      <p:sp>
        <p:nvSpPr>
          <p:cNvPr id="217" name="Google Shape;217;p9"/>
          <p:cNvSpPr/>
          <p:nvPr/>
        </p:nvSpPr>
        <p:spPr>
          <a:xfrm>
            <a:off x="6744533" y="2709267"/>
            <a:ext cx="7121723" cy="501491"/>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The flat blue plane is the hyperplane—the model's best guess at the relationship</a:t>
            </a:r>
            <a:endParaRPr b="0" i="0" sz="1500" u="none" cap="none" strike="noStrike">
              <a:solidFill>
                <a:srgbClr val="000000"/>
              </a:solidFill>
              <a:latin typeface="Arial"/>
              <a:ea typeface="Arial"/>
              <a:cs typeface="Arial"/>
              <a:sym typeface="Arial"/>
            </a:endParaRPr>
          </a:p>
        </p:txBody>
      </p:sp>
      <p:sp>
        <p:nvSpPr>
          <p:cNvPr id="218" name="Google Shape;218;p9"/>
          <p:cNvSpPr/>
          <p:nvPr/>
        </p:nvSpPr>
        <p:spPr>
          <a:xfrm>
            <a:off x="6744533" y="3278267"/>
            <a:ext cx="7121723" cy="250746"/>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The plane tries to get as close as possible to all the dots</a:t>
            </a:r>
            <a:endParaRPr b="0" i="0" sz="1500" u="none" cap="none" strike="noStrike">
              <a:solidFill>
                <a:srgbClr val="000000"/>
              </a:solidFill>
              <a:latin typeface="Arial"/>
              <a:ea typeface="Arial"/>
              <a:cs typeface="Arial"/>
              <a:sym typeface="Arial"/>
            </a:endParaRPr>
          </a:p>
        </p:txBody>
      </p:sp>
      <p:sp>
        <p:nvSpPr>
          <p:cNvPr id="219" name="Google Shape;219;p9"/>
          <p:cNvSpPr/>
          <p:nvPr/>
        </p:nvSpPr>
        <p:spPr>
          <a:xfrm>
            <a:off x="6744533" y="3702606"/>
            <a:ext cx="7121723"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0" name="Google Shape;220;p9"/>
          <p:cNvSpPr/>
          <p:nvPr/>
        </p:nvSpPr>
        <p:spPr>
          <a:xfrm>
            <a:off x="6744533" y="4126944"/>
            <a:ext cx="7121723"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1" name="Google Shape;221;p9"/>
          <p:cNvSpPr/>
          <p:nvPr/>
        </p:nvSpPr>
        <p:spPr>
          <a:xfrm>
            <a:off x="6744533" y="4551283"/>
            <a:ext cx="7121723" cy="10029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Think of it like this: if you know a house's size and number of bedrooms, you can find that spot on the plane and read off the predicted price. The model learned the perfect angle and position for this plane by studying all the real house data (the dots).</a:t>
            </a:r>
            <a:endParaRPr b="0" i="0" sz="1500" u="none" cap="none" strike="noStrike">
              <a:solidFill>
                <a:srgbClr val="000000"/>
              </a:solidFill>
              <a:latin typeface="Arial"/>
              <a:ea typeface="Arial"/>
              <a:cs typeface="Arial"/>
              <a:sym typeface="Arial"/>
            </a:endParaRPr>
          </a:p>
        </p:txBody>
      </p:sp>
      <p:sp>
        <p:nvSpPr>
          <p:cNvPr id="222" name="Google Shape;222;p9"/>
          <p:cNvSpPr/>
          <p:nvPr/>
        </p:nvSpPr>
        <p:spPr>
          <a:xfrm>
            <a:off x="771644" y="7446883"/>
            <a:ext cx="13087112"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500"/>
              <a:buFont typeface="Arial"/>
              <a:buNone/>
            </a:pPr>
            <a:r>
              <a:rPr lang="en-US" sz="1500"/>
              <a:t>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0"/>
          <p:cNvSpPr/>
          <p:nvPr/>
        </p:nvSpPr>
        <p:spPr>
          <a:xfrm>
            <a:off x="727829" y="500301"/>
            <a:ext cx="8293656" cy="680085"/>
          </a:xfrm>
          <a:prstGeom prst="rect">
            <a:avLst/>
          </a:prstGeom>
          <a:noFill/>
          <a:ln>
            <a:noFill/>
          </a:ln>
        </p:spPr>
        <p:txBody>
          <a:bodyPr anchorCtr="0" anchor="t" bIns="0" lIns="0" spcFirstLastPara="1" rIns="0" wrap="square" tIns="0">
            <a:noAutofit/>
          </a:bodyPr>
          <a:lstStyle/>
          <a:p>
            <a:pPr indent="0" lvl="0" marL="0" marR="0" rtl="0" algn="l">
              <a:lnSpc>
                <a:spcPct val="130487"/>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Building Our First Predictive Model</a:t>
            </a:r>
            <a:endParaRPr b="0" i="0" sz="4100" u="none" cap="none" strike="noStrike">
              <a:solidFill>
                <a:srgbClr val="000000"/>
              </a:solidFill>
              <a:latin typeface="Arial"/>
              <a:ea typeface="Arial"/>
              <a:cs typeface="Arial"/>
              <a:sym typeface="Arial"/>
            </a:endParaRPr>
          </a:p>
        </p:txBody>
      </p:sp>
      <p:sp>
        <p:nvSpPr>
          <p:cNvPr id="229" name="Google Shape;229;p10"/>
          <p:cNvSpPr/>
          <p:nvPr/>
        </p:nvSpPr>
        <p:spPr>
          <a:xfrm>
            <a:off x="727829" y="1453277"/>
            <a:ext cx="13174742"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Time to apply what we've learned! Let's build our first predictive model step-by-step.</a:t>
            </a:r>
            <a:endParaRPr b="0" i="0" sz="1400" u="none" cap="none" strike="noStrike">
              <a:solidFill>
                <a:srgbClr val="000000"/>
              </a:solidFill>
              <a:latin typeface="Arial"/>
              <a:ea typeface="Arial"/>
              <a:cs typeface="Arial"/>
              <a:sym typeface="Arial"/>
            </a:endParaRPr>
          </a:p>
        </p:txBody>
      </p:sp>
      <p:sp>
        <p:nvSpPr>
          <p:cNvPr id="230" name="Google Shape;230;p10"/>
          <p:cNvSpPr/>
          <p:nvPr/>
        </p:nvSpPr>
        <p:spPr>
          <a:xfrm>
            <a:off x="727829" y="1894403"/>
            <a:ext cx="13174742" cy="1095137"/>
          </a:xfrm>
          <a:prstGeom prst="roundRect">
            <a:avLst>
              <a:gd fmla="val 6979" name="adj"/>
            </a:avLst>
          </a:prstGeom>
          <a:solidFill>
            <a:srgbClr val="FFFFF4">
              <a:alpha val="94509"/>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0"/>
          <p:cNvSpPr/>
          <p:nvPr/>
        </p:nvSpPr>
        <p:spPr>
          <a:xfrm>
            <a:off x="750689" y="1917263"/>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0"/>
          <p:cNvSpPr/>
          <p:nvPr/>
        </p:nvSpPr>
        <p:spPr>
          <a:xfrm>
            <a:off x="970478" y="2264569"/>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1</a:t>
            </a:r>
            <a:endParaRPr b="0" i="0" sz="2100" u="none" cap="none" strike="noStrike">
              <a:solidFill>
                <a:srgbClr val="000000"/>
              </a:solidFill>
              <a:latin typeface="Arial"/>
              <a:ea typeface="Arial"/>
              <a:cs typeface="Arial"/>
              <a:sym typeface="Arial"/>
            </a:endParaRPr>
          </a:p>
        </p:txBody>
      </p:sp>
      <p:sp>
        <p:nvSpPr>
          <p:cNvPr id="233" name="Google Shape;233;p10"/>
          <p:cNvSpPr/>
          <p:nvPr/>
        </p:nvSpPr>
        <p:spPr>
          <a:xfrm>
            <a:off x="1660446" y="2099191"/>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Gather Data</a:t>
            </a:r>
            <a:endParaRPr b="0" i="0" sz="2050" u="none" cap="none" strike="noStrike">
              <a:solidFill>
                <a:srgbClr val="000000"/>
              </a:solidFill>
              <a:latin typeface="Arial"/>
              <a:ea typeface="Arial"/>
              <a:cs typeface="Arial"/>
              <a:sym typeface="Arial"/>
            </a:endParaRPr>
          </a:p>
        </p:txBody>
      </p:sp>
      <p:sp>
        <p:nvSpPr>
          <p:cNvPr id="234" name="Google Shape;234;p10"/>
          <p:cNvSpPr/>
          <p:nvPr/>
        </p:nvSpPr>
        <p:spPr>
          <a:xfrm>
            <a:off x="1660446" y="2548295"/>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Collect all relevant information.</a:t>
            </a:r>
            <a:endParaRPr b="0" i="0" sz="1400" u="none" cap="none" strike="noStrike">
              <a:solidFill>
                <a:srgbClr val="000000"/>
              </a:solidFill>
              <a:latin typeface="Arial"/>
              <a:ea typeface="Arial"/>
              <a:cs typeface="Arial"/>
              <a:sym typeface="Arial"/>
            </a:endParaRPr>
          </a:p>
        </p:txBody>
      </p:sp>
      <p:sp>
        <p:nvSpPr>
          <p:cNvPr id="235" name="Google Shape;235;p10"/>
          <p:cNvSpPr/>
          <p:nvPr/>
        </p:nvSpPr>
        <p:spPr>
          <a:xfrm>
            <a:off x="727829" y="3171468"/>
            <a:ext cx="13174742" cy="1095137"/>
          </a:xfrm>
          <a:prstGeom prst="roundRect">
            <a:avLst>
              <a:gd fmla="val 6979" name="adj"/>
            </a:avLst>
          </a:prstGeom>
          <a:solidFill>
            <a:srgbClr val="FFFFF4">
              <a:alpha val="94509"/>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0"/>
          <p:cNvSpPr/>
          <p:nvPr/>
        </p:nvSpPr>
        <p:spPr>
          <a:xfrm>
            <a:off x="750689" y="3194328"/>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0"/>
          <p:cNvSpPr/>
          <p:nvPr/>
        </p:nvSpPr>
        <p:spPr>
          <a:xfrm>
            <a:off x="970478" y="3541633"/>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2</a:t>
            </a:r>
            <a:endParaRPr b="0" i="0" sz="2100" u="none" cap="none" strike="noStrike">
              <a:solidFill>
                <a:srgbClr val="000000"/>
              </a:solidFill>
              <a:latin typeface="Arial"/>
              <a:ea typeface="Arial"/>
              <a:cs typeface="Arial"/>
              <a:sym typeface="Arial"/>
            </a:endParaRPr>
          </a:p>
        </p:txBody>
      </p:sp>
      <p:sp>
        <p:nvSpPr>
          <p:cNvPr id="238" name="Google Shape;238;p10"/>
          <p:cNvSpPr/>
          <p:nvPr/>
        </p:nvSpPr>
        <p:spPr>
          <a:xfrm>
            <a:off x="1660446" y="3376255"/>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Understand Data</a:t>
            </a:r>
            <a:endParaRPr b="0" i="0" sz="2050" u="none" cap="none" strike="noStrike">
              <a:solidFill>
                <a:srgbClr val="000000"/>
              </a:solidFill>
              <a:latin typeface="Arial"/>
              <a:ea typeface="Arial"/>
              <a:cs typeface="Arial"/>
              <a:sym typeface="Arial"/>
            </a:endParaRPr>
          </a:p>
        </p:txBody>
      </p:sp>
      <p:sp>
        <p:nvSpPr>
          <p:cNvPr id="239" name="Google Shape;239;p10"/>
          <p:cNvSpPr/>
          <p:nvPr/>
        </p:nvSpPr>
        <p:spPr>
          <a:xfrm>
            <a:off x="1660446" y="3825359"/>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Examine trends and patterns.</a:t>
            </a:r>
            <a:endParaRPr b="0" i="0" sz="1400" u="none" cap="none" strike="noStrike">
              <a:solidFill>
                <a:srgbClr val="000000"/>
              </a:solidFill>
              <a:latin typeface="Arial"/>
              <a:ea typeface="Arial"/>
              <a:cs typeface="Arial"/>
              <a:sym typeface="Arial"/>
            </a:endParaRPr>
          </a:p>
        </p:txBody>
      </p:sp>
      <p:sp>
        <p:nvSpPr>
          <p:cNvPr id="240" name="Google Shape;240;p10"/>
          <p:cNvSpPr/>
          <p:nvPr/>
        </p:nvSpPr>
        <p:spPr>
          <a:xfrm>
            <a:off x="727829" y="4448532"/>
            <a:ext cx="13174742" cy="1095137"/>
          </a:xfrm>
          <a:prstGeom prst="roundRect">
            <a:avLst>
              <a:gd fmla="val 6979" name="adj"/>
            </a:avLst>
          </a:prstGeom>
          <a:solidFill>
            <a:srgbClr val="FFFFF4">
              <a:alpha val="94509"/>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0"/>
          <p:cNvSpPr/>
          <p:nvPr/>
        </p:nvSpPr>
        <p:spPr>
          <a:xfrm>
            <a:off x="750689" y="4471392"/>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0"/>
          <p:cNvSpPr/>
          <p:nvPr/>
        </p:nvSpPr>
        <p:spPr>
          <a:xfrm>
            <a:off x="970478" y="4818698"/>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3</a:t>
            </a:r>
            <a:endParaRPr b="0" i="0" sz="2100" u="none" cap="none" strike="noStrike">
              <a:solidFill>
                <a:srgbClr val="000000"/>
              </a:solidFill>
              <a:latin typeface="Arial"/>
              <a:ea typeface="Arial"/>
              <a:cs typeface="Arial"/>
              <a:sym typeface="Arial"/>
            </a:endParaRPr>
          </a:p>
        </p:txBody>
      </p:sp>
      <p:sp>
        <p:nvSpPr>
          <p:cNvPr id="243" name="Google Shape;243;p10"/>
          <p:cNvSpPr/>
          <p:nvPr/>
        </p:nvSpPr>
        <p:spPr>
          <a:xfrm>
            <a:off x="1660446" y="4653320"/>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Organize Data</a:t>
            </a:r>
            <a:endParaRPr b="0" i="0" sz="2050" u="none" cap="none" strike="noStrike">
              <a:solidFill>
                <a:srgbClr val="000000"/>
              </a:solidFill>
              <a:latin typeface="Arial"/>
              <a:ea typeface="Arial"/>
              <a:cs typeface="Arial"/>
              <a:sym typeface="Arial"/>
            </a:endParaRPr>
          </a:p>
        </p:txBody>
      </p:sp>
      <p:sp>
        <p:nvSpPr>
          <p:cNvPr id="244" name="Google Shape;244;p10"/>
          <p:cNvSpPr/>
          <p:nvPr/>
        </p:nvSpPr>
        <p:spPr>
          <a:xfrm>
            <a:off x="1660446" y="5102423"/>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Separate what to predict from what predicts it.</a:t>
            </a:r>
            <a:endParaRPr b="0" i="0" sz="1400" u="none" cap="none" strike="noStrike">
              <a:solidFill>
                <a:srgbClr val="000000"/>
              </a:solidFill>
              <a:latin typeface="Arial"/>
              <a:ea typeface="Arial"/>
              <a:cs typeface="Arial"/>
              <a:sym typeface="Arial"/>
            </a:endParaRPr>
          </a:p>
        </p:txBody>
      </p:sp>
      <p:sp>
        <p:nvSpPr>
          <p:cNvPr id="245" name="Google Shape;245;p10"/>
          <p:cNvSpPr/>
          <p:nvPr/>
        </p:nvSpPr>
        <p:spPr>
          <a:xfrm>
            <a:off x="727829" y="5725597"/>
            <a:ext cx="13174742" cy="1095137"/>
          </a:xfrm>
          <a:prstGeom prst="roundRect">
            <a:avLst>
              <a:gd fmla="val 6979" name="adj"/>
            </a:avLst>
          </a:prstGeom>
          <a:solidFill>
            <a:srgbClr val="FFFFF4">
              <a:alpha val="94509"/>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0"/>
          <p:cNvSpPr/>
          <p:nvPr/>
        </p:nvSpPr>
        <p:spPr>
          <a:xfrm>
            <a:off x="750689" y="5748457"/>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0"/>
          <p:cNvSpPr/>
          <p:nvPr/>
        </p:nvSpPr>
        <p:spPr>
          <a:xfrm>
            <a:off x="970478" y="6095762"/>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4</a:t>
            </a:r>
            <a:endParaRPr b="0" i="0" sz="2100" u="none" cap="none" strike="noStrike">
              <a:solidFill>
                <a:srgbClr val="000000"/>
              </a:solidFill>
              <a:latin typeface="Arial"/>
              <a:ea typeface="Arial"/>
              <a:cs typeface="Arial"/>
              <a:sym typeface="Arial"/>
            </a:endParaRPr>
          </a:p>
        </p:txBody>
      </p:sp>
      <p:sp>
        <p:nvSpPr>
          <p:cNvPr id="248" name="Google Shape;248;p10"/>
          <p:cNvSpPr/>
          <p:nvPr/>
        </p:nvSpPr>
        <p:spPr>
          <a:xfrm>
            <a:off x="1660446" y="5930384"/>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Spot Connections</a:t>
            </a:r>
            <a:endParaRPr b="0" i="0" sz="2050" u="none" cap="none" strike="noStrike">
              <a:solidFill>
                <a:srgbClr val="000000"/>
              </a:solidFill>
              <a:latin typeface="Arial"/>
              <a:ea typeface="Arial"/>
              <a:cs typeface="Arial"/>
              <a:sym typeface="Arial"/>
            </a:endParaRPr>
          </a:p>
        </p:txBody>
      </p:sp>
      <p:sp>
        <p:nvSpPr>
          <p:cNvPr id="249" name="Google Shape;249;p10"/>
          <p:cNvSpPr/>
          <p:nvPr/>
        </p:nvSpPr>
        <p:spPr>
          <a:xfrm>
            <a:off x="1660446" y="6379488"/>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See how variables relate to each other.</a:t>
            </a:r>
            <a:endParaRPr b="0" i="0" sz="1400" u="none" cap="none" strike="noStrike">
              <a:solidFill>
                <a:srgbClr val="000000"/>
              </a:solidFill>
              <a:latin typeface="Arial"/>
              <a:ea typeface="Arial"/>
              <a:cs typeface="Arial"/>
              <a:sym typeface="Arial"/>
            </a:endParaRPr>
          </a:p>
        </p:txBody>
      </p:sp>
      <p:sp>
        <p:nvSpPr>
          <p:cNvPr id="250" name="Google Shape;250;p10"/>
          <p:cNvSpPr/>
          <p:nvPr/>
        </p:nvSpPr>
        <p:spPr>
          <a:xfrm>
            <a:off x="727829" y="7025402"/>
            <a:ext cx="13174742" cy="718542"/>
          </a:xfrm>
          <a:prstGeom prst="roundRect">
            <a:avLst>
              <a:gd fmla="val 10636" name="adj"/>
            </a:avLst>
          </a:prstGeom>
          <a:solidFill>
            <a:srgbClr val="FFD1B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1" name="Google Shape;251;p10"/>
          <p:cNvPicPr preferRelativeResize="0"/>
          <p:nvPr/>
        </p:nvPicPr>
        <p:blipFill rotWithShape="1">
          <a:blip r:embed="rId3">
            <a:alphaModFix/>
          </a:blip>
          <a:srcRect b="0" l="0" r="0" t="0"/>
          <a:stretch/>
        </p:blipFill>
        <p:spPr>
          <a:xfrm>
            <a:off x="909757" y="7276505"/>
            <a:ext cx="227409" cy="181928"/>
          </a:xfrm>
          <a:prstGeom prst="rect">
            <a:avLst/>
          </a:prstGeom>
          <a:noFill/>
          <a:ln>
            <a:noFill/>
          </a:ln>
        </p:spPr>
      </p:pic>
      <p:sp>
        <p:nvSpPr>
          <p:cNvPr id="252" name="Google Shape;252;p10"/>
          <p:cNvSpPr/>
          <p:nvPr/>
        </p:nvSpPr>
        <p:spPr>
          <a:xfrm>
            <a:off x="1319093" y="7252811"/>
            <a:ext cx="12401550"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000000"/>
              </a:buClr>
              <a:buSzPts val="1400"/>
              <a:buFont typeface="Montserrat"/>
              <a:buNone/>
            </a:pPr>
            <a:r>
              <a:rPr b="1" i="0" lang="en-US" sz="1400" u="none" cap="none" strike="noStrike">
                <a:solidFill>
                  <a:srgbClr val="000000"/>
                </a:solidFill>
                <a:latin typeface="Montserrat"/>
                <a:ea typeface="Montserrat"/>
                <a:cs typeface="Montserrat"/>
                <a:sym typeface="Montserrat"/>
              </a:rPr>
              <a:t>Ready to code?</a:t>
            </a:r>
            <a:r>
              <a:rPr b="0" i="0" lang="en-US" sz="1400" u="none" cap="none" strike="noStrike">
                <a:solidFill>
                  <a:srgbClr val="000000"/>
                </a:solidFill>
                <a:latin typeface="Montserrat"/>
                <a:ea typeface="Montserrat"/>
                <a:cs typeface="Montserrat"/>
                <a:sym typeface="Montserrat"/>
              </a:rPr>
              <a:t> Open your notebook and follow along to build a powerful predictive model!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
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8229600" cx="14630400"/>
  <p:notesSz cx="8229600" cy="14630400"/>
  <p:embeddedFontLst>
    <p:embeddedFont>
      <p:font typeface="Marcellus"/>
      <p:regular r:id="rId9"/>
    </p:embeddedFon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Marcellu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/>
          <p:nvPr/>
        </p:nvSpPr>
        <p:spPr>
          <a:xfrm>
            <a:off x="6280190" y="2361486"/>
            <a:ext cx="687740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Welcome to Module 13</a:t>
            </a:r>
            <a:endParaRPr b="0" i="0" sz="5100" u="none" cap="none" strike="noStrike"/>
          </a:p>
        </p:txBody>
      </p:sp>
      <p:sp>
        <p:nvSpPr>
          <p:cNvPr id="30" name="Google Shape;30;p7"/>
          <p:cNvSpPr/>
          <p:nvPr/>
        </p:nvSpPr>
        <p:spPr>
          <a:xfrm>
            <a:off x="6280190" y="3549372"/>
            <a:ext cx="7556421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 this module, we move from simple single-feature regression to models that can handle many features and even curved patterns. This is your first step into building more realistic prediction systems that mirror the complexity of real-world data.</a:t>
            </a:r>
            <a:endParaRPr b="0" i="0" sz="1750" u="none" cap="none" strike="noStrike"/>
          </a:p>
        </p:txBody>
      </p:sp>
      <p:sp>
        <p:nvSpPr>
          <p:cNvPr id="31" name="Google Shape;31;p7"/>
          <p:cNvSpPr/>
          <p:nvPr/>
        </p:nvSpPr>
        <p:spPr>
          <a:xfrm>
            <a:off x="6280190" y="4983718"/>
            <a:ext cx="7556421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We'll explore how Multiple Linear Regression and Polynomial Regression extend your modeling toolkit, giving you the power to capture intricate relationships and nonlinear trends.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>
          <a:xfrm>
            <a:off x="793790" y="851297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We Will Cover</a:t>
            </a:r>
            <a:endParaRPr b="0" i="0" sz="5100" u="none" cap="none" strike="noStrike"/>
          </a:p>
        </p:txBody>
      </p:sp>
      <p:sp>
        <p:nvSpPr>
          <p:cNvPr id="38" name="Google Shape;38;p8"/>
          <p:cNvSpPr/>
          <p:nvPr/>
        </p:nvSpPr>
        <p:spPr>
          <a:xfrm>
            <a:off x="793790" y="2039183"/>
            <a:ext cx="6407944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/>
          <p:nvPr/>
        </p:nvSpPr>
        <p:spPr>
          <a:xfrm>
            <a:off x="1043464" y="2288858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630" y="2476024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/>
          <p:nvPr/>
        </p:nvSpPr>
        <p:spPr>
          <a:xfrm>
            <a:off x="1043464" y="319611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Multiple Features</a:t>
            </a:r>
            <a:endParaRPr b="0" i="0" sz="2550" u="none" cap="none" strike="noStrike"/>
          </a:p>
        </p:txBody>
      </p:sp>
      <p:sp>
        <p:nvSpPr>
          <p:cNvPr id="42" name="Google Shape;42;p8"/>
          <p:cNvSpPr/>
          <p:nvPr/>
        </p:nvSpPr>
        <p:spPr>
          <a:xfrm>
            <a:off x="1043464" y="3756065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Why real problems need many features and how MLR handles them all at once</a:t>
            </a:r>
            <a:endParaRPr b="0" i="0" sz="1750" u="none" cap="none" strike="noStrike"/>
          </a:p>
        </p:txBody>
      </p:sp>
      <p:sp>
        <p:nvSpPr>
          <p:cNvPr id="43" name="Google Shape;43;p8"/>
          <p:cNvSpPr/>
          <p:nvPr/>
        </p:nvSpPr>
        <p:spPr>
          <a:xfrm>
            <a:off x="7428548" y="2039183"/>
            <a:ext cx="6408063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/>
          <p:nvPr/>
        </p:nvSpPr>
        <p:spPr>
          <a:xfrm>
            <a:off x="7678222" y="2288858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5388" y="2476024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/>
          <p:nvPr/>
        </p:nvSpPr>
        <p:spPr>
          <a:xfrm>
            <a:off x="7678222" y="319611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Math Foundations</a:t>
            </a:r>
            <a:endParaRPr b="0" i="0" sz="2550" u="none" cap="none" strike="noStrike"/>
          </a:p>
        </p:txBody>
      </p:sp>
      <p:sp>
        <p:nvSpPr>
          <p:cNvPr id="47" name="Google Shape;47;p8"/>
          <p:cNvSpPr/>
          <p:nvPr/>
        </p:nvSpPr>
        <p:spPr>
          <a:xfrm>
            <a:off x="7678222" y="3756065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Express MLR using equations, vectors, and matrices for computational efficiency</a:t>
            </a:r>
            <a:endParaRPr b="0" i="0" sz="1750" u="none" cap="none" strike="noStrike"/>
          </a:p>
        </p:txBody>
      </p:sp>
      <p:sp>
        <p:nvSpPr>
          <p:cNvPr id="48" name="Google Shape;48;p8"/>
          <p:cNvSpPr/>
          <p:nvPr/>
        </p:nvSpPr>
        <p:spPr>
          <a:xfrm>
            <a:off x="793790" y="4822150"/>
            <a:ext cx="6407944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/>
          <p:nvPr/>
        </p:nvSpPr>
        <p:spPr>
          <a:xfrm>
            <a:off x="1043464" y="5071824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0630" y="5258991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/>
          <p:nvPr/>
        </p:nvSpPr>
        <p:spPr>
          <a:xfrm>
            <a:off x="1043464" y="597908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Optimization</a:t>
            </a:r>
            <a:endParaRPr b="0" i="0" sz="2550" u="none" cap="none" strike="noStrike"/>
          </a:p>
        </p:txBody>
      </p:sp>
      <p:sp>
        <p:nvSpPr>
          <p:cNvPr id="52" name="Google Shape;52;p8"/>
          <p:cNvSpPr/>
          <p:nvPr/>
        </p:nvSpPr>
        <p:spPr>
          <a:xfrm>
            <a:off x="1043464" y="6539032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How models learn the best weights by minimizing prediction errors</a:t>
            </a:r>
            <a:endParaRPr b="0" i="0" sz="1750" u="none" cap="none" strike="noStrike"/>
          </a:p>
        </p:txBody>
      </p:sp>
      <p:sp>
        <p:nvSpPr>
          <p:cNvPr id="53" name="Google Shape;53;p8"/>
          <p:cNvSpPr/>
          <p:nvPr/>
        </p:nvSpPr>
        <p:spPr>
          <a:xfrm>
            <a:off x="7428548" y="4822150"/>
            <a:ext cx="6408063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7678222" y="5071824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5388" y="5258991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/>
          <p:nvPr/>
        </p:nvSpPr>
        <p:spPr>
          <a:xfrm>
            <a:off x="7678222" y="597908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Polynomial Power</a:t>
            </a:r>
            <a:endParaRPr b="0" i="0" sz="2550" u="none" cap="none" strike="noStrike"/>
          </a:p>
        </p:txBody>
      </p:sp>
      <p:sp>
        <p:nvSpPr>
          <p:cNvPr id="57" name="Google Shape;57;p8"/>
          <p:cNvSpPr/>
          <p:nvPr/>
        </p:nvSpPr>
        <p:spPr>
          <a:xfrm>
            <a:off x="7678222" y="6539032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When linear models fail and why polynomial terms add flexibility while staying simple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793790" y="1595914"/>
            <a:ext cx="8526185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You Will Build in Colab</a:t>
            </a:r>
            <a:endParaRPr b="0" i="0" sz="5100" u="none" cap="none" strike="noStrike"/>
          </a:p>
        </p:txBody>
      </p:sp>
      <p:sp>
        <p:nvSpPr>
          <p:cNvPr id="64" name="Google Shape;64;p9"/>
          <p:cNvSpPr/>
          <p:nvPr/>
        </p:nvSpPr>
        <p:spPr>
          <a:xfrm>
            <a:off x="793790" y="2783800"/>
            <a:ext cx="4196358" cy="1958935"/>
          </a:xfrm>
          <a:prstGeom prst="roundRect">
            <a:avLst>
              <a:gd fmla="val 7469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763310" y="2783800"/>
            <a:ext cx="121920" cy="195893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1142524" y="304109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Train MLR Model</a:t>
            </a:r>
            <a:endParaRPr b="0" i="0" sz="2550" u="none" cap="none" strike="noStrike"/>
          </a:p>
        </p:txBody>
      </p:sp>
      <p:sp>
        <p:nvSpPr>
          <p:cNvPr id="67" name="Google Shape;67;p9"/>
          <p:cNvSpPr/>
          <p:nvPr/>
        </p:nvSpPr>
        <p:spPr>
          <a:xfrm>
            <a:off x="1142524" y="3601045"/>
            <a:ext cx="359033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Build Multiple Linear Regression on real-world datasets</a:t>
            </a:r>
            <a:endParaRPr b="0" i="0" sz="1750" u="none" cap="none" strike="noStrike"/>
          </a:p>
        </p:txBody>
      </p:sp>
      <p:sp>
        <p:nvSpPr>
          <p:cNvPr id="68" name="Google Shape;68;p9"/>
          <p:cNvSpPr/>
          <p:nvPr/>
        </p:nvSpPr>
        <p:spPr>
          <a:xfrm>
            <a:off x="5216962" y="2783800"/>
            <a:ext cx="4196358" cy="1958935"/>
          </a:xfrm>
          <a:prstGeom prst="roundRect">
            <a:avLst>
              <a:gd fmla="val 7469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5186482" y="2783800"/>
            <a:ext cx="121920" cy="195893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5565696" y="304109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Evaluate Performance</a:t>
            </a:r>
            <a:endParaRPr b="0" i="0" sz="2550" u="none" cap="none" strike="noStrike"/>
          </a:p>
        </p:txBody>
      </p:sp>
      <p:sp>
        <p:nvSpPr>
          <p:cNvPr id="71" name="Google Shape;71;p9"/>
          <p:cNvSpPr/>
          <p:nvPr/>
        </p:nvSpPr>
        <p:spPr>
          <a:xfrm>
            <a:off x="5565696" y="3601045"/>
            <a:ext cx="359033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Measure accuracy with R², MAE, and RMSE metrics</a:t>
            </a:r>
            <a:endParaRPr b="0" i="0" sz="1750" u="none" cap="none" strike="noStrike"/>
          </a:p>
        </p:txBody>
      </p:sp>
      <p:sp>
        <p:nvSpPr>
          <p:cNvPr id="72" name="Google Shape;72;p9"/>
          <p:cNvSpPr/>
          <p:nvPr/>
        </p:nvSpPr>
        <p:spPr>
          <a:xfrm>
            <a:off x="9640133" y="2783800"/>
            <a:ext cx="4196358" cy="1958935"/>
          </a:xfrm>
          <a:prstGeom prst="roundRect">
            <a:avLst>
              <a:gd fmla="val 7469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9609653" y="2783800"/>
            <a:ext cx="121920" cy="195893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9988868" y="304109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Visualize Results</a:t>
            </a:r>
            <a:endParaRPr b="0" i="0" sz="2550" u="none" cap="none" strike="noStrike"/>
          </a:p>
        </p:txBody>
      </p:sp>
      <p:sp>
        <p:nvSpPr>
          <p:cNvPr id="75" name="Google Shape;75;p9"/>
          <p:cNvSpPr/>
          <p:nvPr/>
        </p:nvSpPr>
        <p:spPr>
          <a:xfrm>
            <a:off x="9988868" y="3601045"/>
            <a:ext cx="359033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Create predicted vs actual value plots to assess fit</a:t>
            </a:r>
            <a:endParaRPr b="0" i="0" sz="1750" u="none" cap="none" strike="noStrike"/>
          </a:p>
        </p:txBody>
      </p:sp>
      <p:sp>
        <p:nvSpPr>
          <p:cNvPr id="76" name="Google Shape;76;p9"/>
          <p:cNvSpPr/>
          <p:nvPr/>
        </p:nvSpPr>
        <p:spPr>
          <a:xfrm>
            <a:off x="793790" y="4969550"/>
            <a:ext cx="4196358" cy="1664137"/>
          </a:xfrm>
          <a:prstGeom prst="roundRect">
            <a:avLst>
              <a:gd fmla="val 8792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>
            <a:off x="763310" y="4969550"/>
            <a:ext cx="121920" cy="1664137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1142524" y="522684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Apply Polynomials</a:t>
            </a:r>
            <a:endParaRPr b="0" i="0" sz="2550" u="none" cap="none" strike="noStrike"/>
          </a:p>
        </p:txBody>
      </p:sp>
      <p:sp>
        <p:nvSpPr>
          <p:cNvPr id="79" name="Google Shape;79;p9"/>
          <p:cNvSpPr/>
          <p:nvPr/>
        </p:nvSpPr>
        <p:spPr>
          <a:xfrm>
            <a:off x="1142524" y="5786795"/>
            <a:ext cx="359033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Use PolynomialFeatures and Pipeline for curved patterns</a:t>
            </a:r>
            <a:endParaRPr b="0" i="0" sz="1750" u="none" cap="none" strike="noStrike"/>
          </a:p>
        </p:txBody>
      </p:sp>
      <p:sp>
        <p:nvSpPr>
          <p:cNvPr id="80" name="Google Shape;80;p9"/>
          <p:cNvSpPr/>
          <p:nvPr/>
        </p:nvSpPr>
        <p:spPr>
          <a:xfrm>
            <a:off x="5216962" y="4969550"/>
            <a:ext cx="4196358" cy="1664137"/>
          </a:xfrm>
          <a:prstGeom prst="roundRect">
            <a:avLst>
              <a:gd fmla="val 8792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5186482" y="4969550"/>
            <a:ext cx="121920" cy="1664137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5565696" y="522684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Compare &amp; Optimize</a:t>
            </a:r>
            <a:endParaRPr b="0" i="0" sz="2550" u="none" cap="none" strike="noStrike"/>
          </a:p>
        </p:txBody>
      </p:sp>
      <p:sp>
        <p:nvSpPr>
          <p:cNvPr id="83" name="Google Shape;83;p9"/>
          <p:cNvSpPr/>
          <p:nvPr/>
        </p:nvSpPr>
        <p:spPr>
          <a:xfrm>
            <a:off x="5565696" y="5786795"/>
            <a:ext cx="359033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Test polynomial degrees and detect overfitting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/>
          <p:nvPr/>
        </p:nvSpPr>
        <p:spPr>
          <a:xfrm>
            <a:off x="793790" y="1696641"/>
            <a:ext cx="776513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This Module Matters</a:t>
            </a:r>
            <a:endParaRPr b="0" i="0" sz="5100" u="none" cap="none" strike="noStrike"/>
          </a:p>
        </p:txBody>
      </p:sp>
      <p:sp>
        <p:nvSpPr>
          <p:cNvPr id="90" name="Google Shape;90;p10"/>
          <p:cNvSpPr/>
          <p:nvPr/>
        </p:nvSpPr>
        <p:spPr>
          <a:xfrm>
            <a:off x="793790" y="2884527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Real data is messy and rarely follows a simple straight line. Understanding Multiple Linear Regression and Polynomial Regression will transform how you approach prediction problems.</a:t>
            </a:r>
            <a:endParaRPr b="0" i="0" sz="1750" u="none" cap="none" strike="noStrike"/>
          </a:p>
        </p:txBody>
      </p:sp>
      <p:sp>
        <p:nvSpPr>
          <p:cNvPr id="91" name="Google Shape;91;p10"/>
          <p:cNvSpPr/>
          <p:nvPr/>
        </p:nvSpPr>
        <p:spPr>
          <a:xfrm>
            <a:off x="793790" y="3729276"/>
            <a:ext cx="4196358" cy="2253734"/>
          </a:xfrm>
          <a:prstGeom prst="roundRect">
            <a:avLst>
              <a:gd fmla="val 4227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0"/>
          <p:cNvSpPr/>
          <p:nvPr/>
        </p:nvSpPr>
        <p:spPr>
          <a:xfrm>
            <a:off x="1051084" y="3986570"/>
            <a:ext cx="329041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Build Stronger Models</a:t>
            </a:r>
            <a:endParaRPr b="0" i="0" sz="2550" u="none" cap="none" strike="noStrike"/>
          </a:p>
        </p:txBody>
      </p:sp>
      <p:sp>
        <p:nvSpPr>
          <p:cNvPr id="93" name="Google Shape;93;p10"/>
          <p:cNvSpPr/>
          <p:nvPr/>
        </p:nvSpPr>
        <p:spPr>
          <a:xfrm>
            <a:off x="1051084" y="4546521"/>
            <a:ext cx="368177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Create more accurate predictions by leveraging multiple features simultaneously</a:t>
            </a:r>
            <a:endParaRPr b="0" i="0" sz="1750" u="none" cap="none" strike="noStrike"/>
          </a:p>
        </p:txBody>
      </p:sp>
      <p:sp>
        <p:nvSpPr>
          <p:cNvPr id="94" name="Google Shape;94;p10"/>
          <p:cNvSpPr/>
          <p:nvPr/>
        </p:nvSpPr>
        <p:spPr>
          <a:xfrm>
            <a:off x="5216962" y="3729276"/>
            <a:ext cx="4196358" cy="2253734"/>
          </a:xfrm>
          <a:prstGeom prst="roundRect">
            <a:avLst>
              <a:gd fmla="val 4227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"/>
          <p:cNvSpPr/>
          <p:nvPr/>
        </p:nvSpPr>
        <p:spPr>
          <a:xfrm>
            <a:off x="5474256" y="398657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Capture Real Patterns</a:t>
            </a:r>
            <a:endParaRPr b="0" i="0" sz="2550" u="none" cap="none" strike="noStrike"/>
          </a:p>
        </p:txBody>
      </p:sp>
      <p:sp>
        <p:nvSpPr>
          <p:cNvPr id="96" name="Google Shape;96;p10"/>
          <p:cNvSpPr/>
          <p:nvPr/>
        </p:nvSpPr>
        <p:spPr>
          <a:xfrm>
            <a:off x="5474256" y="4546521"/>
            <a:ext cx="368177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Model nonlinear relationships and complex interactions in your data</a:t>
            </a:r>
            <a:endParaRPr b="0" i="0" sz="1750" u="none" cap="none" strike="noStrike"/>
          </a:p>
        </p:txBody>
      </p:sp>
      <p:sp>
        <p:nvSpPr>
          <p:cNvPr id="97" name="Google Shape;97;p10"/>
          <p:cNvSpPr/>
          <p:nvPr/>
        </p:nvSpPr>
        <p:spPr>
          <a:xfrm>
            <a:off x="9640133" y="3729276"/>
            <a:ext cx="4196358" cy="2253734"/>
          </a:xfrm>
          <a:prstGeom prst="roundRect">
            <a:avLst>
              <a:gd fmla="val 4227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9897427" y="398657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Balance Complexity</a:t>
            </a:r>
            <a:endParaRPr b="0" i="0" sz="2550" u="none" cap="none" strike="noStrike"/>
          </a:p>
        </p:txBody>
      </p:sp>
      <p:sp>
        <p:nvSpPr>
          <p:cNvPr id="99" name="Google Shape;99;p10"/>
          <p:cNvSpPr/>
          <p:nvPr/>
        </p:nvSpPr>
        <p:spPr>
          <a:xfrm>
            <a:off x="9897427" y="4546521"/>
            <a:ext cx="368177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Identify underfitting and overfitting, choosing the right model complexity for each task</a:t>
            </a:r>
            <a:endParaRPr b="0" i="0" sz="1750" u="none" cap="none" strike="noStrike"/>
          </a:p>
        </p:txBody>
      </p:sp>
      <p:sp>
        <p:nvSpPr>
          <p:cNvPr id="100" name="Google Shape;100;p10"/>
          <p:cNvSpPr/>
          <p:nvPr/>
        </p:nvSpPr>
        <p:spPr>
          <a:xfrm>
            <a:off x="793790" y="6238161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module transforms your regression knowledge into real machine learning power.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
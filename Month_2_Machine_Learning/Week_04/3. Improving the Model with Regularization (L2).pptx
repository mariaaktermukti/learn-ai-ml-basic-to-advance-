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Marcellus"/>
      <p:regular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Marcellus-regular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6280190" y="2802136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Improving the Model with Regularization (L2)</a:t>
            </a:r>
            <a:endParaRPr b="0" i="0" sz="5100" u="none" cap="none" strike="noStrike"/>
          </a:p>
        </p:txBody>
      </p:sp>
      <p:sp>
        <p:nvSpPr>
          <p:cNvPr id="33" name="Google Shape;33;p8"/>
          <p:cNvSpPr/>
          <p:nvPr/>
        </p:nvSpPr>
        <p:spPr>
          <a:xfrm>
            <a:off x="6280190" y="4837748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practical guide to strengthening your logistic regression models through regularization techniques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793790" y="2471976"/>
            <a:ext cx="686657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is Regularization?</a:t>
            </a:r>
            <a:endParaRPr b="0" i="0" sz="5100" u="none" cap="none" strike="noStrike"/>
          </a:p>
        </p:txBody>
      </p:sp>
      <p:sp>
        <p:nvSpPr>
          <p:cNvPr id="40" name="Google Shape;40;p9"/>
          <p:cNvSpPr/>
          <p:nvPr/>
        </p:nvSpPr>
        <p:spPr>
          <a:xfrm>
            <a:off x="793790" y="3773329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Regularization is a technique that prevents overfitting by discouraging large weights in your model. Think of it as a guardrail that keeps your model from becoming too complex and unstable.</a:t>
            </a:r>
            <a:endParaRPr b="0" i="0" sz="1750" u="none" cap="none" strike="noStrike"/>
          </a:p>
        </p:txBody>
      </p:sp>
      <p:sp>
        <p:nvSpPr>
          <p:cNvPr id="41" name="Google Shape;41;p9"/>
          <p:cNvSpPr/>
          <p:nvPr/>
        </p:nvSpPr>
        <p:spPr>
          <a:xfrm>
            <a:off x="793790" y="4618077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By adding constraints during training, regularization makes models simpler, more stable, and better at generalizing to new data.</a:t>
            </a:r>
            <a:endParaRPr b="0" i="0" sz="175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793790" y="5462826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L2 regularization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is the most common choice for logistic regression and the default in most implementations.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793790" y="2443282"/>
            <a:ext cx="862798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How L2 Regularization Works</a:t>
            </a:r>
            <a:endParaRPr b="0" i="0" sz="5100" u="none" cap="none" strike="noStrike"/>
          </a:p>
        </p:txBody>
      </p:sp>
      <p:sp>
        <p:nvSpPr>
          <p:cNvPr id="49" name="Google Shape;49;p10"/>
          <p:cNvSpPr/>
          <p:nvPr/>
        </p:nvSpPr>
        <p:spPr>
          <a:xfrm>
            <a:off x="793810" y="3631175"/>
            <a:ext cx="447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50" name="Google Shape;50;p10"/>
          <p:cNvSpPr/>
          <p:nvPr/>
        </p:nvSpPr>
        <p:spPr>
          <a:xfrm>
            <a:off x="793790" y="399752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>
            <a:off x="793790" y="417183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Adds a Penalty Term</a:t>
            </a:r>
            <a:endParaRPr b="0" i="0" sz="2550" u="none" cap="none" strike="noStrike"/>
          </a:p>
        </p:txBody>
      </p:sp>
      <p:sp>
        <p:nvSpPr>
          <p:cNvPr id="52" name="Google Shape;52;p10"/>
          <p:cNvSpPr/>
          <p:nvPr/>
        </p:nvSpPr>
        <p:spPr>
          <a:xfrm>
            <a:off x="793790" y="473178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L2 adds a penalty based on the squared magnitude of coefficients to the loss function</a:t>
            </a:r>
            <a:endParaRPr b="0" i="0" sz="1750" u="none" cap="none" strike="noStrike"/>
          </a:p>
        </p:txBody>
      </p:sp>
      <p:sp>
        <p:nvSpPr>
          <p:cNvPr id="53" name="Google Shape;53;p10"/>
          <p:cNvSpPr/>
          <p:nvPr/>
        </p:nvSpPr>
        <p:spPr>
          <a:xfrm>
            <a:off x="5216943" y="3631175"/>
            <a:ext cx="406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54" name="Google Shape;54;p10"/>
          <p:cNvSpPr/>
          <p:nvPr/>
        </p:nvSpPr>
        <p:spPr>
          <a:xfrm>
            <a:off x="5216962" y="399752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5216962" y="4171831"/>
            <a:ext cx="376380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Shrinks Weights Smoothly</a:t>
            </a:r>
            <a:endParaRPr b="0" i="0" sz="2550" u="none" cap="none" strike="noStrike"/>
          </a:p>
        </p:txBody>
      </p:sp>
      <p:sp>
        <p:nvSpPr>
          <p:cNvPr id="56" name="Google Shape;56;p10"/>
          <p:cNvSpPr/>
          <p:nvPr/>
        </p:nvSpPr>
        <p:spPr>
          <a:xfrm>
            <a:off x="5216962" y="473178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Instead of eliminating features, L2 reduces all weights proportionally toward zero</a:t>
            </a:r>
            <a:endParaRPr b="0" i="0" sz="1750" u="none" cap="none" strike="noStrike"/>
          </a:p>
        </p:txBody>
      </p:sp>
      <p:sp>
        <p:nvSpPr>
          <p:cNvPr id="57" name="Google Shape;57;p10"/>
          <p:cNvSpPr/>
          <p:nvPr/>
        </p:nvSpPr>
        <p:spPr>
          <a:xfrm>
            <a:off x="9640118" y="3631175"/>
            <a:ext cx="406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58" name="Google Shape;58;p10"/>
          <p:cNvSpPr/>
          <p:nvPr/>
        </p:nvSpPr>
        <p:spPr>
          <a:xfrm>
            <a:off x="9640133" y="3997523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/>
          <p:nvPr/>
        </p:nvSpPr>
        <p:spPr>
          <a:xfrm>
            <a:off x="9640133" y="4171831"/>
            <a:ext cx="356651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Improves Generalization</a:t>
            </a:r>
            <a:endParaRPr b="0" i="0" sz="2550" u="none" cap="none" strike="noStrike"/>
          </a:p>
        </p:txBody>
      </p:sp>
      <p:sp>
        <p:nvSpPr>
          <p:cNvPr id="60" name="Google Shape;60;p10"/>
          <p:cNvSpPr/>
          <p:nvPr/>
        </p:nvSpPr>
        <p:spPr>
          <a:xfrm>
            <a:off x="9640133" y="4731782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Smaller, balanced weights help the model perform better on unseen data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93790" y="1272778"/>
            <a:ext cx="130428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C Parameter: Your Regularization Volume Knob</a:t>
            </a:r>
            <a:endParaRPr b="0" i="0" sz="5100" u="none" cap="none" strike="noStrike"/>
          </a:p>
        </p:txBody>
      </p:sp>
      <p:sp>
        <p:nvSpPr>
          <p:cNvPr id="67" name="Google Shape;67;p11"/>
          <p:cNvSpPr/>
          <p:nvPr/>
        </p:nvSpPr>
        <p:spPr>
          <a:xfrm>
            <a:off x="793790" y="3308390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 scikit-learn's LogisticRegression, the </a:t>
            </a:r>
            <a:r>
              <a:rPr b="0" i="0" lang="en-US" sz="1750" u="none" cap="none" strike="noStrike">
                <a:solidFill>
                  <a:srgbClr val="67534F"/>
                </a:solidFill>
                <a:highlight>
                  <a:srgbClr val="F2F2E7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parameter controls regularization strength. Think of it as a volume knob that adjusts how much penalty is applied.</a:t>
            </a:r>
            <a:endParaRPr b="0" i="0" sz="1750" u="none" cap="none" strike="noStrike"/>
          </a:p>
        </p:txBody>
      </p:sp>
      <p:sp>
        <p:nvSpPr>
          <p:cNvPr id="68" name="Google Shape;68;p11"/>
          <p:cNvSpPr/>
          <p:nvPr/>
        </p:nvSpPr>
        <p:spPr>
          <a:xfrm>
            <a:off x="793790" y="4153138"/>
            <a:ext cx="6407944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1"/>
          <p:cNvSpPr/>
          <p:nvPr/>
        </p:nvSpPr>
        <p:spPr>
          <a:xfrm>
            <a:off x="763310" y="4153138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1"/>
          <p:cNvSpPr/>
          <p:nvPr/>
        </p:nvSpPr>
        <p:spPr>
          <a:xfrm>
            <a:off x="1142524" y="4410432"/>
            <a:ext cx="5271135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Smaller C = Stronger Regularization</a:t>
            </a:r>
            <a:endParaRPr b="0" i="0" sz="2550" u="none" cap="none" strike="noStrike"/>
          </a:p>
        </p:txBody>
      </p:sp>
      <p:sp>
        <p:nvSpPr>
          <p:cNvPr id="71" name="Google Shape;71;p11"/>
          <p:cNvSpPr/>
          <p:nvPr/>
        </p:nvSpPr>
        <p:spPr>
          <a:xfrm>
            <a:off x="1142524" y="4970383"/>
            <a:ext cx="5801916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Lower values (e.g., C=0.01) apply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more penalty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shrinking weights aggressively and creating simpler models</a:t>
            </a:r>
            <a:endParaRPr b="0" i="0" sz="1750" u="none" cap="none" strike="noStrike"/>
          </a:p>
        </p:txBody>
      </p:sp>
      <p:sp>
        <p:nvSpPr>
          <p:cNvPr id="72" name="Google Shape;72;p11"/>
          <p:cNvSpPr/>
          <p:nvPr/>
        </p:nvSpPr>
        <p:spPr>
          <a:xfrm>
            <a:off x="7428548" y="4153138"/>
            <a:ext cx="6408063" cy="1958935"/>
          </a:xfrm>
          <a:prstGeom prst="roundRect">
            <a:avLst>
              <a:gd fmla="val 7469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7398067" y="4153138"/>
            <a:ext cx="121920" cy="195893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7777282" y="4410432"/>
            <a:ext cx="4990862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Larger C = Weaker Regularization</a:t>
            </a:r>
            <a:endParaRPr b="0" i="0" sz="2550" u="none" cap="none" strike="noStrike"/>
          </a:p>
        </p:txBody>
      </p:sp>
      <p:sp>
        <p:nvSpPr>
          <p:cNvPr id="75" name="Google Shape;75;p11"/>
          <p:cNvSpPr/>
          <p:nvPr/>
        </p:nvSpPr>
        <p:spPr>
          <a:xfrm>
            <a:off x="7777282" y="4970383"/>
            <a:ext cx="5802035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Higher values (e.g., C=100) apply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less penalty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, allowing larger weights and more complex decision boundaries</a:t>
            </a:r>
            <a:endParaRPr b="0" i="0" sz="1750" u="none" cap="none" strike="noStrike"/>
          </a:p>
        </p:txBody>
      </p:sp>
      <p:sp>
        <p:nvSpPr>
          <p:cNvPr id="76" name="Google Shape;76;p11"/>
          <p:cNvSpPr/>
          <p:nvPr/>
        </p:nvSpPr>
        <p:spPr>
          <a:xfrm>
            <a:off x="793790" y="6367224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Finding the right C value requires experimentation—typically through cross-validation to balance simplicity and performance.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/>
          <p:nvPr/>
        </p:nvSpPr>
        <p:spPr>
          <a:xfrm>
            <a:off x="726281" y="636508"/>
            <a:ext cx="6956227" cy="775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8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650"/>
              <a:buFont typeface="Marcellus"/>
              <a:buNone/>
            </a:pPr>
            <a:r>
              <a:rPr b="0" i="0" lang="en-US" sz="46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Regularization Fixes</a:t>
            </a:r>
            <a:endParaRPr b="0" i="0" sz="4650" u="none" cap="none" strike="noStrike"/>
          </a:p>
        </p:txBody>
      </p:sp>
      <p:sp>
        <p:nvSpPr>
          <p:cNvPr id="83" name="Google Shape;83;p12"/>
          <p:cNvSpPr/>
          <p:nvPr/>
        </p:nvSpPr>
        <p:spPr>
          <a:xfrm>
            <a:off x="726281" y="1827133"/>
            <a:ext cx="6485096" cy="2342436"/>
          </a:xfrm>
          <a:prstGeom prst="roundRect">
            <a:avLst>
              <a:gd fmla="val 3721" name="adj"/>
            </a:avLst>
          </a:prstGeom>
          <a:solidFill>
            <a:srgbClr val="FFFFF4"/>
          </a:solidFill>
          <a:ln cap="flat" cmpd="sng" w="2285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/>
          <p:nvPr/>
        </p:nvSpPr>
        <p:spPr>
          <a:xfrm>
            <a:off x="956667" y="2057519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879" y="2228731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/>
          <p:nvPr/>
        </p:nvSpPr>
        <p:spPr>
          <a:xfrm>
            <a:off x="956667" y="2887623"/>
            <a:ext cx="4028956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Prevents Coefficient Explosion</a:t>
            </a:r>
            <a:endParaRPr b="0" i="0" sz="2300" u="none" cap="none" strike="noStrike"/>
          </a:p>
        </p:txBody>
      </p:sp>
      <p:sp>
        <p:nvSpPr>
          <p:cNvPr id="87" name="Google Shape;87;p12"/>
          <p:cNvSpPr/>
          <p:nvPr/>
        </p:nvSpPr>
        <p:spPr>
          <a:xfrm>
            <a:off x="956667" y="3399830"/>
            <a:ext cx="6024324" cy="53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Keeps weights from growing too large and dominating predictions</a:t>
            </a:r>
            <a:endParaRPr b="0" i="0" sz="1600" u="none" cap="none" strike="noStrike"/>
          </a:p>
        </p:txBody>
      </p:sp>
      <p:sp>
        <p:nvSpPr>
          <p:cNvPr id="88" name="Google Shape;88;p12"/>
          <p:cNvSpPr/>
          <p:nvPr/>
        </p:nvSpPr>
        <p:spPr>
          <a:xfrm>
            <a:off x="7418903" y="1827133"/>
            <a:ext cx="6485215" cy="2342436"/>
          </a:xfrm>
          <a:prstGeom prst="roundRect">
            <a:avLst>
              <a:gd fmla="val 3721" name="adj"/>
            </a:avLst>
          </a:prstGeom>
          <a:solidFill>
            <a:srgbClr val="FFFFF4"/>
          </a:solidFill>
          <a:ln cap="flat" cmpd="sng" w="22850">
            <a:solidFill>
              <a:srgbClr val="7D3E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2"/>
          <p:cNvSpPr/>
          <p:nvPr/>
        </p:nvSpPr>
        <p:spPr>
          <a:xfrm>
            <a:off x="7649289" y="2057519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7D3E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0501" y="2228731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/>
          <p:nvPr/>
        </p:nvSpPr>
        <p:spPr>
          <a:xfrm>
            <a:off x="7649289" y="2887623"/>
            <a:ext cx="2983111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Reduces Overfitting</a:t>
            </a:r>
            <a:endParaRPr b="0" i="0" sz="2300" u="none" cap="none" strike="noStrike"/>
          </a:p>
        </p:txBody>
      </p:sp>
      <p:sp>
        <p:nvSpPr>
          <p:cNvPr id="92" name="Google Shape;92;p12"/>
          <p:cNvSpPr/>
          <p:nvPr/>
        </p:nvSpPr>
        <p:spPr>
          <a:xfrm>
            <a:off x="7649289" y="3399830"/>
            <a:ext cx="6024443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Stops the model from memorizing training data patterns</a:t>
            </a:r>
            <a:endParaRPr b="0" i="0" sz="1600" u="none" cap="none" strike="noStrike"/>
          </a:p>
        </p:txBody>
      </p:sp>
      <p:sp>
        <p:nvSpPr>
          <p:cNvPr id="93" name="Google Shape;93;p12"/>
          <p:cNvSpPr/>
          <p:nvPr/>
        </p:nvSpPr>
        <p:spPr>
          <a:xfrm>
            <a:off x="726281" y="4377095"/>
            <a:ext cx="6485096" cy="2072759"/>
          </a:xfrm>
          <a:prstGeom prst="roundRect">
            <a:avLst>
              <a:gd fmla="val 4205" name="adj"/>
            </a:avLst>
          </a:prstGeom>
          <a:solidFill>
            <a:srgbClr val="FFFFF4"/>
          </a:solidFill>
          <a:ln cap="flat" cmpd="sng" w="22850">
            <a:solidFill>
              <a:srgbClr val="532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956667" y="4607481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532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879" y="4778692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"/>
          <p:cNvSpPr/>
          <p:nvPr/>
        </p:nvSpPr>
        <p:spPr>
          <a:xfrm>
            <a:off x="956667" y="5437584"/>
            <a:ext cx="2983111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Smoother Boundaries</a:t>
            </a:r>
            <a:endParaRPr b="0" i="0" sz="2300" u="none" cap="none" strike="noStrike"/>
          </a:p>
        </p:txBody>
      </p:sp>
      <p:sp>
        <p:nvSpPr>
          <p:cNvPr id="97" name="Google Shape;97;p12"/>
          <p:cNvSpPr/>
          <p:nvPr/>
        </p:nvSpPr>
        <p:spPr>
          <a:xfrm>
            <a:off x="956667" y="5949791"/>
            <a:ext cx="6024324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Creates cleaner, more generalizable decision boundaries</a:t>
            </a:r>
            <a:endParaRPr b="0" i="0" sz="1600" u="none" cap="none" strike="noStrike"/>
          </a:p>
        </p:txBody>
      </p:sp>
      <p:sp>
        <p:nvSpPr>
          <p:cNvPr id="98" name="Google Shape;98;p12"/>
          <p:cNvSpPr/>
          <p:nvPr/>
        </p:nvSpPr>
        <p:spPr>
          <a:xfrm>
            <a:off x="7418903" y="4377095"/>
            <a:ext cx="6485215" cy="2072759"/>
          </a:xfrm>
          <a:prstGeom prst="roundRect">
            <a:avLst>
              <a:gd fmla="val 4205" name="adj"/>
            </a:avLst>
          </a:prstGeom>
          <a:solidFill>
            <a:srgbClr val="FFFFF4"/>
          </a:solidFill>
          <a:ln cap="flat" cmpd="sng" w="22850">
            <a:solidFill>
              <a:srgbClr val="CC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2"/>
          <p:cNvSpPr/>
          <p:nvPr/>
        </p:nvSpPr>
        <p:spPr>
          <a:xfrm>
            <a:off x="7649289" y="4607481"/>
            <a:ext cx="622578" cy="622578"/>
          </a:xfrm>
          <a:prstGeom prst="roundRect">
            <a:avLst>
              <a:gd fmla="val 14685848" name="adj"/>
            </a:avLst>
          </a:prstGeom>
          <a:solidFill>
            <a:srgbClr val="CC5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0501" y="4778692"/>
            <a:ext cx="280154" cy="28015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7649289" y="5437584"/>
            <a:ext cx="3002399" cy="3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60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Stabilizes Performance</a:t>
            </a:r>
            <a:endParaRPr b="0" i="0" sz="2300" u="none" cap="none" strike="noStrike"/>
          </a:p>
        </p:txBody>
      </p:sp>
      <p:sp>
        <p:nvSpPr>
          <p:cNvPr id="102" name="Google Shape;102;p12"/>
          <p:cNvSpPr/>
          <p:nvPr/>
        </p:nvSpPr>
        <p:spPr>
          <a:xfrm>
            <a:off x="7649289" y="5949791"/>
            <a:ext cx="6024443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Ensures consistent behavior on unseen data</a:t>
            </a:r>
            <a:endParaRPr b="0" i="0" sz="1600" u="none" cap="none" strike="noStrike"/>
          </a:p>
        </p:txBody>
      </p:sp>
      <p:sp>
        <p:nvSpPr>
          <p:cNvPr id="103" name="Google Shape;103;p12"/>
          <p:cNvSpPr/>
          <p:nvPr/>
        </p:nvSpPr>
        <p:spPr>
          <a:xfrm>
            <a:off x="726281" y="6786890"/>
            <a:ext cx="13177837" cy="33457"/>
          </a:xfrm>
          <a:prstGeom prst="rect">
            <a:avLst/>
          </a:prstGeom>
          <a:solidFill>
            <a:srgbClr val="67534F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"/>
          <p:cNvSpPr/>
          <p:nvPr/>
        </p:nvSpPr>
        <p:spPr>
          <a:xfrm>
            <a:off x="726281" y="7053620"/>
            <a:ext cx="13177837" cy="53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Key Takeaway:</a:t>
            </a: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L2 regularization improves model health by keeping weights in check. Smaller C values shrink weights more aggressively. It's a simple but highly effective technique for building robust logistic regression models.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
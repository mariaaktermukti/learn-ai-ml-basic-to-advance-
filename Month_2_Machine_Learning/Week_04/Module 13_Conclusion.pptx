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8229600" cx="14630400"/>
  <p:notesSz cx="8229600" cy="14630400"/>
  <p:embeddedFontLst>
    <p:embeddedFont>
      <p:font typeface="Marcellus"/>
      <p:regular r:id="rId9"/>
    </p:embeddedFon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Marcellu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/>
          <p:nvPr/>
        </p:nvSpPr>
        <p:spPr>
          <a:xfrm>
            <a:off x="793790" y="1407914"/>
            <a:ext cx="130428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You Learned About Multiple Linear Regression</a:t>
            </a:r>
            <a:endParaRPr b="0" i="0" sz="5100" u="none" cap="none" strike="noStrike"/>
          </a:p>
        </p:txBody>
      </p:sp>
      <p:sp>
        <p:nvSpPr>
          <p:cNvPr id="29" name="Google Shape;29;p7"/>
          <p:cNvSpPr/>
          <p:nvPr/>
        </p:nvSpPr>
        <p:spPr>
          <a:xfrm>
            <a:off x="793790" y="3443526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now understand how models use several features together to predict a target variable. You learned the structure of the feature matrix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and the target vector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, forming the foundation of predictive modeling.</a:t>
            </a:r>
            <a:endParaRPr b="0" i="0" sz="1750" u="none" cap="none" strike="noStrike"/>
          </a:p>
        </p:txBody>
      </p:sp>
      <p:sp>
        <p:nvSpPr>
          <p:cNvPr id="30" name="Google Shape;30;p7"/>
          <p:cNvSpPr/>
          <p:nvPr/>
        </p:nvSpPr>
        <p:spPr>
          <a:xfrm>
            <a:off x="793790" y="4288274"/>
            <a:ext cx="4196358" cy="2533293"/>
          </a:xfrm>
          <a:prstGeom prst="roundRect">
            <a:avLst>
              <a:gd fmla="val 376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7"/>
          <p:cNvSpPr/>
          <p:nvPr/>
        </p:nvSpPr>
        <p:spPr>
          <a:xfrm>
            <a:off x="1043464" y="453794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MLR Equation</a:t>
            </a:r>
            <a:endParaRPr b="0" i="0" sz="2550" u="none" cap="none" strike="noStrike"/>
          </a:p>
        </p:txBody>
      </p:sp>
      <p:sp>
        <p:nvSpPr>
          <p:cNvPr id="32" name="Google Shape;32;p7"/>
          <p:cNvSpPr/>
          <p:nvPr/>
        </p:nvSpPr>
        <p:spPr>
          <a:xfrm>
            <a:off x="1043464" y="5097899"/>
            <a:ext cx="369701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practiced the core equation: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 = w₀ + w₁x₁ + w₂x₂ + … + wₙxₙ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, where each weight captures a feature's contribution.</a:t>
            </a:r>
            <a:endParaRPr b="0" i="0" sz="1750" u="none" cap="none" strike="noStrike"/>
          </a:p>
        </p:txBody>
      </p:sp>
      <p:sp>
        <p:nvSpPr>
          <p:cNvPr id="33" name="Google Shape;33;p7"/>
          <p:cNvSpPr/>
          <p:nvPr/>
        </p:nvSpPr>
        <p:spPr>
          <a:xfrm>
            <a:off x="5216962" y="4288274"/>
            <a:ext cx="4196358" cy="2533293"/>
          </a:xfrm>
          <a:prstGeom prst="roundRect">
            <a:avLst>
              <a:gd fmla="val 376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7"/>
          <p:cNvSpPr/>
          <p:nvPr/>
        </p:nvSpPr>
        <p:spPr>
          <a:xfrm>
            <a:off x="5466636" y="453794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Cost Function</a:t>
            </a:r>
            <a:endParaRPr b="0" i="0" sz="2550" u="none" cap="none" strike="noStrike"/>
          </a:p>
        </p:txBody>
      </p:sp>
      <p:sp>
        <p:nvSpPr>
          <p:cNvPr id="35" name="Google Shape;35;p7"/>
          <p:cNvSpPr/>
          <p:nvPr/>
        </p:nvSpPr>
        <p:spPr>
          <a:xfrm>
            <a:off x="5466636" y="5097899"/>
            <a:ext cx="369701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saw how the cost function measures prediction error and how optimization algorithms find the best weights to minimize that error.</a:t>
            </a:r>
            <a:endParaRPr b="0" i="0" sz="1750" u="none" cap="none" strike="noStrike"/>
          </a:p>
        </p:txBody>
      </p:sp>
      <p:sp>
        <p:nvSpPr>
          <p:cNvPr id="36" name="Google Shape;36;p7"/>
          <p:cNvSpPr/>
          <p:nvPr/>
        </p:nvSpPr>
        <p:spPr>
          <a:xfrm>
            <a:off x="9640133" y="4288274"/>
            <a:ext cx="4196358" cy="2533293"/>
          </a:xfrm>
          <a:prstGeom prst="roundRect">
            <a:avLst>
              <a:gd fmla="val 376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>
            <a:off x="9889808" y="453794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Real Application</a:t>
            </a:r>
            <a:endParaRPr b="0" i="0" sz="2550" u="none" cap="none" strike="noStrike"/>
          </a:p>
        </p:txBody>
      </p:sp>
      <p:sp>
        <p:nvSpPr>
          <p:cNvPr id="38" name="Google Shape;38;p7"/>
          <p:cNvSpPr/>
          <p:nvPr/>
        </p:nvSpPr>
        <p:spPr>
          <a:xfrm>
            <a:off x="9889808" y="5097899"/>
            <a:ext cx="369701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built and evaluated a complete Multiple Linear Regression model using real data, applying theory to practice.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>
            <a:off x="793790" y="1446371"/>
            <a:ext cx="11015424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Understanding Polynomial Regression</a:t>
            </a:r>
            <a:endParaRPr b="0" i="0" sz="5100" u="none" cap="none" strike="noStrike"/>
          </a:p>
        </p:txBody>
      </p:sp>
      <p:sp>
        <p:nvSpPr>
          <p:cNvPr id="45" name="Google Shape;45;p8"/>
          <p:cNvSpPr/>
          <p:nvPr/>
        </p:nvSpPr>
        <p:spPr>
          <a:xfrm>
            <a:off x="793790" y="2384822"/>
            <a:ext cx="5658564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Why Polynomial Models Matter</a:t>
            </a:r>
            <a:endParaRPr b="0" i="0" sz="3050" u="none" cap="none" strike="noStrike"/>
          </a:p>
        </p:txBody>
      </p:sp>
      <p:sp>
        <p:nvSpPr>
          <p:cNvPr id="46" name="Google Shape;46;p8"/>
          <p:cNvSpPr/>
          <p:nvPr/>
        </p:nvSpPr>
        <p:spPr>
          <a:xfrm>
            <a:off x="793790" y="3233499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learned why linear models fail when the data bends or curves. Real-world relationships often follow nonlinear patterns that straight lines simply cannot capture.</a:t>
            </a:r>
            <a:endParaRPr b="0" i="0" sz="1750" u="none" cap="none" strike="noStrike"/>
          </a:p>
        </p:txBody>
      </p:sp>
      <p:sp>
        <p:nvSpPr>
          <p:cNvPr id="47" name="Google Shape;47;p8"/>
          <p:cNvSpPr/>
          <p:nvPr/>
        </p:nvSpPr>
        <p:spPr>
          <a:xfrm>
            <a:off x="793790" y="4078248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Polynomial expansion allows the model to follow curved patterns by transforming features into higher-degree terms while maintaining the linear framework.</a:t>
            </a:r>
            <a:endParaRPr b="0" i="0" sz="1750" u="none" cap="none" strike="noStrike"/>
          </a:p>
        </p:txBody>
      </p:sp>
      <p:sp>
        <p:nvSpPr>
          <p:cNvPr id="48" name="Google Shape;48;p8"/>
          <p:cNvSpPr/>
          <p:nvPr/>
        </p:nvSpPr>
        <p:spPr>
          <a:xfrm>
            <a:off x="793790" y="4922996"/>
            <a:ext cx="226814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750" u="none" cap="none" strike="noStrike"/>
          </a:p>
        </p:txBody>
      </p:sp>
      <p:sp>
        <p:nvSpPr>
          <p:cNvPr id="49" name="Google Shape;49;p8"/>
          <p:cNvSpPr/>
          <p:nvPr/>
        </p:nvSpPr>
        <p:spPr>
          <a:xfrm>
            <a:off x="793790" y="5289352"/>
            <a:ext cx="6407944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/>
          <p:nvPr/>
        </p:nvSpPr>
        <p:spPr>
          <a:xfrm>
            <a:off x="793790" y="546365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Polynomial Form</a:t>
            </a:r>
            <a:endParaRPr b="0" i="0" sz="2550" u="none" cap="none" strike="noStrike"/>
          </a:p>
        </p:txBody>
      </p:sp>
      <p:sp>
        <p:nvSpPr>
          <p:cNvPr id="51" name="Google Shape;51;p8"/>
          <p:cNvSpPr/>
          <p:nvPr/>
        </p:nvSpPr>
        <p:spPr>
          <a:xfrm>
            <a:off x="793790" y="6023610"/>
            <a:ext cx="6407944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learned the polynomial equation: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 = w₀ + w₁x + w₂x² + w₃x³ + …</a:t>
            </a:r>
            <a:endParaRPr b="0" i="0" sz="1750" u="none" cap="none" strike="noStrike"/>
          </a:p>
        </p:txBody>
      </p:sp>
      <p:sp>
        <p:nvSpPr>
          <p:cNvPr id="52" name="Google Shape;52;p8"/>
          <p:cNvSpPr/>
          <p:nvPr/>
        </p:nvSpPr>
        <p:spPr>
          <a:xfrm>
            <a:off x="7428548" y="4922996"/>
            <a:ext cx="226814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750" u="none" cap="none" strike="noStrike"/>
          </a:p>
        </p:txBody>
      </p:sp>
      <p:sp>
        <p:nvSpPr>
          <p:cNvPr id="53" name="Google Shape;53;p8"/>
          <p:cNvSpPr/>
          <p:nvPr/>
        </p:nvSpPr>
        <p:spPr>
          <a:xfrm>
            <a:off x="7428548" y="5289352"/>
            <a:ext cx="6408063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7428548" y="546365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Linear in Parameters</a:t>
            </a:r>
            <a:endParaRPr b="0" i="0" sz="2550" u="none" cap="none" strike="noStrike"/>
          </a:p>
        </p:txBody>
      </p:sp>
      <p:sp>
        <p:nvSpPr>
          <p:cNvPr id="55" name="Google Shape;55;p8"/>
          <p:cNvSpPr/>
          <p:nvPr/>
        </p:nvSpPr>
        <p:spPr>
          <a:xfrm>
            <a:off x="7428548" y="6023610"/>
            <a:ext cx="6408063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saw how polynomial models stay linear in parameters while modeling nonlinear trends in the data.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793790" y="798671"/>
            <a:ext cx="7507605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You Saw in Practice</a:t>
            </a:r>
            <a:endParaRPr b="0" i="0" sz="5100" u="none" cap="none" strike="noStrike"/>
          </a:p>
        </p:txBody>
      </p:sp>
      <p:sp>
        <p:nvSpPr>
          <p:cNvPr id="62" name="Google Shape;62;p9"/>
          <p:cNvSpPr/>
          <p:nvPr/>
        </p:nvSpPr>
        <p:spPr>
          <a:xfrm>
            <a:off x="793790" y="2326719"/>
            <a:ext cx="6407944" cy="2268617"/>
          </a:xfrm>
          <a:prstGeom prst="roundRect">
            <a:avLst>
              <a:gd fmla="val 6449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793790" y="2296239"/>
            <a:ext cx="6407944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"/>
          <p:cNvSpPr/>
          <p:nvPr/>
        </p:nvSpPr>
        <p:spPr>
          <a:xfrm>
            <a:off x="3657540" y="1986558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3861614" y="2149912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1</a:t>
            </a:r>
            <a:endParaRPr b="0" i="0" sz="2100" u="none" cap="none" strike="noStrike"/>
          </a:p>
        </p:txBody>
      </p:sp>
      <p:sp>
        <p:nvSpPr>
          <p:cNvPr id="66" name="Google Shape;66;p9"/>
          <p:cNvSpPr/>
          <p:nvPr/>
        </p:nvSpPr>
        <p:spPr>
          <a:xfrm>
            <a:off x="1051084" y="2893695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Model Comparison</a:t>
            </a:r>
            <a:endParaRPr b="0" i="0" sz="2550" u="none" cap="none" strike="noStrike"/>
          </a:p>
        </p:txBody>
      </p:sp>
      <p:sp>
        <p:nvSpPr>
          <p:cNvPr id="67" name="Google Shape;67;p9"/>
          <p:cNvSpPr/>
          <p:nvPr/>
        </p:nvSpPr>
        <p:spPr>
          <a:xfrm>
            <a:off x="1051084" y="3453646"/>
            <a:ext cx="5893356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compared polynomial degrees and observed both underfitting (too simple) and overfitting (too complex) behaviors in action.</a:t>
            </a:r>
            <a:endParaRPr b="0" i="0" sz="1750" u="none" cap="none" strike="noStrike"/>
          </a:p>
        </p:txBody>
      </p:sp>
      <p:sp>
        <p:nvSpPr>
          <p:cNvPr id="68" name="Google Shape;68;p9"/>
          <p:cNvSpPr/>
          <p:nvPr/>
        </p:nvSpPr>
        <p:spPr>
          <a:xfrm>
            <a:off x="7428548" y="2326719"/>
            <a:ext cx="6408063" cy="2268617"/>
          </a:xfrm>
          <a:prstGeom prst="roundRect">
            <a:avLst>
              <a:gd fmla="val 6449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7428548" y="2296239"/>
            <a:ext cx="6408063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10292298" y="1986558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10496371" y="2149912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2</a:t>
            </a:r>
            <a:endParaRPr b="0" i="0" sz="2100" u="none" cap="none" strike="noStrike"/>
          </a:p>
        </p:txBody>
      </p:sp>
      <p:sp>
        <p:nvSpPr>
          <p:cNvPr id="72" name="Google Shape;72;p9"/>
          <p:cNvSpPr/>
          <p:nvPr/>
        </p:nvSpPr>
        <p:spPr>
          <a:xfrm>
            <a:off x="7685842" y="2893695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Performance Metrics</a:t>
            </a:r>
            <a:endParaRPr b="0" i="0" sz="2550" u="none" cap="none" strike="noStrike"/>
          </a:p>
        </p:txBody>
      </p:sp>
      <p:sp>
        <p:nvSpPr>
          <p:cNvPr id="73" name="Google Shape;73;p9"/>
          <p:cNvSpPr/>
          <p:nvPr/>
        </p:nvSpPr>
        <p:spPr>
          <a:xfrm>
            <a:off x="7685842" y="3453646"/>
            <a:ext cx="589347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evaluated models using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R²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MAE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, and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RMSE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to quantify prediction accuracy and error.</a:t>
            </a:r>
            <a:endParaRPr b="0" i="0" sz="1750" u="none" cap="none" strike="noStrike"/>
          </a:p>
        </p:txBody>
      </p:sp>
      <p:sp>
        <p:nvSpPr>
          <p:cNvPr id="74" name="Google Shape;74;p9"/>
          <p:cNvSpPr/>
          <p:nvPr/>
        </p:nvSpPr>
        <p:spPr>
          <a:xfrm>
            <a:off x="793790" y="5162312"/>
            <a:ext cx="6407944" cy="2268617"/>
          </a:xfrm>
          <a:prstGeom prst="roundRect">
            <a:avLst>
              <a:gd fmla="val 6449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793790" y="5131832"/>
            <a:ext cx="6407944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3657540" y="4822150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/>
          <p:nvPr/>
        </p:nvSpPr>
        <p:spPr>
          <a:xfrm>
            <a:off x="3861614" y="4985504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3</a:t>
            </a:r>
            <a:endParaRPr b="0" i="0" sz="2100" u="none" cap="none" strike="noStrike"/>
          </a:p>
        </p:txBody>
      </p:sp>
      <p:sp>
        <p:nvSpPr>
          <p:cNvPr id="78" name="Google Shape;78;p9"/>
          <p:cNvSpPr/>
          <p:nvPr/>
        </p:nvSpPr>
        <p:spPr>
          <a:xfrm>
            <a:off x="1051084" y="572928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Degree Impact</a:t>
            </a:r>
            <a:endParaRPr b="0" i="0" sz="2550" u="none" cap="none" strike="noStrike"/>
          </a:p>
        </p:txBody>
      </p:sp>
      <p:sp>
        <p:nvSpPr>
          <p:cNvPr id="79" name="Google Shape;79;p9"/>
          <p:cNvSpPr/>
          <p:nvPr/>
        </p:nvSpPr>
        <p:spPr>
          <a:xfrm>
            <a:off x="1051084" y="6289238"/>
            <a:ext cx="589335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learned how polynomial degree affects both training and test performance differently.</a:t>
            </a:r>
            <a:endParaRPr b="0" i="0" sz="1750" u="none" cap="none" strike="noStrike"/>
          </a:p>
        </p:txBody>
      </p:sp>
      <p:sp>
        <p:nvSpPr>
          <p:cNvPr id="80" name="Google Shape;80;p9"/>
          <p:cNvSpPr/>
          <p:nvPr/>
        </p:nvSpPr>
        <p:spPr>
          <a:xfrm>
            <a:off x="7428548" y="5162312"/>
            <a:ext cx="6408063" cy="2268617"/>
          </a:xfrm>
          <a:prstGeom prst="roundRect">
            <a:avLst>
              <a:gd fmla="val 6449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7428548" y="5131832"/>
            <a:ext cx="6408063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10292298" y="4822150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10496371" y="4985504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4</a:t>
            </a:r>
            <a:endParaRPr b="0" i="0" sz="2100" u="none" cap="none" strike="noStrike"/>
          </a:p>
        </p:txBody>
      </p:sp>
      <p:sp>
        <p:nvSpPr>
          <p:cNvPr id="84" name="Google Shape;84;p9"/>
          <p:cNvSpPr/>
          <p:nvPr/>
        </p:nvSpPr>
        <p:spPr>
          <a:xfrm>
            <a:off x="7685842" y="572928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Complexity Control</a:t>
            </a:r>
            <a:endParaRPr b="0" i="0" sz="2550" u="none" cap="none" strike="noStrike"/>
          </a:p>
        </p:txBody>
      </p:sp>
      <p:sp>
        <p:nvSpPr>
          <p:cNvPr id="85" name="Google Shape;85;p9"/>
          <p:cNvSpPr/>
          <p:nvPr/>
        </p:nvSpPr>
        <p:spPr>
          <a:xfrm>
            <a:off x="7685842" y="6289238"/>
            <a:ext cx="5893475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now understand why controlling model complexity is critical for real prediction tasks and generalization.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/>
          <p:nvPr/>
        </p:nvSpPr>
        <p:spPr>
          <a:xfrm>
            <a:off x="748070" y="587812"/>
            <a:ext cx="8900755" cy="798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0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800"/>
              <a:buFont typeface="Marcellus"/>
              <a:buNone/>
            </a:pPr>
            <a:r>
              <a:rPr b="0" i="0" lang="en-US" sz="48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Final Takeaways from Module 13</a:t>
            </a:r>
            <a:endParaRPr b="0" i="0" sz="4800" u="none" cap="none" strike="noStrike"/>
          </a:p>
        </p:txBody>
      </p:sp>
      <p:sp>
        <p:nvSpPr>
          <p:cNvPr id="92" name="Google Shape;92;p10"/>
          <p:cNvSpPr/>
          <p:nvPr/>
        </p:nvSpPr>
        <p:spPr>
          <a:xfrm>
            <a:off x="748070" y="1814155"/>
            <a:ext cx="6460212" cy="2411373"/>
          </a:xfrm>
          <a:prstGeom prst="roundRect">
            <a:avLst>
              <a:gd fmla="val 372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"/>
          <p:cNvSpPr/>
          <p:nvPr/>
        </p:nvSpPr>
        <p:spPr>
          <a:xfrm>
            <a:off x="984647" y="2050733"/>
            <a:ext cx="641271" cy="641271"/>
          </a:xfrm>
          <a:prstGeom prst="roundRect">
            <a:avLst>
              <a:gd fmla="val 14257756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0978" y="2227064"/>
            <a:ext cx="288488" cy="28848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0"/>
          <p:cNvSpPr/>
          <p:nvPr/>
        </p:nvSpPr>
        <p:spPr>
          <a:xfrm>
            <a:off x="984647" y="2905720"/>
            <a:ext cx="3072765" cy="39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00"/>
              <a:buFont typeface="Marcellus"/>
              <a:buNone/>
            </a:pPr>
            <a:r>
              <a:rPr b="0" i="0" lang="en-US" sz="24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Multiple Features</a:t>
            </a:r>
            <a:endParaRPr b="0" i="0" sz="2400" u="none" cap="none" strike="noStrike"/>
          </a:p>
        </p:txBody>
      </p:sp>
      <p:sp>
        <p:nvSpPr>
          <p:cNvPr id="96" name="Google Shape;96;p10"/>
          <p:cNvSpPr/>
          <p:nvPr/>
        </p:nvSpPr>
        <p:spPr>
          <a:xfrm>
            <a:off x="984647" y="3433405"/>
            <a:ext cx="5987058" cy="55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can now build MLR models that leverage multiple features simultaneously for predictions.</a:t>
            </a:r>
            <a:endParaRPr b="0" i="0" sz="1650" u="none" cap="none" strike="noStrike"/>
          </a:p>
        </p:txBody>
      </p:sp>
      <p:sp>
        <p:nvSpPr>
          <p:cNvPr id="97" name="Google Shape;97;p10"/>
          <p:cNvSpPr/>
          <p:nvPr/>
        </p:nvSpPr>
        <p:spPr>
          <a:xfrm>
            <a:off x="7421999" y="1814155"/>
            <a:ext cx="6460331" cy="2411373"/>
          </a:xfrm>
          <a:prstGeom prst="roundRect">
            <a:avLst>
              <a:gd fmla="val 372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"/>
          <p:cNvSpPr/>
          <p:nvPr/>
        </p:nvSpPr>
        <p:spPr>
          <a:xfrm>
            <a:off x="7658576" y="2050733"/>
            <a:ext cx="641271" cy="641271"/>
          </a:xfrm>
          <a:prstGeom prst="roundRect">
            <a:avLst>
              <a:gd fmla="val 14257756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34908" y="2227064"/>
            <a:ext cx="288488" cy="288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7658576" y="2905720"/>
            <a:ext cx="3072765" cy="39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00"/>
              <a:buFont typeface="Marcellus"/>
              <a:buNone/>
            </a:pPr>
            <a:r>
              <a:rPr b="0" i="0" lang="en-US" sz="24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Curved Patterns</a:t>
            </a:r>
            <a:endParaRPr b="0" i="0" sz="2400" u="none" cap="none" strike="noStrike"/>
          </a:p>
        </p:txBody>
      </p:sp>
      <p:sp>
        <p:nvSpPr>
          <p:cNvPr id="101" name="Google Shape;101;p10"/>
          <p:cNvSpPr/>
          <p:nvPr/>
        </p:nvSpPr>
        <p:spPr>
          <a:xfrm>
            <a:off x="7658576" y="3433405"/>
            <a:ext cx="5987177" cy="55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can identify when data needs curved modeling beyond simple linear relationships.</a:t>
            </a:r>
            <a:endParaRPr b="0" i="0" sz="1650" u="none" cap="none" strike="noStrike"/>
          </a:p>
        </p:txBody>
      </p:sp>
      <p:sp>
        <p:nvSpPr>
          <p:cNvPr id="102" name="Google Shape;102;p10"/>
          <p:cNvSpPr/>
          <p:nvPr/>
        </p:nvSpPr>
        <p:spPr>
          <a:xfrm>
            <a:off x="748070" y="4439245"/>
            <a:ext cx="6460212" cy="2411373"/>
          </a:xfrm>
          <a:prstGeom prst="roundRect">
            <a:avLst>
              <a:gd fmla="val 372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/>
          <p:nvPr/>
        </p:nvSpPr>
        <p:spPr>
          <a:xfrm>
            <a:off x="984647" y="4675823"/>
            <a:ext cx="641271" cy="641271"/>
          </a:xfrm>
          <a:prstGeom prst="roundRect">
            <a:avLst>
              <a:gd fmla="val 14257756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0978" y="4852154"/>
            <a:ext cx="288488" cy="288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0"/>
          <p:cNvSpPr/>
          <p:nvPr/>
        </p:nvSpPr>
        <p:spPr>
          <a:xfrm>
            <a:off x="984647" y="5530810"/>
            <a:ext cx="3072765" cy="39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00"/>
              <a:buFont typeface="Marcellus"/>
              <a:buNone/>
            </a:pPr>
            <a:r>
              <a:rPr b="0" i="0" lang="en-US" sz="24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Polynomial Regression</a:t>
            </a:r>
            <a:endParaRPr b="0" i="0" sz="2400" u="none" cap="none" strike="noStrike"/>
          </a:p>
        </p:txBody>
      </p:sp>
      <p:sp>
        <p:nvSpPr>
          <p:cNvPr id="106" name="Google Shape;106;p10"/>
          <p:cNvSpPr/>
          <p:nvPr/>
        </p:nvSpPr>
        <p:spPr>
          <a:xfrm>
            <a:off x="984647" y="6058495"/>
            <a:ext cx="5987058" cy="55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can apply Polynomial Regression to capture nonlinear patterns in your data effectively.</a:t>
            </a:r>
            <a:endParaRPr b="0" i="0" sz="1650" u="none" cap="none" strike="noStrike"/>
          </a:p>
        </p:txBody>
      </p:sp>
      <p:sp>
        <p:nvSpPr>
          <p:cNvPr id="107" name="Google Shape;107;p10"/>
          <p:cNvSpPr/>
          <p:nvPr/>
        </p:nvSpPr>
        <p:spPr>
          <a:xfrm>
            <a:off x="7421999" y="4439245"/>
            <a:ext cx="6460331" cy="2411373"/>
          </a:xfrm>
          <a:prstGeom prst="roundRect">
            <a:avLst>
              <a:gd fmla="val 372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7658576" y="4675823"/>
            <a:ext cx="641271" cy="641271"/>
          </a:xfrm>
          <a:prstGeom prst="roundRect">
            <a:avLst>
              <a:gd fmla="val 14257756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34908" y="4852154"/>
            <a:ext cx="288488" cy="288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0"/>
          <p:cNvSpPr/>
          <p:nvPr/>
        </p:nvSpPr>
        <p:spPr>
          <a:xfrm>
            <a:off x="7658576" y="5530810"/>
            <a:ext cx="3072765" cy="39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00"/>
              <a:buFont typeface="Marcellus"/>
              <a:buNone/>
            </a:pPr>
            <a:r>
              <a:rPr b="0" i="0" lang="en-US" sz="24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Smart Evaluation</a:t>
            </a:r>
            <a:endParaRPr b="0" i="0" sz="2400" u="none" cap="none" strike="noStrike"/>
          </a:p>
        </p:txBody>
      </p:sp>
      <p:sp>
        <p:nvSpPr>
          <p:cNvPr id="111" name="Google Shape;111;p10"/>
          <p:cNvSpPr/>
          <p:nvPr/>
        </p:nvSpPr>
        <p:spPr>
          <a:xfrm>
            <a:off x="7658576" y="6058495"/>
            <a:ext cx="5987177" cy="55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can evaluate models rigorously and choose the right level of complexity for optimal performance.</a:t>
            </a:r>
            <a:endParaRPr b="0" i="0" sz="1650" u="none" cap="none" strike="noStrike"/>
          </a:p>
        </p:txBody>
      </p:sp>
      <p:sp>
        <p:nvSpPr>
          <p:cNvPr id="112" name="Google Shape;112;p10"/>
          <p:cNvSpPr/>
          <p:nvPr/>
        </p:nvSpPr>
        <p:spPr>
          <a:xfrm>
            <a:off x="748070" y="7091005"/>
            <a:ext cx="13134261" cy="55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module prepared you to handle real prediction tasks with both linear and curved relationships, setting the foundation for advanced modeling techniques.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
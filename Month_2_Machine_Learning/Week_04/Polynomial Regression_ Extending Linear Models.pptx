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Marcellus"/>
      <p:regular r:id="rId14"/>
    </p:embeddedFon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regular.fntdata"/><Relationship Id="rId14" Type="http://schemas.openxmlformats.org/officeDocument/2006/relationships/font" Target="fonts/Marcellus-regular.fntdata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2"/>
          <p:cNvSpPr/>
          <p:nvPr/>
        </p:nvSpPr>
        <p:spPr>
          <a:xfrm>
            <a:off x="6280190" y="2802136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Polynomial Regression: Extending Linear Models</a:t>
            </a:r>
            <a:endParaRPr b="0" i="0" sz="5100" u="none" cap="none" strike="noStrike"/>
          </a:p>
        </p:txBody>
      </p:sp>
      <p:sp>
        <p:nvSpPr>
          <p:cNvPr id="45" name="Google Shape;45;p12"/>
          <p:cNvSpPr/>
          <p:nvPr/>
        </p:nvSpPr>
        <p:spPr>
          <a:xfrm>
            <a:off x="6280190" y="4837748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Discovering how to model complex, non-linear relationships in data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793790" y="2746891"/>
            <a:ext cx="848570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Problem Does It Solve?</a:t>
            </a:r>
            <a:endParaRPr b="0" i="0" sz="5100" u="none" cap="none" strike="noStrike"/>
          </a:p>
        </p:txBody>
      </p:sp>
      <p:sp>
        <p:nvSpPr>
          <p:cNvPr id="52" name="Google Shape;52;p13"/>
          <p:cNvSpPr/>
          <p:nvPr/>
        </p:nvSpPr>
        <p:spPr>
          <a:xfrm>
            <a:off x="793790" y="4048244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regression assumes a straight-line relationship between variables, but real-world data often follows curved patterns. When your data bends and curves, a straight line simply won't capture the true relationship.</a:t>
            </a:r>
            <a:endParaRPr b="0" i="0" sz="1750" u="none" cap="none" strike="noStrike"/>
          </a:p>
        </p:txBody>
      </p:sp>
      <p:sp>
        <p:nvSpPr>
          <p:cNvPr id="53" name="Google Shape;53;p13"/>
          <p:cNvSpPr/>
          <p:nvPr/>
        </p:nvSpPr>
        <p:spPr>
          <a:xfrm>
            <a:off x="793790" y="4892993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Polynomial regression extends linear models to handle these curved relationships while maintaining mathematical simplicity and interpretability.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677942" y="532686"/>
            <a:ext cx="9630608" cy="724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34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350"/>
              <a:buFont typeface="Marcellus"/>
              <a:buNone/>
            </a:pPr>
            <a:r>
              <a:rPr b="0" i="0" lang="en-US" sz="43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Example: Hours Studied vs Exam Score</a:t>
            </a:r>
            <a:endParaRPr b="0" i="0" sz="4350" u="none" cap="none" strike="noStrike"/>
          </a:p>
        </p:txBody>
      </p:sp>
      <p:sp>
        <p:nvSpPr>
          <p:cNvPr id="60" name="Google Shape;60;p14"/>
          <p:cNvSpPr/>
          <p:nvPr/>
        </p:nvSpPr>
        <p:spPr>
          <a:xfrm>
            <a:off x="677942" y="1644134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Imagine you collect this data from your class:</a:t>
            </a:r>
            <a:endParaRPr b="0" i="0" sz="1500" u="none" cap="none" strike="noStrike"/>
          </a:p>
        </p:txBody>
      </p:sp>
      <p:sp>
        <p:nvSpPr>
          <p:cNvPr id="61" name="Google Shape;61;p14"/>
          <p:cNvSpPr/>
          <p:nvPr/>
        </p:nvSpPr>
        <p:spPr>
          <a:xfrm>
            <a:off x="677942" y="2113836"/>
            <a:ext cx="13274516" cy="4010977"/>
          </a:xfrm>
          <a:prstGeom prst="roundRect">
            <a:avLst>
              <a:gd fmla="val 2028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685562" y="2121456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879277" y="224528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Hours Studied</a:t>
            </a:r>
            <a:endParaRPr b="0" i="0" sz="1500" u="none" cap="none" strike="noStrike"/>
          </a:p>
        </p:txBody>
      </p:sp>
      <p:sp>
        <p:nvSpPr>
          <p:cNvPr id="64" name="Google Shape;64;p14"/>
          <p:cNvSpPr/>
          <p:nvPr/>
        </p:nvSpPr>
        <p:spPr>
          <a:xfrm>
            <a:off x="7512725" y="224528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Exam Score</a:t>
            </a:r>
            <a:endParaRPr b="0" i="0" sz="150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685562" y="2620923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879277" y="2744748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50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7512725" y="2744748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35</a:t>
            </a:r>
            <a:endParaRPr b="0" i="0" sz="150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685562" y="3120390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879277" y="3244215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5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7512725" y="3244215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50</a:t>
            </a:r>
            <a:endParaRPr b="0" i="0" sz="15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685562" y="3619857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879277" y="3743682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5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512725" y="3743682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65</a:t>
            </a:r>
            <a:endParaRPr b="0" i="0" sz="15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685562" y="4119324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879277" y="4243149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5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512725" y="4243149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72</a:t>
            </a:r>
            <a:endParaRPr b="0" i="0" sz="15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685562" y="4618792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879277" y="4742617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5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7512725" y="4742617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78</a:t>
            </a:r>
            <a:endParaRPr b="0" i="0" sz="1500" u="none" cap="none" strike="noStrike"/>
          </a:p>
        </p:txBody>
      </p:sp>
      <p:sp>
        <p:nvSpPr>
          <p:cNvPr id="80" name="Google Shape;80;p14"/>
          <p:cNvSpPr/>
          <p:nvPr/>
        </p:nvSpPr>
        <p:spPr>
          <a:xfrm>
            <a:off x="685562" y="5118259"/>
            <a:ext cx="13259276" cy="499467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879277" y="5242084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0" i="0" sz="15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7512725" y="5242084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80</a:t>
            </a:r>
            <a:endParaRPr b="0" i="0" sz="150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685562" y="5617726"/>
            <a:ext cx="13259276" cy="499467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879277" y="574155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0" i="0" sz="150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7512725" y="5741551"/>
            <a:ext cx="6238399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81</a:t>
            </a:r>
            <a:endParaRPr b="0" i="0" sz="150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677942" y="6342698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If you plot these points, the pattern looks like this:</a:t>
            </a:r>
            <a:endParaRPr b="0" i="0" sz="1500" u="none" cap="none" strike="noStrike"/>
          </a:p>
        </p:txBody>
      </p:sp>
      <p:sp>
        <p:nvSpPr>
          <p:cNvPr id="87" name="Google Shape;87;p14"/>
          <p:cNvSpPr/>
          <p:nvPr/>
        </p:nvSpPr>
        <p:spPr>
          <a:xfrm>
            <a:off x="677942" y="6812399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At first, each extra hour gives a big jump in marks</a:t>
            </a:r>
            <a:endParaRPr b="0" i="0" sz="1500" u="none" cap="none" strike="noStrike"/>
          </a:p>
        </p:txBody>
      </p:sp>
      <p:sp>
        <p:nvSpPr>
          <p:cNvPr id="88" name="Google Shape;88;p14"/>
          <p:cNvSpPr/>
          <p:nvPr/>
        </p:nvSpPr>
        <p:spPr>
          <a:xfrm>
            <a:off x="677942" y="7131963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Later, extra hours give only a tiny improvement</a:t>
            </a:r>
            <a:endParaRPr b="0" i="0" sz="1500" u="none" cap="none" strike="noStrike"/>
          </a:p>
        </p:txBody>
      </p:sp>
      <p:sp>
        <p:nvSpPr>
          <p:cNvPr id="89" name="Google Shape;89;p14"/>
          <p:cNvSpPr/>
          <p:nvPr/>
        </p:nvSpPr>
        <p:spPr>
          <a:xfrm>
            <a:off x="677942" y="7451527"/>
            <a:ext cx="13274516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creates a curved, flattening pattern, not a straight-line relationship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/>
          <p:nvPr/>
        </p:nvSpPr>
        <p:spPr>
          <a:xfrm>
            <a:off x="793790" y="796647"/>
            <a:ext cx="919900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Linear vs Polynomial Regression</a:t>
            </a:r>
            <a:endParaRPr b="0" i="0" sz="510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793790" y="2211348"/>
            <a:ext cx="6244709" cy="1017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happens with simple linear regression?</a:t>
            </a:r>
            <a:endParaRPr b="0" i="0" sz="3050" u="none" cap="none" strike="noStrike"/>
          </a:p>
        </p:txBody>
      </p:sp>
      <p:sp>
        <p:nvSpPr>
          <p:cNvPr id="97" name="Google Shape;97;p15"/>
          <p:cNvSpPr/>
          <p:nvPr/>
        </p:nvSpPr>
        <p:spPr>
          <a:xfrm>
            <a:off x="793790" y="3455194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straight line might look like this:</a:t>
            </a:r>
            <a:endParaRPr b="0" i="0" sz="175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793790" y="4037052"/>
            <a:ext cx="6244709" cy="393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/>
          </a:p>
        </p:txBody>
      </p:sp>
      <p:pic>
        <p:nvPicPr>
          <p:cNvPr descr="preencoded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4037052"/>
            <a:ext cx="6244709" cy="393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/>
          <p:nvPr/>
        </p:nvSpPr>
        <p:spPr>
          <a:xfrm>
            <a:off x="793790" y="4717375"/>
            <a:ext cx="624470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It fits the early hours but misses the flattening at higher hours.</a:t>
            </a:r>
            <a:endParaRPr b="0" i="0" sz="175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7599521" y="2211348"/>
            <a:ext cx="6244709" cy="1017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polynomial regression can do</a:t>
            </a:r>
            <a:endParaRPr b="0" i="0" sz="3050" u="none" cap="none" strike="noStrike"/>
          </a:p>
        </p:txBody>
      </p:sp>
      <p:sp>
        <p:nvSpPr>
          <p:cNvPr id="102" name="Google Shape;102;p15"/>
          <p:cNvSpPr/>
          <p:nvPr/>
        </p:nvSpPr>
        <p:spPr>
          <a:xfrm>
            <a:off x="7599521" y="3455194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polynomial model like:</a:t>
            </a:r>
            <a:endParaRPr b="0" i="0" sz="1750" u="none" cap="none" strike="noStrike"/>
          </a:p>
        </p:txBody>
      </p:sp>
      <p:sp>
        <p:nvSpPr>
          <p:cNvPr id="103" name="Google Shape;103;p15"/>
          <p:cNvSpPr/>
          <p:nvPr/>
        </p:nvSpPr>
        <p:spPr>
          <a:xfrm>
            <a:off x="7599521" y="4037052"/>
            <a:ext cx="6244709" cy="393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0" i="0" sz="2000" u="none" cap="none" strike="noStrike"/>
          </a:p>
        </p:txBody>
      </p:sp>
      <p:pic>
        <p:nvPicPr>
          <p:cNvPr descr="preencoded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9521" y="4037052"/>
            <a:ext cx="6244709" cy="393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7599521" y="4717375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can bend to follow the real pattern:</a:t>
            </a:r>
            <a:endParaRPr b="0" i="0" sz="175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7599521" y="5216247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Steep increase at the beginning</a:t>
            </a:r>
            <a:endParaRPr b="0" i="0" sz="1750" u="none" cap="none" strike="noStrike"/>
          </a:p>
        </p:txBody>
      </p:sp>
      <p:sp>
        <p:nvSpPr>
          <p:cNvPr id="107" name="Google Shape;107;p15"/>
          <p:cNvSpPr/>
          <p:nvPr/>
        </p:nvSpPr>
        <p:spPr>
          <a:xfrm>
            <a:off x="7599521" y="5590342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Slow growth after long study hours</a:t>
            </a:r>
            <a:endParaRPr b="0" i="0" sz="1750" u="none" cap="none" strike="noStrike"/>
          </a:p>
        </p:txBody>
      </p:sp>
      <p:sp>
        <p:nvSpPr>
          <p:cNvPr id="108" name="Google Shape;108;p15"/>
          <p:cNvSpPr/>
          <p:nvPr/>
        </p:nvSpPr>
        <p:spPr>
          <a:xfrm>
            <a:off x="7599521" y="6089213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captures the true behaviour much better.</a:t>
            </a:r>
            <a:endParaRPr b="0" i="0" sz="175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793790" y="6843236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Key insight: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For relationships that rise fast at first and then level off (or bend in any direction), polynomial regression provides the curved shape that linear regression simply cannot.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793790" y="1786533"/>
            <a:ext cx="1141095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Core Idea: Feature Transformation</a:t>
            </a:r>
            <a:endParaRPr b="0" i="0" sz="5100" u="none" cap="none" strike="noStrike"/>
          </a:p>
        </p:txBody>
      </p:sp>
      <p:pic>
        <p:nvPicPr>
          <p:cNvPr descr="preencoded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08788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1020604" y="42219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Original Feature</a:t>
            </a:r>
            <a:endParaRPr b="0" i="0" sz="255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1020604" y="4781907"/>
            <a:ext cx="389393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Start with your input variable x</a:t>
            </a:r>
            <a:endParaRPr b="0" i="0" sz="1750" u="none" cap="none" strike="noStrike"/>
          </a:p>
        </p:txBody>
      </p:sp>
      <p:pic>
        <p:nvPicPr>
          <p:cNvPr descr="preencoded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1357" y="308788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5368171" y="42219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Transform</a:t>
            </a:r>
            <a:endParaRPr b="0" i="0" sz="255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5368171" y="4781907"/>
            <a:ext cx="389393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Create polynomial features: x, x², x³, ...</a:t>
            </a:r>
            <a:endParaRPr b="0" i="0" sz="1750" u="none" cap="none" strike="noStrike"/>
          </a:p>
        </p:txBody>
      </p:sp>
      <p:pic>
        <p:nvPicPr>
          <p:cNvPr descr="preencoded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88924" y="3087886"/>
            <a:ext cx="4347567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9715738" y="4221956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Linear Model</a:t>
            </a:r>
            <a:endParaRPr b="0" i="0" sz="255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9715738" y="4781907"/>
            <a:ext cx="389393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Apply standard linear regression to expanded features</a:t>
            </a:r>
            <a:endParaRPr b="0" i="0" sz="175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793790" y="5853470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beauty of polynomial regression is that it remains </a:t>
            </a: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in parameters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—we're still finding optimal weights through the same mathematical framework, just with richer features.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793790" y="1911191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Risk: Overfitting</a:t>
            </a:r>
            <a:endParaRPr b="0" i="0" sz="510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793790" y="309907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Choosing the right polynomial degree is crucial. Too simple and you miss the pattern; too complex and you memorize noise instead of learning the true relationship.</a:t>
            </a:r>
            <a:endParaRPr b="0" i="0" sz="17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793790" y="3943826"/>
            <a:ext cx="4196358" cy="2374583"/>
          </a:xfrm>
          <a:prstGeom prst="roundRect">
            <a:avLst>
              <a:gd fmla="val 4012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1043464" y="41935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Underfit</a:t>
            </a:r>
            <a:endParaRPr b="0" i="0" sz="255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1043464" y="4753451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Low degree polynomial</a:t>
            </a:r>
            <a:endParaRPr b="0" i="0" sz="1750" u="none" cap="none" strike="noStrike"/>
          </a:p>
        </p:txBody>
      </p:sp>
      <p:sp>
        <p:nvSpPr>
          <p:cNvPr id="136" name="Google Shape;136;p17"/>
          <p:cNvSpPr/>
          <p:nvPr/>
        </p:nvSpPr>
        <p:spPr>
          <a:xfrm>
            <a:off x="1043464" y="5184338"/>
            <a:ext cx="369701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bias—model too simple to capture the underlying pattern</a:t>
            </a:r>
            <a:endParaRPr b="0" i="0" sz="175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5216962" y="3943826"/>
            <a:ext cx="4196358" cy="2374583"/>
          </a:xfrm>
          <a:prstGeom prst="roundRect">
            <a:avLst>
              <a:gd fmla="val 4012" name="adj"/>
            </a:avLst>
          </a:prstGeom>
          <a:solidFill>
            <a:srgbClr val="FFFFF4"/>
          </a:solidFill>
          <a:ln cap="flat" cmpd="sng" w="22850">
            <a:solidFill>
              <a:srgbClr val="7D3E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466636" y="41935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Good Fit</a:t>
            </a:r>
            <a:endParaRPr b="0" i="0" sz="255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5466636" y="4753451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Optimal degree</a:t>
            </a:r>
            <a:endParaRPr b="0" i="0" sz="1750" u="none" cap="none" strike="noStrike"/>
          </a:p>
        </p:txBody>
      </p:sp>
      <p:sp>
        <p:nvSpPr>
          <p:cNvPr id="140" name="Google Shape;140;p17"/>
          <p:cNvSpPr/>
          <p:nvPr/>
        </p:nvSpPr>
        <p:spPr>
          <a:xfrm>
            <a:off x="5466636" y="5184338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Balanced—captures true relationship without memorizing noise</a:t>
            </a:r>
            <a:endParaRPr b="0" i="0" sz="1750" u="none" cap="none" strike="noStrike"/>
          </a:p>
        </p:txBody>
      </p:sp>
      <p:sp>
        <p:nvSpPr>
          <p:cNvPr id="141" name="Google Shape;141;p17"/>
          <p:cNvSpPr/>
          <p:nvPr/>
        </p:nvSpPr>
        <p:spPr>
          <a:xfrm>
            <a:off x="9640133" y="3943826"/>
            <a:ext cx="4196358" cy="2374583"/>
          </a:xfrm>
          <a:prstGeom prst="roundRect">
            <a:avLst>
              <a:gd fmla="val 4012" name="adj"/>
            </a:avLst>
          </a:prstGeom>
          <a:solidFill>
            <a:srgbClr val="FFFFF4"/>
          </a:solidFill>
          <a:ln cap="flat" cmpd="sng" w="22850">
            <a:solidFill>
              <a:srgbClr val="532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9889808" y="419350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Overfit</a:t>
            </a:r>
            <a:endParaRPr b="0" i="0" sz="255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9889808" y="4753451"/>
            <a:ext cx="3697010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degree polynomial</a:t>
            </a:r>
            <a:endParaRPr b="0" i="0" sz="175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9889808" y="5184338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variance—model twists and turns through every data point, including noise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793790" y="984885"/>
            <a:ext cx="8121729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Balancing Bias and Variance</a:t>
            </a:r>
            <a:endParaRPr b="0" i="0" sz="5100" u="none" cap="none" strike="noStrike"/>
          </a:p>
        </p:txBody>
      </p:sp>
      <p:sp>
        <p:nvSpPr>
          <p:cNvPr id="151" name="Google Shape;151;p18"/>
          <p:cNvSpPr/>
          <p:nvPr/>
        </p:nvSpPr>
        <p:spPr>
          <a:xfrm>
            <a:off x="793790" y="4343043"/>
            <a:ext cx="13042821" cy="30480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3301960" y="3662601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3062049" y="408789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3121581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3050" u="none" cap="none" strike="noStrike"/>
          </a:p>
        </p:txBody>
      </p:sp>
      <p:sp>
        <p:nvSpPr>
          <p:cNvPr id="155" name="Google Shape;155;p18"/>
          <p:cNvSpPr/>
          <p:nvPr/>
        </p:nvSpPr>
        <p:spPr>
          <a:xfrm>
            <a:off x="1686878" y="228623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1</a:t>
            </a:r>
            <a:endParaRPr b="0" i="0" sz="2550" u="none" cap="none" strike="noStrike"/>
          </a:p>
        </p:txBody>
      </p:sp>
      <p:sp>
        <p:nvSpPr>
          <p:cNvPr id="156" name="Google Shape;156;p18"/>
          <p:cNvSpPr/>
          <p:nvPr/>
        </p:nvSpPr>
        <p:spPr>
          <a:xfrm>
            <a:off x="1020604" y="2846189"/>
            <a:ext cx="4593312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Linear model - maximum bias, minimum variance</a:t>
            </a:r>
            <a:endParaRPr b="0" i="0" sz="1750" u="none" cap="none" strike="noStrike"/>
          </a:p>
        </p:txBody>
      </p:sp>
      <p:sp>
        <p:nvSpPr>
          <p:cNvPr id="157" name="Google Shape;157;p18"/>
          <p:cNvSpPr/>
          <p:nvPr/>
        </p:nvSpPr>
        <p:spPr>
          <a:xfrm>
            <a:off x="5967293" y="4343043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27382" y="408789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5786914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305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>
            <a:off x="4352211" y="52502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2-3</a:t>
            </a:r>
            <a:endParaRPr b="0" i="0" sz="255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3685818" y="5810250"/>
            <a:ext cx="459343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Sweet spot for many real-world problems</a:t>
            </a:r>
            <a:endParaRPr b="0" i="0" sz="1750" u="none" cap="none" strike="noStrike"/>
          </a:p>
        </p:txBody>
      </p:sp>
      <p:sp>
        <p:nvSpPr>
          <p:cNvPr id="162" name="Google Shape;162;p18"/>
          <p:cNvSpPr/>
          <p:nvPr/>
        </p:nvSpPr>
        <p:spPr>
          <a:xfrm>
            <a:off x="8632508" y="3662601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8392597" y="408789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8452128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3050" u="none" cap="none" strike="noStrike"/>
          </a:p>
        </p:txBody>
      </p:sp>
      <p:sp>
        <p:nvSpPr>
          <p:cNvPr id="165" name="Google Shape;165;p18"/>
          <p:cNvSpPr/>
          <p:nvPr/>
        </p:nvSpPr>
        <p:spPr>
          <a:xfrm>
            <a:off x="7017425" y="228623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5+</a:t>
            </a:r>
            <a:endParaRPr b="0" i="0" sz="2550" u="none" cap="none" strike="noStrike"/>
          </a:p>
        </p:txBody>
      </p:sp>
      <p:sp>
        <p:nvSpPr>
          <p:cNvPr id="166" name="Google Shape;166;p18"/>
          <p:cNvSpPr/>
          <p:nvPr/>
        </p:nvSpPr>
        <p:spPr>
          <a:xfrm>
            <a:off x="6351032" y="2846189"/>
            <a:ext cx="459343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flexibility but risk of overfitting increases</a:t>
            </a:r>
            <a:endParaRPr b="0" i="0" sz="175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11297841" y="4343043"/>
            <a:ext cx="30480" cy="68044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11057930" y="408789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1117461" y="4088725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4</a:t>
            </a:r>
            <a:endParaRPr b="0" i="0" sz="3050" u="none" cap="none" strike="noStrike"/>
          </a:p>
        </p:txBody>
      </p:sp>
      <p:sp>
        <p:nvSpPr>
          <p:cNvPr id="170" name="Google Shape;170;p18"/>
          <p:cNvSpPr/>
          <p:nvPr/>
        </p:nvSpPr>
        <p:spPr>
          <a:xfrm>
            <a:off x="9682758" y="525029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Degree 10+</a:t>
            </a:r>
            <a:endParaRPr b="0" i="0" sz="2550" u="none" cap="none" strike="noStrike"/>
          </a:p>
        </p:txBody>
      </p:sp>
      <p:sp>
        <p:nvSpPr>
          <p:cNvPr id="171" name="Google Shape;171;p18"/>
          <p:cNvSpPr/>
          <p:nvPr/>
        </p:nvSpPr>
        <p:spPr>
          <a:xfrm>
            <a:off x="9016365" y="5810250"/>
            <a:ext cx="459343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Extreme variance - rarely generalizes well</a:t>
            </a:r>
            <a:endParaRPr b="0" i="0" sz="1750" u="none" cap="none" strike="noStrike"/>
          </a:p>
        </p:txBody>
      </p:sp>
      <p:sp>
        <p:nvSpPr>
          <p:cNvPr id="172" name="Google Shape;172;p18"/>
          <p:cNvSpPr/>
          <p:nvPr/>
        </p:nvSpPr>
        <p:spPr>
          <a:xfrm>
            <a:off x="793790" y="6654998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optimal degree depends on your data complexity, sample size, and how well you want to generalize to new observations. Cross-validation helps find the right balance.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793790" y="823198"/>
            <a:ext cx="875609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Interactive Exploration Ahead</a:t>
            </a:r>
            <a:endParaRPr b="0" i="0" sz="5100" u="none" cap="none" strike="noStrike"/>
          </a:p>
        </p:txBody>
      </p:sp>
      <p:sp>
        <p:nvSpPr>
          <p:cNvPr id="179" name="Google Shape;179;p19"/>
          <p:cNvSpPr/>
          <p:nvPr/>
        </p:nvSpPr>
        <p:spPr>
          <a:xfrm>
            <a:off x="793790" y="2237899"/>
            <a:ext cx="404455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Time to Get Hands-On</a:t>
            </a:r>
            <a:endParaRPr b="0" i="0" sz="3050" u="none" cap="none" strike="noStrike"/>
          </a:p>
        </p:txBody>
      </p:sp>
      <p:sp>
        <p:nvSpPr>
          <p:cNvPr id="180" name="Google Shape;180;p19"/>
          <p:cNvSpPr/>
          <p:nvPr/>
        </p:nvSpPr>
        <p:spPr>
          <a:xfrm>
            <a:off x="793790" y="2973229"/>
            <a:ext cx="7604284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We'll work with real median income values to see polynomial regression in action. You'll experiment with different polynomial degrees and visualize how curves adapt to data patterns.</a:t>
            </a:r>
            <a:endParaRPr b="0" i="0" sz="1750" u="none" cap="none" strike="noStrike"/>
          </a:p>
        </p:txBody>
      </p:sp>
      <p:sp>
        <p:nvSpPr>
          <p:cNvPr id="181" name="Google Shape;181;p19"/>
          <p:cNvSpPr/>
          <p:nvPr/>
        </p:nvSpPr>
        <p:spPr>
          <a:xfrm>
            <a:off x="793790" y="4061698"/>
            <a:ext cx="7604284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Through interactive curve fitting, you'll develop intuition for choosing appropriate model complexity and recognizing the signs of underfitting versus overfitting.</a:t>
            </a:r>
            <a:endParaRPr b="0" i="0" sz="1750" u="none" cap="none" strike="noStrike"/>
          </a:p>
        </p:txBody>
      </p:sp>
      <p:pic>
        <p:nvPicPr>
          <p:cNvPr descr="preencoded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9096" y="2266236"/>
            <a:ext cx="4885015" cy="488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/>
          <p:nvPr/>
        </p:nvSpPr>
        <p:spPr>
          <a:xfrm>
            <a:off x="793790" y="1954411"/>
            <a:ext cx="13042821" cy="33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10250"/>
              <a:buFont typeface="Marcellus"/>
              <a:buNone/>
            </a:pPr>
            <a:r>
              <a:rPr b="0" i="0" lang="en-US" sz="102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Let's Implement Polynomial Regression</a:t>
            </a:r>
            <a:endParaRPr b="0" i="0" sz="10250" u="none" cap="none" strike="noStrike"/>
          </a:p>
        </p:txBody>
      </p:sp>
      <p:sp>
        <p:nvSpPr>
          <p:cNvPr id="189" name="Google Shape;189;p20"/>
          <p:cNvSpPr/>
          <p:nvPr/>
        </p:nvSpPr>
        <p:spPr>
          <a:xfrm>
            <a:off x="793790" y="5685473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Ready to transform theory into practice? Open your notebook and let's start building polynomial models that capture the curves hidden in your data.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
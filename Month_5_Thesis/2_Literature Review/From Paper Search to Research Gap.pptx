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1675"/>
  <p:notesSz cx="6858000" cy="12191675"/>
  <p:embeddedFontLst>
    <p:embeddedFont>
      <p:font typeface="Cabin"/>
      <p:regular r:id="rId24"/>
      <p:bold r:id="rId25"/>
      <p:italic r:id="rId26"/>
      <p:boldItalic r:id="rId27"/>
    </p:embeddedFont>
    <p:embeddedFont>
      <p:font typeface="Unbounded Light"/>
      <p:regular r:id="rId28"/>
      <p:bold r:id="rId29"/>
    </p:embeddedFont>
    <p:embeddedFont>
      <p:font typeface="Unbounded"/>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Cabin-regular.fntdata"/><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Cabin-italic.fntdata"/><Relationship Id="rId25" Type="http://schemas.openxmlformats.org/officeDocument/2006/relationships/font" Target="fonts/Cabin-bold.fntdata"/><Relationship Id="rId28" Type="http://schemas.openxmlformats.org/officeDocument/2006/relationships/font" Target="fonts/UnboundedLight-regular.fntdata"/><Relationship Id="rId27" Type="http://schemas.openxmlformats.org/officeDocument/2006/relationships/font" Target="fonts/Cabin-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UnboundedLight-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Unbounded-bold.fntdata"/><Relationship Id="rId30" Type="http://schemas.openxmlformats.org/officeDocument/2006/relationships/font" Target="fonts/Unbounded-regular.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 name="Shape 14"/>
        <p:cNvGrpSpPr/>
        <p:nvPr/>
      </p:nvGrpSpPr>
      <p:grpSpPr>
        <a:xfrm>
          <a:off x="0" y="0"/>
          <a:ext cx="0" cy="0"/>
          <a:chOff x="0" y="0"/>
          <a:chExt cx="0" cy="0"/>
        </a:xfrm>
      </p:grpSpPr>
      <p:sp>
        <p:nvSpPr>
          <p:cNvPr id="15" name="Google Shape;1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 name="Google Shape;1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 name="Google Shape;1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 name="Google Shape;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 name="Google Shape;4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bg>
      <p:bgPr>
        <a:solidFill>
          <a:srgbClr val="000000"/>
        </a:solidFill>
      </p:bgPr>
    </p:bg>
    <p:spTree>
      <p:nvGrpSpPr>
        <p:cNvPr id="10" name="Shape 10"/>
        <p:cNvGrpSpPr/>
        <p:nvPr/>
      </p:nvGrpSpPr>
      <p:grpSpPr>
        <a:xfrm>
          <a:off x="0" y="0"/>
          <a:ext cx="0" cy="0"/>
          <a:chOff x="0" y="0"/>
          <a:chExt cx="0" cy="0"/>
        </a:xfrm>
      </p:grpSpPr>
      <p:pic>
        <p:nvPicPr>
          <p:cNvPr descr="preencoded.png" id="11" name="Google Shape;11;p2"/>
          <p:cNvPicPr preferRelativeResize="0"/>
          <p:nvPr/>
        </p:nvPicPr>
        <p:blipFill rotWithShape="1">
          <a:blip r:embed="rId2">
            <a:alphaModFix/>
          </a:blip>
          <a:srcRect b="0" l="0" r="0" t="0"/>
          <a:stretch/>
        </p:blipFill>
        <p:spPr>
          <a:xfrm>
            <a:off x="0" y="0"/>
            <a:ext cx="12191695" cy="6858000"/>
          </a:xfrm>
          <a:prstGeom prst="rect">
            <a:avLst/>
          </a:prstGeom>
          <a:noFill/>
          <a:ln>
            <a:noFill/>
          </a:ln>
        </p:spPr>
      </p:pic>
      <p:sp>
        <p:nvSpPr>
          <p:cNvPr id="12" name="Google Shape;12;p2"/>
          <p:cNvSpPr/>
          <p:nvPr/>
        </p:nvSpPr>
        <p:spPr>
          <a:xfrm>
            <a:off x="0" y="0"/>
            <a:ext cx="12191695" cy="6858000"/>
          </a:xfrm>
          <a:prstGeom prst="rect">
            <a:avLst/>
          </a:prstGeom>
          <a:solidFill>
            <a:srgbClr val="1128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3"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jp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6.jp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25.png"/><Relationship Id="rId5" Type="http://schemas.openxmlformats.org/officeDocument/2006/relationships/image" Target="../media/image10.png"/><Relationship Id="rId6"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jpg"/><Relationship Id="rId4" Type="http://schemas.openxmlformats.org/officeDocument/2006/relationships/image" Target="../media/image13.png"/><Relationship Id="rId5" Type="http://schemas.openxmlformats.org/officeDocument/2006/relationships/hyperlink" Target="https://docs.google.com/spreadsheets/d/1lNC8xf13hhlS4wt63IcSI-oWHLR4XqSw8zak4sdAaVk/edit?usp=drive_link"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2.jpg"/><Relationship Id="rId4" Type="http://schemas.openxmlformats.org/officeDocument/2006/relationships/image" Target="../media/image14.png"/><Relationship Id="rId5"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 name="Shape 18"/>
        <p:cNvGrpSpPr/>
        <p:nvPr/>
      </p:nvGrpSpPr>
      <p:grpSpPr>
        <a:xfrm>
          <a:off x="0" y="0"/>
          <a:ext cx="0" cy="0"/>
          <a:chOff x="0" y="0"/>
          <a:chExt cx="0" cy="0"/>
        </a:xfrm>
      </p:grpSpPr>
      <p:pic>
        <p:nvPicPr>
          <p:cNvPr descr="preencoded.png" id="19" name="Google Shape;19;p4"/>
          <p:cNvPicPr preferRelativeResize="0"/>
          <p:nvPr/>
        </p:nvPicPr>
        <p:blipFill rotWithShape="1">
          <a:blip r:embed="rId3">
            <a:alphaModFix/>
          </a:blip>
          <a:srcRect b="0" l="0" r="0" t="0"/>
          <a:stretch/>
        </p:blipFill>
        <p:spPr>
          <a:xfrm>
            <a:off x="0" y="0"/>
            <a:ext cx="4571886" cy="6858000"/>
          </a:xfrm>
          <a:prstGeom prst="rect">
            <a:avLst/>
          </a:prstGeom>
          <a:noFill/>
          <a:ln>
            <a:noFill/>
          </a:ln>
        </p:spPr>
      </p:pic>
      <p:sp>
        <p:nvSpPr>
          <p:cNvPr id="20" name="Google Shape;20;p4"/>
          <p:cNvSpPr/>
          <p:nvPr/>
        </p:nvSpPr>
        <p:spPr>
          <a:xfrm>
            <a:off x="5269971" y="1646634"/>
            <a:ext cx="2797899" cy="303113"/>
          </a:xfrm>
          <a:prstGeom prst="roundRect">
            <a:avLst>
              <a:gd fmla="val 7897" name="adj"/>
            </a:avLst>
          </a:prstGeom>
          <a:solidFill>
            <a:srgbClr val="054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5389626" y="1706463"/>
            <a:ext cx="3168174" cy="183455"/>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CAD6DE"/>
              </a:buClr>
              <a:buSzPts val="1250"/>
              <a:buFont typeface="Cabin"/>
              <a:buNone/>
            </a:pPr>
            <a:r>
              <a:rPr b="0" i="0" lang="en-US" sz="1250" u="none" cap="none" strike="noStrike">
                <a:solidFill>
                  <a:srgbClr val="CAD6DE"/>
                </a:solidFill>
                <a:latin typeface="Cabin"/>
                <a:ea typeface="Cabin"/>
                <a:cs typeface="Cabin"/>
                <a:sym typeface="Cabin"/>
              </a:rPr>
              <a:t>LIVE SESSION · LITERATURE REVIEW</a:t>
            </a:r>
            <a:endParaRPr b="0" i="0" sz="1250" u="none" cap="none" strike="noStrike">
              <a:solidFill>
                <a:schemeClr val="dk1"/>
              </a:solidFill>
              <a:latin typeface="Calibri"/>
              <a:ea typeface="Calibri"/>
              <a:cs typeface="Calibri"/>
              <a:sym typeface="Calibri"/>
            </a:endParaRPr>
          </a:p>
        </p:txBody>
      </p:sp>
      <p:sp>
        <p:nvSpPr>
          <p:cNvPr id="22" name="Google Shape;22;p4"/>
          <p:cNvSpPr/>
          <p:nvPr/>
        </p:nvSpPr>
        <p:spPr>
          <a:xfrm>
            <a:off x="5269971" y="2029520"/>
            <a:ext cx="6223638" cy="117336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From Paper Search to Research Gap</a:t>
            </a:r>
            <a:endParaRPr b="0" i="0" sz="3650" u="none" cap="none" strike="noStrike">
              <a:solidFill>
                <a:schemeClr val="dk1"/>
              </a:solidFill>
              <a:latin typeface="Calibri"/>
              <a:ea typeface="Calibri"/>
              <a:cs typeface="Calibri"/>
              <a:sym typeface="Calibri"/>
            </a:endParaRPr>
          </a:p>
        </p:txBody>
      </p:sp>
      <p:sp>
        <p:nvSpPr>
          <p:cNvPr id="23" name="Google Shape;23;p4"/>
          <p:cNvSpPr/>
          <p:nvPr/>
        </p:nvSpPr>
        <p:spPr>
          <a:xfrm>
            <a:off x="5269971" y="3502025"/>
            <a:ext cx="6223638" cy="118189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Search → Screen → Read → Track → Compare → Synthesise</a:t>
            </a:r>
            <a:endParaRPr b="0" i="0" sz="1550" u="none" cap="none" strike="noStrike">
              <a:solidFill>
                <a:schemeClr val="dk1"/>
              </a:solidFill>
              <a:latin typeface="Calibri"/>
              <a:ea typeface="Calibri"/>
              <a:cs typeface="Calibri"/>
              <a:sym typeface="Calibri"/>
            </a:endParaRPr>
          </a:p>
          <a:p>
            <a:pPr indent="0" lvl="0" marL="0" marR="0" rtl="0" algn="l">
              <a:lnSpc>
                <a:spcPct val="133000"/>
              </a:lnSpc>
              <a:spcBef>
                <a:spcPts val="175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Finding, screening, tracking, and synthesising research papers to make defensible thesis decisions.</a:t>
            </a:r>
            <a:endParaRPr b="0" i="0" sz="1550" u="none" cap="none" strike="noStrike">
              <a:solidFill>
                <a:schemeClr val="dk1"/>
              </a:solidFill>
              <a:latin typeface="Calibri"/>
              <a:ea typeface="Calibri"/>
              <a:cs typeface="Calibri"/>
              <a:sym typeface="Calibri"/>
            </a:endParaRPr>
          </a:p>
        </p:txBody>
      </p:sp>
      <p:sp>
        <p:nvSpPr>
          <p:cNvPr id="24" name="Google Shape;24;p4"/>
          <p:cNvSpPr/>
          <p:nvPr/>
        </p:nvSpPr>
        <p:spPr>
          <a:xfrm>
            <a:off x="5269971" y="4908252"/>
            <a:ext cx="1648875" cy="303113"/>
          </a:xfrm>
          <a:prstGeom prst="roundRect">
            <a:avLst>
              <a:gd fmla="val 7897" name="adj"/>
            </a:avLst>
          </a:prstGeom>
          <a:noFill/>
          <a:ln cap="flat" cmpd="sng" w="9525">
            <a:solidFill>
              <a:srgbClr val="0A98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a:off x="5389626" y="4968081"/>
            <a:ext cx="2019150" cy="183455"/>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0A988B"/>
              </a:buClr>
              <a:buSzPts val="1250"/>
              <a:buFont typeface="Cabin"/>
              <a:buNone/>
            </a:pPr>
            <a:r>
              <a:rPr b="0" i="0" lang="en-US" sz="1250" u="none" cap="none" strike="noStrike">
                <a:solidFill>
                  <a:srgbClr val="0A988B"/>
                </a:solidFill>
                <a:latin typeface="Cabin"/>
                <a:ea typeface="Cabin"/>
                <a:cs typeface="Cabin"/>
                <a:sym typeface="Cabin"/>
              </a:rPr>
              <a:t>MD. SABBIR AHMED</a:t>
            </a:r>
            <a:endParaRPr b="0" i="0" sz="1250" u="none" cap="none" strike="noStrike">
              <a:solidFill>
                <a:schemeClr val="dk1"/>
              </a:solidFill>
              <a:latin typeface="Calibri"/>
              <a:ea typeface="Calibri"/>
              <a:cs typeface="Calibri"/>
              <a:sym typeface="Calibri"/>
            </a:endParaRPr>
          </a:p>
        </p:txBody>
      </p:sp>
      <p:sp>
        <p:nvSpPr>
          <p:cNvPr id="26" name="Google Shape;26;p4"/>
          <p:cNvSpPr/>
          <p:nvPr/>
        </p:nvSpPr>
        <p:spPr>
          <a:xfrm>
            <a:off x="7018559" y="4908252"/>
            <a:ext cx="2457488" cy="303113"/>
          </a:xfrm>
          <a:prstGeom prst="roundRect">
            <a:avLst>
              <a:gd fmla="val 7897" name="adj"/>
            </a:avLst>
          </a:prstGeom>
          <a:noFill/>
          <a:ln cap="flat" cmpd="sng" w="9525">
            <a:solidFill>
              <a:srgbClr val="0A98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7138214" y="4968081"/>
            <a:ext cx="2827763" cy="183455"/>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0A988B"/>
              </a:buClr>
              <a:buSzPts val="1250"/>
              <a:buFont typeface="Cabin"/>
              <a:buNone/>
            </a:pPr>
            <a:r>
              <a:rPr b="0" i="0" lang="en-US" sz="1250" u="none" cap="none" strike="noStrike">
                <a:solidFill>
                  <a:srgbClr val="0A988B"/>
                </a:solidFill>
                <a:latin typeface="Cabin"/>
                <a:ea typeface="Cabin"/>
                <a:cs typeface="Cabin"/>
                <a:sym typeface="Cabin"/>
              </a:rPr>
              <a:t>AI/ML THESIS TRACK · PHITRON</a:t>
            </a:r>
            <a:endParaRPr b="0" i="0" sz="1250" u="none" cap="none" strike="noStrike">
              <a:solidFill>
                <a:schemeClr val="dk1"/>
              </a:solidFill>
              <a:latin typeface="Calibri"/>
              <a:ea typeface="Calibri"/>
              <a:cs typeface="Calibri"/>
              <a:sym typeface="Calibri"/>
            </a:endParaRPr>
          </a:p>
        </p:txBody>
      </p:sp>
      <p:sp>
        <p:nvSpPr>
          <p:cNvPr id="28" name="Google Shape;28;p4"/>
          <p:cNvSpPr/>
          <p:nvPr/>
        </p:nvSpPr>
        <p:spPr>
          <a:xfrm>
            <a:off x="9575759" y="4908252"/>
            <a:ext cx="1082350" cy="303113"/>
          </a:xfrm>
          <a:prstGeom prst="roundRect">
            <a:avLst>
              <a:gd fmla="val 7897" name="adj"/>
            </a:avLst>
          </a:prstGeom>
          <a:noFill/>
          <a:ln cap="flat" cmpd="sng" w="9525">
            <a:solidFill>
              <a:srgbClr val="0A98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9695414" y="4968081"/>
            <a:ext cx="1452625" cy="183455"/>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0A988B"/>
              </a:buClr>
              <a:buSzPts val="1250"/>
              <a:buFont typeface="Cabin"/>
              <a:buNone/>
            </a:pPr>
            <a:r>
              <a:rPr b="0" i="0" lang="en-US" sz="1250" u="none" cap="none" strike="noStrike">
                <a:solidFill>
                  <a:srgbClr val="0A988B"/>
                </a:solidFill>
                <a:latin typeface="Cabin"/>
                <a:ea typeface="Cabin"/>
                <a:cs typeface="Cabin"/>
                <a:sym typeface="Cabin"/>
              </a:rPr>
              <a:t>SESSION 0</a:t>
            </a:r>
            <a:r>
              <a:rPr lang="en-US" sz="1250">
                <a:solidFill>
                  <a:srgbClr val="0A988B"/>
                </a:solidFill>
                <a:latin typeface="Cabin"/>
                <a:ea typeface="Cabin"/>
                <a:cs typeface="Cabin"/>
                <a:sym typeface="Cabin"/>
              </a:rPr>
              <a:t>2</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pic>
        <p:nvPicPr>
          <p:cNvPr descr="preencoded.png" id="35" name="Google Shape;35;p5"/>
          <p:cNvPicPr preferRelativeResize="0"/>
          <p:nvPr/>
        </p:nvPicPr>
        <p:blipFill rotWithShape="1">
          <a:blip r:embed="rId3">
            <a:alphaModFix/>
          </a:blip>
          <a:srcRect b="0" l="0" r="0" t="0"/>
          <a:stretch/>
        </p:blipFill>
        <p:spPr>
          <a:xfrm>
            <a:off x="7619809" y="0"/>
            <a:ext cx="4571886" cy="6858000"/>
          </a:xfrm>
          <a:prstGeom prst="rect">
            <a:avLst/>
          </a:prstGeom>
          <a:noFill/>
          <a:ln>
            <a:noFill/>
          </a:ln>
        </p:spPr>
      </p:pic>
      <p:sp>
        <p:nvSpPr>
          <p:cNvPr id="36" name="Google Shape;36;p5"/>
          <p:cNvSpPr/>
          <p:nvPr/>
        </p:nvSpPr>
        <p:spPr>
          <a:xfrm>
            <a:off x="698086" y="612874"/>
            <a:ext cx="1086418" cy="288727"/>
          </a:xfrm>
          <a:prstGeom prst="roundRect">
            <a:avLst>
              <a:gd fmla="val 7902" name="adj"/>
            </a:avLst>
          </a:prstGeom>
          <a:solidFill>
            <a:srgbClr val="054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812085" y="669826"/>
            <a:ext cx="1468004" cy="17482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CAD6DE"/>
              </a:buClr>
              <a:buSzPts val="1150"/>
              <a:buFont typeface="Cabin"/>
              <a:buNone/>
            </a:pPr>
            <a:r>
              <a:rPr b="0" i="0" lang="en-US" sz="1150" u="none" cap="none" strike="noStrike">
                <a:solidFill>
                  <a:srgbClr val="CAD6DE"/>
                </a:solidFill>
                <a:latin typeface="Cabin"/>
                <a:ea typeface="Cabin"/>
                <a:cs typeface="Cabin"/>
                <a:sym typeface="Cabin"/>
              </a:rPr>
              <a:t>CONTINUITY</a:t>
            </a:r>
            <a:endParaRPr b="0" i="0" sz="1150" u="none" cap="none" strike="noStrike">
              <a:solidFill>
                <a:schemeClr val="dk1"/>
              </a:solidFill>
              <a:latin typeface="Calibri"/>
              <a:ea typeface="Calibri"/>
              <a:cs typeface="Calibri"/>
              <a:sym typeface="Calibri"/>
            </a:endParaRPr>
          </a:p>
        </p:txBody>
      </p:sp>
      <p:sp>
        <p:nvSpPr>
          <p:cNvPr id="38" name="Google Shape;38;p5"/>
          <p:cNvSpPr/>
          <p:nvPr/>
        </p:nvSpPr>
        <p:spPr>
          <a:xfrm>
            <a:off x="698086" y="974030"/>
            <a:ext cx="6223638" cy="55919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500"/>
              <a:buFont typeface="Unbounded"/>
              <a:buNone/>
            </a:pPr>
            <a:r>
              <a:rPr b="0" i="0" lang="en-US" sz="3500" u="none" cap="none" strike="noStrike">
                <a:solidFill>
                  <a:srgbClr val="FFFFFF"/>
                </a:solidFill>
                <a:latin typeface="Unbounded"/>
                <a:ea typeface="Unbounded"/>
                <a:cs typeface="Unbounded"/>
                <a:sym typeface="Unbounded"/>
              </a:rPr>
              <a:t>Where We Are Now</a:t>
            </a:r>
            <a:endParaRPr b="0" i="0" sz="3500" u="none" cap="none" strike="noStrike">
              <a:solidFill>
                <a:schemeClr val="dk1"/>
              </a:solidFill>
              <a:latin typeface="Calibri"/>
              <a:ea typeface="Calibri"/>
              <a:cs typeface="Calibri"/>
              <a:sym typeface="Calibri"/>
            </a:endParaRPr>
          </a:p>
        </p:txBody>
      </p:sp>
      <p:sp>
        <p:nvSpPr>
          <p:cNvPr id="39" name="Google Shape;39;p5"/>
          <p:cNvSpPr/>
          <p:nvPr/>
        </p:nvSpPr>
        <p:spPr>
          <a:xfrm>
            <a:off x="698086" y="1986161"/>
            <a:ext cx="2879951" cy="27949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750"/>
              <a:buFont typeface="Unbounded"/>
              <a:buNone/>
            </a:pPr>
            <a:r>
              <a:rPr b="0" i="0" lang="en-US" sz="1750" u="none" cap="none" strike="noStrike">
                <a:solidFill>
                  <a:srgbClr val="FFFFFF"/>
                </a:solidFill>
                <a:latin typeface="Unbounded"/>
                <a:ea typeface="Unbounded"/>
                <a:cs typeface="Unbounded"/>
                <a:sym typeface="Unbounded"/>
              </a:rPr>
              <a:t>Previous Session</a:t>
            </a:r>
            <a:endParaRPr b="0" i="0" sz="1750" u="none" cap="none" strike="noStrike">
              <a:solidFill>
                <a:schemeClr val="dk1"/>
              </a:solidFill>
              <a:latin typeface="Calibri"/>
              <a:ea typeface="Calibri"/>
              <a:cs typeface="Calibri"/>
              <a:sym typeface="Calibri"/>
            </a:endParaRPr>
          </a:p>
        </p:txBody>
      </p:sp>
      <p:sp>
        <p:nvSpPr>
          <p:cNvPr id="40" name="Google Shape;40;p5"/>
          <p:cNvSpPr/>
          <p:nvPr/>
        </p:nvSpPr>
        <p:spPr>
          <a:xfrm>
            <a:off x="698086" y="2446834"/>
            <a:ext cx="2879951" cy="2268934"/>
          </a:xfrm>
          <a:prstGeom prst="rect">
            <a:avLst/>
          </a:prstGeom>
          <a:noFill/>
          <a:ln>
            <a:noFill/>
          </a:ln>
        </p:spPr>
        <p:txBody>
          <a:bodyPr anchorCtr="0" anchor="t" bIns="0" lIns="0" spcFirstLastPara="1" rIns="0" wrap="square" tIns="0">
            <a:noAutofit/>
          </a:bodyPr>
          <a:lstStyle/>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Generated several topic ideas</a:t>
            </a:r>
            <a:endParaRPr b="0" i="0" sz="1450" u="none" cap="none" strike="noStrike">
              <a:solidFill>
                <a:schemeClr val="dk1"/>
              </a:solidFill>
              <a:latin typeface="Calibri"/>
              <a:ea typeface="Calibri"/>
              <a:cs typeface="Calibri"/>
              <a:sym typeface="Calibri"/>
            </a:endParaRPr>
          </a:p>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Reduced them to three candidate topics</a:t>
            </a:r>
            <a:endParaRPr b="0" i="0" sz="1450" u="none" cap="none" strike="noStrike">
              <a:solidFill>
                <a:schemeClr val="dk1"/>
              </a:solidFill>
              <a:latin typeface="Calibri"/>
              <a:ea typeface="Calibri"/>
              <a:cs typeface="Calibri"/>
              <a:sym typeface="Calibri"/>
            </a:endParaRPr>
          </a:p>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Checked problem, dataset, feasibility, and contribution</a:t>
            </a:r>
            <a:endParaRPr b="0" i="0" sz="1450" u="none" cap="none" strike="noStrike">
              <a:solidFill>
                <a:schemeClr val="dk1"/>
              </a:solidFill>
              <a:latin typeface="Calibri"/>
              <a:ea typeface="Calibri"/>
              <a:cs typeface="Calibri"/>
              <a:sym typeface="Calibri"/>
            </a:endParaRPr>
          </a:p>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Used SPOT to test early topic directions</a:t>
            </a:r>
            <a:endParaRPr b="0" i="0" sz="1450" u="none" cap="none" strike="noStrike">
              <a:solidFill>
                <a:schemeClr val="dk1"/>
              </a:solidFill>
              <a:latin typeface="Calibri"/>
              <a:ea typeface="Calibri"/>
              <a:cs typeface="Calibri"/>
              <a:sym typeface="Calibri"/>
            </a:endParaRPr>
          </a:p>
        </p:txBody>
      </p:sp>
      <p:sp>
        <p:nvSpPr>
          <p:cNvPr id="41" name="Google Shape;41;p5"/>
          <p:cNvSpPr/>
          <p:nvPr/>
        </p:nvSpPr>
        <p:spPr>
          <a:xfrm>
            <a:off x="4048123" y="1986161"/>
            <a:ext cx="2879951" cy="27949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750"/>
              <a:buFont typeface="Unbounded"/>
              <a:buNone/>
            </a:pPr>
            <a:r>
              <a:rPr b="0" i="0" lang="en-US" sz="1750" u="none" cap="none" strike="noStrike">
                <a:solidFill>
                  <a:srgbClr val="FFFFFF"/>
                </a:solidFill>
                <a:latin typeface="Unbounded"/>
                <a:ea typeface="Unbounded"/>
                <a:cs typeface="Unbounded"/>
                <a:sym typeface="Unbounded"/>
              </a:rPr>
              <a:t>Today's Goal</a:t>
            </a:r>
            <a:endParaRPr b="0" i="0" sz="1750" u="none" cap="none" strike="noStrike">
              <a:solidFill>
                <a:schemeClr val="dk1"/>
              </a:solidFill>
              <a:latin typeface="Calibri"/>
              <a:ea typeface="Calibri"/>
              <a:cs typeface="Calibri"/>
              <a:sym typeface="Calibri"/>
            </a:endParaRPr>
          </a:p>
        </p:txBody>
      </p:sp>
      <p:sp>
        <p:nvSpPr>
          <p:cNvPr id="42" name="Google Shape;42;p5"/>
          <p:cNvSpPr/>
          <p:nvPr/>
        </p:nvSpPr>
        <p:spPr>
          <a:xfrm>
            <a:off x="4048123" y="2446834"/>
            <a:ext cx="2879951" cy="89088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Use literature to refine, compare, strengthen, or reject those candidate topic ideas.</a:t>
            </a:r>
            <a:endParaRPr b="0" i="0" sz="1450" u="none" cap="none" strike="noStrike">
              <a:solidFill>
                <a:schemeClr val="dk1"/>
              </a:solidFill>
              <a:latin typeface="Calibri"/>
              <a:ea typeface="Calibri"/>
              <a:cs typeface="Calibri"/>
              <a:sym typeface="Calibri"/>
            </a:endParaRPr>
          </a:p>
        </p:txBody>
      </p:sp>
      <p:sp>
        <p:nvSpPr>
          <p:cNvPr id="43" name="Google Shape;43;p5"/>
          <p:cNvSpPr/>
          <p:nvPr/>
        </p:nvSpPr>
        <p:spPr>
          <a:xfrm>
            <a:off x="4048123" y="3541514"/>
            <a:ext cx="2879951" cy="2499816"/>
          </a:xfrm>
          <a:prstGeom prst="roundRect">
            <a:avLst>
              <a:gd fmla="val 1141" name="adj"/>
            </a:avLst>
          </a:prstGeom>
          <a:solidFill>
            <a:srgbClr val="0878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4" name="Google Shape;44;p5"/>
          <p:cNvPicPr preferRelativeResize="0"/>
          <p:nvPr/>
        </p:nvPicPr>
        <p:blipFill rotWithShape="1">
          <a:blip r:embed="rId4">
            <a:alphaModFix/>
          </a:blip>
          <a:srcRect b="0" l="0" r="0" t="0"/>
          <a:stretch/>
        </p:blipFill>
        <p:spPr>
          <a:xfrm>
            <a:off x="4238221" y="3828653"/>
            <a:ext cx="237623" cy="190103"/>
          </a:xfrm>
          <a:prstGeom prst="rect">
            <a:avLst/>
          </a:prstGeom>
          <a:noFill/>
          <a:ln>
            <a:noFill/>
          </a:ln>
        </p:spPr>
      </p:pic>
      <p:sp>
        <p:nvSpPr>
          <p:cNvPr id="45" name="Google Shape;45;p5"/>
          <p:cNvSpPr/>
          <p:nvPr/>
        </p:nvSpPr>
        <p:spPr>
          <a:xfrm>
            <a:off x="4665943" y="3752056"/>
            <a:ext cx="2072033" cy="207873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450"/>
              <a:buFont typeface="Cabin"/>
              <a:buNone/>
            </a:pPr>
            <a:r>
              <a:rPr b="0" i="0" lang="en-US" sz="1450" u="none" cap="none" strike="noStrike">
                <a:solidFill>
                  <a:srgbClr val="FFFFFF"/>
                </a:solidFill>
                <a:latin typeface="Cabin"/>
                <a:ea typeface="Cabin"/>
                <a:cs typeface="Cabin"/>
                <a:sym typeface="Cabin"/>
              </a:rPr>
              <a:t>The literature is not decoration. It is evidence for a research decision. A topic idea becomes stronger only when the literature supports a clear gap.</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6"/>
          <p:cNvSpPr/>
          <p:nvPr/>
        </p:nvSpPr>
        <p:spPr>
          <a:xfrm>
            <a:off x="698086" y="572591"/>
            <a:ext cx="518603" cy="144562"/>
          </a:xfrm>
          <a:prstGeom prst="roundRect">
            <a:avLst>
              <a:gd fmla="val 7904" name="adj"/>
            </a:avLst>
          </a:prstGeom>
          <a:solidFill>
            <a:srgbClr val="054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6"/>
          <p:cNvSpPr/>
          <p:nvPr/>
        </p:nvSpPr>
        <p:spPr>
          <a:xfrm>
            <a:off x="755135" y="601067"/>
            <a:ext cx="1014089" cy="87610"/>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CAD6DE"/>
              </a:buClr>
              <a:buSzPts val="550"/>
              <a:buFont typeface="Cabin"/>
              <a:buNone/>
            </a:pPr>
            <a:r>
              <a:rPr b="0" i="0" lang="en-US" sz="550" u="none" cap="none" strike="noStrike">
                <a:solidFill>
                  <a:srgbClr val="CAD6DE"/>
                </a:solidFill>
                <a:latin typeface="Cabin"/>
                <a:ea typeface="Cabin"/>
                <a:cs typeface="Cabin"/>
                <a:sym typeface="Cabin"/>
              </a:rPr>
              <a:t>OUTCOMES</a:t>
            </a:r>
            <a:endParaRPr b="0" i="0" sz="550" u="none" cap="none" strike="noStrike">
              <a:solidFill>
                <a:schemeClr val="dk1"/>
              </a:solidFill>
              <a:latin typeface="Calibri"/>
              <a:ea typeface="Calibri"/>
              <a:cs typeface="Calibri"/>
              <a:sym typeface="Calibri"/>
            </a:endParaRPr>
          </a:p>
        </p:txBody>
      </p:sp>
      <p:sp>
        <p:nvSpPr>
          <p:cNvPr id="53" name="Google Shape;53;p6"/>
          <p:cNvSpPr/>
          <p:nvPr/>
        </p:nvSpPr>
        <p:spPr>
          <a:xfrm>
            <a:off x="698086" y="735310"/>
            <a:ext cx="10795524" cy="27999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750"/>
              <a:buFont typeface="Unbounded"/>
              <a:buNone/>
            </a:pPr>
            <a:r>
              <a:rPr b="0" i="0" lang="en-US" sz="1750" u="none" cap="none" strike="noStrike">
                <a:solidFill>
                  <a:srgbClr val="FFFFFF"/>
                </a:solidFill>
                <a:latin typeface="Unbounded"/>
                <a:ea typeface="Unbounded"/>
                <a:cs typeface="Unbounded"/>
                <a:sym typeface="Unbounded"/>
              </a:rPr>
              <a:t>What You Should Leave With</a:t>
            </a:r>
            <a:endParaRPr b="0" i="0" sz="1750" u="none" cap="none" strike="noStrike">
              <a:solidFill>
                <a:schemeClr val="dk1"/>
              </a:solidFill>
              <a:latin typeface="Calibri"/>
              <a:ea typeface="Calibri"/>
              <a:cs typeface="Calibri"/>
              <a:sym typeface="Calibri"/>
            </a:endParaRPr>
          </a:p>
        </p:txBody>
      </p:sp>
      <p:pic>
        <p:nvPicPr>
          <p:cNvPr descr="preencoded.png" id="54" name="Google Shape;54;p6"/>
          <p:cNvPicPr preferRelativeResize="0"/>
          <p:nvPr/>
        </p:nvPicPr>
        <p:blipFill rotWithShape="1">
          <a:blip r:embed="rId3">
            <a:alphaModFix/>
          </a:blip>
          <a:srcRect b="0" l="0" r="0" t="0"/>
          <a:stretch/>
        </p:blipFill>
        <p:spPr>
          <a:xfrm>
            <a:off x="698086" y="1083469"/>
            <a:ext cx="10795524" cy="571302"/>
          </a:xfrm>
          <a:prstGeom prst="rect">
            <a:avLst/>
          </a:prstGeom>
          <a:noFill/>
          <a:ln>
            <a:noFill/>
          </a:ln>
        </p:spPr>
      </p:pic>
      <p:sp>
        <p:nvSpPr>
          <p:cNvPr id="55" name="Google Shape;55;p6"/>
          <p:cNvSpPr/>
          <p:nvPr/>
        </p:nvSpPr>
        <p:spPr>
          <a:xfrm>
            <a:off x="829746" y="1279823"/>
            <a:ext cx="142772" cy="17849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6DE"/>
              </a:buClr>
              <a:buSzPts val="1100"/>
              <a:buFont typeface="Unbounded"/>
              <a:buNone/>
            </a:pPr>
            <a:r>
              <a:rPr b="0" i="0" lang="en-US" sz="1100" u="none" cap="none" strike="noStrike">
                <a:solidFill>
                  <a:srgbClr val="CAD6DE"/>
                </a:solidFill>
                <a:latin typeface="Unbounded"/>
                <a:ea typeface="Unbounded"/>
                <a:cs typeface="Unbounded"/>
                <a:sym typeface="Unbounded"/>
              </a:rPr>
              <a:t>1</a:t>
            </a:r>
            <a:endParaRPr b="0" i="0" sz="1100" u="none" cap="none" strike="noStrike">
              <a:solidFill>
                <a:schemeClr val="dk1"/>
              </a:solidFill>
              <a:latin typeface="Calibri"/>
              <a:ea typeface="Calibri"/>
              <a:cs typeface="Calibri"/>
              <a:sym typeface="Calibri"/>
            </a:endParaRPr>
          </a:p>
        </p:txBody>
      </p:sp>
      <p:sp>
        <p:nvSpPr>
          <p:cNvPr id="56" name="Google Shape;56;p6"/>
          <p:cNvSpPr/>
          <p:nvPr/>
        </p:nvSpPr>
        <p:spPr>
          <a:xfrm>
            <a:off x="1137018" y="1191320"/>
            <a:ext cx="10248743" cy="13999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850"/>
              <a:buFont typeface="Unbounded"/>
              <a:buNone/>
            </a:pPr>
            <a:r>
              <a:rPr b="0" i="0" lang="en-US" sz="850" u="none" cap="none" strike="noStrike">
                <a:solidFill>
                  <a:srgbClr val="CAD6DE"/>
                </a:solidFill>
                <a:latin typeface="Unbounded"/>
                <a:ea typeface="Unbounded"/>
                <a:cs typeface="Unbounded"/>
                <a:sym typeface="Unbounded"/>
              </a:rPr>
              <a:t>Search Keywords</a:t>
            </a:r>
            <a:endParaRPr b="0" i="0" sz="850" u="none" cap="none" strike="noStrike">
              <a:solidFill>
                <a:schemeClr val="dk1"/>
              </a:solidFill>
              <a:latin typeface="Calibri"/>
              <a:ea typeface="Calibri"/>
              <a:cs typeface="Calibri"/>
              <a:sym typeface="Calibri"/>
            </a:endParaRPr>
          </a:p>
        </p:txBody>
      </p:sp>
      <p:sp>
        <p:nvSpPr>
          <p:cNvPr id="57" name="Google Shape;57;p6"/>
          <p:cNvSpPr/>
          <p:nvPr/>
        </p:nvSpPr>
        <p:spPr>
          <a:xfrm>
            <a:off x="1137018" y="1358503"/>
            <a:ext cx="10248743" cy="112514"/>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CAD6DE"/>
              </a:buClr>
              <a:buSzPts val="700"/>
              <a:buFont typeface="Cabin"/>
              <a:buNone/>
            </a:pPr>
            <a:r>
              <a:rPr b="0" i="0" lang="en-US" sz="800" u="none" cap="none" strike="noStrike">
                <a:solidFill>
                  <a:srgbClr val="CAD6DE"/>
                </a:solidFill>
                <a:latin typeface="Cabin"/>
                <a:ea typeface="Cabin"/>
                <a:cs typeface="Cabin"/>
                <a:sym typeface="Cabin"/>
              </a:rPr>
              <a:t>Turn a research problem into targeted search terms</a:t>
            </a:r>
            <a:endParaRPr b="0" i="0" sz="800" u="none" cap="none" strike="noStrike">
              <a:solidFill>
                <a:schemeClr val="dk1"/>
              </a:solidFill>
              <a:latin typeface="Calibri"/>
              <a:ea typeface="Calibri"/>
              <a:cs typeface="Calibri"/>
              <a:sym typeface="Calibri"/>
            </a:endParaRPr>
          </a:p>
        </p:txBody>
      </p:sp>
      <p:pic>
        <p:nvPicPr>
          <p:cNvPr descr="preencoded.png" id="58" name="Google Shape;58;p6"/>
          <p:cNvPicPr preferRelativeResize="0"/>
          <p:nvPr/>
        </p:nvPicPr>
        <p:blipFill rotWithShape="1">
          <a:blip r:embed="rId3">
            <a:alphaModFix/>
          </a:blip>
          <a:srcRect b="0" l="0" r="0" t="0"/>
          <a:stretch/>
        </p:blipFill>
        <p:spPr>
          <a:xfrm>
            <a:off x="698086" y="1700213"/>
            <a:ext cx="10795524" cy="571302"/>
          </a:xfrm>
          <a:prstGeom prst="rect">
            <a:avLst/>
          </a:prstGeom>
          <a:noFill/>
          <a:ln>
            <a:noFill/>
          </a:ln>
        </p:spPr>
      </p:pic>
      <p:sp>
        <p:nvSpPr>
          <p:cNvPr id="59" name="Google Shape;59;p6"/>
          <p:cNvSpPr/>
          <p:nvPr/>
        </p:nvSpPr>
        <p:spPr>
          <a:xfrm>
            <a:off x="829746" y="1896566"/>
            <a:ext cx="142772" cy="17849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6DE"/>
              </a:buClr>
              <a:buSzPts val="1100"/>
              <a:buFont typeface="Unbounded"/>
              <a:buNone/>
            </a:pPr>
            <a:r>
              <a:rPr b="0" i="0" lang="en-US" sz="1100" u="none" cap="none" strike="noStrike">
                <a:solidFill>
                  <a:srgbClr val="CAD6DE"/>
                </a:solidFill>
                <a:latin typeface="Unbounded"/>
                <a:ea typeface="Unbounded"/>
                <a:cs typeface="Unbounded"/>
                <a:sym typeface="Unbounded"/>
              </a:rPr>
              <a:t>2</a:t>
            </a:r>
            <a:endParaRPr b="0" i="0" sz="1100" u="none" cap="none" strike="noStrike">
              <a:solidFill>
                <a:schemeClr val="dk1"/>
              </a:solidFill>
              <a:latin typeface="Calibri"/>
              <a:ea typeface="Calibri"/>
              <a:cs typeface="Calibri"/>
              <a:sym typeface="Calibri"/>
            </a:endParaRPr>
          </a:p>
        </p:txBody>
      </p:sp>
      <p:sp>
        <p:nvSpPr>
          <p:cNvPr id="60" name="Google Shape;60;p6"/>
          <p:cNvSpPr/>
          <p:nvPr/>
        </p:nvSpPr>
        <p:spPr>
          <a:xfrm>
            <a:off x="1137018" y="1808063"/>
            <a:ext cx="10248743" cy="13999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850"/>
              <a:buFont typeface="Unbounded"/>
              <a:buNone/>
            </a:pPr>
            <a:r>
              <a:rPr b="0" i="0" lang="en-US" sz="850" u="none" cap="none" strike="noStrike">
                <a:solidFill>
                  <a:srgbClr val="CAD6DE"/>
                </a:solidFill>
                <a:latin typeface="Unbounded"/>
                <a:ea typeface="Unbounded"/>
                <a:cs typeface="Unbounded"/>
                <a:sym typeface="Unbounded"/>
              </a:rPr>
              <a:t>LLM-Assisted Search</a:t>
            </a:r>
            <a:endParaRPr b="0" i="0" sz="850" u="none" cap="none" strike="noStrike">
              <a:solidFill>
                <a:schemeClr val="dk1"/>
              </a:solidFill>
              <a:latin typeface="Calibri"/>
              <a:ea typeface="Calibri"/>
              <a:cs typeface="Calibri"/>
              <a:sym typeface="Calibri"/>
            </a:endParaRPr>
          </a:p>
        </p:txBody>
      </p:sp>
      <p:sp>
        <p:nvSpPr>
          <p:cNvPr id="61" name="Google Shape;61;p6"/>
          <p:cNvSpPr/>
          <p:nvPr/>
        </p:nvSpPr>
        <p:spPr>
          <a:xfrm>
            <a:off x="1137018" y="1975247"/>
            <a:ext cx="10248743" cy="112514"/>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CAD6DE"/>
              </a:buClr>
              <a:buSzPts val="700"/>
              <a:buFont typeface="Cabin"/>
              <a:buNone/>
            </a:pPr>
            <a:r>
              <a:rPr b="0" i="0" lang="en-US" sz="800" u="none" cap="none" strike="noStrike">
                <a:solidFill>
                  <a:srgbClr val="CAD6DE"/>
                </a:solidFill>
                <a:latin typeface="Cabin"/>
                <a:ea typeface="Cabin"/>
                <a:cs typeface="Cabin"/>
                <a:sym typeface="Cabin"/>
              </a:rPr>
              <a:t>Use LLMs to improve search terms and Boolean strings</a:t>
            </a:r>
            <a:endParaRPr b="0" i="0" sz="800" u="none" cap="none" strike="noStrike">
              <a:solidFill>
                <a:schemeClr val="dk1"/>
              </a:solidFill>
              <a:latin typeface="Calibri"/>
              <a:ea typeface="Calibri"/>
              <a:cs typeface="Calibri"/>
              <a:sym typeface="Calibri"/>
            </a:endParaRPr>
          </a:p>
        </p:txBody>
      </p:sp>
      <p:pic>
        <p:nvPicPr>
          <p:cNvPr descr="preencoded.png" id="62" name="Google Shape;62;p6"/>
          <p:cNvPicPr preferRelativeResize="0"/>
          <p:nvPr/>
        </p:nvPicPr>
        <p:blipFill rotWithShape="1">
          <a:blip r:embed="rId3">
            <a:alphaModFix/>
          </a:blip>
          <a:srcRect b="0" l="0" r="0" t="0"/>
          <a:stretch/>
        </p:blipFill>
        <p:spPr>
          <a:xfrm>
            <a:off x="698086" y="2316956"/>
            <a:ext cx="10795524" cy="571302"/>
          </a:xfrm>
          <a:prstGeom prst="rect">
            <a:avLst/>
          </a:prstGeom>
          <a:noFill/>
          <a:ln>
            <a:noFill/>
          </a:ln>
        </p:spPr>
      </p:pic>
      <p:sp>
        <p:nvSpPr>
          <p:cNvPr id="63" name="Google Shape;63;p6"/>
          <p:cNvSpPr/>
          <p:nvPr/>
        </p:nvSpPr>
        <p:spPr>
          <a:xfrm>
            <a:off x="829746" y="2513310"/>
            <a:ext cx="142772" cy="17849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6DE"/>
              </a:buClr>
              <a:buSzPts val="1100"/>
              <a:buFont typeface="Unbounded"/>
              <a:buNone/>
            </a:pPr>
            <a:r>
              <a:rPr b="0" i="0" lang="en-US" sz="1100" u="none" cap="none" strike="noStrike">
                <a:solidFill>
                  <a:srgbClr val="CAD6DE"/>
                </a:solidFill>
                <a:latin typeface="Unbounded"/>
                <a:ea typeface="Unbounded"/>
                <a:cs typeface="Unbounded"/>
                <a:sym typeface="Unbounded"/>
              </a:rPr>
              <a:t>3</a:t>
            </a:r>
            <a:endParaRPr b="0" i="0" sz="1100" u="none" cap="none" strike="noStrike">
              <a:solidFill>
                <a:schemeClr val="dk1"/>
              </a:solidFill>
              <a:latin typeface="Calibri"/>
              <a:ea typeface="Calibri"/>
              <a:cs typeface="Calibri"/>
              <a:sym typeface="Calibri"/>
            </a:endParaRPr>
          </a:p>
        </p:txBody>
      </p:sp>
      <p:sp>
        <p:nvSpPr>
          <p:cNvPr id="64" name="Google Shape;64;p6"/>
          <p:cNvSpPr/>
          <p:nvPr/>
        </p:nvSpPr>
        <p:spPr>
          <a:xfrm>
            <a:off x="1137018" y="2424807"/>
            <a:ext cx="10248743" cy="13999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850"/>
              <a:buFont typeface="Unbounded"/>
              <a:buNone/>
            </a:pPr>
            <a:r>
              <a:rPr b="0" i="0" lang="en-US" sz="850" u="none" cap="none" strike="noStrike">
                <a:solidFill>
                  <a:srgbClr val="CAD6DE"/>
                </a:solidFill>
                <a:latin typeface="Unbounded"/>
                <a:ea typeface="Unbounded"/>
                <a:cs typeface="Unbounded"/>
                <a:sym typeface="Unbounded"/>
              </a:rPr>
              <a:t>Find &amp; Screen</a:t>
            </a:r>
            <a:endParaRPr b="0" i="0" sz="850" u="none" cap="none" strike="noStrike">
              <a:solidFill>
                <a:schemeClr val="dk1"/>
              </a:solidFill>
              <a:latin typeface="Calibri"/>
              <a:ea typeface="Calibri"/>
              <a:cs typeface="Calibri"/>
              <a:sym typeface="Calibri"/>
            </a:endParaRPr>
          </a:p>
        </p:txBody>
      </p:sp>
      <p:sp>
        <p:nvSpPr>
          <p:cNvPr id="65" name="Google Shape;65;p6"/>
          <p:cNvSpPr/>
          <p:nvPr/>
        </p:nvSpPr>
        <p:spPr>
          <a:xfrm>
            <a:off x="1137018" y="2591991"/>
            <a:ext cx="10248743" cy="112514"/>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CAD6DE"/>
              </a:buClr>
              <a:buSzPts val="700"/>
              <a:buFont typeface="Cabin"/>
              <a:buNone/>
            </a:pPr>
            <a:r>
              <a:rPr b="0" i="0" lang="en-US" sz="800" u="none" cap="none" strike="noStrike">
                <a:solidFill>
                  <a:srgbClr val="CAD6DE"/>
                </a:solidFill>
                <a:latin typeface="Cabin"/>
                <a:ea typeface="Cabin"/>
                <a:cs typeface="Cabin"/>
                <a:sym typeface="Cabin"/>
              </a:rPr>
              <a:t>Locate and screen relevant papers efficiently</a:t>
            </a:r>
            <a:endParaRPr b="0" i="0" sz="800" u="none" cap="none" strike="noStrike">
              <a:solidFill>
                <a:schemeClr val="dk1"/>
              </a:solidFill>
              <a:latin typeface="Calibri"/>
              <a:ea typeface="Calibri"/>
              <a:cs typeface="Calibri"/>
              <a:sym typeface="Calibri"/>
            </a:endParaRPr>
          </a:p>
        </p:txBody>
      </p:sp>
      <p:pic>
        <p:nvPicPr>
          <p:cNvPr descr="preencoded.png" id="66" name="Google Shape;66;p6"/>
          <p:cNvPicPr preferRelativeResize="0"/>
          <p:nvPr/>
        </p:nvPicPr>
        <p:blipFill rotWithShape="1">
          <a:blip r:embed="rId3">
            <a:alphaModFix/>
          </a:blip>
          <a:srcRect b="0" l="0" r="0" t="0"/>
          <a:stretch/>
        </p:blipFill>
        <p:spPr>
          <a:xfrm>
            <a:off x="698086" y="2933700"/>
            <a:ext cx="10795524" cy="571302"/>
          </a:xfrm>
          <a:prstGeom prst="rect">
            <a:avLst/>
          </a:prstGeom>
          <a:noFill/>
          <a:ln>
            <a:noFill/>
          </a:ln>
        </p:spPr>
      </p:pic>
      <p:sp>
        <p:nvSpPr>
          <p:cNvPr id="67" name="Google Shape;67;p6"/>
          <p:cNvSpPr/>
          <p:nvPr/>
        </p:nvSpPr>
        <p:spPr>
          <a:xfrm>
            <a:off x="829746" y="3130054"/>
            <a:ext cx="142772" cy="17849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6DE"/>
              </a:buClr>
              <a:buSzPts val="1100"/>
              <a:buFont typeface="Unbounded"/>
              <a:buNone/>
            </a:pPr>
            <a:r>
              <a:rPr b="0" i="0" lang="en-US" sz="1100" u="none" cap="none" strike="noStrike">
                <a:solidFill>
                  <a:srgbClr val="CAD6DE"/>
                </a:solidFill>
                <a:latin typeface="Unbounded"/>
                <a:ea typeface="Unbounded"/>
                <a:cs typeface="Unbounded"/>
                <a:sym typeface="Unbounded"/>
              </a:rPr>
              <a:t>4</a:t>
            </a:r>
            <a:endParaRPr b="0" i="0" sz="1100" u="none" cap="none" strike="noStrike">
              <a:solidFill>
                <a:schemeClr val="dk1"/>
              </a:solidFill>
              <a:latin typeface="Calibri"/>
              <a:ea typeface="Calibri"/>
              <a:cs typeface="Calibri"/>
              <a:sym typeface="Calibri"/>
            </a:endParaRPr>
          </a:p>
        </p:txBody>
      </p:sp>
      <p:sp>
        <p:nvSpPr>
          <p:cNvPr id="68" name="Google Shape;68;p6"/>
          <p:cNvSpPr/>
          <p:nvPr/>
        </p:nvSpPr>
        <p:spPr>
          <a:xfrm>
            <a:off x="1137018" y="3041551"/>
            <a:ext cx="10248743" cy="13999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850"/>
              <a:buFont typeface="Unbounded"/>
              <a:buNone/>
            </a:pPr>
            <a:r>
              <a:rPr b="0" i="0" lang="en-US" sz="850" u="none" cap="none" strike="noStrike">
                <a:solidFill>
                  <a:srgbClr val="CAD6DE"/>
                </a:solidFill>
                <a:latin typeface="Unbounded"/>
                <a:ea typeface="Unbounded"/>
                <a:cs typeface="Unbounded"/>
                <a:sym typeface="Unbounded"/>
              </a:rPr>
              <a:t>Anchor Papers</a:t>
            </a:r>
            <a:endParaRPr b="0" i="0" sz="850" u="none" cap="none" strike="noStrike">
              <a:solidFill>
                <a:schemeClr val="dk1"/>
              </a:solidFill>
              <a:latin typeface="Calibri"/>
              <a:ea typeface="Calibri"/>
              <a:cs typeface="Calibri"/>
              <a:sym typeface="Calibri"/>
            </a:endParaRPr>
          </a:p>
        </p:txBody>
      </p:sp>
      <p:sp>
        <p:nvSpPr>
          <p:cNvPr id="69" name="Google Shape;69;p6"/>
          <p:cNvSpPr/>
          <p:nvPr/>
        </p:nvSpPr>
        <p:spPr>
          <a:xfrm>
            <a:off x="1137018" y="3208734"/>
            <a:ext cx="10248743" cy="112514"/>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CAD6DE"/>
              </a:buClr>
              <a:buSzPts val="700"/>
              <a:buFont typeface="Cabin"/>
              <a:buNone/>
            </a:pPr>
            <a:r>
              <a:rPr b="0" i="0" lang="en-US" sz="800" u="none" cap="none" strike="noStrike">
                <a:solidFill>
                  <a:srgbClr val="CAD6DE"/>
                </a:solidFill>
                <a:latin typeface="Cabin"/>
                <a:ea typeface="Cabin"/>
                <a:cs typeface="Cabin"/>
                <a:sym typeface="Cabin"/>
              </a:rPr>
              <a:t>Identify anchor and supporting papers</a:t>
            </a:r>
            <a:endParaRPr b="0" i="0" sz="800" u="none" cap="none" strike="noStrike">
              <a:solidFill>
                <a:schemeClr val="dk1"/>
              </a:solidFill>
              <a:latin typeface="Calibri"/>
              <a:ea typeface="Calibri"/>
              <a:cs typeface="Calibri"/>
              <a:sym typeface="Calibri"/>
            </a:endParaRPr>
          </a:p>
        </p:txBody>
      </p:sp>
      <p:pic>
        <p:nvPicPr>
          <p:cNvPr descr="preencoded.png" id="70" name="Google Shape;70;p6"/>
          <p:cNvPicPr preferRelativeResize="0"/>
          <p:nvPr/>
        </p:nvPicPr>
        <p:blipFill rotWithShape="1">
          <a:blip r:embed="rId3">
            <a:alphaModFix/>
          </a:blip>
          <a:srcRect b="0" l="0" r="0" t="0"/>
          <a:stretch/>
        </p:blipFill>
        <p:spPr>
          <a:xfrm>
            <a:off x="698086" y="3550444"/>
            <a:ext cx="10795524" cy="571302"/>
          </a:xfrm>
          <a:prstGeom prst="rect">
            <a:avLst/>
          </a:prstGeom>
          <a:noFill/>
          <a:ln>
            <a:noFill/>
          </a:ln>
        </p:spPr>
      </p:pic>
      <p:sp>
        <p:nvSpPr>
          <p:cNvPr id="71" name="Google Shape;71;p6"/>
          <p:cNvSpPr/>
          <p:nvPr/>
        </p:nvSpPr>
        <p:spPr>
          <a:xfrm>
            <a:off x="829746" y="3746798"/>
            <a:ext cx="142772" cy="17849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6DE"/>
              </a:buClr>
              <a:buSzPts val="1100"/>
              <a:buFont typeface="Unbounded"/>
              <a:buNone/>
            </a:pPr>
            <a:r>
              <a:rPr b="0" i="0" lang="en-US" sz="1100" u="none" cap="none" strike="noStrike">
                <a:solidFill>
                  <a:srgbClr val="CAD6DE"/>
                </a:solidFill>
                <a:latin typeface="Unbounded"/>
                <a:ea typeface="Unbounded"/>
                <a:cs typeface="Unbounded"/>
                <a:sym typeface="Unbounded"/>
              </a:rPr>
              <a:t>5</a:t>
            </a:r>
            <a:endParaRPr b="0" i="0" sz="1100" u="none" cap="none" strike="noStrike">
              <a:solidFill>
                <a:schemeClr val="dk1"/>
              </a:solidFill>
              <a:latin typeface="Calibri"/>
              <a:ea typeface="Calibri"/>
              <a:cs typeface="Calibri"/>
              <a:sym typeface="Calibri"/>
            </a:endParaRPr>
          </a:p>
        </p:txBody>
      </p:sp>
      <p:sp>
        <p:nvSpPr>
          <p:cNvPr id="72" name="Google Shape;72;p6"/>
          <p:cNvSpPr/>
          <p:nvPr/>
        </p:nvSpPr>
        <p:spPr>
          <a:xfrm>
            <a:off x="1137018" y="3658295"/>
            <a:ext cx="10248743" cy="13999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850"/>
              <a:buFont typeface="Unbounded"/>
              <a:buNone/>
            </a:pPr>
            <a:r>
              <a:rPr b="0" i="0" lang="en-US" sz="850" u="none" cap="none" strike="noStrike">
                <a:solidFill>
                  <a:srgbClr val="CAD6DE"/>
                </a:solidFill>
                <a:latin typeface="Unbounded"/>
                <a:ea typeface="Unbounded"/>
                <a:cs typeface="Unbounded"/>
                <a:sym typeface="Unbounded"/>
              </a:rPr>
              <a:t>Extract Evidence</a:t>
            </a:r>
            <a:endParaRPr b="0" i="0" sz="850" u="none" cap="none" strike="noStrike">
              <a:solidFill>
                <a:schemeClr val="dk1"/>
              </a:solidFill>
              <a:latin typeface="Calibri"/>
              <a:ea typeface="Calibri"/>
              <a:cs typeface="Calibri"/>
              <a:sym typeface="Calibri"/>
            </a:endParaRPr>
          </a:p>
        </p:txBody>
      </p:sp>
      <p:sp>
        <p:nvSpPr>
          <p:cNvPr id="73" name="Google Shape;73;p6"/>
          <p:cNvSpPr/>
          <p:nvPr/>
        </p:nvSpPr>
        <p:spPr>
          <a:xfrm>
            <a:off x="1137018" y="3825478"/>
            <a:ext cx="10248743" cy="112514"/>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CAD6DE"/>
              </a:buClr>
              <a:buSzPts val="700"/>
              <a:buFont typeface="Cabin"/>
              <a:buNone/>
            </a:pPr>
            <a:r>
              <a:rPr b="0" i="0" lang="en-US" sz="800" u="none" cap="none" strike="noStrike">
                <a:solidFill>
                  <a:srgbClr val="CAD6DE"/>
                </a:solidFill>
                <a:latin typeface="Cabin"/>
                <a:ea typeface="Cabin"/>
                <a:cs typeface="Cabin"/>
                <a:sym typeface="Cabin"/>
              </a:rPr>
              <a:t>Pull structured evidence using the tracker</a:t>
            </a:r>
            <a:endParaRPr b="0" i="0" sz="800" u="none" cap="none" strike="noStrike">
              <a:solidFill>
                <a:schemeClr val="dk1"/>
              </a:solidFill>
              <a:latin typeface="Calibri"/>
              <a:ea typeface="Calibri"/>
              <a:cs typeface="Calibri"/>
              <a:sym typeface="Calibri"/>
            </a:endParaRPr>
          </a:p>
        </p:txBody>
      </p:sp>
      <p:pic>
        <p:nvPicPr>
          <p:cNvPr descr="preencoded.png" id="74" name="Google Shape;74;p6"/>
          <p:cNvPicPr preferRelativeResize="0"/>
          <p:nvPr/>
        </p:nvPicPr>
        <p:blipFill rotWithShape="1">
          <a:blip r:embed="rId3">
            <a:alphaModFix/>
          </a:blip>
          <a:srcRect b="0" l="0" r="0" t="0"/>
          <a:stretch/>
        </p:blipFill>
        <p:spPr>
          <a:xfrm>
            <a:off x="698086" y="4167187"/>
            <a:ext cx="10795524" cy="571302"/>
          </a:xfrm>
          <a:prstGeom prst="rect">
            <a:avLst/>
          </a:prstGeom>
          <a:noFill/>
          <a:ln>
            <a:noFill/>
          </a:ln>
        </p:spPr>
      </p:pic>
      <p:sp>
        <p:nvSpPr>
          <p:cNvPr id="75" name="Google Shape;75;p6"/>
          <p:cNvSpPr/>
          <p:nvPr/>
        </p:nvSpPr>
        <p:spPr>
          <a:xfrm>
            <a:off x="829746" y="4363541"/>
            <a:ext cx="142772" cy="17849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6DE"/>
              </a:buClr>
              <a:buSzPts val="1100"/>
              <a:buFont typeface="Unbounded"/>
              <a:buNone/>
            </a:pPr>
            <a:r>
              <a:rPr b="0" i="0" lang="en-US" sz="1100" u="none" cap="none" strike="noStrike">
                <a:solidFill>
                  <a:srgbClr val="CAD6DE"/>
                </a:solidFill>
                <a:latin typeface="Unbounded"/>
                <a:ea typeface="Unbounded"/>
                <a:cs typeface="Unbounded"/>
                <a:sym typeface="Unbounded"/>
              </a:rPr>
              <a:t>6</a:t>
            </a:r>
            <a:endParaRPr b="0" i="0" sz="1100" u="none" cap="none" strike="noStrike">
              <a:solidFill>
                <a:schemeClr val="dk1"/>
              </a:solidFill>
              <a:latin typeface="Calibri"/>
              <a:ea typeface="Calibri"/>
              <a:cs typeface="Calibri"/>
              <a:sym typeface="Calibri"/>
            </a:endParaRPr>
          </a:p>
        </p:txBody>
      </p:sp>
      <p:sp>
        <p:nvSpPr>
          <p:cNvPr id="76" name="Google Shape;76;p6"/>
          <p:cNvSpPr/>
          <p:nvPr/>
        </p:nvSpPr>
        <p:spPr>
          <a:xfrm>
            <a:off x="1137018" y="4275038"/>
            <a:ext cx="10248743" cy="13999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850"/>
              <a:buFont typeface="Unbounded"/>
              <a:buNone/>
            </a:pPr>
            <a:r>
              <a:rPr b="0" i="0" lang="en-US" sz="850" u="none" cap="none" strike="noStrike">
                <a:solidFill>
                  <a:srgbClr val="CAD6DE"/>
                </a:solidFill>
                <a:latin typeface="Unbounded"/>
                <a:ea typeface="Unbounded"/>
                <a:cs typeface="Unbounded"/>
                <a:sym typeface="Unbounded"/>
              </a:rPr>
              <a:t>Gaps vs Limits</a:t>
            </a:r>
            <a:endParaRPr b="0" i="0" sz="850" u="none" cap="none" strike="noStrike">
              <a:solidFill>
                <a:schemeClr val="dk1"/>
              </a:solidFill>
              <a:latin typeface="Calibri"/>
              <a:ea typeface="Calibri"/>
              <a:cs typeface="Calibri"/>
              <a:sym typeface="Calibri"/>
            </a:endParaRPr>
          </a:p>
        </p:txBody>
      </p:sp>
      <p:sp>
        <p:nvSpPr>
          <p:cNvPr id="77" name="Google Shape;77;p6"/>
          <p:cNvSpPr/>
          <p:nvPr/>
        </p:nvSpPr>
        <p:spPr>
          <a:xfrm>
            <a:off x="1137018" y="4442222"/>
            <a:ext cx="10248743" cy="112514"/>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CAD6DE"/>
              </a:buClr>
              <a:buSzPts val="700"/>
              <a:buFont typeface="Cabin"/>
              <a:buNone/>
            </a:pPr>
            <a:r>
              <a:rPr b="0" i="0" lang="en-US" sz="800" u="none" cap="none" strike="noStrike">
                <a:solidFill>
                  <a:srgbClr val="CAD6DE"/>
                </a:solidFill>
                <a:latin typeface="Cabin"/>
                <a:ea typeface="Cabin"/>
                <a:cs typeface="Cabin"/>
                <a:sym typeface="Cabin"/>
              </a:rPr>
              <a:t>Distinguish paper limitations from research gaps</a:t>
            </a:r>
            <a:endParaRPr b="0" i="0" sz="800" u="none" cap="none" strike="noStrike">
              <a:solidFill>
                <a:schemeClr val="dk1"/>
              </a:solidFill>
              <a:latin typeface="Calibri"/>
              <a:ea typeface="Calibri"/>
              <a:cs typeface="Calibri"/>
              <a:sym typeface="Calibri"/>
            </a:endParaRPr>
          </a:p>
        </p:txBody>
      </p:sp>
      <p:pic>
        <p:nvPicPr>
          <p:cNvPr descr="preencoded.png" id="78" name="Google Shape;78;p6"/>
          <p:cNvPicPr preferRelativeResize="0"/>
          <p:nvPr/>
        </p:nvPicPr>
        <p:blipFill rotWithShape="1">
          <a:blip r:embed="rId3">
            <a:alphaModFix/>
          </a:blip>
          <a:srcRect b="0" l="0" r="0" t="0"/>
          <a:stretch/>
        </p:blipFill>
        <p:spPr>
          <a:xfrm>
            <a:off x="698086" y="4783931"/>
            <a:ext cx="10795524" cy="571302"/>
          </a:xfrm>
          <a:prstGeom prst="rect">
            <a:avLst/>
          </a:prstGeom>
          <a:noFill/>
          <a:ln>
            <a:noFill/>
          </a:ln>
        </p:spPr>
      </p:pic>
      <p:sp>
        <p:nvSpPr>
          <p:cNvPr id="79" name="Google Shape;79;p6"/>
          <p:cNvSpPr/>
          <p:nvPr/>
        </p:nvSpPr>
        <p:spPr>
          <a:xfrm>
            <a:off x="829746" y="4980285"/>
            <a:ext cx="142772" cy="17849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6DE"/>
              </a:buClr>
              <a:buSzPts val="1100"/>
              <a:buFont typeface="Unbounded"/>
              <a:buNone/>
            </a:pPr>
            <a:r>
              <a:rPr b="0" i="0" lang="en-US" sz="1100" u="none" cap="none" strike="noStrike">
                <a:solidFill>
                  <a:srgbClr val="CAD6DE"/>
                </a:solidFill>
                <a:latin typeface="Unbounded"/>
                <a:ea typeface="Unbounded"/>
                <a:cs typeface="Unbounded"/>
                <a:sym typeface="Unbounded"/>
              </a:rPr>
              <a:t>7</a:t>
            </a:r>
            <a:endParaRPr b="0" i="0" sz="1100" u="none" cap="none" strike="noStrike">
              <a:solidFill>
                <a:schemeClr val="dk1"/>
              </a:solidFill>
              <a:latin typeface="Calibri"/>
              <a:ea typeface="Calibri"/>
              <a:cs typeface="Calibri"/>
              <a:sym typeface="Calibri"/>
            </a:endParaRPr>
          </a:p>
        </p:txBody>
      </p:sp>
      <p:sp>
        <p:nvSpPr>
          <p:cNvPr id="80" name="Google Shape;80;p6"/>
          <p:cNvSpPr/>
          <p:nvPr/>
        </p:nvSpPr>
        <p:spPr>
          <a:xfrm>
            <a:off x="1137018" y="4891782"/>
            <a:ext cx="10248743" cy="13999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850"/>
              <a:buFont typeface="Unbounded"/>
              <a:buNone/>
            </a:pPr>
            <a:r>
              <a:rPr b="0" i="0" lang="en-US" sz="850" u="none" cap="none" strike="noStrike">
                <a:solidFill>
                  <a:srgbClr val="CAD6DE"/>
                </a:solidFill>
                <a:latin typeface="Unbounded"/>
                <a:ea typeface="Unbounded"/>
                <a:cs typeface="Unbounded"/>
                <a:sym typeface="Unbounded"/>
              </a:rPr>
              <a:t>Synthesise</a:t>
            </a:r>
            <a:endParaRPr b="0" i="0" sz="850" u="none" cap="none" strike="noStrike">
              <a:solidFill>
                <a:schemeClr val="dk1"/>
              </a:solidFill>
              <a:latin typeface="Calibri"/>
              <a:ea typeface="Calibri"/>
              <a:cs typeface="Calibri"/>
              <a:sym typeface="Calibri"/>
            </a:endParaRPr>
          </a:p>
        </p:txBody>
      </p:sp>
      <p:sp>
        <p:nvSpPr>
          <p:cNvPr id="81" name="Google Shape;81;p6"/>
          <p:cNvSpPr/>
          <p:nvPr/>
        </p:nvSpPr>
        <p:spPr>
          <a:xfrm>
            <a:off x="1137018" y="5058966"/>
            <a:ext cx="10248743" cy="112514"/>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CAD6DE"/>
              </a:buClr>
              <a:buSzPts val="700"/>
              <a:buFont typeface="Cabin"/>
              <a:buNone/>
            </a:pPr>
            <a:r>
              <a:rPr b="0" i="0" lang="en-US" sz="800" u="none" cap="none" strike="noStrike">
                <a:solidFill>
                  <a:srgbClr val="CAD6DE"/>
                </a:solidFill>
                <a:latin typeface="Cabin"/>
                <a:ea typeface="Cabin"/>
                <a:cs typeface="Cabin"/>
                <a:sym typeface="Cabin"/>
              </a:rPr>
              <a:t>Synthesise findings across multiple papers</a:t>
            </a:r>
            <a:endParaRPr b="0" i="0" sz="800" u="none" cap="none" strike="noStrike">
              <a:solidFill>
                <a:schemeClr val="dk1"/>
              </a:solidFill>
              <a:latin typeface="Calibri"/>
              <a:ea typeface="Calibri"/>
              <a:cs typeface="Calibri"/>
              <a:sym typeface="Calibri"/>
            </a:endParaRPr>
          </a:p>
        </p:txBody>
      </p:sp>
      <p:pic>
        <p:nvPicPr>
          <p:cNvPr descr="preencoded.png" id="82" name="Google Shape;82;p6"/>
          <p:cNvPicPr preferRelativeResize="0"/>
          <p:nvPr/>
        </p:nvPicPr>
        <p:blipFill rotWithShape="1">
          <a:blip r:embed="rId3">
            <a:alphaModFix/>
          </a:blip>
          <a:srcRect b="0" l="0" r="0" t="0"/>
          <a:stretch/>
        </p:blipFill>
        <p:spPr>
          <a:xfrm>
            <a:off x="698086" y="5400675"/>
            <a:ext cx="10795524" cy="571302"/>
          </a:xfrm>
          <a:prstGeom prst="rect">
            <a:avLst/>
          </a:prstGeom>
          <a:noFill/>
          <a:ln>
            <a:noFill/>
          </a:ln>
        </p:spPr>
      </p:pic>
      <p:sp>
        <p:nvSpPr>
          <p:cNvPr id="83" name="Google Shape;83;p6"/>
          <p:cNvSpPr/>
          <p:nvPr/>
        </p:nvSpPr>
        <p:spPr>
          <a:xfrm>
            <a:off x="829746" y="5597029"/>
            <a:ext cx="142772" cy="17849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6DE"/>
              </a:buClr>
              <a:buSzPts val="1100"/>
              <a:buFont typeface="Unbounded"/>
              <a:buNone/>
            </a:pPr>
            <a:r>
              <a:rPr b="0" i="0" lang="en-US" sz="1100" u="none" cap="none" strike="noStrike">
                <a:solidFill>
                  <a:srgbClr val="CAD6DE"/>
                </a:solidFill>
                <a:latin typeface="Unbounded"/>
                <a:ea typeface="Unbounded"/>
                <a:cs typeface="Unbounded"/>
                <a:sym typeface="Unbounded"/>
              </a:rPr>
              <a:t>8</a:t>
            </a:r>
            <a:endParaRPr b="0" i="0" sz="1100" u="none" cap="none" strike="noStrike">
              <a:solidFill>
                <a:schemeClr val="dk1"/>
              </a:solidFill>
              <a:latin typeface="Calibri"/>
              <a:ea typeface="Calibri"/>
              <a:cs typeface="Calibri"/>
              <a:sym typeface="Calibri"/>
            </a:endParaRPr>
          </a:p>
        </p:txBody>
      </p:sp>
      <p:sp>
        <p:nvSpPr>
          <p:cNvPr id="84" name="Google Shape;84;p6"/>
          <p:cNvSpPr/>
          <p:nvPr/>
        </p:nvSpPr>
        <p:spPr>
          <a:xfrm>
            <a:off x="1137018" y="5508526"/>
            <a:ext cx="10248743" cy="13999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850"/>
              <a:buFont typeface="Unbounded"/>
              <a:buNone/>
            </a:pPr>
            <a:r>
              <a:rPr b="0" i="0" lang="en-US" sz="850" u="none" cap="none" strike="noStrike">
                <a:solidFill>
                  <a:srgbClr val="CAD6DE"/>
                </a:solidFill>
                <a:latin typeface="Unbounded"/>
                <a:ea typeface="Unbounded"/>
                <a:cs typeface="Unbounded"/>
                <a:sym typeface="Unbounded"/>
              </a:rPr>
              <a:t>Topic Decision</a:t>
            </a:r>
            <a:endParaRPr b="0" i="0" sz="850" u="none" cap="none" strike="noStrike">
              <a:solidFill>
                <a:schemeClr val="dk1"/>
              </a:solidFill>
              <a:latin typeface="Calibri"/>
              <a:ea typeface="Calibri"/>
              <a:cs typeface="Calibri"/>
              <a:sym typeface="Calibri"/>
            </a:endParaRPr>
          </a:p>
        </p:txBody>
      </p:sp>
      <p:sp>
        <p:nvSpPr>
          <p:cNvPr id="85" name="Google Shape;85;p6"/>
          <p:cNvSpPr/>
          <p:nvPr/>
        </p:nvSpPr>
        <p:spPr>
          <a:xfrm>
            <a:off x="1137018" y="5675709"/>
            <a:ext cx="10248743" cy="112514"/>
          </a:xfrm>
          <a:prstGeom prst="rect">
            <a:avLst/>
          </a:prstGeom>
          <a:noFill/>
          <a:ln>
            <a:noFill/>
          </a:ln>
        </p:spPr>
        <p:txBody>
          <a:bodyPr anchorCtr="0" anchor="t" bIns="0" lIns="0" spcFirstLastPara="1" rIns="0" wrap="square" tIns="0">
            <a:noAutofit/>
          </a:bodyPr>
          <a:lstStyle/>
          <a:p>
            <a:pPr indent="0" lvl="0" marL="0" marR="0" rtl="0" algn="l">
              <a:lnSpc>
                <a:spcPct val="98000"/>
              </a:lnSpc>
              <a:spcBef>
                <a:spcPts val="0"/>
              </a:spcBef>
              <a:spcAft>
                <a:spcPts val="0"/>
              </a:spcAft>
              <a:buClr>
                <a:srgbClr val="CAD6DE"/>
              </a:buClr>
              <a:buSzPts val="700"/>
              <a:buFont typeface="Cabin"/>
              <a:buNone/>
            </a:pPr>
            <a:r>
              <a:rPr b="0" i="0" lang="en-US" sz="800" u="none" cap="none" strike="noStrike">
                <a:solidFill>
                  <a:srgbClr val="CAD6DE"/>
                </a:solidFill>
                <a:latin typeface="Cabin"/>
                <a:ea typeface="Cabin"/>
                <a:cs typeface="Cabin"/>
                <a:sym typeface="Cabin"/>
              </a:rPr>
              <a:t>Use literature to select the strongest topic direction</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7"/>
          <p:cNvSpPr/>
          <p:nvPr/>
        </p:nvSpPr>
        <p:spPr>
          <a:xfrm>
            <a:off x="698086" y="596900"/>
            <a:ext cx="1371963" cy="288727"/>
          </a:xfrm>
          <a:prstGeom prst="roundRect">
            <a:avLst>
              <a:gd fmla="val 7902" name="adj"/>
            </a:avLst>
          </a:prstGeom>
          <a:solidFill>
            <a:srgbClr val="054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812085" y="653852"/>
            <a:ext cx="1753548" cy="17482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CAD6DE"/>
              </a:buClr>
              <a:buSzPts val="1150"/>
              <a:buFont typeface="Cabin"/>
              <a:buNone/>
            </a:pPr>
            <a:r>
              <a:rPr b="0" i="0" lang="en-US" sz="1150" u="none" cap="none" strike="noStrike">
                <a:solidFill>
                  <a:srgbClr val="CAD6DE"/>
                </a:solidFill>
                <a:latin typeface="Cabin"/>
                <a:ea typeface="Cabin"/>
                <a:cs typeface="Cabin"/>
                <a:sym typeface="Cabin"/>
              </a:rPr>
              <a:t>FINDING PAPERS</a:t>
            </a:r>
            <a:endParaRPr b="0" i="0" sz="1150" u="none" cap="none" strike="noStrike">
              <a:solidFill>
                <a:schemeClr val="dk1"/>
              </a:solidFill>
              <a:latin typeface="Calibri"/>
              <a:ea typeface="Calibri"/>
              <a:cs typeface="Calibri"/>
              <a:sym typeface="Calibri"/>
            </a:endParaRPr>
          </a:p>
        </p:txBody>
      </p:sp>
      <p:sp>
        <p:nvSpPr>
          <p:cNvPr id="93" name="Google Shape;93;p7"/>
          <p:cNvSpPr/>
          <p:nvPr/>
        </p:nvSpPr>
        <p:spPr>
          <a:xfrm>
            <a:off x="698086" y="958056"/>
            <a:ext cx="10795524" cy="55919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500"/>
              <a:buFont typeface="Unbounded"/>
              <a:buNone/>
            </a:pPr>
            <a:r>
              <a:rPr b="0" i="0" lang="en-US" sz="3500" u="none" cap="none" strike="noStrike">
                <a:solidFill>
                  <a:srgbClr val="FFFFFF"/>
                </a:solidFill>
                <a:latin typeface="Unbounded"/>
                <a:ea typeface="Unbounded"/>
                <a:cs typeface="Unbounded"/>
                <a:sym typeface="Unbounded"/>
              </a:rPr>
              <a:t>Break the Topic Into Search Blocks</a:t>
            </a:r>
            <a:endParaRPr b="0" i="0" sz="3500" u="none" cap="none" strike="noStrike">
              <a:solidFill>
                <a:schemeClr val="dk1"/>
              </a:solidFill>
              <a:latin typeface="Calibri"/>
              <a:ea typeface="Calibri"/>
              <a:cs typeface="Calibri"/>
              <a:sym typeface="Calibri"/>
            </a:endParaRPr>
          </a:p>
        </p:txBody>
      </p:sp>
      <p:sp>
        <p:nvSpPr>
          <p:cNvPr id="94" name="Google Shape;94;p7"/>
          <p:cNvSpPr/>
          <p:nvPr/>
        </p:nvSpPr>
        <p:spPr>
          <a:xfrm>
            <a:off x="698086" y="1789013"/>
            <a:ext cx="11405108" cy="29696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Students usually search the full thesis title once. That is a weak strategy. Search by </a:t>
            </a:r>
            <a:r>
              <a:rPr b="1" i="0" lang="en-US" sz="1450" u="none" cap="none" strike="noStrike">
                <a:solidFill>
                  <a:srgbClr val="CAD6DE"/>
                </a:solidFill>
                <a:latin typeface="Cabin"/>
                <a:ea typeface="Cabin"/>
                <a:cs typeface="Cabin"/>
                <a:sym typeface="Cabin"/>
              </a:rPr>
              <a:t>individual concepts</a:t>
            </a:r>
            <a:r>
              <a:rPr b="0" i="0" lang="en-US" sz="1450" u="none" cap="none" strike="noStrike">
                <a:solidFill>
                  <a:srgbClr val="CAD6DE"/>
                </a:solidFill>
                <a:latin typeface="Cabin"/>
                <a:ea typeface="Cabin"/>
                <a:cs typeface="Cabin"/>
                <a:sym typeface="Cabin"/>
              </a:rPr>
              <a:t> and combine them.</a:t>
            </a:r>
            <a:endParaRPr b="0" i="0" sz="1450" u="none" cap="none" strike="noStrike">
              <a:solidFill>
                <a:schemeClr val="dk1"/>
              </a:solidFill>
              <a:latin typeface="Calibri"/>
              <a:ea typeface="Calibri"/>
              <a:cs typeface="Calibri"/>
              <a:sym typeface="Calibri"/>
            </a:endParaRPr>
          </a:p>
        </p:txBody>
      </p:sp>
      <p:sp>
        <p:nvSpPr>
          <p:cNvPr id="95" name="Google Shape;95;p7"/>
          <p:cNvSpPr/>
          <p:nvPr/>
        </p:nvSpPr>
        <p:spPr>
          <a:xfrm>
            <a:off x="698086" y="2493566"/>
            <a:ext cx="5165893" cy="3563739"/>
          </a:xfrm>
          <a:prstGeom prst="roundRect">
            <a:avLst>
              <a:gd fmla="val 800" name="adj"/>
            </a:avLst>
          </a:prstGeom>
          <a:noFill/>
          <a:ln cap="flat" cmpd="sng" w="9525">
            <a:solidFill>
              <a:srgbClr val="FFFFFF">
                <a:alpha val="2392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
          <p:cNvSpPr/>
          <p:nvPr/>
        </p:nvSpPr>
        <p:spPr>
          <a:xfrm>
            <a:off x="698086" y="3030041"/>
            <a:ext cx="5165893" cy="11883"/>
          </a:xfrm>
          <a:prstGeom prst="rect">
            <a:avLst/>
          </a:prstGeom>
          <a:solidFill>
            <a:srgbClr val="FFFFFF">
              <a:alpha val="2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7"/>
          <p:cNvSpPr/>
          <p:nvPr/>
        </p:nvSpPr>
        <p:spPr>
          <a:xfrm>
            <a:off x="698086" y="3860304"/>
            <a:ext cx="5165893" cy="11883"/>
          </a:xfrm>
          <a:prstGeom prst="rect">
            <a:avLst/>
          </a:prstGeom>
          <a:solidFill>
            <a:srgbClr val="FFFFFF">
              <a:alpha val="2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p:nvPr/>
        </p:nvSpPr>
        <p:spPr>
          <a:xfrm>
            <a:off x="698086" y="4393605"/>
            <a:ext cx="5165893" cy="11883"/>
          </a:xfrm>
          <a:prstGeom prst="rect">
            <a:avLst/>
          </a:prstGeom>
          <a:solidFill>
            <a:srgbClr val="FFFFFF">
              <a:alpha val="2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698086" y="5223867"/>
            <a:ext cx="5165893" cy="11883"/>
          </a:xfrm>
          <a:prstGeom prst="rect">
            <a:avLst/>
          </a:prstGeom>
          <a:solidFill>
            <a:srgbClr val="FFFFFF">
              <a:alpha val="2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7"/>
          <p:cNvSpPr/>
          <p:nvPr/>
        </p:nvSpPr>
        <p:spPr>
          <a:xfrm>
            <a:off x="894633" y="2614910"/>
            <a:ext cx="2805935" cy="29696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AD6DE"/>
              </a:buClr>
              <a:buSzPts val="1450"/>
              <a:buFont typeface="Cabin"/>
              <a:buNone/>
            </a:pPr>
            <a:r>
              <a:rPr b="1" i="0" lang="en-US" sz="1450" u="none" cap="none" strike="noStrike">
                <a:solidFill>
                  <a:srgbClr val="CAD6DE"/>
                </a:solidFill>
                <a:latin typeface="Cabin"/>
                <a:ea typeface="Cabin"/>
                <a:cs typeface="Cabin"/>
                <a:sym typeface="Cabin"/>
              </a:rPr>
              <a:t>Search Block</a:t>
            </a:r>
            <a:endParaRPr b="0" i="0" sz="1450" u="none" cap="none" strike="noStrike">
              <a:solidFill>
                <a:schemeClr val="dk1"/>
              </a:solidFill>
              <a:latin typeface="Calibri"/>
              <a:ea typeface="Calibri"/>
              <a:cs typeface="Calibri"/>
              <a:sym typeface="Calibri"/>
            </a:endParaRPr>
          </a:p>
        </p:txBody>
      </p:sp>
      <p:sp>
        <p:nvSpPr>
          <p:cNvPr id="101" name="Google Shape;101;p7"/>
          <p:cNvSpPr/>
          <p:nvPr/>
        </p:nvSpPr>
        <p:spPr>
          <a:xfrm>
            <a:off x="3471180" y="2614910"/>
            <a:ext cx="2805935" cy="29696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AD6DE"/>
              </a:buClr>
              <a:buSzPts val="1450"/>
              <a:buFont typeface="Cabin"/>
              <a:buNone/>
            </a:pPr>
            <a:r>
              <a:rPr b="1" i="0" lang="en-US" sz="1450" u="none" cap="none" strike="noStrike">
                <a:solidFill>
                  <a:srgbClr val="CAD6DE"/>
                </a:solidFill>
                <a:latin typeface="Cabin"/>
                <a:ea typeface="Cabin"/>
                <a:cs typeface="Cabin"/>
                <a:sym typeface="Cabin"/>
              </a:rPr>
              <a:t>Example</a:t>
            </a:r>
            <a:endParaRPr b="0" i="0" sz="1450" u="none" cap="none" strike="noStrike">
              <a:solidFill>
                <a:schemeClr val="dk1"/>
              </a:solidFill>
              <a:latin typeface="Calibri"/>
              <a:ea typeface="Calibri"/>
              <a:cs typeface="Calibri"/>
              <a:sym typeface="Calibri"/>
            </a:endParaRPr>
          </a:p>
        </p:txBody>
      </p:sp>
      <p:sp>
        <p:nvSpPr>
          <p:cNvPr id="102" name="Google Shape;102;p7"/>
          <p:cNvSpPr/>
          <p:nvPr/>
        </p:nvSpPr>
        <p:spPr>
          <a:xfrm>
            <a:off x="894633" y="3148211"/>
            <a:ext cx="2805935" cy="29696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Problem</a:t>
            </a:r>
            <a:endParaRPr b="0" i="0" sz="1450" u="none" cap="none" strike="noStrike">
              <a:solidFill>
                <a:schemeClr val="dk1"/>
              </a:solidFill>
              <a:latin typeface="Calibri"/>
              <a:ea typeface="Calibri"/>
              <a:cs typeface="Calibri"/>
              <a:sym typeface="Calibri"/>
            </a:endParaRPr>
          </a:p>
        </p:txBody>
      </p:sp>
      <p:sp>
        <p:nvSpPr>
          <p:cNvPr id="103" name="Google Shape;103;p7"/>
          <p:cNvSpPr/>
          <p:nvPr/>
        </p:nvSpPr>
        <p:spPr>
          <a:xfrm>
            <a:off x="3471180" y="3148211"/>
            <a:ext cx="2196351" cy="59392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Phishing-message detection</a:t>
            </a:r>
            <a:endParaRPr b="0" i="0" sz="1450" u="none" cap="none" strike="noStrike">
              <a:solidFill>
                <a:schemeClr val="dk1"/>
              </a:solidFill>
              <a:latin typeface="Calibri"/>
              <a:ea typeface="Calibri"/>
              <a:cs typeface="Calibri"/>
              <a:sym typeface="Calibri"/>
            </a:endParaRPr>
          </a:p>
        </p:txBody>
      </p:sp>
      <p:sp>
        <p:nvSpPr>
          <p:cNvPr id="104" name="Google Shape;104;p7"/>
          <p:cNvSpPr/>
          <p:nvPr/>
        </p:nvSpPr>
        <p:spPr>
          <a:xfrm>
            <a:off x="894633" y="3978473"/>
            <a:ext cx="2805935" cy="29696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Context</a:t>
            </a:r>
            <a:endParaRPr b="0" i="0" sz="1450" u="none" cap="none" strike="noStrike">
              <a:solidFill>
                <a:schemeClr val="dk1"/>
              </a:solidFill>
              <a:latin typeface="Calibri"/>
              <a:ea typeface="Calibri"/>
              <a:cs typeface="Calibri"/>
              <a:sym typeface="Calibri"/>
            </a:endParaRPr>
          </a:p>
        </p:txBody>
      </p:sp>
      <p:sp>
        <p:nvSpPr>
          <p:cNvPr id="105" name="Google Shape;105;p7"/>
          <p:cNvSpPr/>
          <p:nvPr/>
        </p:nvSpPr>
        <p:spPr>
          <a:xfrm>
            <a:off x="3471180" y="3978473"/>
            <a:ext cx="2805935" cy="29696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Bangla-speaking users</a:t>
            </a:r>
            <a:endParaRPr b="0" i="0" sz="1450" u="none" cap="none" strike="noStrike">
              <a:solidFill>
                <a:schemeClr val="dk1"/>
              </a:solidFill>
              <a:latin typeface="Calibri"/>
              <a:ea typeface="Calibri"/>
              <a:cs typeface="Calibri"/>
              <a:sym typeface="Calibri"/>
            </a:endParaRPr>
          </a:p>
        </p:txBody>
      </p:sp>
      <p:sp>
        <p:nvSpPr>
          <p:cNvPr id="106" name="Google Shape;106;p7"/>
          <p:cNvSpPr/>
          <p:nvPr/>
        </p:nvSpPr>
        <p:spPr>
          <a:xfrm>
            <a:off x="894633" y="4511774"/>
            <a:ext cx="2805935" cy="29696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Data</a:t>
            </a:r>
            <a:endParaRPr b="0" i="0" sz="1450" u="none" cap="none" strike="noStrike">
              <a:solidFill>
                <a:schemeClr val="dk1"/>
              </a:solidFill>
              <a:latin typeface="Calibri"/>
              <a:ea typeface="Calibri"/>
              <a:cs typeface="Calibri"/>
              <a:sym typeface="Calibri"/>
            </a:endParaRPr>
          </a:p>
        </p:txBody>
      </p:sp>
      <p:sp>
        <p:nvSpPr>
          <p:cNvPr id="107" name="Google Shape;107;p7"/>
          <p:cNvSpPr/>
          <p:nvPr/>
        </p:nvSpPr>
        <p:spPr>
          <a:xfrm>
            <a:off x="3471180" y="4511774"/>
            <a:ext cx="2196351" cy="59392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SMS, text messages, screenshots</a:t>
            </a:r>
            <a:endParaRPr b="0" i="0" sz="1450" u="none" cap="none" strike="noStrike">
              <a:solidFill>
                <a:schemeClr val="dk1"/>
              </a:solidFill>
              <a:latin typeface="Calibri"/>
              <a:ea typeface="Calibri"/>
              <a:cs typeface="Calibri"/>
              <a:sym typeface="Calibri"/>
            </a:endParaRPr>
          </a:p>
        </p:txBody>
      </p:sp>
      <p:sp>
        <p:nvSpPr>
          <p:cNvPr id="108" name="Google Shape;108;p7"/>
          <p:cNvSpPr/>
          <p:nvPr/>
        </p:nvSpPr>
        <p:spPr>
          <a:xfrm>
            <a:off x="894633" y="5342037"/>
            <a:ext cx="2805935" cy="296962"/>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Method / Concern</a:t>
            </a:r>
            <a:endParaRPr b="0" i="0" sz="1450" u="none" cap="none" strike="noStrike">
              <a:solidFill>
                <a:schemeClr val="dk1"/>
              </a:solidFill>
              <a:latin typeface="Calibri"/>
              <a:ea typeface="Calibri"/>
              <a:cs typeface="Calibri"/>
              <a:sym typeface="Calibri"/>
            </a:endParaRPr>
          </a:p>
        </p:txBody>
      </p:sp>
      <p:sp>
        <p:nvSpPr>
          <p:cNvPr id="109" name="Google Shape;109;p7"/>
          <p:cNvSpPr/>
          <p:nvPr/>
        </p:nvSpPr>
        <p:spPr>
          <a:xfrm>
            <a:off x="3471180" y="5342037"/>
            <a:ext cx="2196351" cy="59392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Transformer, code-mixing, explainability</a:t>
            </a:r>
            <a:endParaRPr b="0" i="0" sz="1450" u="none" cap="none" strike="noStrike">
              <a:solidFill>
                <a:schemeClr val="dk1"/>
              </a:solidFill>
              <a:latin typeface="Calibri"/>
              <a:ea typeface="Calibri"/>
              <a:cs typeface="Calibri"/>
              <a:sym typeface="Calibri"/>
            </a:endParaRPr>
          </a:p>
        </p:txBody>
      </p:sp>
      <p:sp>
        <p:nvSpPr>
          <p:cNvPr id="110" name="Google Shape;110;p7"/>
          <p:cNvSpPr/>
          <p:nvPr/>
        </p:nvSpPr>
        <p:spPr>
          <a:xfrm>
            <a:off x="6334066" y="2470944"/>
            <a:ext cx="5165893" cy="27949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750"/>
              <a:buFont typeface="Unbounded"/>
              <a:buNone/>
            </a:pPr>
            <a:r>
              <a:rPr b="0" i="0" lang="en-US" sz="1750" u="none" cap="none" strike="noStrike">
                <a:solidFill>
                  <a:srgbClr val="FFFFFF"/>
                </a:solidFill>
                <a:latin typeface="Unbounded"/>
                <a:ea typeface="Unbounded"/>
                <a:cs typeface="Unbounded"/>
                <a:sym typeface="Unbounded"/>
              </a:rPr>
              <a:t>Example Combinations</a:t>
            </a:r>
            <a:endParaRPr b="0" i="0" sz="1750" u="none" cap="none" strike="noStrike">
              <a:solidFill>
                <a:schemeClr val="dk1"/>
              </a:solidFill>
              <a:latin typeface="Calibri"/>
              <a:ea typeface="Calibri"/>
              <a:cs typeface="Calibri"/>
              <a:sym typeface="Calibri"/>
            </a:endParaRPr>
          </a:p>
        </p:txBody>
      </p:sp>
      <p:sp>
        <p:nvSpPr>
          <p:cNvPr id="111" name="Google Shape;111;p7"/>
          <p:cNvSpPr/>
          <p:nvPr/>
        </p:nvSpPr>
        <p:spPr>
          <a:xfrm>
            <a:off x="6334066" y="2931616"/>
            <a:ext cx="5165893" cy="1378049"/>
          </a:xfrm>
          <a:prstGeom prst="rect">
            <a:avLst/>
          </a:prstGeom>
          <a:noFill/>
          <a:ln>
            <a:noFill/>
          </a:ln>
        </p:spPr>
        <p:txBody>
          <a:bodyPr anchorCtr="0" anchor="t" bIns="0" lIns="0" spcFirstLastPara="1" rIns="0" wrap="square" tIns="0">
            <a:noAutofit/>
          </a:bodyPr>
          <a:lstStyle/>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"SMS phishing" AND detection</a:t>
            </a:r>
            <a:endParaRPr b="0" i="0" sz="1450" u="none" cap="none" strike="noStrike">
              <a:solidFill>
                <a:schemeClr val="dk1"/>
              </a:solidFill>
              <a:latin typeface="Calibri"/>
              <a:ea typeface="Calibri"/>
              <a:cs typeface="Calibri"/>
              <a:sym typeface="Calibri"/>
            </a:endParaRPr>
          </a:p>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Bangla AND phishing AND dataset</a:t>
            </a:r>
            <a:endParaRPr b="0" i="0" sz="1450" u="none" cap="none" strike="noStrike">
              <a:solidFill>
                <a:schemeClr val="dk1"/>
              </a:solidFill>
              <a:latin typeface="Calibri"/>
              <a:ea typeface="Calibri"/>
              <a:cs typeface="Calibri"/>
              <a:sym typeface="Calibri"/>
            </a:endParaRPr>
          </a:p>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"code-mixed text" AND scam detection</a:t>
            </a:r>
            <a:endParaRPr b="0" i="0" sz="1450" u="none" cap="none" strike="noStrike">
              <a:solidFill>
                <a:schemeClr val="dk1"/>
              </a:solidFill>
              <a:latin typeface="Calibri"/>
              <a:ea typeface="Calibri"/>
              <a:cs typeface="Calibri"/>
              <a:sym typeface="Calibri"/>
            </a:endParaRPr>
          </a:p>
          <a:p>
            <a:pPr indent="-294640" lvl="0" marL="294640" marR="0" rtl="0" algn="l">
              <a:lnSpc>
                <a:spcPct val="130000"/>
              </a:lnSpc>
              <a:spcBef>
                <a:spcPts val="0"/>
              </a:spcBef>
              <a:spcAft>
                <a:spcPts val="0"/>
              </a:spcAft>
              <a:buClr>
                <a:srgbClr val="CAD6DE"/>
              </a:buClr>
              <a:buSzPts val="1450"/>
              <a:buFont typeface="Cabin"/>
              <a:buChar char="•"/>
            </a:pPr>
            <a:r>
              <a:rPr b="0" i="0" lang="en-US" sz="1450" u="none" cap="none" strike="noStrike">
                <a:solidFill>
                  <a:srgbClr val="CAD6DE"/>
                </a:solidFill>
                <a:latin typeface="Cabin"/>
                <a:ea typeface="Cabin"/>
                <a:cs typeface="Cabin"/>
                <a:sym typeface="Cabin"/>
              </a:rPr>
              <a:t>"phishing detection" AND explainability</a:t>
            </a:r>
            <a:endParaRPr b="0" i="0" sz="1450" u="none" cap="none" strike="noStrike">
              <a:solidFill>
                <a:schemeClr val="dk1"/>
              </a:solidFill>
              <a:latin typeface="Calibri"/>
              <a:ea typeface="Calibri"/>
              <a:cs typeface="Calibri"/>
              <a:sym typeface="Calibri"/>
            </a:endParaRPr>
          </a:p>
        </p:txBody>
      </p:sp>
      <p:sp>
        <p:nvSpPr>
          <p:cNvPr id="112" name="Google Shape;112;p7"/>
          <p:cNvSpPr/>
          <p:nvPr/>
        </p:nvSpPr>
        <p:spPr>
          <a:xfrm>
            <a:off x="6334066" y="4513461"/>
            <a:ext cx="5165893" cy="1311970"/>
          </a:xfrm>
          <a:prstGeom prst="roundRect">
            <a:avLst>
              <a:gd fmla="val 2174" name="adj"/>
            </a:avLst>
          </a:prstGeom>
          <a:solidFill>
            <a:srgbClr val="0878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3" name="Google Shape;113;p7"/>
          <p:cNvPicPr preferRelativeResize="0"/>
          <p:nvPr/>
        </p:nvPicPr>
        <p:blipFill rotWithShape="1">
          <a:blip r:embed="rId3">
            <a:alphaModFix/>
          </a:blip>
          <a:srcRect b="0" l="0" r="0" t="0"/>
          <a:stretch/>
        </p:blipFill>
        <p:spPr>
          <a:xfrm>
            <a:off x="6524164" y="4800600"/>
            <a:ext cx="237623" cy="190103"/>
          </a:xfrm>
          <a:prstGeom prst="rect">
            <a:avLst/>
          </a:prstGeom>
          <a:noFill/>
          <a:ln>
            <a:noFill/>
          </a:ln>
        </p:spPr>
      </p:pic>
      <p:sp>
        <p:nvSpPr>
          <p:cNvPr id="114" name="Google Shape;114;p7"/>
          <p:cNvSpPr/>
          <p:nvPr/>
        </p:nvSpPr>
        <p:spPr>
          <a:xfrm>
            <a:off x="6951885" y="4724003"/>
            <a:ext cx="4357975" cy="89088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450"/>
              <a:buFont typeface="Cabin"/>
              <a:buNone/>
            </a:pPr>
            <a:r>
              <a:rPr b="0" i="0" lang="en-US" sz="1450" u="none" cap="none" strike="noStrike">
                <a:solidFill>
                  <a:srgbClr val="FFFFFF"/>
                </a:solidFill>
                <a:latin typeface="Cabin"/>
                <a:ea typeface="Cabin"/>
                <a:cs typeface="Cabin"/>
                <a:sym typeface="Cabin"/>
              </a:rPr>
              <a:t>Do not search only with the proposed thesis title. Search with different combinations of the main concepts.</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8"/>
          <p:cNvSpPr/>
          <p:nvPr/>
        </p:nvSpPr>
        <p:spPr>
          <a:xfrm>
            <a:off x="698086" y="798413"/>
            <a:ext cx="1303900" cy="274439"/>
          </a:xfrm>
          <a:prstGeom prst="roundRect">
            <a:avLst>
              <a:gd fmla="val 7898" name="adj"/>
            </a:avLst>
          </a:prstGeom>
          <a:solidFill>
            <a:srgbClr val="054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a:off x="806430" y="852587"/>
            <a:ext cx="1696797" cy="166092"/>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CAD6DE"/>
              </a:buClr>
              <a:buSzPts val="1100"/>
              <a:buFont typeface="Cabin"/>
              <a:buNone/>
            </a:pPr>
            <a:r>
              <a:rPr b="0" i="0" lang="en-US" sz="1100" u="none" cap="none" strike="noStrike">
                <a:solidFill>
                  <a:srgbClr val="CAD6DE"/>
                </a:solidFill>
                <a:latin typeface="Cabin"/>
                <a:ea typeface="Cabin"/>
                <a:cs typeface="Cabin"/>
                <a:sym typeface="Cabin"/>
              </a:rPr>
              <a:t>FINDING PAPERS</a:t>
            </a:r>
            <a:endParaRPr b="0" i="0" sz="1100" u="none" cap="none" strike="noStrike">
              <a:solidFill>
                <a:schemeClr val="dk1"/>
              </a:solidFill>
              <a:latin typeface="Calibri"/>
              <a:ea typeface="Calibri"/>
              <a:cs typeface="Calibri"/>
              <a:sym typeface="Calibri"/>
            </a:endParaRPr>
          </a:p>
        </p:txBody>
      </p:sp>
      <p:sp>
        <p:nvSpPr>
          <p:cNvPr id="122" name="Google Shape;122;p8"/>
          <p:cNvSpPr/>
          <p:nvPr/>
        </p:nvSpPr>
        <p:spPr>
          <a:xfrm>
            <a:off x="698086" y="1138238"/>
            <a:ext cx="10795524" cy="53131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300"/>
              <a:buFont typeface="Unbounded"/>
              <a:buNone/>
            </a:pPr>
            <a:r>
              <a:rPr b="0" i="0" lang="en-US" sz="3300" u="none" cap="none" strike="noStrike">
                <a:solidFill>
                  <a:srgbClr val="FFFFFF"/>
                </a:solidFill>
                <a:latin typeface="Unbounded"/>
                <a:ea typeface="Unbounded"/>
                <a:cs typeface="Unbounded"/>
                <a:sym typeface="Unbounded"/>
              </a:rPr>
              <a:t>Use an LLM to Generate Search Keywords</a:t>
            </a:r>
            <a:endParaRPr b="0" i="0" sz="3300" u="none" cap="none" strike="noStrike">
              <a:solidFill>
                <a:schemeClr val="dk1"/>
              </a:solidFill>
              <a:latin typeface="Calibri"/>
              <a:ea typeface="Calibri"/>
              <a:cs typeface="Calibri"/>
              <a:sym typeface="Calibri"/>
            </a:endParaRPr>
          </a:p>
        </p:txBody>
      </p:sp>
      <p:sp>
        <p:nvSpPr>
          <p:cNvPr id="123" name="Google Shape;123;p8"/>
          <p:cNvSpPr/>
          <p:nvPr/>
        </p:nvSpPr>
        <p:spPr>
          <a:xfrm>
            <a:off x="698086" y="2078335"/>
            <a:ext cx="5177502" cy="2656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650"/>
              <a:buFont typeface="Unbounded"/>
              <a:buNone/>
            </a:pPr>
            <a:r>
              <a:rPr b="0" i="0" lang="en-US" sz="1650" u="none" cap="none" strike="noStrike">
                <a:solidFill>
                  <a:srgbClr val="FFFFFF"/>
                </a:solidFill>
                <a:latin typeface="Unbounded"/>
                <a:ea typeface="Unbounded"/>
                <a:cs typeface="Unbounded"/>
                <a:sym typeface="Unbounded"/>
              </a:rPr>
              <a:t>Ask the LLM for:</a:t>
            </a:r>
            <a:endParaRPr b="0" i="0" sz="1650" u="none" cap="none" strike="noStrike">
              <a:solidFill>
                <a:schemeClr val="dk1"/>
              </a:solidFill>
              <a:latin typeface="Calibri"/>
              <a:ea typeface="Calibri"/>
              <a:cs typeface="Calibri"/>
              <a:sym typeface="Calibri"/>
            </a:endParaRPr>
          </a:p>
        </p:txBody>
      </p:sp>
      <p:sp>
        <p:nvSpPr>
          <p:cNvPr id="124" name="Google Shape;124;p8"/>
          <p:cNvSpPr/>
          <p:nvPr/>
        </p:nvSpPr>
        <p:spPr>
          <a:xfrm>
            <a:off x="698086" y="2507456"/>
            <a:ext cx="5177502" cy="1937147"/>
          </a:xfrm>
          <a:prstGeom prst="rect">
            <a:avLst/>
          </a:prstGeom>
          <a:noFill/>
          <a:ln>
            <a:noFill/>
          </a:ln>
        </p:spPr>
        <p:txBody>
          <a:bodyPr anchorCtr="0" anchor="t" bIns="0" lIns="0" spcFirstLastPara="1" rIns="0" wrap="square" tIns="0">
            <a:noAutofit/>
          </a:bodyPr>
          <a:lstStyle/>
          <a:p>
            <a:pPr indent="-284480" lvl="0" marL="284480" marR="0" rtl="0" algn="l">
              <a:lnSpc>
                <a:spcPct val="127000"/>
              </a:lnSpc>
              <a:spcBef>
                <a:spcPts val="0"/>
              </a:spcBef>
              <a:spcAft>
                <a:spcPts val="0"/>
              </a:spcAft>
              <a:buClr>
                <a:srgbClr val="CAD6DE"/>
              </a:buClr>
              <a:buSzPts val="1400"/>
              <a:buFont typeface="Cabin"/>
              <a:buChar char="•"/>
            </a:pPr>
            <a:r>
              <a:rPr b="0" i="0" lang="en-US" sz="1400" u="none" cap="none" strike="noStrike">
                <a:solidFill>
                  <a:srgbClr val="CAD6DE"/>
                </a:solidFill>
                <a:latin typeface="Cabin"/>
                <a:ea typeface="Cabin"/>
                <a:cs typeface="Cabin"/>
                <a:sym typeface="Cabin"/>
              </a:rPr>
              <a:t>Main research concepts</a:t>
            </a:r>
            <a:endParaRPr b="0" i="0" sz="1400" u="none" cap="none" strike="noStrike">
              <a:solidFill>
                <a:schemeClr val="dk1"/>
              </a:solidFill>
              <a:latin typeface="Calibri"/>
              <a:ea typeface="Calibri"/>
              <a:cs typeface="Calibri"/>
              <a:sym typeface="Calibri"/>
            </a:endParaRPr>
          </a:p>
          <a:p>
            <a:pPr indent="-284480" lvl="0" marL="284480" marR="0" rtl="0" algn="l">
              <a:lnSpc>
                <a:spcPct val="127000"/>
              </a:lnSpc>
              <a:spcBef>
                <a:spcPts val="0"/>
              </a:spcBef>
              <a:spcAft>
                <a:spcPts val="0"/>
              </a:spcAft>
              <a:buClr>
                <a:srgbClr val="CAD6DE"/>
              </a:buClr>
              <a:buSzPts val="1400"/>
              <a:buFont typeface="Cabin"/>
              <a:buChar char="•"/>
            </a:pPr>
            <a:r>
              <a:rPr b="0" i="0" lang="en-US" sz="1400" u="none" cap="none" strike="noStrike">
                <a:solidFill>
                  <a:srgbClr val="CAD6DE"/>
                </a:solidFill>
                <a:latin typeface="Cabin"/>
                <a:ea typeface="Cabin"/>
                <a:cs typeface="Cabin"/>
                <a:sym typeface="Cabin"/>
              </a:rPr>
              <a:t>Synonyms and alternative terms</a:t>
            </a:r>
            <a:endParaRPr b="0" i="0" sz="1400" u="none" cap="none" strike="noStrike">
              <a:solidFill>
                <a:schemeClr val="dk1"/>
              </a:solidFill>
              <a:latin typeface="Calibri"/>
              <a:ea typeface="Calibri"/>
              <a:cs typeface="Calibri"/>
              <a:sym typeface="Calibri"/>
            </a:endParaRPr>
          </a:p>
          <a:p>
            <a:pPr indent="-284480" lvl="0" marL="284480" marR="0" rtl="0" algn="l">
              <a:lnSpc>
                <a:spcPct val="127000"/>
              </a:lnSpc>
              <a:spcBef>
                <a:spcPts val="0"/>
              </a:spcBef>
              <a:spcAft>
                <a:spcPts val="0"/>
              </a:spcAft>
              <a:buClr>
                <a:srgbClr val="CAD6DE"/>
              </a:buClr>
              <a:buSzPts val="1400"/>
              <a:buFont typeface="Cabin"/>
              <a:buChar char="•"/>
            </a:pPr>
            <a:r>
              <a:rPr b="0" i="0" lang="en-US" sz="1400" u="none" cap="none" strike="noStrike">
                <a:solidFill>
                  <a:srgbClr val="CAD6DE"/>
                </a:solidFill>
                <a:latin typeface="Cabin"/>
                <a:ea typeface="Cabin"/>
                <a:cs typeface="Cabin"/>
                <a:sym typeface="Cabin"/>
              </a:rPr>
              <a:t>Broader and narrower keywords</a:t>
            </a:r>
            <a:endParaRPr b="0" i="0" sz="1400" u="none" cap="none" strike="noStrike">
              <a:solidFill>
                <a:schemeClr val="dk1"/>
              </a:solidFill>
              <a:latin typeface="Calibri"/>
              <a:ea typeface="Calibri"/>
              <a:cs typeface="Calibri"/>
              <a:sym typeface="Calibri"/>
            </a:endParaRPr>
          </a:p>
          <a:p>
            <a:pPr indent="-284480" lvl="0" marL="284480" marR="0" rtl="0" algn="l">
              <a:lnSpc>
                <a:spcPct val="127000"/>
              </a:lnSpc>
              <a:spcBef>
                <a:spcPts val="0"/>
              </a:spcBef>
              <a:spcAft>
                <a:spcPts val="0"/>
              </a:spcAft>
              <a:buClr>
                <a:srgbClr val="CAD6DE"/>
              </a:buClr>
              <a:buSzPts val="1400"/>
              <a:buFont typeface="Cabin"/>
              <a:buChar char="•"/>
            </a:pPr>
            <a:r>
              <a:rPr b="0" i="0" lang="en-US" sz="1400" u="none" cap="none" strike="noStrike">
                <a:solidFill>
                  <a:srgbClr val="CAD6DE"/>
                </a:solidFill>
                <a:latin typeface="Cabin"/>
                <a:ea typeface="Cabin"/>
                <a:cs typeface="Cabin"/>
                <a:sym typeface="Cabin"/>
              </a:rPr>
              <a:t>Context-specific keywords</a:t>
            </a:r>
            <a:endParaRPr b="0" i="0" sz="1400" u="none" cap="none" strike="noStrike">
              <a:solidFill>
                <a:schemeClr val="dk1"/>
              </a:solidFill>
              <a:latin typeface="Calibri"/>
              <a:ea typeface="Calibri"/>
              <a:cs typeface="Calibri"/>
              <a:sym typeface="Calibri"/>
            </a:endParaRPr>
          </a:p>
          <a:p>
            <a:pPr indent="-284480" lvl="0" marL="284480" marR="0" rtl="0" algn="l">
              <a:lnSpc>
                <a:spcPct val="127000"/>
              </a:lnSpc>
              <a:spcBef>
                <a:spcPts val="0"/>
              </a:spcBef>
              <a:spcAft>
                <a:spcPts val="0"/>
              </a:spcAft>
              <a:buClr>
                <a:srgbClr val="CAD6DE"/>
              </a:buClr>
              <a:buSzPts val="1400"/>
              <a:buFont typeface="Cabin"/>
              <a:buChar char="•"/>
            </a:pPr>
            <a:r>
              <a:rPr b="0" i="0" lang="en-US" sz="1400" u="none" cap="none" strike="noStrike">
                <a:solidFill>
                  <a:srgbClr val="CAD6DE"/>
                </a:solidFill>
                <a:latin typeface="Cabin"/>
                <a:ea typeface="Cabin"/>
                <a:cs typeface="Cabin"/>
                <a:sym typeface="Cabin"/>
              </a:rPr>
              <a:t>Dataset-related keywords</a:t>
            </a:r>
            <a:endParaRPr b="0" i="0" sz="1400" u="none" cap="none" strike="noStrike">
              <a:solidFill>
                <a:schemeClr val="dk1"/>
              </a:solidFill>
              <a:latin typeface="Calibri"/>
              <a:ea typeface="Calibri"/>
              <a:cs typeface="Calibri"/>
              <a:sym typeface="Calibri"/>
            </a:endParaRPr>
          </a:p>
          <a:p>
            <a:pPr indent="-284480" lvl="0" marL="284480" marR="0" rtl="0" algn="l">
              <a:lnSpc>
                <a:spcPct val="127000"/>
              </a:lnSpc>
              <a:spcBef>
                <a:spcPts val="0"/>
              </a:spcBef>
              <a:spcAft>
                <a:spcPts val="0"/>
              </a:spcAft>
              <a:buClr>
                <a:srgbClr val="CAD6DE"/>
              </a:buClr>
              <a:buSzPts val="1400"/>
              <a:buFont typeface="Cabin"/>
              <a:buChar char="•"/>
            </a:pPr>
            <a:r>
              <a:rPr b="0" i="0" lang="en-US" sz="1400" u="none" cap="none" strike="noStrike">
                <a:solidFill>
                  <a:srgbClr val="CAD6DE"/>
                </a:solidFill>
                <a:latin typeface="Cabin"/>
                <a:ea typeface="Cabin"/>
                <a:cs typeface="Cabin"/>
                <a:sym typeface="Cabin"/>
              </a:rPr>
              <a:t>Boolean search strings</a:t>
            </a:r>
            <a:endParaRPr b="0" i="0" sz="1400" u="none" cap="none" strike="noStrike">
              <a:solidFill>
                <a:schemeClr val="dk1"/>
              </a:solidFill>
              <a:latin typeface="Calibri"/>
              <a:ea typeface="Calibri"/>
              <a:cs typeface="Calibri"/>
              <a:sym typeface="Calibri"/>
            </a:endParaRPr>
          </a:p>
        </p:txBody>
      </p:sp>
      <p:sp>
        <p:nvSpPr>
          <p:cNvPr id="125" name="Google Shape;125;p8"/>
          <p:cNvSpPr/>
          <p:nvPr/>
        </p:nvSpPr>
        <p:spPr>
          <a:xfrm>
            <a:off x="698086" y="4628555"/>
            <a:ext cx="5177502" cy="935038"/>
          </a:xfrm>
          <a:prstGeom prst="roundRect">
            <a:avLst>
              <a:gd fmla="val 2898" name="adj"/>
            </a:avLst>
          </a:prstGeom>
          <a:solidFill>
            <a:srgbClr val="0878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6" name="Google Shape;126;p8"/>
          <p:cNvPicPr preferRelativeResize="0"/>
          <p:nvPr/>
        </p:nvPicPr>
        <p:blipFill rotWithShape="1">
          <a:blip r:embed="rId3">
            <a:alphaModFix/>
          </a:blip>
          <a:srcRect b="0" l="0" r="0" t="0"/>
          <a:stretch/>
        </p:blipFill>
        <p:spPr>
          <a:xfrm>
            <a:off x="878659" y="4893072"/>
            <a:ext cx="225717" cy="180578"/>
          </a:xfrm>
          <a:prstGeom prst="rect">
            <a:avLst/>
          </a:prstGeom>
          <a:noFill/>
          <a:ln>
            <a:noFill/>
          </a:ln>
        </p:spPr>
      </p:pic>
      <p:sp>
        <p:nvSpPr>
          <p:cNvPr id="127" name="Google Shape;127;p8"/>
          <p:cNvSpPr/>
          <p:nvPr/>
        </p:nvSpPr>
        <p:spPr>
          <a:xfrm>
            <a:off x="1284950" y="4820841"/>
            <a:ext cx="4410064" cy="550466"/>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FFFFFF"/>
              </a:buClr>
              <a:buSzPts val="1400"/>
              <a:buFont typeface="Cabin"/>
              <a:buNone/>
            </a:pPr>
            <a:r>
              <a:rPr b="0" i="0" lang="en-US" sz="1400" u="none" cap="none" strike="noStrike">
                <a:solidFill>
                  <a:srgbClr val="FFFFFF"/>
                </a:solidFill>
                <a:latin typeface="Cabin"/>
                <a:ea typeface="Cabin"/>
                <a:cs typeface="Cabin"/>
                <a:sym typeface="Cabin"/>
              </a:rPr>
              <a:t>Use the LLM to design the search. Do not use it as the literature database.</a:t>
            </a:r>
            <a:endParaRPr b="0" i="0" sz="1400" u="none" cap="none" strike="noStrike">
              <a:solidFill>
                <a:schemeClr val="dk1"/>
              </a:solidFill>
              <a:latin typeface="Calibri"/>
              <a:ea typeface="Calibri"/>
              <a:cs typeface="Calibri"/>
              <a:sym typeface="Calibri"/>
            </a:endParaRPr>
          </a:p>
        </p:txBody>
      </p:sp>
      <p:sp>
        <p:nvSpPr>
          <p:cNvPr id="128" name="Google Shape;128;p8"/>
          <p:cNvSpPr/>
          <p:nvPr/>
        </p:nvSpPr>
        <p:spPr>
          <a:xfrm>
            <a:off x="6322457" y="2078335"/>
            <a:ext cx="5177502" cy="2656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650"/>
              <a:buFont typeface="Unbounded"/>
              <a:buNone/>
            </a:pPr>
            <a:r>
              <a:rPr b="0" i="0" lang="en-US" sz="1650" u="none" cap="none" strike="noStrike">
                <a:solidFill>
                  <a:srgbClr val="FFFFFF"/>
                </a:solidFill>
                <a:latin typeface="Unbounded"/>
                <a:ea typeface="Unbounded"/>
                <a:cs typeface="Unbounded"/>
                <a:sym typeface="Unbounded"/>
              </a:rPr>
              <a:t>Example Prompt</a:t>
            </a:r>
            <a:endParaRPr b="0" i="0" sz="1650" u="none" cap="none" strike="noStrike">
              <a:solidFill>
                <a:schemeClr val="dk1"/>
              </a:solidFill>
              <a:latin typeface="Calibri"/>
              <a:ea typeface="Calibri"/>
              <a:cs typeface="Calibri"/>
              <a:sym typeface="Calibri"/>
            </a:endParaRPr>
          </a:p>
        </p:txBody>
      </p:sp>
      <p:sp>
        <p:nvSpPr>
          <p:cNvPr id="129" name="Google Shape;129;p8"/>
          <p:cNvSpPr/>
          <p:nvPr/>
        </p:nvSpPr>
        <p:spPr>
          <a:xfrm>
            <a:off x="6322457" y="2527895"/>
            <a:ext cx="25399" cy="1945580"/>
          </a:xfrm>
          <a:prstGeom prst="roundRect">
            <a:avLst>
              <a:gd fmla="val 60001" name="adj"/>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p:nvPr/>
        </p:nvSpPr>
        <p:spPr>
          <a:xfrm>
            <a:off x="6593318" y="2675037"/>
            <a:ext cx="4906641" cy="1651397"/>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My research problem is early identification of students at risk in introductory programming courses using attendance, lab submissions, and assessment activity. Generate key concepts, synonyms, broad and narrow keywords, five Boolean search strings, and keywords for finding datasets and systematic reviews.</a:t>
            </a:r>
            <a:endParaRPr b="0" i="0" sz="1400" u="none" cap="none" strike="noStrike">
              <a:solidFill>
                <a:schemeClr val="dk1"/>
              </a:solidFill>
              <a:latin typeface="Calibri"/>
              <a:ea typeface="Calibri"/>
              <a:cs typeface="Calibri"/>
              <a:sym typeface="Calibri"/>
            </a:endParaRPr>
          </a:p>
        </p:txBody>
      </p:sp>
      <p:sp>
        <p:nvSpPr>
          <p:cNvPr id="131" name="Google Shape;131;p8"/>
          <p:cNvSpPr/>
          <p:nvPr/>
        </p:nvSpPr>
        <p:spPr>
          <a:xfrm>
            <a:off x="6322457" y="4657527"/>
            <a:ext cx="5177502" cy="2656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650"/>
              <a:buFont typeface="Unbounded"/>
              <a:buNone/>
            </a:pPr>
            <a:r>
              <a:rPr b="0" i="0" lang="en-US" sz="1650" u="none" cap="none" strike="noStrike">
                <a:solidFill>
                  <a:srgbClr val="FFFFFF"/>
                </a:solidFill>
                <a:latin typeface="Unbounded"/>
                <a:ea typeface="Unbounded"/>
                <a:cs typeface="Unbounded"/>
                <a:sym typeface="Unbounded"/>
              </a:rPr>
              <a:t>Possible Output Terms</a:t>
            </a:r>
            <a:endParaRPr b="0" i="0" sz="1650" u="none" cap="none" strike="noStrike">
              <a:solidFill>
                <a:schemeClr val="dk1"/>
              </a:solidFill>
              <a:latin typeface="Calibri"/>
              <a:ea typeface="Calibri"/>
              <a:cs typeface="Calibri"/>
              <a:sym typeface="Calibri"/>
            </a:endParaRPr>
          </a:p>
        </p:txBody>
      </p:sp>
      <p:sp>
        <p:nvSpPr>
          <p:cNvPr id="132" name="Google Shape;132;p8"/>
          <p:cNvSpPr/>
          <p:nvPr/>
        </p:nvSpPr>
        <p:spPr>
          <a:xfrm>
            <a:off x="6322457" y="5086648"/>
            <a:ext cx="5177502" cy="825698"/>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Student-risk prediction · early-warning systems · academic-performance prediction · learning analytics · CS1 · introductory programming · lab submissions · LMS data · assessment behaviour</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descr="preencoded.png" id="138" name="Google Shape;138;p9"/>
          <p:cNvPicPr preferRelativeResize="0"/>
          <p:nvPr/>
        </p:nvPicPr>
        <p:blipFill rotWithShape="1">
          <a:blip r:embed="rId3">
            <a:alphaModFix/>
          </a:blip>
          <a:srcRect b="0" l="0" r="0" t="0"/>
          <a:stretch/>
        </p:blipFill>
        <p:spPr>
          <a:xfrm>
            <a:off x="0" y="0"/>
            <a:ext cx="4571886" cy="6858000"/>
          </a:xfrm>
          <a:prstGeom prst="rect">
            <a:avLst/>
          </a:prstGeom>
          <a:noFill/>
          <a:ln>
            <a:noFill/>
          </a:ln>
        </p:spPr>
      </p:pic>
      <p:sp>
        <p:nvSpPr>
          <p:cNvPr id="139" name="Google Shape;139;p9"/>
          <p:cNvSpPr/>
          <p:nvPr/>
        </p:nvSpPr>
        <p:spPr>
          <a:xfrm>
            <a:off x="5269971" y="823516"/>
            <a:ext cx="1194564" cy="251520"/>
          </a:xfrm>
          <a:prstGeom prst="roundRect">
            <a:avLst>
              <a:gd fmla="val 7896" name="adj"/>
            </a:avLst>
          </a:prstGeom>
          <a:solidFill>
            <a:srgbClr val="054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9"/>
          <p:cNvSpPr/>
          <p:nvPr/>
        </p:nvSpPr>
        <p:spPr>
          <a:xfrm>
            <a:off x="5369188" y="873125"/>
            <a:ext cx="1605716" cy="15230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CAD6DE"/>
              </a:buClr>
              <a:buSzPts val="1000"/>
              <a:buFont typeface="Cabin"/>
              <a:buNone/>
            </a:pPr>
            <a:r>
              <a:rPr b="0" i="0" lang="en-US" sz="1000" u="none" cap="none" strike="noStrike">
                <a:solidFill>
                  <a:srgbClr val="CAD6DE"/>
                </a:solidFill>
                <a:latin typeface="Cabin"/>
                <a:ea typeface="Cabin"/>
                <a:cs typeface="Cabin"/>
                <a:sym typeface="Cabin"/>
              </a:rPr>
              <a:t>FINDING PAPERS</a:t>
            </a:r>
            <a:endParaRPr b="0" i="0" sz="1000" u="none" cap="none" strike="noStrike">
              <a:solidFill>
                <a:schemeClr val="dk1"/>
              </a:solidFill>
              <a:latin typeface="Calibri"/>
              <a:ea typeface="Calibri"/>
              <a:cs typeface="Calibri"/>
              <a:sym typeface="Calibri"/>
            </a:endParaRPr>
          </a:p>
        </p:txBody>
      </p:sp>
      <p:sp>
        <p:nvSpPr>
          <p:cNvPr id="141" name="Google Shape;141;p9"/>
          <p:cNvSpPr/>
          <p:nvPr/>
        </p:nvSpPr>
        <p:spPr>
          <a:xfrm>
            <a:off x="5269971" y="1129903"/>
            <a:ext cx="6223638" cy="48676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050"/>
              <a:buFont typeface="Unbounded"/>
              <a:buNone/>
            </a:pPr>
            <a:r>
              <a:rPr b="0" i="0" lang="en-US" sz="3050" u="none" cap="none" strike="noStrike">
                <a:solidFill>
                  <a:srgbClr val="FFFFFF"/>
                </a:solidFill>
                <a:latin typeface="Unbounded"/>
                <a:ea typeface="Unbounded"/>
                <a:cs typeface="Unbounded"/>
                <a:sym typeface="Unbounded"/>
              </a:rPr>
              <a:t>What LLMs Should Not Do</a:t>
            </a:r>
            <a:endParaRPr b="0" i="0" sz="3050" u="none" cap="none" strike="noStrike">
              <a:solidFill>
                <a:schemeClr val="dk1"/>
              </a:solidFill>
              <a:latin typeface="Calibri"/>
              <a:ea typeface="Calibri"/>
              <a:cs typeface="Calibri"/>
              <a:sym typeface="Calibri"/>
            </a:endParaRPr>
          </a:p>
        </p:txBody>
      </p:sp>
      <p:sp>
        <p:nvSpPr>
          <p:cNvPr id="142" name="Google Shape;142;p9"/>
          <p:cNvSpPr/>
          <p:nvPr/>
        </p:nvSpPr>
        <p:spPr>
          <a:xfrm>
            <a:off x="5269971" y="1959967"/>
            <a:ext cx="2909914" cy="48676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500"/>
              <a:buFont typeface="Unbounded"/>
              <a:buNone/>
            </a:pPr>
            <a:r>
              <a:rPr b="0" i="0" lang="en-US" sz="1500" u="none" cap="none" strike="noStrike">
                <a:solidFill>
                  <a:srgbClr val="FFFFFF"/>
                </a:solidFill>
                <a:latin typeface="Unbounded"/>
                <a:ea typeface="Unbounded"/>
                <a:cs typeface="Unbounded"/>
                <a:sym typeface="Unbounded"/>
              </a:rPr>
              <a:t>Do Not Rely on an LLM to:</a:t>
            </a:r>
            <a:endParaRPr b="0" i="0" sz="1500" u="none" cap="none" strike="noStrike">
              <a:solidFill>
                <a:schemeClr val="dk1"/>
              </a:solidFill>
              <a:latin typeface="Calibri"/>
              <a:ea typeface="Calibri"/>
              <a:cs typeface="Calibri"/>
              <a:sym typeface="Calibri"/>
            </a:endParaRPr>
          </a:p>
        </p:txBody>
      </p:sp>
      <p:sp>
        <p:nvSpPr>
          <p:cNvPr id="143" name="Google Shape;143;p9"/>
          <p:cNvSpPr/>
          <p:nvPr/>
        </p:nvSpPr>
        <p:spPr>
          <a:xfrm>
            <a:off x="5269971" y="2584053"/>
            <a:ext cx="2909914" cy="2662039"/>
          </a:xfrm>
          <a:prstGeom prst="rect">
            <a:avLst/>
          </a:prstGeom>
          <a:noFill/>
          <a:ln>
            <a:noFill/>
          </a:ln>
        </p:spPr>
        <p:txBody>
          <a:bodyPr anchorCtr="0" anchor="t" bIns="0" lIns="0" spcFirstLastPara="1" rIns="0" wrap="square" tIns="0">
            <a:noAutofit/>
          </a:bodyPr>
          <a:lstStyle/>
          <a:p>
            <a:pPr indent="-264160" lvl="0" marL="264160" marR="0" rtl="0" algn="l">
              <a:lnSpc>
                <a:spcPct val="122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Give a final paper list without verification</a:t>
            </a:r>
            <a:endParaRPr b="0" i="0" sz="1300" u="none" cap="none" strike="noStrike">
              <a:solidFill>
                <a:schemeClr val="dk1"/>
              </a:solidFill>
              <a:latin typeface="Calibri"/>
              <a:ea typeface="Calibri"/>
              <a:cs typeface="Calibri"/>
              <a:sym typeface="Calibri"/>
            </a:endParaRPr>
          </a:p>
          <a:p>
            <a:pPr indent="-264160" lvl="0" marL="264160" marR="0" rtl="0" algn="l">
              <a:lnSpc>
                <a:spcPct val="122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Generate references that have not been checked</a:t>
            </a:r>
            <a:endParaRPr b="0" i="0" sz="1300" u="none" cap="none" strike="noStrike">
              <a:solidFill>
                <a:schemeClr val="dk1"/>
              </a:solidFill>
              <a:latin typeface="Calibri"/>
              <a:ea typeface="Calibri"/>
              <a:cs typeface="Calibri"/>
              <a:sym typeface="Calibri"/>
            </a:endParaRPr>
          </a:p>
          <a:p>
            <a:pPr indent="-264160" lvl="0" marL="264160" marR="0" rtl="0" algn="l">
              <a:lnSpc>
                <a:spcPct val="122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Claim that a research gap exists</a:t>
            </a:r>
            <a:endParaRPr b="0" i="0" sz="1300" u="none" cap="none" strike="noStrike">
              <a:solidFill>
                <a:schemeClr val="dk1"/>
              </a:solidFill>
              <a:latin typeface="Calibri"/>
              <a:ea typeface="Calibri"/>
              <a:cs typeface="Calibri"/>
              <a:sym typeface="Calibri"/>
            </a:endParaRPr>
          </a:p>
          <a:p>
            <a:pPr indent="-264160" lvl="0" marL="264160" marR="0" rtl="0" algn="l">
              <a:lnSpc>
                <a:spcPct val="122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Summarise a paper that was not provided</a:t>
            </a:r>
            <a:endParaRPr b="0" i="0" sz="1300" u="none" cap="none" strike="noStrike">
              <a:solidFill>
                <a:schemeClr val="dk1"/>
              </a:solidFill>
              <a:latin typeface="Calibri"/>
              <a:ea typeface="Calibri"/>
              <a:cs typeface="Calibri"/>
              <a:sym typeface="Calibri"/>
            </a:endParaRPr>
          </a:p>
          <a:p>
            <a:pPr indent="-264160" lvl="0" marL="264160" marR="0" rtl="0" algn="l">
              <a:lnSpc>
                <a:spcPct val="122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Report datasets, methods, or results from memory</a:t>
            </a:r>
            <a:endParaRPr b="0" i="0" sz="1300" u="none" cap="none" strike="noStrike">
              <a:solidFill>
                <a:schemeClr val="dk1"/>
              </a:solidFill>
              <a:latin typeface="Calibri"/>
              <a:ea typeface="Calibri"/>
              <a:cs typeface="Calibri"/>
              <a:sym typeface="Calibri"/>
            </a:endParaRPr>
          </a:p>
          <a:p>
            <a:pPr indent="-264160" lvl="0" marL="264160" marR="0" rtl="0" algn="l">
              <a:lnSpc>
                <a:spcPct val="122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Decide that no previous study exists</a:t>
            </a:r>
            <a:endParaRPr b="0" i="0" sz="1300" u="none" cap="none" strike="noStrike">
              <a:solidFill>
                <a:schemeClr val="dk1"/>
              </a:solidFill>
              <a:latin typeface="Calibri"/>
              <a:ea typeface="Calibri"/>
              <a:cs typeface="Calibri"/>
              <a:sym typeface="Calibri"/>
            </a:endParaRPr>
          </a:p>
        </p:txBody>
      </p:sp>
      <p:sp>
        <p:nvSpPr>
          <p:cNvPr id="144" name="Google Shape;144;p9"/>
          <p:cNvSpPr/>
          <p:nvPr/>
        </p:nvSpPr>
        <p:spPr>
          <a:xfrm>
            <a:off x="8590045" y="1959967"/>
            <a:ext cx="2909914" cy="48676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500"/>
              <a:buFont typeface="Unbounded"/>
              <a:buNone/>
            </a:pPr>
            <a:r>
              <a:rPr b="0" i="0" lang="en-US" sz="1500" u="none" cap="none" strike="noStrike">
                <a:solidFill>
                  <a:srgbClr val="FFFFFF"/>
                </a:solidFill>
                <a:latin typeface="Unbounded"/>
                <a:ea typeface="Unbounded"/>
                <a:cs typeface="Unbounded"/>
                <a:sym typeface="Unbounded"/>
              </a:rPr>
              <a:t>Required Verification for Every Paper</a:t>
            </a:r>
            <a:endParaRPr b="0" i="0" sz="1500" u="none" cap="none" strike="noStrike">
              <a:solidFill>
                <a:schemeClr val="dk1"/>
              </a:solidFill>
              <a:latin typeface="Calibri"/>
              <a:ea typeface="Calibri"/>
              <a:cs typeface="Calibri"/>
              <a:sym typeface="Calibri"/>
            </a:endParaRPr>
          </a:p>
        </p:txBody>
      </p:sp>
      <p:sp>
        <p:nvSpPr>
          <p:cNvPr id="145" name="Google Shape;145;p9"/>
          <p:cNvSpPr/>
          <p:nvPr/>
        </p:nvSpPr>
        <p:spPr>
          <a:xfrm>
            <a:off x="8590045" y="2584053"/>
            <a:ext cx="2909914" cy="1693267"/>
          </a:xfrm>
          <a:prstGeom prst="rect">
            <a:avLst/>
          </a:prstGeom>
          <a:noFill/>
          <a:ln>
            <a:noFill/>
          </a:ln>
        </p:spPr>
        <p:txBody>
          <a:bodyPr anchorCtr="0" anchor="t" bIns="0" lIns="0" spcFirstLastPara="1" rIns="0" wrap="square" tIns="0">
            <a:noAutofit/>
          </a:bodyPr>
          <a:lstStyle/>
          <a:p>
            <a:pPr indent="-264160" lvl="0" marL="264160" marR="0" rtl="0" algn="l">
              <a:lnSpc>
                <a:spcPct val="122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Search the exact title</a:t>
            </a:r>
            <a:endParaRPr b="0" i="0" sz="1300" u="none" cap="none" strike="noStrike">
              <a:solidFill>
                <a:schemeClr val="dk1"/>
              </a:solidFill>
              <a:latin typeface="Calibri"/>
              <a:ea typeface="Calibri"/>
              <a:cs typeface="Calibri"/>
              <a:sym typeface="Calibri"/>
            </a:endParaRPr>
          </a:p>
          <a:p>
            <a:pPr indent="-264160" lvl="0" marL="264160" marR="0" rtl="0" algn="l">
              <a:lnSpc>
                <a:spcPct val="122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Confirm authors, venue, and year</a:t>
            </a:r>
            <a:endParaRPr b="0" i="0" sz="1300" u="none" cap="none" strike="noStrike">
              <a:solidFill>
                <a:schemeClr val="dk1"/>
              </a:solidFill>
              <a:latin typeface="Calibri"/>
              <a:ea typeface="Calibri"/>
              <a:cs typeface="Calibri"/>
              <a:sym typeface="Calibri"/>
            </a:endParaRPr>
          </a:p>
          <a:p>
            <a:pPr indent="-264160" lvl="0" marL="264160" marR="0" rtl="0" algn="l">
              <a:lnSpc>
                <a:spcPct val="122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Open the actual paper</a:t>
            </a:r>
            <a:endParaRPr b="0" i="0" sz="1300" u="none" cap="none" strike="noStrike">
              <a:solidFill>
                <a:schemeClr val="dk1"/>
              </a:solidFill>
              <a:latin typeface="Calibri"/>
              <a:ea typeface="Calibri"/>
              <a:cs typeface="Calibri"/>
              <a:sym typeface="Calibri"/>
            </a:endParaRPr>
          </a:p>
          <a:p>
            <a:pPr indent="-264160" lvl="0" marL="264160" marR="0" rtl="0" algn="l">
              <a:lnSpc>
                <a:spcPct val="122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Check DOI or official publication page</a:t>
            </a:r>
            <a:endParaRPr b="0" i="0" sz="1300" u="none" cap="none" strike="noStrike">
              <a:solidFill>
                <a:schemeClr val="dk1"/>
              </a:solidFill>
              <a:latin typeface="Calibri"/>
              <a:ea typeface="Calibri"/>
              <a:cs typeface="Calibri"/>
              <a:sym typeface="Calibri"/>
            </a:endParaRPr>
          </a:p>
          <a:p>
            <a:pPr indent="-264160" lvl="0" marL="264160" marR="0" rtl="0" algn="l">
              <a:lnSpc>
                <a:spcPct val="122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Read the relevant sections yourself</a:t>
            </a:r>
            <a:endParaRPr b="0" i="0" sz="1300" u="none" cap="none" strike="noStrike">
              <a:solidFill>
                <a:schemeClr val="dk1"/>
              </a:solidFill>
              <a:latin typeface="Calibri"/>
              <a:ea typeface="Calibri"/>
              <a:cs typeface="Calibri"/>
              <a:sym typeface="Calibri"/>
            </a:endParaRPr>
          </a:p>
          <a:p>
            <a:pPr indent="-264160" lvl="0" marL="264160" marR="0" rtl="0" algn="l">
              <a:lnSpc>
                <a:spcPct val="122000"/>
              </a:lnSpc>
              <a:spcBef>
                <a:spcPts val="0"/>
              </a:spcBef>
              <a:spcAft>
                <a:spcPts val="0"/>
              </a:spcAft>
              <a:buClr>
                <a:srgbClr val="CAD6DE"/>
              </a:buClr>
              <a:buSzPts val="1300"/>
              <a:buFont typeface="Cabin"/>
              <a:buChar char="•"/>
            </a:pPr>
            <a:r>
              <a:rPr b="0" i="0" lang="en-US" sz="1300" u="none" cap="none" strike="noStrike">
                <a:solidFill>
                  <a:srgbClr val="CAD6DE"/>
                </a:solidFill>
                <a:latin typeface="Cabin"/>
                <a:ea typeface="Cabin"/>
                <a:cs typeface="Cabin"/>
                <a:sym typeface="Cabin"/>
              </a:rPr>
              <a:t>Record evidence in the tracker</a:t>
            </a:r>
            <a:endParaRPr b="0" i="0" sz="1300" u="none" cap="none" strike="noStrike">
              <a:solidFill>
                <a:schemeClr val="dk1"/>
              </a:solidFill>
              <a:latin typeface="Calibri"/>
              <a:ea typeface="Calibri"/>
              <a:cs typeface="Calibri"/>
              <a:sym typeface="Calibri"/>
            </a:endParaRPr>
          </a:p>
        </p:txBody>
      </p:sp>
      <p:sp>
        <p:nvSpPr>
          <p:cNvPr id="146" name="Google Shape;146;p9"/>
          <p:cNvSpPr/>
          <p:nvPr/>
        </p:nvSpPr>
        <p:spPr>
          <a:xfrm>
            <a:off x="5269971" y="5448598"/>
            <a:ext cx="6223638" cy="585787"/>
          </a:xfrm>
          <a:prstGeom prst="roundRect">
            <a:avLst>
              <a:gd fmla="val 4238" name="adj"/>
            </a:avLst>
          </a:prstGeom>
          <a:solidFill>
            <a:srgbClr val="4B3F0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7" name="Google Shape;147;p9"/>
          <p:cNvPicPr preferRelativeResize="0"/>
          <p:nvPr/>
        </p:nvPicPr>
        <p:blipFill rotWithShape="1">
          <a:blip r:embed="rId4">
            <a:alphaModFix/>
          </a:blip>
          <a:srcRect b="0" l="0" r="0" t="0"/>
          <a:stretch/>
        </p:blipFill>
        <p:spPr>
          <a:xfrm>
            <a:off x="5435464" y="5675709"/>
            <a:ext cx="206866" cy="165497"/>
          </a:xfrm>
          <a:prstGeom prst="rect">
            <a:avLst/>
          </a:prstGeom>
          <a:noFill/>
          <a:ln>
            <a:noFill/>
          </a:ln>
        </p:spPr>
      </p:pic>
      <p:sp>
        <p:nvSpPr>
          <p:cNvPr id="148" name="Google Shape;148;p9"/>
          <p:cNvSpPr/>
          <p:nvPr/>
        </p:nvSpPr>
        <p:spPr>
          <a:xfrm>
            <a:off x="5807823" y="5627291"/>
            <a:ext cx="6129879" cy="242193"/>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FFFFFF"/>
              </a:buClr>
              <a:buSzPts val="1300"/>
              <a:buFont typeface="Cabin"/>
              <a:buNone/>
            </a:pPr>
            <a:r>
              <a:rPr b="0" i="0" lang="en-US" sz="1300" u="none" cap="none" strike="noStrike">
                <a:solidFill>
                  <a:srgbClr val="FFFFFF"/>
                </a:solidFill>
                <a:latin typeface="Cabin"/>
                <a:ea typeface="Cabin"/>
                <a:cs typeface="Cabin"/>
                <a:sym typeface="Cabin"/>
              </a:rPr>
              <a:t>LLMs can support search. They cannot replace source verification.</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0"/>
          <p:cNvSpPr/>
          <p:nvPr/>
        </p:nvSpPr>
        <p:spPr>
          <a:xfrm>
            <a:off x="698086" y="1239242"/>
            <a:ext cx="1440025" cy="303113"/>
          </a:xfrm>
          <a:prstGeom prst="roundRect">
            <a:avLst>
              <a:gd fmla="val 7897" name="adj"/>
            </a:avLst>
          </a:prstGeom>
          <a:solidFill>
            <a:srgbClr val="054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0"/>
          <p:cNvSpPr/>
          <p:nvPr/>
        </p:nvSpPr>
        <p:spPr>
          <a:xfrm>
            <a:off x="817740" y="1299071"/>
            <a:ext cx="1810300" cy="183455"/>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CAD6DE"/>
              </a:buClr>
              <a:buSzPts val="1250"/>
              <a:buFont typeface="Cabin"/>
              <a:buNone/>
            </a:pPr>
            <a:r>
              <a:rPr b="0" i="0" lang="en-US" sz="1250" u="none" cap="none" strike="noStrike">
                <a:solidFill>
                  <a:srgbClr val="CAD6DE"/>
                </a:solidFill>
                <a:latin typeface="Cabin"/>
                <a:ea typeface="Cabin"/>
                <a:cs typeface="Cabin"/>
                <a:sym typeface="Cabin"/>
              </a:rPr>
              <a:t>FINDING PAPERS</a:t>
            </a:r>
            <a:endParaRPr b="0" i="0" sz="1250" u="none" cap="none" strike="noStrike">
              <a:solidFill>
                <a:schemeClr val="dk1"/>
              </a:solidFill>
              <a:latin typeface="Calibri"/>
              <a:ea typeface="Calibri"/>
              <a:cs typeface="Calibri"/>
              <a:sym typeface="Calibri"/>
            </a:endParaRPr>
          </a:p>
        </p:txBody>
      </p:sp>
      <p:sp>
        <p:nvSpPr>
          <p:cNvPr id="156" name="Google Shape;156;p10"/>
          <p:cNvSpPr/>
          <p:nvPr/>
        </p:nvSpPr>
        <p:spPr>
          <a:xfrm>
            <a:off x="698086" y="1622127"/>
            <a:ext cx="10795524" cy="5866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Search Strings Should Evolve</a:t>
            </a:r>
            <a:endParaRPr b="0" i="0" sz="3650" u="none" cap="none" strike="noStrike">
              <a:solidFill>
                <a:schemeClr val="dk1"/>
              </a:solidFill>
              <a:latin typeface="Calibri"/>
              <a:ea typeface="Calibri"/>
              <a:cs typeface="Calibri"/>
              <a:sym typeface="Calibri"/>
            </a:endParaRPr>
          </a:p>
        </p:txBody>
      </p:sp>
      <p:sp>
        <p:nvSpPr>
          <p:cNvPr id="157" name="Google Shape;157;p10"/>
          <p:cNvSpPr/>
          <p:nvPr/>
        </p:nvSpPr>
        <p:spPr>
          <a:xfrm>
            <a:off x="698086" y="2507952"/>
            <a:ext cx="11405108" cy="31918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Start broad, then narrow progressively. The first search query should never be the final search query.</a:t>
            </a:r>
            <a:endParaRPr b="0" i="0" sz="1550" u="none" cap="none" strike="noStrike">
              <a:solidFill>
                <a:schemeClr val="dk1"/>
              </a:solidFill>
              <a:latin typeface="Calibri"/>
              <a:ea typeface="Calibri"/>
              <a:cs typeface="Calibri"/>
              <a:sym typeface="Calibri"/>
            </a:endParaRPr>
          </a:p>
        </p:txBody>
      </p:sp>
      <p:pic>
        <p:nvPicPr>
          <p:cNvPr descr="preencoded.png" id="158" name="Google Shape;158;p10"/>
          <p:cNvPicPr preferRelativeResize="0"/>
          <p:nvPr/>
        </p:nvPicPr>
        <p:blipFill rotWithShape="1">
          <a:blip r:embed="rId3">
            <a:alphaModFix/>
          </a:blip>
          <a:srcRect b="0" l="0" r="0" t="0"/>
          <a:stretch/>
        </p:blipFill>
        <p:spPr>
          <a:xfrm>
            <a:off x="698086" y="3051473"/>
            <a:ext cx="3598475" cy="797917"/>
          </a:xfrm>
          <a:prstGeom prst="rect">
            <a:avLst/>
          </a:prstGeom>
          <a:noFill/>
          <a:ln>
            <a:noFill/>
          </a:ln>
        </p:spPr>
      </p:pic>
      <p:sp>
        <p:nvSpPr>
          <p:cNvPr id="159" name="Google Shape;159;p10"/>
          <p:cNvSpPr/>
          <p:nvPr/>
        </p:nvSpPr>
        <p:spPr>
          <a:xfrm>
            <a:off x="897510" y="4048820"/>
            <a:ext cx="3199625"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800"/>
              <a:buFont typeface="Unbounded"/>
              <a:buNone/>
            </a:pPr>
            <a:r>
              <a:rPr b="0" i="0" lang="en-US" sz="1800" u="none" cap="none" strike="noStrike">
                <a:solidFill>
                  <a:srgbClr val="CAD6DE"/>
                </a:solidFill>
                <a:latin typeface="Unbounded"/>
                <a:ea typeface="Unbounded"/>
                <a:cs typeface="Unbounded"/>
                <a:sym typeface="Unbounded"/>
              </a:rPr>
              <a:t>Start Broad</a:t>
            </a:r>
            <a:endParaRPr b="0" i="0" sz="1800" u="none" cap="none" strike="noStrike">
              <a:solidFill>
                <a:schemeClr val="dk1"/>
              </a:solidFill>
              <a:latin typeface="Calibri"/>
              <a:ea typeface="Calibri"/>
              <a:cs typeface="Calibri"/>
              <a:sym typeface="Calibri"/>
            </a:endParaRPr>
          </a:p>
        </p:txBody>
      </p:sp>
      <p:sp>
        <p:nvSpPr>
          <p:cNvPr id="160" name="Google Shape;160;p10"/>
          <p:cNvSpPr/>
          <p:nvPr/>
        </p:nvSpPr>
        <p:spPr>
          <a:xfrm>
            <a:off x="897510" y="4461768"/>
            <a:ext cx="3199625" cy="638373"/>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"Student performance prediction" — finds terminology and review papers</a:t>
            </a:r>
            <a:endParaRPr b="0" i="0" sz="1550" u="none" cap="none" strike="noStrike">
              <a:solidFill>
                <a:schemeClr val="dk1"/>
              </a:solidFill>
              <a:latin typeface="Calibri"/>
              <a:ea typeface="Calibri"/>
              <a:cs typeface="Calibri"/>
              <a:sym typeface="Calibri"/>
            </a:endParaRPr>
          </a:p>
        </p:txBody>
      </p:sp>
      <p:pic>
        <p:nvPicPr>
          <p:cNvPr descr="preencoded.png" id="161" name="Google Shape;161;p10"/>
          <p:cNvPicPr preferRelativeResize="0"/>
          <p:nvPr/>
        </p:nvPicPr>
        <p:blipFill rotWithShape="1">
          <a:blip r:embed="rId4">
            <a:alphaModFix/>
          </a:blip>
          <a:srcRect b="0" l="0" r="0" t="0"/>
          <a:stretch/>
        </p:blipFill>
        <p:spPr>
          <a:xfrm>
            <a:off x="4296560" y="3051473"/>
            <a:ext cx="3598475" cy="797917"/>
          </a:xfrm>
          <a:prstGeom prst="rect">
            <a:avLst/>
          </a:prstGeom>
          <a:noFill/>
          <a:ln>
            <a:noFill/>
          </a:ln>
        </p:spPr>
      </p:pic>
      <p:sp>
        <p:nvSpPr>
          <p:cNvPr id="162" name="Google Shape;162;p10"/>
          <p:cNvSpPr/>
          <p:nvPr/>
        </p:nvSpPr>
        <p:spPr>
          <a:xfrm>
            <a:off x="4495985" y="4048820"/>
            <a:ext cx="3199625"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800"/>
              <a:buFont typeface="Unbounded"/>
              <a:buNone/>
            </a:pPr>
            <a:r>
              <a:rPr b="0" i="0" lang="en-US" sz="1800" u="none" cap="none" strike="noStrike">
                <a:solidFill>
                  <a:srgbClr val="CAD6DE"/>
                </a:solidFill>
                <a:latin typeface="Unbounded"/>
                <a:ea typeface="Unbounded"/>
                <a:cs typeface="Unbounded"/>
                <a:sym typeface="Unbounded"/>
              </a:rPr>
              <a:t>Add Context</a:t>
            </a:r>
            <a:endParaRPr b="0" i="0" sz="1800" u="none" cap="none" strike="noStrike">
              <a:solidFill>
                <a:schemeClr val="dk1"/>
              </a:solidFill>
              <a:latin typeface="Calibri"/>
              <a:ea typeface="Calibri"/>
              <a:cs typeface="Calibri"/>
              <a:sym typeface="Calibri"/>
            </a:endParaRPr>
          </a:p>
        </p:txBody>
      </p:sp>
      <p:sp>
        <p:nvSpPr>
          <p:cNvPr id="163" name="Google Shape;163;p10"/>
          <p:cNvSpPr/>
          <p:nvPr/>
        </p:nvSpPr>
        <p:spPr>
          <a:xfrm>
            <a:off x="4495985" y="4461768"/>
            <a:ext cx="3199625" cy="95756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Narrow by population, language, or setting: "introductory programming" AND learning analytics</a:t>
            </a:r>
            <a:endParaRPr b="0" i="0" sz="1550" u="none" cap="none" strike="noStrike">
              <a:solidFill>
                <a:schemeClr val="dk1"/>
              </a:solidFill>
              <a:latin typeface="Calibri"/>
              <a:ea typeface="Calibri"/>
              <a:cs typeface="Calibri"/>
              <a:sym typeface="Calibri"/>
            </a:endParaRPr>
          </a:p>
        </p:txBody>
      </p:sp>
      <p:pic>
        <p:nvPicPr>
          <p:cNvPr descr="preencoded.png" id="164" name="Google Shape;164;p10"/>
          <p:cNvPicPr preferRelativeResize="0"/>
          <p:nvPr/>
        </p:nvPicPr>
        <p:blipFill rotWithShape="1">
          <a:blip r:embed="rId5">
            <a:alphaModFix/>
          </a:blip>
          <a:srcRect b="0" l="0" r="0" t="0"/>
          <a:stretch/>
        </p:blipFill>
        <p:spPr>
          <a:xfrm>
            <a:off x="7895035" y="3051473"/>
            <a:ext cx="3598475" cy="797917"/>
          </a:xfrm>
          <a:prstGeom prst="rect">
            <a:avLst/>
          </a:prstGeom>
          <a:noFill/>
          <a:ln>
            <a:noFill/>
          </a:ln>
        </p:spPr>
      </p:pic>
      <p:sp>
        <p:nvSpPr>
          <p:cNvPr id="165" name="Google Shape;165;p10"/>
          <p:cNvSpPr/>
          <p:nvPr/>
        </p:nvSpPr>
        <p:spPr>
          <a:xfrm>
            <a:off x="8094460" y="4048820"/>
            <a:ext cx="3199625"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800"/>
              <a:buFont typeface="Unbounded"/>
              <a:buNone/>
            </a:pPr>
            <a:r>
              <a:rPr b="0" i="0" lang="en-US" sz="1800" u="none" cap="none" strike="noStrike">
                <a:solidFill>
                  <a:srgbClr val="CAD6DE"/>
                </a:solidFill>
                <a:latin typeface="Unbounded"/>
                <a:ea typeface="Unbounded"/>
                <a:cs typeface="Unbounded"/>
                <a:sym typeface="Unbounded"/>
              </a:rPr>
              <a:t>Search Data</a:t>
            </a:r>
            <a:endParaRPr b="0" i="0" sz="1800" u="none" cap="none" strike="noStrike">
              <a:solidFill>
                <a:schemeClr val="dk1"/>
              </a:solidFill>
              <a:latin typeface="Calibri"/>
              <a:ea typeface="Calibri"/>
              <a:cs typeface="Calibri"/>
              <a:sym typeface="Calibri"/>
            </a:endParaRPr>
          </a:p>
        </p:txBody>
      </p:sp>
      <p:sp>
        <p:nvSpPr>
          <p:cNvPr id="166" name="Google Shape;166;p10"/>
          <p:cNvSpPr/>
          <p:nvPr/>
        </p:nvSpPr>
        <p:spPr>
          <a:xfrm>
            <a:off x="8094460" y="4461768"/>
            <a:ext cx="3199625" cy="95756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Look for datasets, benchmarks, and baselines: "student risk prediction" AND lab submissions AND dataset</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1"/>
          <p:cNvSpPr/>
          <p:nvPr/>
        </p:nvSpPr>
        <p:spPr>
          <a:xfrm>
            <a:off x="698086" y="558502"/>
            <a:ext cx="1204585" cy="253504"/>
          </a:xfrm>
          <a:prstGeom prst="roundRect">
            <a:avLst>
              <a:gd fmla="val 7901" name="adj"/>
            </a:avLst>
          </a:prstGeom>
          <a:solidFill>
            <a:srgbClr val="054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a:off x="798195" y="608509"/>
            <a:ext cx="1613951" cy="15349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CAD6DE"/>
              </a:buClr>
              <a:buSzPts val="1050"/>
              <a:buFont typeface="Cabin"/>
              <a:buNone/>
            </a:pPr>
            <a:r>
              <a:rPr b="0" i="0" lang="en-US" sz="1050" u="none" cap="none" strike="noStrike">
                <a:solidFill>
                  <a:srgbClr val="CAD6DE"/>
                </a:solidFill>
                <a:latin typeface="Cabin"/>
                <a:ea typeface="Cabin"/>
                <a:cs typeface="Cabin"/>
                <a:sym typeface="Cabin"/>
              </a:rPr>
              <a:t>FINDING PAPERS</a:t>
            </a:r>
            <a:endParaRPr b="0" i="0" sz="1050" u="none" cap="none" strike="noStrike">
              <a:solidFill>
                <a:schemeClr val="dk1"/>
              </a:solidFill>
              <a:latin typeface="Calibri"/>
              <a:ea typeface="Calibri"/>
              <a:cs typeface="Calibri"/>
              <a:sym typeface="Calibri"/>
            </a:endParaRPr>
          </a:p>
        </p:txBody>
      </p:sp>
      <p:sp>
        <p:nvSpPr>
          <p:cNvPr id="174" name="Google Shape;174;p11"/>
          <p:cNvSpPr/>
          <p:nvPr/>
        </p:nvSpPr>
        <p:spPr>
          <a:xfrm>
            <a:off x="698086" y="867866"/>
            <a:ext cx="10795524" cy="49083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050"/>
              <a:buFont typeface="Unbounded"/>
              <a:buNone/>
            </a:pPr>
            <a:r>
              <a:rPr b="0" i="0" lang="en-US" sz="3050" u="none" cap="none" strike="noStrike">
                <a:solidFill>
                  <a:srgbClr val="FFFFFF"/>
                </a:solidFill>
                <a:latin typeface="Unbounded"/>
                <a:ea typeface="Unbounded"/>
                <a:cs typeface="Unbounded"/>
                <a:sym typeface="Unbounded"/>
              </a:rPr>
              <a:t>Use the Paper Discovery Chain</a:t>
            </a:r>
            <a:endParaRPr b="0" i="0" sz="3050" u="none" cap="none" strike="noStrike">
              <a:solidFill>
                <a:schemeClr val="dk1"/>
              </a:solidFill>
              <a:latin typeface="Calibri"/>
              <a:ea typeface="Calibri"/>
              <a:cs typeface="Calibri"/>
              <a:sym typeface="Calibri"/>
            </a:endParaRPr>
          </a:p>
        </p:txBody>
      </p:sp>
      <p:pic>
        <p:nvPicPr>
          <p:cNvPr descr="preencoded.png" id="175" name="Google Shape;175;p11"/>
          <p:cNvPicPr preferRelativeResize="0"/>
          <p:nvPr/>
        </p:nvPicPr>
        <p:blipFill rotWithShape="1">
          <a:blip r:embed="rId3">
            <a:alphaModFix/>
          </a:blip>
          <a:srcRect b="0" l="0" r="0" t="0"/>
          <a:stretch/>
        </p:blipFill>
        <p:spPr>
          <a:xfrm>
            <a:off x="1654729" y="1568152"/>
            <a:ext cx="8882237" cy="3333055"/>
          </a:xfrm>
          <a:prstGeom prst="rect">
            <a:avLst/>
          </a:prstGeom>
          <a:noFill/>
          <a:ln>
            <a:noFill/>
          </a:ln>
        </p:spPr>
      </p:pic>
      <p:sp>
        <p:nvSpPr>
          <p:cNvPr id="176" name="Google Shape;176;p11"/>
          <p:cNvSpPr/>
          <p:nvPr/>
        </p:nvSpPr>
        <p:spPr>
          <a:xfrm>
            <a:off x="8831450" y="3978380"/>
            <a:ext cx="1339686" cy="485476"/>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CAD6DE"/>
              </a:buClr>
              <a:buSzPts val="1500"/>
              <a:buFont typeface="Unbounded"/>
              <a:buNone/>
            </a:pPr>
            <a:r>
              <a:rPr b="0" i="0" lang="en-US" sz="1500" u="none" cap="none" strike="noStrike">
                <a:solidFill>
                  <a:srgbClr val="CAD6DE"/>
                </a:solidFill>
                <a:latin typeface="Unbounded"/>
                <a:ea typeface="Unbounded"/>
                <a:cs typeface="Unbounded"/>
                <a:sym typeface="Unbounded"/>
              </a:rPr>
              <a:t>Related Papers</a:t>
            </a:r>
            <a:endParaRPr b="0" i="0" sz="1500" u="none" cap="none" strike="noStrike">
              <a:solidFill>
                <a:schemeClr val="dk1"/>
              </a:solidFill>
              <a:latin typeface="Calibri"/>
              <a:ea typeface="Calibri"/>
              <a:cs typeface="Calibri"/>
              <a:sym typeface="Calibri"/>
            </a:endParaRPr>
          </a:p>
        </p:txBody>
      </p:sp>
      <p:sp>
        <p:nvSpPr>
          <p:cNvPr id="177" name="Google Shape;177;p11"/>
          <p:cNvSpPr/>
          <p:nvPr/>
        </p:nvSpPr>
        <p:spPr>
          <a:xfrm>
            <a:off x="7143078" y="4099677"/>
            <a:ext cx="1339686" cy="242738"/>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CAD6DE"/>
              </a:buClr>
              <a:buSzPts val="1500"/>
              <a:buFont typeface="Unbounded"/>
              <a:buNone/>
            </a:pPr>
            <a:r>
              <a:rPr b="0" i="0" lang="en-US" sz="1500" u="none" cap="none" strike="noStrike">
                <a:solidFill>
                  <a:srgbClr val="CAD6DE"/>
                </a:solidFill>
                <a:latin typeface="Unbounded"/>
                <a:ea typeface="Unbounded"/>
                <a:cs typeface="Unbounded"/>
                <a:sym typeface="Unbounded"/>
              </a:rPr>
              <a:t>Cited By</a:t>
            </a:r>
            <a:endParaRPr b="0" i="0" sz="1500" u="none" cap="none" strike="noStrike">
              <a:solidFill>
                <a:schemeClr val="dk1"/>
              </a:solidFill>
              <a:latin typeface="Calibri"/>
              <a:ea typeface="Calibri"/>
              <a:cs typeface="Calibri"/>
              <a:sym typeface="Calibri"/>
            </a:endParaRPr>
          </a:p>
        </p:txBody>
      </p:sp>
      <p:sp>
        <p:nvSpPr>
          <p:cNvPr id="178" name="Google Shape;178;p11"/>
          <p:cNvSpPr/>
          <p:nvPr/>
        </p:nvSpPr>
        <p:spPr>
          <a:xfrm>
            <a:off x="5463883" y="4099677"/>
            <a:ext cx="1339686" cy="242738"/>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CAD6DE"/>
              </a:buClr>
              <a:buSzPts val="1500"/>
              <a:buFont typeface="Unbounded"/>
              <a:buNone/>
            </a:pPr>
            <a:r>
              <a:rPr b="0" i="0" lang="en-US" sz="1500" u="none" cap="none" strike="noStrike">
                <a:solidFill>
                  <a:srgbClr val="CAD6DE"/>
                </a:solidFill>
                <a:latin typeface="Unbounded"/>
                <a:ea typeface="Unbounded"/>
                <a:cs typeface="Unbounded"/>
                <a:sym typeface="Unbounded"/>
              </a:rPr>
              <a:t>References</a:t>
            </a:r>
            <a:endParaRPr b="0" i="0" sz="1500" u="none" cap="none" strike="noStrike">
              <a:solidFill>
                <a:schemeClr val="dk1"/>
              </a:solidFill>
              <a:latin typeface="Calibri"/>
              <a:ea typeface="Calibri"/>
              <a:cs typeface="Calibri"/>
              <a:sym typeface="Calibri"/>
            </a:endParaRPr>
          </a:p>
        </p:txBody>
      </p:sp>
      <p:sp>
        <p:nvSpPr>
          <p:cNvPr id="179" name="Google Shape;179;p11"/>
          <p:cNvSpPr/>
          <p:nvPr/>
        </p:nvSpPr>
        <p:spPr>
          <a:xfrm>
            <a:off x="3784687" y="3978380"/>
            <a:ext cx="1339686" cy="485476"/>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CAD6DE"/>
              </a:buClr>
              <a:buSzPts val="1500"/>
              <a:buFont typeface="Unbounded"/>
              <a:buNone/>
            </a:pPr>
            <a:r>
              <a:rPr b="0" i="0" lang="en-US" sz="1500" u="none" cap="none" strike="noStrike">
                <a:solidFill>
                  <a:srgbClr val="CAD6DE"/>
                </a:solidFill>
                <a:latin typeface="Unbounded"/>
                <a:ea typeface="Unbounded"/>
                <a:cs typeface="Unbounded"/>
                <a:sym typeface="Unbounded"/>
              </a:rPr>
              <a:t>Useful Paper</a:t>
            </a:r>
            <a:endParaRPr b="0" i="0" sz="1500" u="none" cap="none" strike="noStrike">
              <a:solidFill>
                <a:schemeClr val="dk1"/>
              </a:solidFill>
              <a:latin typeface="Calibri"/>
              <a:ea typeface="Calibri"/>
              <a:cs typeface="Calibri"/>
              <a:sym typeface="Calibri"/>
            </a:endParaRPr>
          </a:p>
        </p:txBody>
      </p:sp>
      <p:sp>
        <p:nvSpPr>
          <p:cNvPr id="180" name="Google Shape;180;p11"/>
          <p:cNvSpPr/>
          <p:nvPr/>
        </p:nvSpPr>
        <p:spPr>
          <a:xfrm>
            <a:off x="2068787" y="3978380"/>
            <a:ext cx="1339686" cy="485476"/>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CAD6DE"/>
              </a:buClr>
              <a:buSzPts val="1500"/>
              <a:buFont typeface="Unbounded"/>
              <a:buNone/>
            </a:pPr>
            <a:r>
              <a:rPr b="0" i="0" lang="en-US" sz="1500" u="none" cap="none" strike="noStrike">
                <a:solidFill>
                  <a:srgbClr val="CAD6DE"/>
                </a:solidFill>
                <a:latin typeface="Unbounded"/>
                <a:ea typeface="Unbounded"/>
                <a:cs typeface="Unbounded"/>
                <a:sym typeface="Unbounded"/>
              </a:rPr>
              <a:t>Search Query</a:t>
            </a:r>
            <a:endParaRPr b="0" i="0" sz="1500" u="none" cap="none" strike="noStrike">
              <a:solidFill>
                <a:schemeClr val="dk1"/>
              </a:solidFill>
              <a:latin typeface="Calibri"/>
              <a:ea typeface="Calibri"/>
              <a:cs typeface="Calibri"/>
              <a:sym typeface="Calibri"/>
            </a:endParaRPr>
          </a:p>
        </p:txBody>
      </p:sp>
      <p:sp>
        <p:nvSpPr>
          <p:cNvPr id="181" name="Google Shape;181;p11"/>
          <p:cNvSpPr/>
          <p:nvPr/>
        </p:nvSpPr>
        <p:spPr>
          <a:xfrm>
            <a:off x="698086" y="5058271"/>
            <a:ext cx="10795524" cy="490339"/>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When you find one strong anchor paper, use it to find several more. Check its references, who has cited it, and which papers are listed as related. Suggested sources: Google Scholar, ACM Digital Library, IEEE Xplore, Scopus, ScienceDirect, SpringerLink, arXiv.</a:t>
            </a:r>
            <a:endParaRPr b="0" i="0" sz="1300" u="none" cap="none" strike="noStrike">
              <a:solidFill>
                <a:schemeClr val="dk1"/>
              </a:solidFill>
              <a:latin typeface="Calibri"/>
              <a:ea typeface="Calibri"/>
              <a:cs typeface="Calibri"/>
              <a:sym typeface="Calibri"/>
            </a:endParaRPr>
          </a:p>
        </p:txBody>
      </p:sp>
      <p:sp>
        <p:nvSpPr>
          <p:cNvPr id="182" name="Google Shape;182;p11"/>
          <p:cNvSpPr/>
          <p:nvPr/>
        </p:nvSpPr>
        <p:spPr>
          <a:xfrm>
            <a:off x="698086" y="5705673"/>
            <a:ext cx="10795524" cy="593725"/>
          </a:xfrm>
          <a:prstGeom prst="roundRect">
            <a:avLst>
              <a:gd fmla="val 4217" name="adj"/>
            </a:avLst>
          </a:prstGeom>
          <a:solidFill>
            <a:srgbClr val="0878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3" name="Google Shape;183;p11"/>
          <p:cNvPicPr preferRelativeResize="0"/>
          <p:nvPr/>
        </p:nvPicPr>
        <p:blipFill rotWithShape="1">
          <a:blip r:embed="rId4">
            <a:alphaModFix/>
          </a:blip>
          <a:srcRect b="0" l="0" r="0" t="0"/>
          <a:stretch/>
        </p:blipFill>
        <p:spPr>
          <a:xfrm>
            <a:off x="864967" y="5933281"/>
            <a:ext cx="208553" cy="166886"/>
          </a:xfrm>
          <a:prstGeom prst="rect">
            <a:avLst/>
          </a:prstGeom>
          <a:noFill/>
          <a:ln>
            <a:noFill/>
          </a:ln>
        </p:spPr>
      </p:pic>
      <p:sp>
        <p:nvSpPr>
          <p:cNvPr id="184" name="Google Shape;184;p11"/>
          <p:cNvSpPr/>
          <p:nvPr/>
        </p:nvSpPr>
        <p:spPr>
          <a:xfrm>
            <a:off x="1240402" y="5886946"/>
            <a:ext cx="10695911" cy="24517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FFFFFF"/>
              </a:buClr>
              <a:buSzPts val="1300"/>
              <a:buFont typeface="Cabin"/>
              <a:buNone/>
            </a:pPr>
            <a:r>
              <a:rPr b="0" i="0" lang="en-US" sz="1300" u="none" cap="none" strike="noStrike">
                <a:solidFill>
                  <a:srgbClr val="FFFFFF"/>
                </a:solidFill>
                <a:latin typeface="Cabin"/>
                <a:ea typeface="Cabin"/>
                <a:cs typeface="Cabin"/>
                <a:sym typeface="Cabin"/>
              </a:rPr>
              <a:t>Do not stop at the first search result page. Follow the paper network.</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2"/>
          <p:cNvSpPr/>
          <p:nvPr/>
        </p:nvSpPr>
        <p:spPr>
          <a:xfrm>
            <a:off x="698086" y="610691"/>
            <a:ext cx="753051" cy="212130"/>
          </a:xfrm>
          <a:prstGeom prst="roundRect">
            <a:avLst>
              <a:gd fmla="val 7899" name="adj"/>
            </a:avLst>
          </a:prstGeom>
          <a:solidFill>
            <a:srgbClr val="054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2"/>
          <p:cNvSpPr/>
          <p:nvPr/>
        </p:nvSpPr>
        <p:spPr>
          <a:xfrm>
            <a:off x="781824" y="652562"/>
            <a:ext cx="1195159" cy="128389"/>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CAD6DE"/>
              </a:buClr>
              <a:buSzPts val="850"/>
              <a:buFont typeface="Cabin"/>
              <a:buNone/>
            </a:pPr>
            <a:r>
              <a:rPr b="0" i="0" lang="en-US" sz="850" u="none" cap="none" strike="noStrike">
                <a:solidFill>
                  <a:srgbClr val="CAD6DE"/>
                </a:solidFill>
                <a:latin typeface="Cabin"/>
                <a:ea typeface="Cabin"/>
                <a:cs typeface="Cabin"/>
                <a:sym typeface="Cabin"/>
              </a:rPr>
              <a:t>SCREENING</a:t>
            </a:r>
            <a:endParaRPr b="0" i="0" sz="850" u="none" cap="none" strike="noStrike">
              <a:solidFill>
                <a:schemeClr val="dk1"/>
              </a:solidFill>
              <a:latin typeface="Calibri"/>
              <a:ea typeface="Calibri"/>
              <a:cs typeface="Calibri"/>
              <a:sym typeface="Calibri"/>
            </a:endParaRPr>
          </a:p>
        </p:txBody>
      </p:sp>
      <p:sp>
        <p:nvSpPr>
          <p:cNvPr id="192" name="Google Shape;192;p12"/>
          <p:cNvSpPr/>
          <p:nvPr/>
        </p:nvSpPr>
        <p:spPr>
          <a:xfrm>
            <a:off x="698086" y="861913"/>
            <a:ext cx="10795524" cy="41056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550"/>
              <a:buFont typeface="Unbounded"/>
              <a:buNone/>
            </a:pPr>
            <a:r>
              <a:rPr b="0" i="0" lang="en-US" sz="2550" u="none" cap="none" strike="noStrike">
                <a:solidFill>
                  <a:srgbClr val="FFFFFF"/>
                </a:solidFill>
                <a:latin typeface="Unbounded"/>
                <a:ea typeface="Unbounded"/>
                <a:cs typeface="Unbounded"/>
                <a:sym typeface="Unbounded"/>
              </a:rPr>
              <a:t>Do Not Read Every Paper Fully</a:t>
            </a:r>
            <a:endParaRPr b="0" i="0" sz="2550" u="none" cap="none" strike="noStrike">
              <a:solidFill>
                <a:schemeClr val="dk1"/>
              </a:solidFill>
              <a:latin typeface="Calibri"/>
              <a:ea typeface="Calibri"/>
              <a:cs typeface="Calibri"/>
              <a:sym typeface="Calibri"/>
            </a:endParaRPr>
          </a:p>
        </p:txBody>
      </p:sp>
      <p:sp>
        <p:nvSpPr>
          <p:cNvPr id="193" name="Google Shape;193;p12"/>
          <p:cNvSpPr/>
          <p:nvPr/>
        </p:nvSpPr>
        <p:spPr>
          <a:xfrm>
            <a:off x="698086" y="1516757"/>
            <a:ext cx="5227408" cy="2053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250"/>
              <a:buFont typeface="Unbounded"/>
              <a:buNone/>
            </a:pPr>
            <a:r>
              <a:rPr b="0" i="0" lang="en-US" sz="1250" u="none" cap="none" strike="noStrike">
                <a:solidFill>
                  <a:srgbClr val="FFFFFF"/>
                </a:solidFill>
                <a:latin typeface="Unbounded"/>
                <a:ea typeface="Unbounded"/>
                <a:cs typeface="Unbounded"/>
                <a:sym typeface="Unbounded"/>
              </a:rPr>
              <a:t>Five-Minute Screening Process</a:t>
            </a:r>
            <a:endParaRPr b="0" i="0" sz="1250" u="none" cap="none" strike="noStrike">
              <a:solidFill>
                <a:schemeClr val="dk1"/>
              </a:solidFill>
              <a:latin typeface="Calibri"/>
              <a:ea typeface="Calibri"/>
              <a:cs typeface="Calibri"/>
              <a:sym typeface="Calibri"/>
            </a:endParaRPr>
          </a:p>
        </p:txBody>
      </p:sp>
      <p:sp>
        <p:nvSpPr>
          <p:cNvPr id="194" name="Google Shape;194;p12"/>
          <p:cNvSpPr/>
          <p:nvPr/>
        </p:nvSpPr>
        <p:spPr>
          <a:xfrm>
            <a:off x="698086" y="1832074"/>
            <a:ext cx="279195" cy="1745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6DE"/>
              </a:buClr>
              <a:buSzPts val="1050"/>
              <a:buFont typeface="Unbounded Light"/>
              <a:buNone/>
            </a:pPr>
            <a:r>
              <a:rPr b="0" i="0" lang="en-US" sz="1050" u="none" cap="none" strike="noStrike">
                <a:solidFill>
                  <a:srgbClr val="CAD6DE"/>
                </a:solidFill>
                <a:latin typeface="Unbounded Light"/>
                <a:ea typeface="Unbounded Light"/>
                <a:cs typeface="Unbounded Light"/>
                <a:sym typeface="Unbounded Light"/>
              </a:rPr>
              <a:t>01</a:t>
            </a:r>
            <a:endParaRPr b="0" i="0" sz="1050" u="none" cap="none" strike="noStrike">
              <a:solidFill>
                <a:schemeClr val="dk1"/>
              </a:solidFill>
              <a:latin typeface="Calibri"/>
              <a:ea typeface="Calibri"/>
              <a:cs typeface="Calibri"/>
              <a:sym typeface="Calibri"/>
            </a:endParaRPr>
          </a:p>
        </p:txBody>
      </p:sp>
      <p:sp>
        <p:nvSpPr>
          <p:cNvPr id="195" name="Google Shape;195;p12"/>
          <p:cNvSpPr/>
          <p:nvPr/>
        </p:nvSpPr>
        <p:spPr>
          <a:xfrm>
            <a:off x="698086" y="2050256"/>
            <a:ext cx="5227408" cy="19050"/>
          </a:xfrm>
          <a:prstGeom prst="rect">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2"/>
          <p:cNvSpPr/>
          <p:nvPr/>
        </p:nvSpPr>
        <p:spPr>
          <a:xfrm>
            <a:off x="698086" y="2158107"/>
            <a:ext cx="5227408" cy="2053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250"/>
              <a:buFont typeface="Unbounded"/>
              <a:buNone/>
            </a:pPr>
            <a:r>
              <a:rPr b="0" i="0" lang="en-US" sz="1250" u="none" cap="none" strike="noStrike">
                <a:solidFill>
                  <a:srgbClr val="CAD6DE"/>
                </a:solidFill>
                <a:latin typeface="Unbounded"/>
                <a:ea typeface="Unbounded"/>
                <a:cs typeface="Unbounded"/>
                <a:sym typeface="Unbounded"/>
              </a:rPr>
              <a:t>Read the title</a:t>
            </a:r>
            <a:endParaRPr b="0" i="0" sz="1250" u="none" cap="none" strike="noStrike">
              <a:solidFill>
                <a:schemeClr val="dk1"/>
              </a:solidFill>
              <a:latin typeface="Calibri"/>
              <a:ea typeface="Calibri"/>
              <a:cs typeface="Calibri"/>
              <a:sym typeface="Calibri"/>
            </a:endParaRPr>
          </a:p>
        </p:txBody>
      </p:sp>
      <p:sp>
        <p:nvSpPr>
          <p:cNvPr id="197" name="Google Shape;197;p12"/>
          <p:cNvSpPr/>
          <p:nvPr/>
        </p:nvSpPr>
        <p:spPr>
          <a:xfrm>
            <a:off x="698086" y="2565896"/>
            <a:ext cx="279195" cy="1745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6DE"/>
              </a:buClr>
              <a:buSzPts val="1050"/>
              <a:buFont typeface="Unbounded Light"/>
              <a:buNone/>
            </a:pPr>
            <a:r>
              <a:rPr b="0" i="0" lang="en-US" sz="1050" u="none" cap="none" strike="noStrike">
                <a:solidFill>
                  <a:srgbClr val="CAD6DE"/>
                </a:solidFill>
                <a:latin typeface="Unbounded Light"/>
                <a:ea typeface="Unbounded Light"/>
                <a:cs typeface="Unbounded Light"/>
                <a:sym typeface="Unbounded Light"/>
              </a:rPr>
              <a:t>02</a:t>
            </a:r>
            <a:endParaRPr b="0" i="0" sz="1050" u="none" cap="none" strike="noStrike">
              <a:solidFill>
                <a:schemeClr val="dk1"/>
              </a:solidFill>
              <a:latin typeface="Calibri"/>
              <a:ea typeface="Calibri"/>
              <a:cs typeface="Calibri"/>
              <a:sym typeface="Calibri"/>
            </a:endParaRPr>
          </a:p>
        </p:txBody>
      </p:sp>
      <p:sp>
        <p:nvSpPr>
          <p:cNvPr id="198" name="Google Shape;198;p12"/>
          <p:cNvSpPr/>
          <p:nvPr/>
        </p:nvSpPr>
        <p:spPr>
          <a:xfrm>
            <a:off x="698086" y="2784078"/>
            <a:ext cx="5227408" cy="19050"/>
          </a:xfrm>
          <a:prstGeom prst="rect">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2"/>
          <p:cNvSpPr/>
          <p:nvPr/>
        </p:nvSpPr>
        <p:spPr>
          <a:xfrm>
            <a:off x="698086" y="2891929"/>
            <a:ext cx="5227408" cy="2053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250"/>
              <a:buFont typeface="Unbounded"/>
              <a:buNone/>
            </a:pPr>
            <a:r>
              <a:rPr b="0" i="0" lang="en-US" sz="1250" u="none" cap="none" strike="noStrike">
                <a:solidFill>
                  <a:srgbClr val="CAD6DE"/>
                </a:solidFill>
                <a:latin typeface="Unbounded"/>
                <a:ea typeface="Unbounded"/>
                <a:cs typeface="Unbounded"/>
                <a:sym typeface="Unbounded"/>
              </a:rPr>
              <a:t>Read the abstract</a:t>
            </a:r>
            <a:endParaRPr b="0" i="0" sz="1250" u="none" cap="none" strike="noStrike">
              <a:solidFill>
                <a:schemeClr val="dk1"/>
              </a:solidFill>
              <a:latin typeface="Calibri"/>
              <a:ea typeface="Calibri"/>
              <a:cs typeface="Calibri"/>
              <a:sym typeface="Calibri"/>
            </a:endParaRPr>
          </a:p>
        </p:txBody>
      </p:sp>
      <p:sp>
        <p:nvSpPr>
          <p:cNvPr id="200" name="Google Shape;200;p12"/>
          <p:cNvSpPr/>
          <p:nvPr/>
        </p:nvSpPr>
        <p:spPr>
          <a:xfrm>
            <a:off x="698086" y="3299718"/>
            <a:ext cx="279195" cy="1745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6DE"/>
              </a:buClr>
              <a:buSzPts val="1050"/>
              <a:buFont typeface="Unbounded Light"/>
              <a:buNone/>
            </a:pPr>
            <a:r>
              <a:rPr b="0" i="0" lang="en-US" sz="1050" u="none" cap="none" strike="noStrike">
                <a:solidFill>
                  <a:srgbClr val="CAD6DE"/>
                </a:solidFill>
                <a:latin typeface="Unbounded Light"/>
                <a:ea typeface="Unbounded Light"/>
                <a:cs typeface="Unbounded Light"/>
                <a:sym typeface="Unbounded Light"/>
              </a:rPr>
              <a:t>03</a:t>
            </a:r>
            <a:endParaRPr b="0" i="0" sz="1050" u="none" cap="none" strike="noStrike">
              <a:solidFill>
                <a:schemeClr val="dk1"/>
              </a:solidFill>
              <a:latin typeface="Calibri"/>
              <a:ea typeface="Calibri"/>
              <a:cs typeface="Calibri"/>
              <a:sym typeface="Calibri"/>
            </a:endParaRPr>
          </a:p>
        </p:txBody>
      </p:sp>
      <p:sp>
        <p:nvSpPr>
          <p:cNvPr id="201" name="Google Shape;201;p12"/>
          <p:cNvSpPr/>
          <p:nvPr/>
        </p:nvSpPr>
        <p:spPr>
          <a:xfrm>
            <a:off x="698086" y="3517900"/>
            <a:ext cx="5227408" cy="19050"/>
          </a:xfrm>
          <a:prstGeom prst="rect">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2"/>
          <p:cNvSpPr/>
          <p:nvPr/>
        </p:nvSpPr>
        <p:spPr>
          <a:xfrm>
            <a:off x="698086" y="3625751"/>
            <a:ext cx="5227408" cy="2053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250"/>
              <a:buFont typeface="Unbounded"/>
              <a:buNone/>
            </a:pPr>
            <a:r>
              <a:rPr b="0" i="0" lang="en-US" sz="1250" u="none" cap="none" strike="noStrike">
                <a:solidFill>
                  <a:srgbClr val="CAD6DE"/>
                </a:solidFill>
                <a:latin typeface="Unbounded"/>
                <a:ea typeface="Unbounded"/>
                <a:cs typeface="Unbounded"/>
                <a:sym typeface="Unbounded"/>
              </a:rPr>
              <a:t>Check the introduction</a:t>
            </a:r>
            <a:endParaRPr b="0" i="0" sz="1250" u="none" cap="none" strike="noStrike">
              <a:solidFill>
                <a:schemeClr val="dk1"/>
              </a:solidFill>
              <a:latin typeface="Calibri"/>
              <a:ea typeface="Calibri"/>
              <a:cs typeface="Calibri"/>
              <a:sym typeface="Calibri"/>
            </a:endParaRPr>
          </a:p>
        </p:txBody>
      </p:sp>
      <p:sp>
        <p:nvSpPr>
          <p:cNvPr id="203" name="Google Shape;203;p12"/>
          <p:cNvSpPr/>
          <p:nvPr/>
        </p:nvSpPr>
        <p:spPr>
          <a:xfrm>
            <a:off x="698086" y="4033540"/>
            <a:ext cx="279195" cy="1745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6DE"/>
              </a:buClr>
              <a:buSzPts val="1050"/>
              <a:buFont typeface="Unbounded Light"/>
              <a:buNone/>
            </a:pPr>
            <a:r>
              <a:rPr b="0" i="0" lang="en-US" sz="1050" u="none" cap="none" strike="noStrike">
                <a:solidFill>
                  <a:srgbClr val="CAD6DE"/>
                </a:solidFill>
                <a:latin typeface="Unbounded Light"/>
                <a:ea typeface="Unbounded Light"/>
                <a:cs typeface="Unbounded Light"/>
                <a:sym typeface="Unbounded Light"/>
              </a:rPr>
              <a:t>04</a:t>
            </a:r>
            <a:endParaRPr b="0" i="0" sz="1050" u="none" cap="none" strike="noStrike">
              <a:solidFill>
                <a:schemeClr val="dk1"/>
              </a:solidFill>
              <a:latin typeface="Calibri"/>
              <a:ea typeface="Calibri"/>
              <a:cs typeface="Calibri"/>
              <a:sym typeface="Calibri"/>
            </a:endParaRPr>
          </a:p>
        </p:txBody>
      </p:sp>
      <p:sp>
        <p:nvSpPr>
          <p:cNvPr id="204" name="Google Shape;204;p12"/>
          <p:cNvSpPr/>
          <p:nvPr/>
        </p:nvSpPr>
        <p:spPr>
          <a:xfrm>
            <a:off x="698086" y="4251722"/>
            <a:ext cx="5227408" cy="19050"/>
          </a:xfrm>
          <a:prstGeom prst="rect">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2"/>
          <p:cNvSpPr/>
          <p:nvPr/>
        </p:nvSpPr>
        <p:spPr>
          <a:xfrm>
            <a:off x="698086" y="4359573"/>
            <a:ext cx="5227408" cy="2053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250"/>
              <a:buFont typeface="Unbounded"/>
              <a:buNone/>
            </a:pPr>
            <a:r>
              <a:rPr b="0" i="0" lang="en-US" sz="1250" u="none" cap="none" strike="noStrike">
                <a:solidFill>
                  <a:srgbClr val="CAD6DE"/>
                </a:solidFill>
                <a:latin typeface="Unbounded"/>
                <a:ea typeface="Unbounded"/>
                <a:cs typeface="Unbounded"/>
                <a:sym typeface="Unbounded"/>
              </a:rPr>
              <a:t>Inspect tables and figures</a:t>
            </a:r>
            <a:endParaRPr b="0" i="0" sz="1250" u="none" cap="none" strike="noStrike">
              <a:solidFill>
                <a:schemeClr val="dk1"/>
              </a:solidFill>
              <a:latin typeface="Calibri"/>
              <a:ea typeface="Calibri"/>
              <a:cs typeface="Calibri"/>
              <a:sym typeface="Calibri"/>
            </a:endParaRPr>
          </a:p>
        </p:txBody>
      </p:sp>
      <p:sp>
        <p:nvSpPr>
          <p:cNvPr id="206" name="Google Shape;206;p12"/>
          <p:cNvSpPr/>
          <p:nvPr/>
        </p:nvSpPr>
        <p:spPr>
          <a:xfrm>
            <a:off x="698086" y="4767362"/>
            <a:ext cx="279195" cy="1745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6DE"/>
              </a:buClr>
              <a:buSzPts val="1050"/>
              <a:buFont typeface="Unbounded Light"/>
              <a:buNone/>
            </a:pPr>
            <a:r>
              <a:rPr b="0" i="0" lang="en-US" sz="1050" u="none" cap="none" strike="noStrike">
                <a:solidFill>
                  <a:srgbClr val="CAD6DE"/>
                </a:solidFill>
                <a:latin typeface="Unbounded Light"/>
                <a:ea typeface="Unbounded Light"/>
                <a:cs typeface="Unbounded Light"/>
                <a:sym typeface="Unbounded Light"/>
              </a:rPr>
              <a:t>05</a:t>
            </a:r>
            <a:endParaRPr b="0" i="0" sz="1050" u="none" cap="none" strike="noStrike">
              <a:solidFill>
                <a:schemeClr val="dk1"/>
              </a:solidFill>
              <a:latin typeface="Calibri"/>
              <a:ea typeface="Calibri"/>
              <a:cs typeface="Calibri"/>
              <a:sym typeface="Calibri"/>
            </a:endParaRPr>
          </a:p>
        </p:txBody>
      </p:sp>
      <p:sp>
        <p:nvSpPr>
          <p:cNvPr id="207" name="Google Shape;207;p12"/>
          <p:cNvSpPr/>
          <p:nvPr/>
        </p:nvSpPr>
        <p:spPr>
          <a:xfrm>
            <a:off x="698086" y="4985544"/>
            <a:ext cx="5227408" cy="19050"/>
          </a:xfrm>
          <a:prstGeom prst="rect">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2"/>
          <p:cNvSpPr/>
          <p:nvPr/>
        </p:nvSpPr>
        <p:spPr>
          <a:xfrm>
            <a:off x="698086" y="5093395"/>
            <a:ext cx="5227408" cy="2053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250"/>
              <a:buFont typeface="Unbounded"/>
              <a:buNone/>
            </a:pPr>
            <a:r>
              <a:rPr b="0" i="0" lang="en-US" sz="1250" u="none" cap="none" strike="noStrike">
                <a:solidFill>
                  <a:srgbClr val="CAD6DE"/>
                </a:solidFill>
                <a:latin typeface="Unbounded"/>
                <a:ea typeface="Unbounded"/>
                <a:cs typeface="Unbounded"/>
                <a:sym typeface="Unbounded"/>
              </a:rPr>
              <a:t>Read the conclusion</a:t>
            </a:r>
            <a:endParaRPr b="0" i="0" sz="1250" u="none" cap="none" strike="noStrike">
              <a:solidFill>
                <a:schemeClr val="dk1"/>
              </a:solidFill>
              <a:latin typeface="Calibri"/>
              <a:ea typeface="Calibri"/>
              <a:cs typeface="Calibri"/>
              <a:sym typeface="Calibri"/>
            </a:endParaRPr>
          </a:p>
        </p:txBody>
      </p:sp>
      <p:sp>
        <p:nvSpPr>
          <p:cNvPr id="209" name="Google Shape;209;p12"/>
          <p:cNvSpPr/>
          <p:nvPr/>
        </p:nvSpPr>
        <p:spPr>
          <a:xfrm>
            <a:off x="698086" y="5501184"/>
            <a:ext cx="279195" cy="1745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6DE"/>
              </a:buClr>
              <a:buSzPts val="1050"/>
              <a:buFont typeface="Unbounded Light"/>
              <a:buNone/>
            </a:pPr>
            <a:r>
              <a:rPr b="0" i="0" lang="en-US" sz="1050" u="none" cap="none" strike="noStrike">
                <a:solidFill>
                  <a:srgbClr val="CAD6DE"/>
                </a:solidFill>
                <a:latin typeface="Unbounded Light"/>
                <a:ea typeface="Unbounded Light"/>
                <a:cs typeface="Unbounded Light"/>
                <a:sym typeface="Unbounded Light"/>
              </a:rPr>
              <a:t>06</a:t>
            </a:r>
            <a:endParaRPr b="0" i="0" sz="1050" u="none" cap="none" strike="noStrike">
              <a:solidFill>
                <a:schemeClr val="dk1"/>
              </a:solidFill>
              <a:latin typeface="Calibri"/>
              <a:ea typeface="Calibri"/>
              <a:cs typeface="Calibri"/>
              <a:sym typeface="Calibri"/>
            </a:endParaRPr>
          </a:p>
        </p:txBody>
      </p:sp>
      <p:sp>
        <p:nvSpPr>
          <p:cNvPr id="210" name="Google Shape;210;p12"/>
          <p:cNvSpPr/>
          <p:nvPr/>
        </p:nvSpPr>
        <p:spPr>
          <a:xfrm>
            <a:off x="698086" y="5719366"/>
            <a:ext cx="5227408" cy="19050"/>
          </a:xfrm>
          <a:prstGeom prst="rect">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2"/>
          <p:cNvSpPr/>
          <p:nvPr/>
        </p:nvSpPr>
        <p:spPr>
          <a:xfrm>
            <a:off x="698086" y="5827216"/>
            <a:ext cx="5227408" cy="2053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250"/>
              <a:buFont typeface="Unbounded"/>
              <a:buNone/>
            </a:pPr>
            <a:r>
              <a:rPr b="0" i="0" lang="en-US" sz="1250" u="none" cap="none" strike="noStrike">
                <a:solidFill>
                  <a:srgbClr val="CAD6DE"/>
                </a:solidFill>
                <a:latin typeface="Unbounded"/>
                <a:ea typeface="Unbounded"/>
                <a:cs typeface="Unbounded"/>
                <a:sym typeface="Unbounded"/>
              </a:rPr>
              <a:t>Include, exclude, or mark as background</a:t>
            </a:r>
            <a:endParaRPr b="0" i="0" sz="1250" u="none" cap="none" strike="noStrike">
              <a:solidFill>
                <a:schemeClr val="dk1"/>
              </a:solidFill>
              <a:latin typeface="Calibri"/>
              <a:ea typeface="Calibri"/>
              <a:cs typeface="Calibri"/>
              <a:sym typeface="Calibri"/>
            </a:endParaRPr>
          </a:p>
        </p:txBody>
      </p:sp>
      <p:sp>
        <p:nvSpPr>
          <p:cNvPr id="212" name="Google Shape;212;p12"/>
          <p:cNvSpPr/>
          <p:nvPr/>
        </p:nvSpPr>
        <p:spPr>
          <a:xfrm>
            <a:off x="6412152" y="1516757"/>
            <a:ext cx="5227500" cy="2055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250"/>
              <a:buFont typeface="Unbounded"/>
              <a:buNone/>
            </a:pPr>
            <a:r>
              <a:rPr b="0" i="0" lang="en-US" sz="1250" u="none" cap="none" strike="noStrike">
                <a:solidFill>
                  <a:srgbClr val="FFFFFF"/>
                </a:solidFill>
                <a:latin typeface="Unbounded"/>
                <a:ea typeface="Unbounded"/>
                <a:cs typeface="Unbounded"/>
                <a:sym typeface="Unbounded"/>
              </a:rPr>
              <a:t>Screening Questions</a:t>
            </a:r>
            <a:endParaRPr b="0" i="0" sz="1250" u="none" cap="none" strike="noStrike">
              <a:solidFill>
                <a:schemeClr val="dk1"/>
              </a:solidFill>
              <a:latin typeface="Calibri"/>
              <a:ea typeface="Calibri"/>
              <a:cs typeface="Calibri"/>
              <a:sym typeface="Calibri"/>
            </a:endParaRPr>
          </a:p>
        </p:txBody>
      </p:sp>
      <p:sp>
        <p:nvSpPr>
          <p:cNvPr id="213" name="Google Shape;213;p12"/>
          <p:cNvSpPr/>
          <p:nvPr/>
        </p:nvSpPr>
        <p:spPr>
          <a:xfrm>
            <a:off x="6412152" y="1966520"/>
            <a:ext cx="5227500" cy="1309500"/>
          </a:xfrm>
          <a:prstGeom prst="rect">
            <a:avLst/>
          </a:prstGeom>
          <a:noFill/>
          <a:ln>
            <a:noFill/>
          </a:ln>
        </p:spPr>
        <p:txBody>
          <a:bodyPr anchorCtr="0" anchor="t" bIns="0" lIns="0" spcFirstLastPara="1" rIns="0" wrap="square" tIns="0">
            <a:noAutofit/>
          </a:bodyPr>
          <a:lstStyle/>
          <a:p>
            <a:pPr indent="-232410" lvl="0" marL="213360" marR="0" rtl="0" algn="l">
              <a:lnSpc>
                <a:spcPct val="113000"/>
              </a:lnSpc>
              <a:spcBef>
                <a:spcPts val="0"/>
              </a:spcBef>
              <a:spcAft>
                <a:spcPts val="0"/>
              </a:spcAft>
              <a:buClr>
                <a:srgbClr val="CAD6DE"/>
              </a:buClr>
              <a:buSzPts val="1350"/>
              <a:buFont typeface="Cabin"/>
              <a:buChar char="•"/>
            </a:pPr>
            <a:r>
              <a:rPr b="0" i="0" lang="en-US" sz="1350" u="none" cap="none" strike="noStrike">
                <a:solidFill>
                  <a:srgbClr val="CAD6DE"/>
                </a:solidFill>
                <a:latin typeface="Cabin"/>
                <a:ea typeface="Cabin"/>
                <a:cs typeface="Cabin"/>
                <a:sym typeface="Cabin"/>
              </a:rPr>
              <a:t>Is the problem relevant?</a:t>
            </a:r>
            <a:endParaRPr b="0" i="0" sz="1350" u="none" cap="none" strike="noStrike">
              <a:solidFill>
                <a:schemeClr val="dk1"/>
              </a:solidFill>
              <a:latin typeface="Calibri"/>
              <a:ea typeface="Calibri"/>
              <a:cs typeface="Calibri"/>
              <a:sym typeface="Calibri"/>
            </a:endParaRPr>
          </a:p>
          <a:p>
            <a:pPr indent="-232410" lvl="0" marL="213360" marR="0" rtl="0" algn="l">
              <a:lnSpc>
                <a:spcPct val="113000"/>
              </a:lnSpc>
              <a:spcBef>
                <a:spcPts val="0"/>
              </a:spcBef>
              <a:spcAft>
                <a:spcPts val="0"/>
              </a:spcAft>
              <a:buClr>
                <a:srgbClr val="CAD6DE"/>
              </a:buClr>
              <a:buSzPts val="1350"/>
              <a:buFont typeface="Cabin"/>
              <a:buChar char="•"/>
            </a:pPr>
            <a:r>
              <a:rPr b="0" i="0" lang="en-US" sz="1350" u="none" cap="none" strike="noStrike">
                <a:solidFill>
                  <a:srgbClr val="CAD6DE"/>
                </a:solidFill>
                <a:latin typeface="Cabin"/>
                <a:ea typeface="Cabin"/>
                <a:cs typeface="Cabin"/>
                <a:sym typeface="Cabin"/>
              </a:rPr>
              <a:t>Is the context comparable?</a:t>
            </a:r>
            <a:endParaRPr b="0" i="0" sz="1350" u="none" cap="none" strike="noStrike">
              <a:solidFill>
                <a:schemeClr val="dk1"/>
              </a:solidFill>
              <a:latin typeface="Calibri"/>
              <a:ea typeface="Calibri"/>
              <a:cs typeface="Calibri"/>
              <a:sym typeface="Calibri"/>
            </a:endParaRPr>
          </a:p>
          <a:p>
            <a:pPr indent="-232410" lvl="0" marL="213360" marR="0" rtl="0" algn="l">
              <a:lnSpc>
                <a:spcPct val="113000"/>
              </a:lnSpc>
              <a:spcBef>
                <a:spcPts val="0"/>
              </a:spcBef>
              <a:spcAft>
                <a:spcPts val="0"/>
              </a:spcAft>
              <a:buClr>
                <a:srgbClr val="CAD6DE"/>
              </a:buClr>
              <a:buSzPts val="1350"/>
              <a:buFont typeface="Cabin"/>
              <a:buChar char="•"/>
            </a:pPr>
            <a:r>
              <a:rPr b="0" i="0" lang="en-US" sz="1350" u="none" cap="none" strike="noStrike">
                <a:solidFill>
                  <a:srgbClr val="CAD6DE"/>
                </a:solidFill>
                <a:latin typeface="Cabin"/>
                <a:ea typeface="Cabin"/>
                <a:cs typeface="Cabin"/>
                <a:sym typeface="Cabin"/>
              </a:rPr>
              <a:t>Is the data relevant?</a:t>
            </a:r>
            <a:endParaRPr b="0" i="0" sz="1350" u="none" cap="none" strike="noStrike">
              <a:solidFill>
                <a:schemeClr val="dk1"/>
              </a:solidFill>
              <a:latin typeface="Calibri"/>
              <a:ea typeface="Calibri"/>
              <a:cs typeface="Calibri"/>
              <a:sym typeface="Calibri"/>
            </a:endParaRPr>
          </a:p>
          <a:p>
            <a:pPr indent="-232410" lvl="0" marL="213360" marR="0" rtl="0" algn="l">
              <a:lnSpc>
                <a:spcPct val="113000"/>
              </a:lnSpc>
              <a:spcBef>
                <a:spcPts val="0"/>
              </a:spcBef>
              <a:spcAft>
                <a:spcPts val="0"/>
              </a:spcAft>
              <a:buClr>
                <a:srgbClr val="CAD6DE"/>
              </a:buClr>
              <a:buSzPts val="1350"/>
              <a:buFont typeface="Cabin"/>
              <a:buChar char="•"/>
            </a:pPr>
            <a:r>
              <a:rPr b="0" i="0" lang="en-US" sz="1350" u="none" cap="none" strike="noStrike">
                <a:solidFill>
                  <a:srgbClr val="CAD6DE"/>
                </a:solidFill>
                <a:latin typeface="Cabin"/>
                <a:ea typeface="Cabin"/>
                <a:cs typeface="Cabin"/>
                <a:sym typeface="Cabin"/>
              </a:rPr>
              <a:t>Does it help with method or evaluation?</a:t>
            </a:r>
            <a:endParaRPr b="0" i="0" sz="1350" u="none" cap="none" strike="noStrike">
              <a:solidFill>
                <a:schemeClr val="dk1"/>
              </a:solidFill>
              <a:latin typeface="Calibri"/>
              <a:ea typeface="Calibri"/>
              <a:cs typeface="Calibri"/>
              <a:sym typeface="Calibri"/>
            </a:endParaRPr>
          </a:p>
          <a:p>
            <a:pPr indent="-232410" lvl="0" marL="213360" marR="0" rtl="0" algn="l">
              <a:lnSpc>
                <a:spcPct val="113000"/>
              </a:lnSpc>
              <a:spcBef>
                <a:spcPts val="0"/>
              </a:spcBef>
              <a:spcAft>
                <a:spcPts val="0"/>
              </a:spcAft>
              <a:buClr>
                <a:srgbClr val="CAD6DE"/>
              </a:buClr>
              <a:buSzPts val="1350"/>
              <a:buFont typeface="Cabin"/>
              <a:buChar char="•"/>
            </a:pPr>
            <a:r>
              <a:rPr b="0" i="0" lang="en-US" sz="1350" u="none" cap="none" strike="noStrike">
                <a:solidFill>
                  <a:srgbClr val="CAD6DE"/>
                </a:solidFill>
                <a:latin typeface="Cabin"/>
                <a:ea typeface="Cabin"/>
                <a:cs typeface="Cabin"/>
                <a:sym typeface="Cabin"/>
              </a:rPr>
              <a:t>Is the full paper accessible?</a:t>
            </a:r>
            <a:endParaRPr b="0" i="0" sz="1350" u="none" cap="none" strike="noStrike">
              <a:solidFill>
                <a:schemeClr val="dk1"/>
              </a:solidFill>
              <a:latin typeface="Calibri"/>
              <a:ea typeface="Calibri"/>
              <a:cs typeface="Calibri"/>
              <a:sym typeface="Calibri"/>
            </a:endParaRPr>
          </a:p>
          <a:p>
            <a:pPr indent="-232410" lvl="0" marL="213360" marR="0" rtl="0" algn="l">
              <a:lnSpc>
                <a:spcPct val="113000"/>
              </a:lnSpc>
              <a:spcBef>
                <a:spcPts val="0"/>
              </a:spcBef>
              <a:spcAft>
                <a:spcPts val="0"/>
              </a:spcAft>
              <a:buClr>
                <a:srgbClr val="CAD6DE"/>
              </a:buClr>
              <a:buSzPts val="1350"/>
              <a:buFont typeface="Cabin"/>
              <a:buChar char="•"/>
            </a:pPr>
            <a:r>
              <a:rPr b="0" i="0" lang="en-US" sz="1350" u="none" cap="none" strike="noStrike">
                <a:solidFill>
                  <a:srgbClr val="CAD6DE"/>
                </a:solidFill>
                <a:latin typeface="Cabin"/>
                <a:ea typeface="Cabin"/>
                <a:cs typeface="Cabin"/>
                <a:sym typeface="Cabin"/>
              </a:rPr>
              <a:t>Is the method described clearly?</a:t>
            </a:r>
            <a:endParaRPr b="0" i="0" sz="1350" u="none" cap="none" strike="noStrike">
              <a:solidFill>
                <a:schemeClr val="dk1"/>
              </a:solidFill>
              <a:latin typeface="Calibri"/>
              <a:ea typeface="Calibri"/>
              <a:cs typeface="Calibri"/>
              <a:sym typeface="Calibri"/>
            </a:endParaRPr>
          </a:p>
        </p:txBody>
      </p:sp>
      <p:sp>
        <p:nvSpPr>
          <p:cNvPr id="214" name="Google Shape;214;p12"/>
          <p:cNvSpPr/>
          <p:nvPr/>
        </p:nvSpPr>
        <p:spPr>
          <a:xfrm>
            <a:off x="6272552" y="4244619"/>
            <a:ext cx="5227500" cy="435300"/>
          </a:xfrm>
          <a:prstGeom prst="roundRect">
            <a:avLst>
              <a:gd fmla="val 4812" name="adj"/>
            </a:avLst>
          </a:prstGeom>
          <a:solidFill>
            <a:srgbClr val="0878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5" name="Google Shape;215;p12"/>
          <p:cNvPicPr preferRelativeResize="0"/>
          <p:nvPr/>
        </p:nvPicPr>
        <p:blipFill rotWithShape="1">
          <a:blip r:embed="rId3">
            <a:alphaModFix/>
          </a:blip>
          <a:srcRect b="0" l="0" r="0" t="0"/>
          <a:stretch/>
        </p:blipFill>
        <p:spPr>
          <a:xfrm>
            <a:off x="6412149" y="4436508"/>
            <a:ext cx="174521" cy="139601"/>
          </a:xfrm>
          <a:prstGeom prst="rect">
            <a:avLst/>
          </a:prstGeom>
          <a:noFill/>
          <a:ln>
            <a:noFill/>
          </a:ln>
        </p:spPr>
      </p:pic>
      <p:sp>
        <p:nvSpPr>
          <p:cNvPr id="216" name="Google Shape;216;p12"/>
          <p:cNvSpPr/>
          <p:nvPr/>
        </p:nvSpPr>
        <p:spPr>
          <a:xfrm>
            <a:off x="6726268" y="4367352"/>
            <a:ext cx="5243700" cy="189900"/>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FFFFFF"/>
              </a:buClr>
              <a:buSzPts val="1050"/>
              <a:buFont typeface="Cabin"/>
              <a:buNone/>
            </a:pPr>
            <a:r>
              <a:rPr b="0" i="0" lang="en-US" sz="1050" u="none" cap="none" strike="noStrike">
                <a:solidFill>
                  <a:srgbClr val="FFFFFF"/>
                </a:solidFill>
                <a:latin typeface="Cabin"/>
                <a:ea typeface="Cabin"/>
                <a:cs typeface="Cabin"/>
                <a:sym typeface="Cabin"/>
              </a:rPr>
              <a:t>Finding a paper does not mean it belongs in the literature review.</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descr="preencoded.png" id="222" name="Google Shape;222;p13"/>
          <p:cNvPicPr preferRelativeResize="0"/>
          <p:nvPr/>
        </p:nvPicPr>
        <p:blipFill rotWithShape="1">
          <a:blip r:embed="rId3">
            <a:alphaModFix/>
          </a:blip>
          <a:srcRect b="0" l="0" r="0" t="0"/>
          <a:stretch/>
        </p:blipFill>
        <p:spPr>
          <a:xfrm>
            <a:off x="7619809" y="0"/>
            <a:ext cx="4571886" cy="6858000"/>
          </a:xfrm>
          <a:prstGeom prst="rect">
            <a:avLst/>
          </a:prstGeom>
          <a:noFill/>
          <a:ln>
            <a:noFill/>
          </a:ln>
        </p:spPr>
      </p:pic>
      <p:sp>
        <p:nvSpPr>
          <p:cNvPr id="223" name="Google Shape;223;p13"/>
          <p:cNvSpPr/>
          <p:nvPr/>
        </p:nvSpPr>
        <p:spPr>
          <a:xfrm>
            <a:off x="698086" y="625673"/>
            <a:ext cx="1022225" cy="288032"/>
          </a:xfrm>
          <a:prstGeom prst="roundRect">
            <a:avLst>
              <a:gd fmla="val 7895" name="adj"/>
            </a:avLst>
          </a:prstGeom>
          <a:solidFill>
            <a:srgbClr val="054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3"/>
          <p:cNvSpPr/>
          <p:nvPr/>
        </p:nvSpPr>
        <p:spPr>
          <a:xfrm>
            <a:off x="811788" y="682526"/>
            <a:ext cx="1404406" cy="174327"/>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CAD6DE"/>
              </a:buClr>
              <a:buSzPts val="1150"/>
              <a:buFont typeface="Cabin"/>
              <a:buNone/>
            </a:pPr>
            <a:r>
              <a:rPr b="0" i="0" lang="en-US" sz="1150" u="none" cap="none" strike="noStrike">
                <a:solidFill>
                  <a:srgbClr val="CAD6DE"/>
                </a:solidFill>
                <a:latin typeface="Cabin"/>
                <a:ea typeface="Cabin"/>
                <a:cs typeface="Cabin"/>
                <a:sym typeface="Cabin"/>
              </a:rPr>
              <a:t>SCREENING</a:t>
            </a:r>
            <a:endParaRPr b="0" i="0" sz="1150" u="none" cap="none" strike="noStrike">
              <a:solidFill>
                <a:schemeClr val="dk1"/>
              </a:solidFill>
              <a:latin typeface="Calibri"/>
              <a:ea typeface="Calibri"/>
              <a:cs typeface="Calibri"/>
              <a:sym typeface="Calibri"/>
            </a:endParaRPr>
          </a:p>
        </p:txBody>
      </p:sp>
      <p:sp>
        <p:nvSpPr>
          <p:cNvPr id="225" name="Google Shape;225;p13"/>
          <p:cNvSpPr/>
          <p:nvPr/>
        </p:nvSpPr>
        <p:spPr>
          <a:xfrm>
            <a:off x="698086" y="985639"/>
            <a:ext cx="6223638" cy="55731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500"/>
              <a:buFont typeface="Unbounded"/>
              <a:buNone/>
            </a:pPr>
            <a:r>
              <a:rPr b="0" i="0" lang="en-US" sz="3500" u="none" cap="none" strike="noStrike">
                <a:solidFill>
                  <a:srgbClr val="FFFFFF"/>
                </a:solidFill>
                <a:latin typeface="Unbounded"/>
                <a:ea typeface="Unbounded"/>
                <a:cs typeface="Unbounded"/>
                <a:sym typeface="Unbounded"/>
              </a:rPr>
              <a:t>Classify the Papers</a:t>
            </a:r>
            <a:endParaRPr b="0" i="0" sz="3500" u="none" cap="none" strike="noStrike">
              <a:solidFill>
                <a:schemeClr val="dk1"/>
              </a:solidFill>
              <a:latin typeface="Calibri"/>
              <a:ea typeface="Calibri"/>
              <a:cs typeface="Calibri"/>
              <a:sym typeface="Calibri"/>
            </a:endParaRPr>
          </a:p>
        </p:txBody>
      </p:sp>
      <p:sp>
        <p:nvSpPr>
          <p:cNvPr id="226" name="Google Shape;226;p13"/>
          <p:cNvSpPr/>
          <p:nvPr/>
        </p:nvSpPr>
        <p:spPr>
          <a:xfrm>
            <a:off x="698086" y="1812925"/>
            <a:ext cx="3021830" cy="1947863"/>
          </a:xfrm>
          <a:prstGeom prst="roundRect">
            <a:avLst>
              <a:gd fmla="val 1459"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3"/>
          <p:cNvSpPr/>
          <p:nvPr/>
        </p:nvSpPr>
        <p:spPr>
          <a:xfrm>
            <a:off x="887589" y="2002433"/>
            <a:ext cx="2642824" cy="27860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750"/>
              <a:buFont typeface="Unbounded"/>
              <a:buNone/>
            </a:pPr>
            <a:r>
              <a:rPr b="0" i="0" lang="en-US" sz="1750" u="none" cap="none" strike="noStrike">
                <a:solidFill>
                  <a:srgbClr val="CAD6DE"/>
                </a:solidFill>
                <a:latin typeface="Unbounded"/>
                <a:ea typeface="Unbounded"/>
                <a:cs typeface="Unbounded"/>
                <a:sym typeface="Unbounded"/>
              </a:rPr>
              <a:t>Anchor Paper</a:t>
            </a:r>
            <a:endParaRPr b="0" i="0" sz="1750" u="none" cap="none" strike="noStrike">
              <a:solidFill>
                <a:schemeClr val="dk1"/>
              </a:solidFill>
              <a:latin typeface="Calibri"/>
              <a:ea typeface="Calibri"/>
              <a:cs typeface="Calibri"/>
              <a:sym typeface="Calibri"/>
            </a:endParaRPr>
          </a:p>
        </p:txBody>
      </p:sp>
      <p:sp>
        <p:nvSpPr>
          <p:cNvPr id="228" name="Google Shape;228;p13"/>
          <p:cNvSpPr/>
          <p:nvPr/>
        </p:nvSpPr>
        <p:spPr>
          <a:xfrm>
            <a:off x="887589" y="2388989"/>
            <a:ext cx="2642824" cy="118229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Closest to the proposed work in problem, context, dataset, method, or evaluation. These are your primary comparisons.</a:t>
            </a:r>
            <a:endParaRPr b="0" i="0" sz="1450" u="none" cap="none" strike="noStrike">
              <a:solidFill>
                <a:schemeClr val="dk1"/>
              </a:solidFill>
              <a:latin typeface="Calibri"/>
              <a:ea typeface="Calibri"/>
              <a:cs typeface="Calibri"/>
              <a:sym typeface="Calibri"/>
            </a:endParaRPr>
          </a:p>
        </p:txBody>
      </p:sp>
      <p:sp>
        <p:nvSpPr>
          <p:cNvPr id="229" name="Google Shape;229;p13"/>
          <p:cNvSpPr/>
          <p:nvPr/>
        </p:nvSpPr>
        <p:spPr>
          <a:xfrm>
            <a:off x="3899894" y="1812925"/>
            <a:ext cx="3021830" cy="1947863"/>
          </a:xfrm>
          <a:prstGeom prst="roundRect">
            <a:avLst>
              <a:gd fmla="val 1459"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3"/>
          <p:cNvSpPr/>
          <p:nvPr/>
        </p:nvSpPr>
        <p:spPr>
          <a:xfrm>
            <a:off x="4089397" y="2002433"/>
            <a:ext cx="2642824" cy="27860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750"/>
              <a:buFont typeface="Unbounded"/>
              <a:buNone/>
            </a:pPr>
            <a:r>
              <a:rPr b="0" i="0" lang="en-US" sz="1750" u="none" cap="none" strike="noStrike">
                <a:solidFill>
                  <a:srgbClr val="CAD6DE"/>
                </a:solidFill>
                <a:latin typeface="Unbounded"/>
                <a:ea typeface="Unbounded"/>
                <a:cs typeface="Unbounded"/>
                <a:sym typeface="Unbounded"/>
              </a:rPr>
              <a:t>Supporting Paper</a:t>
            </a:r>
            <a:endParaRPr b="0" i="0" sz="1750" u="none" cap="none" strike="noStrike">
              <a:solidFill>
                <a:schemeClr val="dk1"/>
              </a:solidFill>
              <a:latin typeface="Calibri"/>
              <a:ea typeface="Calibri"/>
              <a:cs typeface="Calibri"/>
              <a:sym typeface="Calibri"/>
            </a:endParaRPr>
          </a:p>
        </p:txBody>
      </p:sp>
      <p:sp>
        <p:nvSpPr>
          <p:cNvPr id="231" name="Google Shape;231;p13"/>
          <p:cNvSpPr/>
          <p:nvPr/>
        </p:nvSpPr>
        <p:spPr>
          <a:xfrm>
            <a:off x="4089397" y="2388989"/>
            <a:ext cx="2642824" cy="118229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Useful for one component — dataset, method, metric, explainability, ethics, fairness, or deployment.</a:t>
            </a:r>
            <a:endParaRPr b="0" i="0" sz="1450" u="none" cap="none" strike="noStrike">
              <a:solidFill>
                <a:schemeClr val="dk1"/>
              </a:solidFill>
              <a:latin typeface="Calibri"/>
              <a:ea typeface="Calibri"/>
              <a:cs typeface="Calibri"/>
              <a:sym typeface="Calibri"/>
            </a:endParaRPr>
          </a:p>
        </p:txBody>
      </p:sp>
      <p:sp>
        <p:nvSpPr>
          <p:cNvPr id="232" name="Google Shape;232;p13"/>
          <p:cNvSpPr/>
          <p:nvPr/>
        </p:nvSpPr>
        <p:spPr>
          <a:xfrm>
            <a:off x="698086" y="3940770"/>
            <a:ext cx="6223638" cy="1061145"/>
          </a:xfrm>
          <a:prstGeom prst="roundRect">
            <a:avLst>
              <a:gd fmla="val 2679"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3"/>
          <p:cNvSpPr/>
          <p:nvPr/>
        </p:nvSpPr>
        <p:spPr>
          <a:xfrm>
            <a:off x="887589" y="4130278"/>
            <a:ext cx="5844632" cy="27860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750"/>
              <a:buFont typeface="Unbounded"/>
              <a:buNone/>
            </a:pPr>
            <a:r>
              <a:rPr b="0" i="0" lang="en-US" sz="1750" u="none" cap="none" strike="noStrike">
                <a:solidFill>
                  <a:srgbClr val="CAD6DE"/>
                </a:solidFill>
                <a:latin typeface="Unbounded"/>
                <a:ea typeface="Unbounded"/>
                <a:cs typeface="Unbounded"/>
                <a:sym typeface="Unbounded"/>
              </a:rPr>
              <a:t>Background Paper</a:t>
            </a:r>
            <a:endParaRPr b="0" i="0" sz="1750" u="none" cap="none" strike="noStrike">
              <a:solidFill>
                <a:schemeClr val="dk1"/>
              </a:solidFill>
              <a:latin typeface="Calibri"/>
              <a:ea typeface="Calibri"/>
              <a:cs typeface="Calibri"/>
              <a:sym typeface="Calibri"/>
            </a:endParaRPr>
          </a:p>
        </p:txBody>
      </p:sp>
      <p:sp>
        <p:nvSpPr>
          <p:cNvPr id="234" name="Google Shape;234;p13"/>
          <p:cNvSpPr/>
          <p:nvPr/>
        </p:nvSpPr>
        <p:spPr>
          <a:xfrm>
            <a:off x="887589" y="4516834"/>
            <a:ext cx="5844632" cy="29557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AD6DE"/>
              </a:buClr>
              <a:buSzPts val="1450"/>
              <a:buFont typeface="Cabin"/>
              <a:buNone/>
            </a:pPr>
            <a:r>
              <a:rPr b="0" i="0" lang="en-US" sz="1450" u="none" cap="none" strike="noStrike">
                <a:solidFill>
                  <a:srgbClr val="CAD6DE"/>
                </a:solidFill>
                <a:latin typeface="Cabin"/>
                <a:ea typeface="Cabin"/>
                <a:cs typeface="Cabin"/>
                <a:sym typeface="Cabin"/>
              </a:rPr>
              <a:t>Explains the broader area but is not a close technical comparison.</a:t>
            </a:r>
            <a:endParaRPr b="0" i="0" sz="1450" u="none" cap="none" strike="noStrike">
              <a:solidFill>
                <a:schemeClr val="dk1"/>
              </a:solidFill>
              <a:latin typeface="Calibri"/>
              <a:ea typeface="Calibri"/>
              <a:cs typeface="Calibri"/>
              <a:sym typeface="Calibri"/>
            </a:endParaRPr>
          </a:p>
        </p:txBody>
      </p:sp>
      <p:sp>
        <p:nvSpPr>
          <p:cNvPr id="235" name="Google Shape;235;p13"/>
          <p:cNvSpPr/>
          <p:nvPr/>
        </p:nvSpPr>
        <p:spPr>
          <a:xfrm>
            <a:off x="698086" y="5204420"/>
            <a:ext cx="6223638" cy="1027807"/>
          </a:xfrm>
          <a:prstGeom prst="roundRect">
            <a:avLst>
              <a:gd fmla="val 2766" name="adj"/>
            </a:avLst>
          </a:prstGeom>
          <a:solidFill>
            <a:srgbClr val="0878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6" name="Google Shape;236;p13"/>
          <p:cNvPicPr preferRelativeResize="0"/>
          <p:nvPr/>
        </p:nvPicPr>
        <p:blipFill rotWithShape="1">
          <a:blip r:embed="rId4">
            <a:alphaModFix/>
          </a:blip>
          <a:srcRect b="0" l="0" r="0" t="0"/>
          <a:stretch/>
        </p:blipFill>
        <p:spPr>
          <a:xfrm>
            <a:off x="887589" y="5472212"/>
            <a:ext cx="236829" cy="189508"/>
          </a:xfrm>
          <a:prstGeom prst="rect">
            <a:avLst/>
          </a:prstGeom>
          <a:noFill/>
          <a:ln>
            <a:noFill/>
          </a:ln>
        </p:spPr>
      </p:pic>
      <p:sp>
        <p:nvSpPr>
          <p:cNvPr id="237" name="Google Shape;237;p13"/>
          <p:cNvSpPr/>
          <p:nvPr/>
        </p:nvSpPr>
        <p:spPr>
          <a:xfrm>
            <a:off x="1313921" y="5431730"/>
            <a:ext cx="5418300" cy="59114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450"/>
              <a:buFont typeface="Cabin"/>
              <a:buNone/>
            </a:pPr>
            <a:r>
              <a:rPr b="0" i="0" lang="en-US" sz="1450" u="none" cap="none" strike="noStrike">
                <a:solidFill>
                  <a:srgbClr val="FFFFFF"/>
                </a:solidFill>
                <a:latin typeface="Cabin"/>
                <a:ea typeface="Cabin"/>
                <a:cs typeface="Cabin"/>
                <a:sym typeface="Cabin"/>
              </a:rPr>
              <a:t>Ten broad background papers cannot replace three strong anchor papers.</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4"/>
          <p:cNvSpPr/>
          <p:nvPr/>
        </p:nvSpPr>
        <p:spPr>
          <a:xfrm>
            <a:off x="698086" y="800497"/>
            <a:ext cx="898403" cy="303113"/>
          </a:xfrm>
          <a:prstGeom prst="roundRect">
            <a:avLst>
              <a:gd fmla="val 7897" name="adj"/>
            </a:avLst>
          </a:prstGeom>
          <a:solidFill>
            <a:srgbClr val="054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4"/>
          <p:cNvSpPr/>
          <p:nvPr/>
        </p:nvSpPr>
        <p:spPr>
          <a:xfrm>
            <a:off x="817740" y="860326"/>
            <a:ext cx="1268678" cy="183455"/>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CAD6DE"/>
              </a:buClr>
              <a:buSzPts val="1250"/>
              <a:buFont typeface="Cabin"/>
              <a:buNone/>
            </a:pPr>
            <a:r>
              <a:rPr b="0" i="0" lang="en-US" sz="1250" u="none" cap="none" strike="noStrike">
                <a:solidFill>
                  <a:srgbClr val="CAD6DE"/>
                </a:solidFill>
                <a:latin typeface="Cabin"/>
                <a:ea typeface="Cabin"/>
                <a:cs typeface="Cabin"/>
                <a:sym typeface="Cabin"/>
              </a:rPr>
              <a:t>READING</a:t>
            </a:r>
            <a:endParaRPr b="0" i="0" sz="1250" u="none" cap="none" strike="noStrike">
              <a:solidFill>
                <a:schemeClr val="dk1"/>
              </a:solidFill>
              <a:latin typeface="Calibri"/>
              <a:ea typeface="Calibri"/>
              <a:cs typeface="Calibri"/>
              <a:sym typeface="Calibri"/>
            </a:endParaRPr>
          </a:p>
        </p:txBody>
      </p:sp>
      <p:sp>
        <p:nvSpPr>
          <p:cNvPr id="245" name="Google Shape;245;p14"/>
          <p:cNvSpPr/>
          <p:nvPr/>
        </p:nvSpPr>
        <p:spPr>
          <a:xfrm>
            <a:off x="698086" y="1183382"/>
            <a:ext cx="10795524" cy="5866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Read Papers in Three Passes</a:t>
            </a:r>
            <a:endParaRPr b="0" i="0" sz="3650" u="none" cap="none" strike="noStrike">
              <a:solidFill>
                <a:schemeClr val="dk1"/>
              </a:solidFill>
              <a:latin typeface="Calibri"/>
              <a:ea typeface="Calibri"/>
              <a:cs typeface="Calibri"/>
              <a:sym typeface="Calibri"/>
            </a:endParaRPr>
          </a:p>
        </p:txBody>
      </p:sp>
      <p:sp>
        <p:nvSpPr>
          <p:cNvPr id="246" name="Google Shape;246;p14"/>
          <p:cNvSpPr/>
          <p:nvPr/>
        </p:nvSpPr>
        <p:spPr>
          <a:xfrm>
            <a:off x="997223" y="2867025"/>
            <a:ext cx="3166289" cy="199430"/>
          </a:xfrm>
          <a:prstGeom prst="roundRect">
            <a:avLst>
              <a:gd fmla="val 15004"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4"/>
          <p:cNvSpPr/>
          <p:nvPr/>
        </p:nvSpPr>
        <p:spPr>
          <a:xfrm>
            <a:off x="698086" y="2667546"/>
            <a:ext cx="598373" cy="598388"/>
          </a:xfrm>
          <a:prstGeom prst="ellipse">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8" name="Google Shape;248;p14"/>
          <p:cNvPicPr preferRelativeResize="0"/>
          <p:nvPr/>
        </p:nvPicPr>
        <p:blipFill rotWithShape="1">
          <a:blip r:embed="rId3">
            <a:alphaModFix/>
          </a:blip>
          <a:srcRect b="0" l="0" r="0" t="0"/>
          <a:stretch/>
        </p:blipFill>
        <p:spPr>
          <a:xfrm>
            <a:off x="847704" y="2817168"/>
            <a:ext cx="299137" cy="299145"/>
          </a:xfrm>
          <a:prstGeom prst="rect">
            <a:avLst/>
          </a:prstGeom>
          <a:noFill/>
          <a:ln>
            <a:noFill/>
          </a:ln>
        </p:spPr>
      </p:pic>
      <p:sp>
        <p:nvSpPr>
          <p:cNvPr id="249" name="Google Shape;249;p14"/>
          <p:cNvSpPr/>
          <p:nvPr/>
        </p:nvSpPr>
        <p:spPr>
          <a:xfrm>
            <a:off x="897510" y="3465413"/>
            <a:ext cx="3066676"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800"/>
              <a:buFont typeface="Unbounded"/>
              <a:buNone/>
            </a:pPr>
            <a:r>
              <a:rPr b="0" i="0" lang="en-US" sz="1800" u="none" cap="none" strike="noStrike">
                <a:solidFill>
                  <a:srgbClr val="CAD6DE"/>
                </a:solidFill>
                <a:latin typeface="Unbounded"/>
                <a:ea typeface="Unbounded"/>
                <a:cs typeface="Unbounded"/>
                <a:sym typeface="Unbounded"/>
              </a:rPr>
              <a:t>Pass 1 — Relevance</a:t>
            </a:r>
            <a:endParaRPr b="0" i="0" sz="1800" u="none" cap="none" strike="noStrike">
              <a:solidFill>
                <a:schemeClr val="dk1"/>
              </a:solidFill>
              <a:latin typeface="Calibri"/>
              <a:ea typeface="Calibri"/>
              <a:cs typeface="Calibri"/>
              <a:sym typeface="Calibri"/>
            </a:endParaRPr>
          </a:p>
        </p:txBody>
      </p:sp>
      <p:sp>
        <p:nvSpPr>
          <p:cNvPr id="250" name="Google Shape;250;p14"/>
          <p:cNvSpPr/>
          <p:nvPr/>
        </p:nvSpPr>
        <p:spPr>
          <a:xfrm>
            <a:off x="897510" y="3878362"/>
            <a:ext cx="3066676" cy="95756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What is the study about? Should we keep it? Decide quickly before investing time.</a:t>
            </a:r>
            <a:endParaRPr b="0" i="0" sz="1550" u="none" cap="none" strike="noStrike">
              <a:solidFill>
                <a:schemeClr val="dk1"/>
              </a:solidFill>
              <a:latin typeface="Calibri"/>
              <a:ea typeface="Calibri"/>
              <a:cs typeface="Calibri"/>
              <a:sym typeface="Calibri"/>
            </a:endParaRPr>
          </a:p>
        </p:txBody>
      </p:sp>
      <p:sp>
        <p:nvSpPr>
          <p:cNvPr id="251" name="Google Shape;251;p14"/>
          <p:cNvSpPr/>
          <p:nvPr/>
        </p:nvSpPr>
        <p:spPr>
          <a:xfrm>
            <a:off x="4662172" y="2567781"/>
            <a:ext cx="3166289" cy="199430"/>
          </a:xfrm>
          <a:prstGeom prst="roundRect">
            <a:avLst>
              <a:gd fmla="val 15004"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4"/>
          <p:cNvSpPr/>
          <p:nvPr/>
        </p:nvSpPr>
        <p:spPr>
          <a:xfrm>
            <a:off x="4363035" y="2368302"/>
            <a:ext cx="598373" cy="598388"/>
          </a:xfrm>
          <a:prstGeom prst="ellipse">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3" name="Google Shape;253;p14"/>
          <p:cNvPicPr preferRelativeResize="0"/>
          <p:nvPr/>
        </p:nvPicPr>
        <p:blipFill rotWithShape="1">
          <a:blip r:embed="rId4">
            <a:alphaModFix/>
          </a:blip>
          <a:srcRect b="0" l="0" r="0" t="0"/>
          <a:stretch/>
        </p:blipFill>
        <p:spPr>
          <a:xfrm>
            <a:off x="4512654" y="2517924"/>
            <a:ext cx="299137" cy="299145"/>
          </a:xfrm>
          <a:prstGeom prst="rect">
            <a:avLst/>
          </a:prstGeom>
          <a:noFill/>
          <a:ln>
            <a:noFill/>
          </a:ln>
        </p:spPr>
      </p:pic>
      <p:sp>
        <p:nvSpPr>
          <p:cNvPr id="254" name="Google Shape;254;p14"/>
          <p:cNvSpPr/>
          <p:nvPr/>
        </p:nvSpPr>
        <p:spPr>
          <a:xfrm>
            <a:off x="4562460" y="3166170"/>
            <a:ext cx="3066676" cy="58658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800"/>
              <a:buFont typeface="Unbounded"/>
              <a:buNone/>
            </a:pPr>
            <a:r>
              <a:rPr b="0" i="0" lang="en-US" sz="1800" u="none" cap="none" strike="noStrike">
                <a:solidFill>
                  <a:srgbClr val="CAD6DE"/>
                </a:solidFill>
                <a:latin typeface="Unbounded"/>
                <a:ea typeface="Unbounded"/>
                <a:cs typeface="Unbounded"/>
                <a:sym typeface="Unbounded"/>
              </a:rPr>
              <a:t>Pass 2 — Evidence Extraction</a:t>
            </a:r>
            <a:endParaRPr b="0" i="0" sz="1800" u="none" cap="none" strike="noStrike">
              <a:solidFill>
                <a:schemeClr val="dk1"/>
              </a:solidFill>
              <a:latin typeface="Calibri"/>
              <a:ea typeface="Calibri"/>
              <a:cs typeface="Calibri"/>
              <a:sym typeface="Calibri"/>
            </a:endParaRPr>
          </a:p>
        </p:txBody>
      </p:sp>
      <p:sp>
        <p:nvSpPr>
          <p:cNvPr id="255" name="Google Shape;255;p14"/>
          <p:cNvSpPr/>
          <p:nvPr/>
        </p:nvSpPr>
        <p:spPr>
          <a:xfrm>
            <a:off x="4562460" y="3872409"/>
            <a:ext cx="3066676" cy="95756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Problem, data, inputs, method, baselines, evaluation, and results. Fill in the tracker.</a:t>
            </a:r>
            <a:endParaRPr b="0" i="0" sz="1550" u="none" cap="none" strike="noStrike">
              <a:solidFill>
                <a:schemeClr val="dk1"/>
              </a:solidFill>
              <a:latin typeface="Calibri"/>
              <a:ea typeface="Calibri"/>
              <a:cs typeface="Calibri"/>
              <a:sym typeface="Calibri"/>
            </a:endParaRPr>
          </a:p>
        </p:txBody>
      </p:sp>
      <p:sp>
        <p:nvSpPr>
          <p:cNvPr id="256" name="Google Shape;256;p14"/>
          <p:cNvSpPr/>
          <p:nvPr/>
        </p:nvSpPr>
        <p:spPr>
          <a:xfrm>
            <a:off x="8327122" y="2268637"/>
            <a:ext cx="3166388" cy="199430"/>
          </a:xfrm>
          <a:prstGeom prst="roundRect">
            <a:avLst>
              <a:gd fmla="val 15004"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4"/>
          <p:cNvSpPr/>
          <p:nvPr/>
        </p:nvSpPr>
        <p:spPr>
          <a:xfrm>
            <a:off x="8027985" y="2069157"/>
            <a:ext cx="598373" cy="598388"/>
          </a:xfrm>
          <a:prstGeom prst="ellipse">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8" name="Google Shape;258;p14"/>
          <p:cNvPicPr preferRelativeResize="0"/>
          <p:nvPr/>
        </p:nvPicPr>
        <p:blipFill rotWithShape="1">
          <a:blip r:embed="rId5">
            <a:alphaModFix/>
          </a:blip>
          <a:srcRect b="0" l="0" r="0" t="0"/>
          <a:stretch/>
        </p:blipFill>
        <p:spPr>
          <a:xfrm>
            <a:off x="8177603" y="2218779"/>
            <a:ext cx="299137" cy="299145"/>
          </a:xfrm>
          <a:prstGeom prst="rect">
            <a:avLst/>
          </a:prstGeom>
          <a:noFill/>
          <a:ln>
            <a:noFill/>
          </a:ln>
        </p:spPr>
      </p:pic>
      <p:sp>
        <p:nvSpPr>
          <p:cNvPr id="259" name="Google Shape;259;p14"/>
          <p:cNvSpPr/>
          <p:nvPr/>
        </p:nvSpPr>
        <p:spPr>
          <a:xfrm>
            <a:off x="8227410" y="2867025"/>
            <a:ext cx="3066775" cy="58658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800"/>
              <a:buFont typeface="Unbounded"/>
              <a:buNone/>
            </a:pPr>
            <a:r>
              <a:rPr b="0" i="0" lang="en-US" sz="1800" u="none" cap="none" strike="noStrike">
                <a:solidFill>
                  <a:srgbClr val="CAD6DE"/>
                </a:solidFill>
                <a:latin typeface="Unbounded"/>
                <a:ea typeface="Unbounded"/>
                <a:cs typeface="Unbounded"/>
                <a:sym typeface="Unbounded"/>
              </a:rPr>
              <a:t>Pass 3 — Critical Reading</a:t>
            </a:r>
            <a:endParaRPr b="0" i="0" sz="1800" u="none" cap="none" strike="noStrike">
              <a:solidFill>
                <a:schemeClr val="dk1"/>
              </a:solidFill>
              <a:latin typeface="Calibri"/>
              <a:ea typeface="Calibri"/>
              <a:cs typeface="Calibri"/>
              <a:sym typeface="Calibri"/>
            </a:endParaRPr>
          </a:p>
        </p:txBody>
      </p:sp>
      <p:sp>
        <p:nvSpPr>
          <p:cNvPr id="260" name="Google Shape;260;p14"/>
          <p:cNvSpPr/>
          <p:nvPr/>
        </p:nvSpPr>
        <p:spPr>
          <a:xfrm>
            <a:off x="8227410" y="3573264"/>
            <a:ext cx="3066775" cy="95756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Dataset suitability, fair comparison, metrics, data leakage, supported claims, and reproducibility.</a:t>
            </a:r>
            <a:endParaRPr b="0" i="0" sz="1550" u="none" cap="none" strike="noStrike">
              <a:solidFill>
                <a:schemeClr val="dk1"/>
              </a:solidFill>
              <a:latin typeface="Calibri"/>
              <a:ea typeface="Calibri"/>
              <a:cs typeface="Calibri"/>
              <a:sym typeface="Calibri"/>
            </a:endParaRPr>
          </a:p>
        </p:txBody>
      </p:sp>
      <p:sp>
        <p:nvSpPr>
          <p:cNvPr id="261" name="Google Shape;261;p14"/>
          <p:cNvSpPr/>
          <p:nvPr/>
        </p:nvSpPr>
        <p:spPr>
          <a:xfrm>
            <a:off x="698086" y="5259685"/>
            <a:ext cx="10795524" cy="797719"/>
          </a:xfrm>
          <a:prstGeom prst="roundRect">
            <a:avLst>
              <a:gd fmla="val 3751" name="adj"/>
            </a:avLst>
          </a:prstGeom>
          <a:solidFill>
            <a:srgbClr val="0878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2" name="Google Shape;262;p14"/>
          <p:cNvPicPr preferRelativeResize="0"/>
          <p:nvPr/>
        </p:nvPicPr>
        <p:blipFill rotWithShape="1">
          <a:blip r:embed="rId6">
            <a:alphaModFix/>
          </a:blip>
          <a:srcRect b="0" l="0" r="0" t="0"/>
          <a:stretch/>
        </p:blipFill>
        <p:spPr>
          <a:xfrm>
            <a:off x="897510" y="5550297"/>
            <a:ext cx="249330" cy="199430"/>
          </a:xfrm>
          <a:prstGeom prst="rect">
            <a:avLst/>
          </a:prstGeom>
          <a:noFill/>
          <a:ln>
            <a:noFill/>
          </a:ln>
        </p:spPr>
      </p:pic>
      <p:sp>
        <p:nvSpPr>
          <p:cNvPr id="263" name="Google Shape;263;p14"/>
          <p:cNvSpPr/>
          <p:nvPr/>
        </p:nvSpPr>
        <p:spPr>
          <a:xfrm>
            <a:off x="1346266" y="5508923"/>
            <a:ext cx="10557504" cy="31918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FFFFF"/>
              </a:buClr>
              <a:buSzPts val="1550"/>
              <a:buFont typeface="Cabin"/>
              <a:buNone/>
            </a:pPr>
            <a:r>
              <a:rPr b="0" i="0" lang="en-US" sz="1550" u="none" cap="none" strike="noStrike">
                <a:solidFill>
                  <a:srgbClr val="FFFFFF"/>
                </a:solidFill>
                <a:latin typeface="Cabin"/>
                <a:ea typeface="Cabin"/>
                <a:cs typeface="Cabin"/>
                <a:sym typeface="Cabin"/>
              </a:rPr>
              <a:t>Do not read passively. Read to answer tracker questions and to compare papers later.</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5"/>
          <p:cNvSpPr/>
          <p:nvPr/>
        </p:nvSpPr>
        <p:spPr>
          <a:xfrm>
            <a:off x="698086" y="559495"/>
            <a:ext cx="1436255" cy="253504"/>
          </a:xfrm>
          <a:prstGeom prst="roundRect">
            <a:avLst>
              <a:gd fmla="val 7901" name="adj"/>
            </a:avLst>
          </a:prstGeom>
          <a:solidFill>
            <a:srgbClr val="054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5"/>
          <p:cNvSpPr/>
          <p:nvPr/>
        </p:nvSpPr>
        <p:spPr>
          <a:xfrm>
            <a:off x="798195" y="609501"/>
            <a:ext cx="1845621" cy="15349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CAD6DE"/>
              </a:buClr>
              <a:buSzPts val="1050"/>
              <a:buFont typeface="Cabin"/>
              <a:buNone/>
            </a:pPr>
            <a:r>
              <a:rPr b="0" i="0" lang="en-US" sz="1050" u="none" cap="none" strike="noStrike">
                <a:solidFill>
                  <a:srgbClr val="CAD6DE"/>
                </a:solidFill>
                <a:latin typeface="Cabin"/>
                <a:ea typeface="Cabin"/>
                <a:cs typeface="Cabin"/>
                <a:sym typeface="Cabin"/>
              </a:rPr>
              <a:t>USING THE TRACKER</a:t>
            </a:r>
            <a:endParaRPr b="0" i="0" sz="1050" u="none" cap="none" strike="noStrike">
              <a:solidFill>
                <a:schemeClr val="dk1"/>
              </a:solidFill>
              <a:latin typeface="Calibri"/>
              <a:ea typeface="Calibri"/>
              <a:cs typeface="Calibri"/>
              <a:sym typeface="Calibri"/>
            </a:endParaRPr>
          </a:p>
        </p:txBody>
      </p:sp>
      <p:sp>
        <p:nvSpPr>
          <p:cNvPr id="271" name="Google Shape;271;p15"/>
          <p:cNvSpPr/>
          <p:nvPr/>
        </p:nvSpPr>
        <p:spPr>
          <a:xfrm>
            <a:off x="698086" y="868859"/>
            <a:ext cx="10795524" cy="49083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050"/>
              <a:buFont typeface="Unbounded"/>
              <a:buNone/>
            </a:pPr>
            <a:r>
              <a:rPr b="0" i="0" lang="en-US" sz="3050" u="none" cap="none" strike="noStrike">
                <a:solidFill>
                  <a:srgbClr val="FFFFFF"/>
                </a:solidFill>
                <a:latin typeface="Unbounded"/>
                <a:ea typeface="Unbounded"/>
                <a:cs typeface="Unbounded"/>
                <a:sym typeface="Unbounded"/>
              </a:rPr>
              <a:t>What the Tracker Does</a:t>
            </a:r>
            <a:endParaRPr b="0" i="0" sz="3050" u="none" cap="none" strike="noStrike">
              <a:solidFill>
                <a:schemeClr val="dk1"/>
              </a:solidFill>
              <a:latin typeface="Calibri"/>
              <a:ea typeface="Calibri"/>
              <a:cs typeface="Calibri"/>
              <a:sym typeface="Calibri"/>
            </a:endParaRPr>
          </a:p>
        </p:txBody>
      </p:sp>
      <p:pic>
        <p:nvPicPr>
          <p:cNvPr descr="preencoded.png" id="272" name="Google Shape;272;p15"/>
          <p:cNvPicPr preferRelativeResize="0"/>
          <p:nvPr/>
        </p:nvPicPr>
        <p:blipFill rotWithShape="1">
          <a:blip r:embed="rId3">
            <a:alphaModFix/>
          </a:blip>
          <a:srcRect b="0" l="0" r="0" t="0"/>
          <a:stretch/>
        </p:blipFill>
        <p:spPr>
          <a:xfrm>
            <a:off x="470925" y="1657500"/>
            <a:ext cx="5523975" cy="4967126"/>
          </a:xfrm>
          <a:prstGeom prst="rect">
            <a:avLst/>
          </a:prstGeom>
          <a:noFill/>
          <a:ln>
            <a:noFill/>
          </a:ln>
        </p:spPr>
      </p:pic>
      <p:sp>
        <p:nvSpPr>
          <p:cNvPr id="273" name="Google Shape;273;p15"/>
          <p:cNvSpPr/>
          <p:nvPr/>
        </p:nvSpPr>
        <p:spPr>
          <a:xfrm>
            <a:off x="6305789" y="2996406"/>
            <a:ext cx="5194170" cy="2453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500"/>
              <a:buFont typeface="Unbounded"/>
              <a:buNone/>
            </a:pPr>
            <a:r>
              <a:rPr b="0" i="0" lang="en-US" sz="1500" u="none" cap="none" strike="noStrike">
                <a:solidFill>
                  <a:srgbClr val="FFFFFF"/>
                </a:solidFill>
                <a:latin typeface="Unbounded"/>
                <a:ea typeface="Unbounded"/>
                <a:cs typeface="Unbounded"/>
                <a:sym typeface="Unbounded"/>
              </a:rPr>
              <a:t>Why It Matters</a:t>
            </a:r>
            <a:endParaRPr b="0" i="0" sz="1500" u="none" cap="none" strike="noStrike">
              <a:solidFill>
                <a:schemeClr val="dk1"/>
              </a:solidFill>
              <a:latin typeface="Calibri"/>
              <a:ea typeface="Calibri"/>
              <a:cs typeface="Calibri"/>
              <a:sym typeface="Calibri"/>
            </a:endParaRPr>
          </a:p>
        </p:txBody>
      </p:sp>
      <p:sp>
        <p:nvSpPr>
          <p:cNvPr id="274" name="Google Shape;274;p15"/>
          <p:cNvSpPr/>
          <p:nvPr/>
        </p:nvSpPr>
        <p:spPr>
          <a:xfrm>
            <a:off x="6305789" y="3381375"/>
            <a:ext cx="5194170" cy="735509"/>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Without a tracker, paper notes remain scattered and incomparable. The tracker imposes a consistent structure so that evidence from ten different papers can be placed side by side.</a:t>
            </a:r>
            <a:endParaRPr b="0" i="0" sz="1300" u="none" cap="none" strike="noStrike">
              <a:solidFill>
                <a:schemeClr val="dk1"/>
              </a:solidFill>
              <a:latin typeface="Calibri"/>
              <a:ea typeface="Calibri"/>
              <a:cs typeface="Calibri"/>
              <a:sym typeface="Calibri"/>
            </a:endParaRPr>
          </a:p>
        </p:txBody>
      </p:sp>
      <p:sp>
        <p:nvSpPr>
          <p:cNvPr id="275" name="Google Shape;275;p15"/>
          <p:cNvSpPr/>
          <p:nvPr/>
        </p:nvSpPr>
        <p:spPr>
          <a:xfrm>
            <a:off x="6305789" y="4273947"/>
            <a:ext cx="5194170" cy="579735"/>
          </a:xfrm>
          <a:prstGeom prst="roundRect">
            <a:avLst>
              <a:gd fmla="val 4319" name="adj"/>
            </a:avLst>
          </a:prstGeom>
          <a:solidFill>
            <a:srgbClr val="0878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6" name="Google Shape;276;p15"/>
          <p:cNvPicPr preferRelativeResize="0"/>
          <p:nvPr/>
        </p:nvPicPr>
        <p:blipFill rotWithShape="1">
          <a:blip r:embed="rId4">
            <a:alphaModFix/>
          </a:blip>
          <a:srcRect b="0" l="0" r="0" t="0"/>
          <a:stretch/>
        </p:blipFill>
        <p:spPr>
          <a:xfrm>
            <a:off x="6472671" y="4514255"/>
            <a:ext cx="208553" cy="166886"/>
          </a:xfrm>
          <a:prstGeom prst="rect">
            <a:avLst/>
          </a:prstGeom>
          <a:noFill/>
          <a:ln>
            <a:noFill/>
          </a:ln>
        </p:spPr>
      </p:pic>
      <p:sp>
        <p:nvSpPr>
          <p:cNvPr id="277" name="Google Shape;277;p15"/>
          <p:cNvSpPr/>
          <p:nvPr/>
        </p:nvSpPr>
        <p:spPr>
          <a:xfrm>
            <a:off x="6861855" y="4372530"/>
            <a:ext cx="5094600" cy="24510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FFFFFF"/>
              </a:buClr>
              <a:buSzPts val="1300"/>
              <a:buFont typeface="Cabin"/>
              <a:buNone/>
            </a:pPr>
            <a:r>
              <a:rPr b="0" i="0" lang="en-US" sz="1300" u="none" cap="none" strike="noStrike">
                <a:solidFill>
                  <a:srgbClr val="FFFFFF"/>
                </a:solidFill>
                <a:latin typeface="Cabin"/>
                <a:ea typeface="Cabin"/>
                <a:cs typeface="Cabin"/>
                <a:sym typeface="Cabin"/>
              </a:rPr>
              <a:t>The tracker converts separate papers into comparable evidence.</a:t>
            </a:r>
            <a:br>
              <a:rPr b="0" i="0" lang="en-US" sz="1300" u="none" cap="none" strike="noStrike">
                <a:solidFill>
                  <a:srgbClr val="FFFFFF"/>
                </a:solidFill>
                <a:latin typeface="Cabin"/>
                <a:ea typeface="Cabin"/>
                <a:cs typeface="Cabin"/>
                <a:sym typeface="Cabin"/>
              </a:rPr>
            </a:br>
            <a:r>
              <a:rPr b="0" i="0" lang="en-US" sz="1300" u="sng" cap="none" strike="noStrike">
                <a:solidFill>
                  <a:schemeClr val="lt1"/>
                </a:solidFill>
                <a:latin typeface="Cabin"/>
                <a:ea typeface="Cabin"/>
                <a:cs typeface="Cabin"/>
                <a:sym typeface="Cabin"/>
                <a:hlinkClick r:id="rId5">
                  <a:extLst>
                    <a:ext uri="{A12FA001-AC4F-418D-AE19-62706E023703}">
                      <ahyp:hlinkClr val="tx"/>
                    </a:ext>
                  </a:extLst>
                </a:hlinkClick>
              </a:rPr>
              <a:t>Tracker Link</a:t>
            </a:r>
            <a:endParaRPr b="0" i="0" sz="1300" u="none" cap="none" strike="noStrike">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6"/>
          <p:cNvSpPr/>
          <p:nvPr/>
        </p:nvSpPr>
        <p:spPr>
          <a:xfrm>
            <a:off x="698086" y="749598"/>
            <a:ext cx="1201311" cy="212130"/>
          </a:xfrm>
          <a:prstGeom prst="roundRect">
            <a:avLst>
              <a:gd fmla="val 7899" name="adj"/>
            </a:avLst>
          </a:prstGeom>
          <a:solidFill>
            <a:srgbClr val="054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6"/>
          <p:cNvSpPr/>
          <p:nvPr/>
        </p:nvSpPr>
        <p:spPr>
          <a:xfrm>
            <a:off x="781824" y="791468"/>
            <a:ext cx="1643418" cy="128389"/>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CAD6DE"/>
              </a:buClr>
              <a:buSzPts val="850"/>
              <a:buFont typeface="Cabin"/>
              <a:buNone/>
            </a:pPr>
            <a:r>
              <a:rPr b="0" i="0" lang="en-US" sz="850" u="none" cap="none" strike="noStrike">
                <a:solidFill>
                  <a:srgbClr val="CAD6DE"/>
                </a:solidFill>
                <a:latin typeface="Cabin"/>
                <a:ea typeface="Cabin"/>
                <a:cs typeface="Cabin"/>
                <a:sym typeface="Cabin"/>
              </a:rPr>
              <a:t>USING THE TRACKER</a:t>
            </a:r>
            <a:endParaRPr b="0" i="0" sz="850" u="none" cap="none" strike="noStrike">
              <a:solidFill>
                <a:schemeClr val="dk1"/>
              </a:solidFill>
              <a:latin typeface="Calibri"/>
              <a:ea typeface="Calibri"/>
              <a:cs typeface="Calibri"/>
              <a:sym typeface="Calibri"/>
            </a:endParaRPr>
          </a:p>
        </p:txBody>
      </p:sp>
      <p:sp>
        <p:nvSpPr>
          <p:cNvPr id="285" name="Google Shape;285;p16"/>
          <p:cNvSpPr/>
          <p:nvPr/>
        </p:nvSpPr>
        <p:spPr>
          <a:xfrm>
            <a:off x="698086" y="1000820"/>
            <a:ext cx="10795524" cy="41056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550"/>
              <a:buFont typeface="Unbounded"/>
              <a:buNone/>
            </a:pPr>
            <a:r>
              <a:rPr b="0" i="0" lang="en-US" sz="2550" u="none" cap="none" strike="noStrike">
                <a:solidFill>
                  <a:srgbClr val="FFFFFF"/>
                </a:solidFill>
                <a:latin typeface="Unbounded"/>
                <a:ea typeface="Unbounded"/>
                <a:cs typeface="Unbounded"/>
                <a:sym typeface="Unbounded"/>
              </a:rPr>
              <a:t>Q1–Q9 as an Evidence Map</a:t>
            </a:r>
            <a:endParaRPr b="0" i="0" sz="2550" u="none" cap="none" strike="noStrike">
              <a:solidFill>
                <a:schemeClr val="dk1"/>
              </a:solidFill>
              <a:latin typeface="Calibri"/>
              <a:ea typeface="Calibri"/>
              <a:cs typeface="Calibri"/>
              <a:sym typeface="Calibri"/>
            </a:endParaRPr>
          </a:p>
        </p:txBody>
      </p:sp>
      <p:pic>
        <p:nvPicPr>
          <p:cNvPr descr="preencoded.png" id="286" name="Google Shape;286;p16"/>
          <p:cNvPicPr preferRelativeResize="0"/>
          <p:nvPr/>
        </p:nvPicPr>
        <p:blipFill rotWithShape="1">
          <a:blip r:embed="rId3">
            <a:alphaModFix/>
          </a:blip>
          <a:srcRect b="0" l="0" r="0" t="0"/>
          <a:stretch/>
        </p:blipFill>
        <p:spPr>
          <a:xfrm>
            <a:off x="698086" y="1557933"/>
            <a:ext cx="7556807" cy="4250730"/>
          </a:xfrm>
          <a:prstGeom prst="rect">
            <a:avLst/>
          </a:prstGeom>
          <a:noFill/>
          <a:ln>
            <a:noFill/>
          </a:ln>
        </p:spPr>
      </p:pic>
      <p:sp>
        <p:nvSpPr>
          <p:cNvPr id="287" name="Google Shape;287;p16"/>
          <p:cNvSpPr/>
          <p:nvPr/>
        </p:nvSpPr>
        <p:spPr>
          <a:xfrm>
            <a:off x="698086" y="5918597"/>
            <a:ext cx="11405108" cy="189805"/>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CAD6DE"/>
              </a:buClr>
              <a:buSzPts val="1050"/>
              <a:buFont typeface="Cabin"/>
              <a:buNone/>
            </a:pPr>
            <a:r>
              <a:rPr b="1" i="0" lang="en-US" sz="1050" u="none" cap="none" strike="noStrike">
                <a:solidFill>
                  <a:srgbClr val="CAD6DE"/>
                </a:solidFill>
                <a:latin typeface="Cabin"/>
                <a:ea typeface="Cabin"/>
                <a:cs typeface="Cabin"/>
                <a:sym typeface="Cabin"/>
              </a:rPr>
              <a:t>Q1–Q7</a:t>
            </a:r>
            <a:r>
              <a:rPr b="0" i="0" lang="en-US" sz="1050" u="none" cap="none" strike="noStrike">
                <a:solidFill>
                  <a:srgbClr val="CAD6DE"/>
                </a:solidFill>
                <a:latin typeface="Cabin"/>
                <a:ea typeface="Cabin"/>
                <a:cs typeface="Cabin"/>
                <a:sym typeface="Cabin"/>
              </a:rPr>
              <a:t> explain what was done. </a:t>
            </a:r>
            <a:r>
              <a:rPr b="1" i="0" lang="en-US" sz="1050" u="none" cap="none" strike="noStrike">
                <a:solidFill>
                  <a:srgbClr val="CAD6DE"/>
                </a:solidFill>
                <a:latin typeface="Cabin"/>
                <a:ea typeface="Cabin"/>
                <a:cs typeface="Cabin"/>
                <a:sym typeface="Cabin"/>
              </a:rPr>
              <a:t>Q8 and Q9</a:t>
            </a:r>
            <a:r>
              <a:rPr b="0" i="0" lang="en-US" sz="1050" u="none" cap="none" strike="noStrike">
                <a:solidFill>
                  <a:srgbClr val="CAD6DE"/>
                </a:solidFill>
                <a:latin typeface="Cabin"/>
                <a:ea typeface="Cabin"/>
                <a:cs typeface="Cabin"/>
                <a:sym typeface="Cabin"/>
              </a:rPr>
              <a:t> help decide what remains weak, missing, or difficult to reproduce — the foundation for identifying genuine research gaps.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7"/>
          <p:cNvSpPr/>
          <p:nvPr/>
        </p:nvSpPr>
        <p:spPr>
          <a:xfrm>
            <a:off x="698086" y="643235"/>
            <a:ext cx="1459670" cy="257572"/>
          </a:xfrm>
          <a:prstGeom prst="roundRect">
            <a:avLst>
              <a:gd fmla="val 7899" name="adj"/>
            </a:avLst>
          </a:prstGeom>
          <a:solidFill>
            <a:srgbClr val="054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7"/>
          <p:cNvSpPr/>
          <p:nvPr/>
        </p:nvSpPr>
        <p:spPr>
          <a:xfrm>
            <a:off x="799782" y="694035"/>
            <a:ext cx="1865861" cy="155972"/>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CAD6DE"/>
              </a:buClr>
              <a:buSzPts val="1050"/>
              <a:buFont typeface="Cabin"/>
              <a:buNone/>
            </a:pPr>
            <a:r>
              <a:rPr b="0" i="0" lang="en-US" sz="1050" u="none" cap="none" strike="noStrike">
                <a:solidFill>
                  <a:srgbClr val="CAD6DE"/>
                </a:solidFill>
                <a:latin typeface="Cabin"/>
                <a:ea typeface="Cabin"/>
                <a:cs typeface="Cabin"/>
                <a:sym typeface="Cabin"/>
              </a:rPr>
              <a:t>USING THE TRACKER</a:t>
            </a:r>
            <a:endParaRPr b="0" i="0" sz="1050" u="none" cap="none" strike="noStrike">
              <a:solidFill>
                <a:schemeClr val="dk1"/>
              </a:solidFill>
              <a:latin typeface="Calibri"/>
              <a:ea typeface="Calibri"/>
              <a:cs typeface="Calibri"/>
              <a:sym typeface="Calibri"/>
            </a:endParaRPr>
          </a:p>
        </p:txBody>
      </p:sp>
      <p:sp>
        <p:nvSpPr>
          <p:cNvPr id="295" name="Google Shape;295;p17"/>
          <p:cNvSpPr/>
          <p:nvPr/>
        </p:nvSpPr>
        <p:spPr>
          <a:xfrm>
            <a:off x="698086" y="958453"/>
            <a:ext cx="10795524" cy="49867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100"/>
              <a:buFont typeface="Unbounded"/>
              <a:buNone/>
            </a:pPr>
            <a:r>
              <a:rPr b="0" i="0" lang="en-US" sz="3100" u="none" cap="none" strike="noStrike">
                <a:solidFill>
                  <a:srgbClr val="FFFFFF"/>
                </a:solidFill>
                <a:latin typeface="Unbounded"/>
                <a:ea typeface="Unbounded"/>
                <a:cs typeface="Unbounded"/>
                <a:sym typeface="Unbounded"/>
              </a:rPr>
              <a:t>Live Tracker Walkthrough</a:t>
            </a:r>
            <a:endParaRPr b="0" i="0" sz="3100" u="none" cap="none" strike="noStrike">
              <a:solidFill>
                <a:schemeClr val="dk1"/>
              </a:solidFill>
              <a:latin typeface="Calibri"/>
              <a:ea typeface="Calibri"/>
              <a:cs typeface="Calibri"/>
              <a:sym typeface="Calibri"/>
            </a:endParaRPr>
          </a:p>
        </p:txBody>
      </p:sp>
      <p:sp>
        <p:nvSpPr>
          <p:cNvPr id="296" name="Google Shape;296;p17"/>
          <p:cNvSpPr/>
          <p:nvPr/>
        </p:nvSpPr>
        <p:spPr>
          <a:xfrm>
            <a:off x="698086" y="1673225"/>
            <a:ext cx="11405108" cy="250924"/>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Example: Interpretable lung-cancer detection from symptom data.</a:t>
            </a:r>
            <a:endParaRPr b="0" i="0" sz="1300" u="none" cap="none" strike="noStrike">
              <a:solidFill>
                <a:schemeClr val="dk1"/>
              </a:solidFill>
              <a:latin typeface="Calibri"/>
              <a:ea typeface="Calibri"/>
              <a:cs typeface="Calibri"/>
              <a:sym typeface="Calibri"/>
            </a:endParaRPr>
          </a:p>
        </p:txBody>
      </p:sp>
      <p:sp>
        <p:nvSpPr>
          <p:cNvPr id="297" name="Google Shape;297;p17"/>
          <p:cNvSpPr/>
          <p:nvPr/>
        </p:nvSpPr>
        <p:spPr>
          <a:xfrm>
            <a:off x="698086" y="2086273"/>
            <a:ext cx="10795524" cy="3356967"/>
          </a:xfrm>
          <a:prstGeom prst="roundRect">
            <a:avLst>
              <a:gd fmla="val 758" name="adj"/>
            </a:avLst>
          </a:prstGeom>
          <a:noFill/>
          <a:ln cap="flat" cmpd="sng" w="9525">
            <a:solidFill>
              <a:srgbClr val="FFFFFF">
                <a:alpha val="2392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7"/>
          <p:cNvSpPr/>
          <p:nvPr/>
        </p:nvSpPr>
        <p:spPr>
          <a:xfrm>
            <a:off x="698086" y="2532261"/>
            <a:ext cx="10795524" cy="10598"/>
          </a:xfrm>
          <a:prstGeom prst="rect">
            <a:avLst/>
          </a:prstGeom>
          <a:solidFill>
            <a:srgbClr val="FFFFFF">
              <a:alpha val="2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7"/>
          <p:cNvSpPr/>
          <p:nvPr/>
        </p:nvSpPr>
        <p:spPr>
          <a:xfrm>
            <a:off x="698086" y="2975074"/>
            <a:ext cx="10795524" cy="10598"/>
          </a:xfrm>
          <a:prstGeom prst="rect">
            <a:avLst/>
          </a:prstGeom>
          <a:solidFill>
            <a:srgbClr val="FFFFFF">
              <a:alpha val="2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7"/>
          <p:cNvSpPr/>
          <p:nvPr/>
        </p:nvSpPr>
        <p:spPr>
          <a:xfrm>
            <a:off x="698086" y="3417888"/>
            <a:ext cx="10795524" cy="10598"/>
          </a:xfrm>
          <a:prstGeom prst="rect">
            <a:avLst/>
          </a:prstGeom>
          <a:solidFill>
            <a:srgbClr val="FFFFFF">
              <a:alpha val="2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7"/>
          <p:cNvSpPr/>
          <p:nvPr/>
        </p:nvSpPr>
        <p:spPr>
          <a:xfrm>
            <a:off x="698086" y="3860701"/>
            <a:ext cx="10795524" cy="10598"/>
          </a:xfrm>
          <a:prstGeom prst="rect">
            <a:avLst/>
          </a:prstGeom>
          <a:solidFill>
            <a:srgbClr val="FFFFFF">
              <a:alpha val="2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7"/>
          <p:cNvSpPr/>
          <p:nvPr/>
        </p:nvSpPr>
        <p:spPr>
          <a:xfrm>
            <a:off x="698086" y="4303514"/>
            <a:ext cx="10795524" cy="10598"/>
          </a:xfrm>
          <a:prstGeom prst="rect">
            <a:avLst/>
          </a:prstGeom>
          <a:solidFill>
            <a:srgbClr val="FFFFFF">
              <a:alpha val="2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7"/>
          <p:cNvSpPr/>
          <p:nvPr/>
        </p:nvSpPr>
        <p:spPr>
          <a:xfrm>
            <a:off x="698086" y="4997252"/>
            <a:ext cx="10795524" cy="10598"/>
          </a:xfrm>
          <a:prstGeom prst="rect">
            <a:avLst/>
          </a:prstGeom>
          <a:solidFill>
            <a:srgbClr val="FFFFFF">
              <a:alpha val="2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7"/>
          <p:cNvSpPr/>
          <p:nvPr/>
        </p:nvSpPr>
        <p:spPr>
          <a:xfrm>
            <a:off x="873897" y="2185392"/>
            <a:ext cx="5662074" cy="250924"/>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1" i="0" lang="en-US" sz="1300" u="none" cap="none" strike="noStrike">
                <a:solidFill>
                  <a:srgbClr val="CAD6DE"/>
                </a:solidFill>
                <a:latin typeface="Cabin"/>
                <a:ea typeface="Cabin"/>
                <a:cs typeface="Cabin"/>
                <a:sym typeface="Cabin"/>
              </a:rPr>
              <a:t>Tracker Field</a:t>
            </a:r>
            <a:endParaRPr b="0" i="0" sz="1300" u="none" cap="none" strike="noStrike">
              <a:solidFill>
                <a:schemeClr val="dk1"/>
              </a:solidFill>
              <a:latin typeface="Calibri"/>
              <a:ea typeface="Calibri"/>
              <a:cs typeface="Calibri"/>
              <a:sym typeface="Calibri"/>
            </a:endParaRPr>
          </a:p>
        </p:txBody>
      </p:sp>
      <p:sp>
        <p:nvSpPr>
          <p:cNvPr id="305" name="Google Shape;305;p17"/>
          <p:cNvSpPr/>
          <p:nvPr/>
        </p:nvSpPr>
        <p:spPr>
          <a:xfrm>
            <a:off x="6265309" y="2185392"/>
            <a:ext cx="5662074" cy="250924"/>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1" i="0" lang="en-US" sz="1300" u="none" cap="none" strike="noStrike">
                <a:solidFill>
                  <a:srgbClr val="CAD6DE"/>
                </a:solidFill>
                <a:latin typeface="Cabin"/>
                <a:ea typeface="Cabin"/>
                <a:cs typeface="Cabin"/>
                <a:sym typeface="Cabin"/>
              </a:rPr>
              <a:t>What Was Extracted</a:t>
            </a:r>
            <a:endParaRPr b="0" i="0" sz="1300" u="none" cap="none" strike="noStrike">
              <a:solidFill>
                <a:schemeClr val="dk1"/>
              </a:solidFill>
              <a:latin typeface="Calibri"/>
              <a:ea typeface="Calibri"/>
              <a:cs typeface="Calibri"/>
              <a:sym typeface="Calibri"/>
            </a:endParaRPr>
          </a:p>
        </p:txBody>
      </p:sp>
      <p:sp>
        <p:nvSpPr>
          <p:cNvPr id="306" name="Google Shape;306;p17"/>
          <p:cNvSpPr/>
          <p:nvPr/>
        </p:nvSpPr>
        <p:spPr>
          <a:xfrm>
            <a:off x="873897" y="2628205"/>
            <a:ext cx="5662074" cy="250924"/>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Problem</a:t>
            </a:r>
            <a:endParaRPr b="0" i="0" sz="1300" u="none" cap="none" strike="noStrike">
              <a:solidFill>
                <a:schemeClr val="dk1"/>
              </a:solidFill>
              <a:latin typeface="Calibri"/>
              <a:ea typeface="Calibri"/>
              <a:cs typeface="Calibri"/>
              <a:sym typeface="Calibri"/>
            </a:endParaRPr>
          </a:p>
        </p:txBody>
      </p:sp>
      <p:sp>
        <p:nvSpPr>
          <p:cNvPr id="307" name="Google Shape;307;p17"/>
          <p:cNvSpPr/>
          <p:nvPr/>
        </p:nvSpPr>
        <p:spPr>
          <a:xfrm>
            <a:off x="6265309" y="2628205"/>
            <a:ext cx="5662074" cy="250924"/>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Interpretable lung-cancer detection from symptom data</a:t>
            </a:r>
            <a:endParaRPr b="0" i="0" sz="1300" u="none" cap="none" strike="noStrike">
              <a:solidFill>
                <a:schemeClr val="dk1"/>
              </a:solidFill>
              <a:latin typeface="Calibri"/>
              <a:ea typeface="Calibri"/>
              <a:cs typeface="Calibri"/>
              <a:sym typeface="Calibri"/>
            </a:endParaRPr>
          </a:p>
        </p:txBody>
      </p:sp>
      <p:sp>
        <p:nvSpPr>
          <p:cNvPr id="308" name="Google Shape;308;p17"/>
          <p:cNvSpPr/>
          <p:nvPr/>
        </p:nvSpPr>
        <p:spPr>
          <a:xfrm>
            <a:off x="873897" y="3071019"/>
            <a:ext cx="5662074" cy="250924"/>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Dataset</a:t>
            </a:r>
            <a:endParaRPr b="0" i="0" sz="1300" u="none" cap="none" strike="noStrike">
              <a:solidFill>
                <a:schemeClr val="dk1"/>
              </a:solidFill>
              <a:latin typeface="Calibri"/>
              <a:ea typeface="Calibri"/>
              <a:cs typeface="Calibri"/>
              <a:sym typeface="Calibri"/>
            </a:endParaRPr>
          </a:p>
        </p:txBody>
      </p:sp>
      <p:sp>
        <p:nvSpPr>
          <p:cNvPr id="309" name="Google Shape;309;p17"/>
          <p:cNvSpPr/>
          <p:nvPr/>
        </p:nvSpPr>
        <p:spPr>
          <a:xfrm>
            <a:off x="6265309" y="3071019"/>
            <a:ext cx="5662074" cy="250924"/>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Kaggle symptom dataset — small, imbalanced, deduplicated</a:t>
            </a:r>
            <a:endParaRPr b="0" i="0" sz="1300" u="none" cap="none" strike="noStrike">
              <a:solidFill>
                <a:schemeClr val="dk1"/>
              </a:solidFill>
              <a:latin typeface="Calibri"/>
              <a:ea typeface="Calibri"/>
              <a:cs typeface="Calibri"/>
              <a:sym typeface="Calibri"/>
            </a:endParaRPr>
          </a:p>
        </p:txBody>
      </p:sp>
      <p:sp>
        <p:nvSpPr>
          <p:cNvPr id="310" name="Google Shape;310;p17"/>
          <p:cNvSpPr/>
          <p:nvPr/>
        </p:nvSpPr>
        <p:spPr>
          <a:xfrm>
            <a:off x="873897" y="3513832"/>
            <a:ext cx="5662074" cy="250924"/>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Method</a:t>
            </a:r>
            <a:endParaRPr b="0" i="0" sz="1300" u="none" cap="none" strike="noStrike">
              <a:solidFill>
                <a:schemeClr val="dk1"/>
              </a:solidFill>
              <a:latin typeface="Calibri"/>
              <a:ea typeface="Calibri"/>
              <a:cs typeface="Calibri"/>
              <a:sym typeface="Calibri"/>
            </a:endParaRPr>
          </a:p>
        </p:txBody>
      </p:sp>
      <p:sp>
        <p:nvSpPr>
          <p:cNvPr id="311" name="Google Shape;311;p17"/>
          <p:cNvSpPr/>
          <p:nvPr/>
        </p:nvSpPr>
        <p:spPr>
          <a:xfrm>
            <a:off x="6265309" y="3513832"/>
            <a:ext cx="5662074" cy="250924"/>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Deduplication, encoding, SMOTE, DT, LR, RF, NB, SHAP, LIME</a:t>
            </a:r>
            <a:endParaRPr b="0" i="0" sz="1300" u="none" cap="none" strike="noStrike">
              <a:solidFill>
                <a:schemeClr val="dk1"/>
              </a:solidFill>
              <a:latin typeface="Calibri"/>
              <a:ea typeface="Calibri"/>
              <a:cs typeface="Calibri"/>
              <a:sym typeface="Calibri"/>
            </a:endParaRPr>
          </a:p>
        </p:txBody>
      </p:sp>
      <p:sp>
        <p:nvSpPr>
          <p:cNvPr id="312" name="Google Shape;312;p17"/>
          <p:cNvSpPr/>
          <p:nvPr/>
        </p:nvSpPr>
        <p:spPr>
          <a:xfrm>
            <a:off x="873897" y="3956645"/>
            <a:ext cx="5662074" cy="250924"/>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Evaluation</a:t>
            </a:r>
            <a:endParaRPr b="0" i="0" sz="1300" u="none" cap="none" strike="noStrike">
              <a:solidFill>
                <a:schemeClr val="dk1"/>
              </a:solidFill>
              <a:latin typeface="Calibri"/>
              <a:ea typeface="Calibri"/>
              <a:cs typeface="Calibri"/>
              <a:sym typeface="Calibri"/>
            </a:endParaRPr>
          </a:p>
        </p:txBody>
      </p:sp>
      <p:sp>
        <p:nvSpPr>
          <p:cNvPr id="313" name="Google Shape;313;p17"/>
          <p:cNvSpPr/>
          <p:nvPr/>
        </p:nvSpPr>
        <p:spPr>
          <a:xfrm>
            <a:off x="6265309" y="3956645"/>
            <a:ext cx="5662074" cy="250924"/>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Accuracy, precision, recall, F1 — no external validation reported</a:t>
            </a:r>
            <a:endParaRPr b="0" i="0" sz="1300" u="none" cap="none" strike="noStrike">
              <a:solidFill>
                <a:schemeClr val="dk1"/>
              </a:solidFill>
              <a:latin typeface="Calibri"/>
              <a:ea typeface="Calibri"/>
              <a:cs typeface="Calibri"/>
              <a:sym typeface="Calibri"/>
            </a:endParaRPr>
          </a:p>
        </p:txBody>
      </p:sp>
      <p:sp>
        <p:nvSpPr>
          <p:cNvPr id="314" name="Google Shape;314;p17"/>
          <p:cNvSpPr/>
          <p:nvPr/>
        </p:nvSpPr>
        <p:spPr>
          <a:xfrm>
            <a:off x="873897" y="4399459"/>
            <a:ext cx="5662074" cy="250924"/>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Limitation</a:t>
            </a:r>
            <a:endParaRPr b="0" i="0" sz="1300" u="none" cap="none" strike="noStrike">
              <a:solidFill>
                <a:schemeClr val="dk1"/>
              </a:solidFill>
              <a:latin typeface="Calibri"/>
              <a:ea typeface="Calibri"/>
              <a:cs typeface="Calibri"/>
              <a:sym typeface="Calibri"/>
            </a:endParaRPr>
          </a:p>
        </p:txBody>
      </p:sp>
      <p:sp>
        <p:nvSpPr>
          <p:cNvPr id="315" name="Google Shape;315;p17"/>
          <p:cNvSpPr/>
          <p:nvPr/>
        </p:nvSpPr>
        <p:spPr>
          <a:xfrm>
            <a:off x="6265309" y="4399459"/>
            <a:ext cx="5052489" cy="501848"/>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Small sample, self-reported symptoms, class imbalance, code not released</a:t>
            </a:r>
            <a:endParaRPr b="0" i="0" sz="1300" u="none" cap="none" strike="noStrike">
              <a:solidFill>
                <a:schemeClr val="dk1"/>
              </a:solidFill>
              <a:latin typeface="Calibri"/>
              <a:ea typeface="Calibri"/>
              <a:cs typeface="Calibri"/>
              <a:sym typeface="Calibri"/>
            </a:endParaRPr>
          </a:p>
        </p:txBody>
      </p:sp>
      <p:sp>
        <p:nvSpPr>
          <p:cNvPr id="316" name="Google Shape;316;p17"/>
          <p:cNvSpPr/>
          <p:nvPr/>
        </p:nvSpPr>
        <p:spPr>
          <a:xfrm>
            <a:off x="873897" y="5093196"/>
            <a:ext cx="5662074" cy="250924"/>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Possible Gap</a:t>
            </a:r>
            <a:endParaRPr b="0" i="0" sz="1300" u="none" cap="none" strike="noStrike">
              <a:solidFill>
                <a:schemeClr val="dk1"/>
              </a:solidFill>
              <a:latin typeface="Calibri"/>
              <a:ea typeface="Calibri"/>
              <a:cs typeface="Calibri"/>
              <a:sym typeface="Calibri"/>
            </a:endParaRPr>
          </a:p>
        </p:txBody>
      </p:sp>
      <p:sp>
        <p:nvSpPr>
          <p:cNvPr id="317" name="Google Shape;317;p17"/>
          <p:cNvSpPr/>
          <p:nvPr/>
        </p:nvSpPr>
        <p:spPr>
          <a:xfrm>
            <a:off x="6265309" y="5093196"/>
            <a:ext cx="5662074" cy="250924"/>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CAD6DE"/>
              </a:buClr>
              <a:buSzPts val="1300"/>
              <a:buFont typeface="Cabin"/>
              <a:buNone/>
            </a:pPr>
            <a:r>
              <a:rPr b="0" i="0" lang="en-US" sz="1300" u="none" cap="none" strike="noStrike">
                <a:solidFill>
                  <a:srgbClr val="CAD6DE"/>
                </a:solidFill>
                <a:latin typeface="Cabin"/>
                <a:ea typeface="Cabin"/>
                <a:cs typeface="Cabin"/>
                <a:sym typeface="Cabin"/>
              </a:rPr>
              <a:t>Need stronger validation and richer clinical evidence</a:t>
            </a:r>
            <a:endParaRPr b="0" i="0" sz="1300" u="none" cap="none" strike="noStrike">
              <a:solidFill>
                <a:schemeClr val="dk1"/>
              </a:solidFill>
              <a:latin typeface="Calibri"/>
              <a:ea typeface="Calibri"/>
              <a:cs typeface="Calibri"/>
              <a:sym typeface="Calibri"/>
            </a:endParaRPr>
          </a:p>
        </p:txBody>
      </p:sp>
      <p:sp>
        <p:nvSpPr>
          <p:cNvPr id="318" name="Google Shape;318;p17"/>
          <p:cNvSpPr/>
          <p:nvPr/>
        </p:nvSpPr>
        <p:spPr>
          <a:xfrm>
            <a:off x="698086" y="5605363"/>
            <a:ext cx="10795524" cy="609402"/>
          </a:xfrm>
          <a:prstGeom prst="roundRect">
            <a:avLst>
              <a:gd fmla="val 4174" name="adj"/>
            </a:avLst>
          </a:prstGeom>
          <a:solidFill>
            <a:srgbClr val="0878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9" name="Google Shape;319;p17"/>
          <p:cNvPicPr preferRelativeResize="0"/>
          <p:nvPr/>
        </p:nvPicPr>
        <p:blipFill rotWithShape="1">
          <a:blip r:embed="rId3">
            <a:alphaModFix/>
          </a:blip>
          <a:srcRect b="0" l="0" r="0" t="0"/>
          <a:stretch/>
        </p:blipFill>
        <p:spPr>
          <a:xfrm>
            <a:off x="867547" y="5840313"/>
            <a:ext cx="211926" cy="169466"/>
          </a:xfrm>
          <a:prstGeom prst="rect">
            <a:avLst/>
          </a:prstGeom>
          <a:noFill/>
          <a:ln>
            <a:noFill/>
          </a:ln>
        </p:spPr>
      </p:pic>
      <p:sp>
        <p:nvSpPr>
          <p:cNvPr id="320" name="Google Shape;320;p17"/>
          <p:cNvSpPr/>
          <p:nvPr/>
        </p:nvSpPr>
        <p:spPr>
          <a:xfrm>
            <a:off x="1248934" y="5791795"/>
            <a:ext cx="10684798" cy="250924"/>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FFFFFF"/>
              </a:buClr>
              <a:buSzPts val="1300"/>
              <a:buFont typeface="Cabin"/>
              <a:buNone/>
            </a:pPr>
            <a:r>
              <a:rPr b="0" i="0" lang="en-US" sz="1300" u="none" cap="none" strike="noStrike">
                <a:solidFill>
                  <a:srgbClr val="FFFFFF"/>
                </a:solidFill>
                <a:latin typeface="Cabin"/>
                <a:ea typeface="Cabin"/>
                <a:cs typeface="Cabin"/>
                <a:sym typeface="Cabin"/>
              </a:rPr>
              <a:t>Record enough detail to compare this paper with other studies later.</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18"/>
          <p:cNvSpPr/>
          <p:nvPr/>
        </p:nvSpPr>
        <p:spPr>
          <a:xfrm>
            <a:off x="698086" y="595511"/>
            <a:ext cx="1272945" cy="279499"/>
          </a:xfrm>
          <a:prstGeom prst="roundRect">
            <a:avLst>
              <a:gd fmla="val 7895" name="adj"/>
            </a:avLst>
          </a:prstGeom>
          <a:solidFill>
            <a:srgbClr val="054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8"/>
          <p:cNvSpPr/>
          <p:nvPr/>
        </p:nvSpPr>
        <p:spPr>
          <a:xfrm>
            <a:off x="808414" y="650677"/>
            <a:ext cx="1661872" cy="169168"/>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CAD6DE"/>
              </a:buClr>
              <a:buSzPts val="1150"/>
              <a:buFont typeface="Cabin"/>
              <a:buNone/>
            </a:pPr>
            <a:r>
              <a:rPr b="0" i="0" lang="en-US" sz="1150" u="none" cap="none" strike="noStrike">
                <a:solidFill>
                  <a:srgbClr val="CAD6DE"/>
                </a:solidFill>
                <a:latin typeface="Cabin"/>
                <a:ea typeface="Cabin"/>
                <a:cs typeface="Cabin"/>
                <a:sym typeface="Cabin"/>
              </a:rPr>
              <a:t>GAP SYNTHESIS</a:t>
            </a:r>
            <a:endParaRPr b="0" i="0" sz="1150" u="none" cap="none" strike="noStrike">
              <a:solidFill>
                <a:schemeClr val="dk1"/>
              </a:solidFill>
              <a:latin typeface="Calibri"/>
              <a:ea typeface="Calibri"/>
              <a:cs typeface="Calibri"/>
              <a:sym typeface="Calibri"/>
            </a:endParaRPr>
          </a:p>
        </p:txBody>
      </p:sp>
      <p:sp>
        <p:nvSpPr>
          <p:cNvPr id="328" name="Google Shape;328;p18"/>
          <p:cNvSpPr/>
          <p:nvPr/>
        </p:nvSpPr>
        <p:spPr>
          <a:xfrm>
            <a:off x="698086" y="942777"/>
            <a:ext cx="10795524" cy="10816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400"/>
              <a:buFont typeface="Unbounded"/>
              <a:buNone/>
            </a:pPr>
            <a:r>
              <a:rPr b="0" i="0" lang="en-US" sz="3400" u="none" cap="none" strike="noStrike">
                <a:solidFill>
                  <a:srgbClr val="FFFFFF"/>
                </a:solidFill>
                <a:latin typeface="Unbounded"/>
                <a:ea typeface="Unbounded"/>
                <a:cs typeface="Unbounded"/>
                <a:sym typeface="Unbounded"/>
              </a:rPr>
              <a:t>Limitation, Gap, and Direction Are Different</a:t>
            </a:r>
            <a:endParaRPr b="0" i="0" sz="3400" u="none" cap="none" strike="noStrike">
              <a:solidFill>
                <a:schemeClr val="dk1"/>
              </a:solidFill>
              <a:latin typeface="Calibri"/>
              <a:ea typeface="Calibri"/>
              <a:cs typeface="Calibri"/>
              <a:sym typeface="Calibri"/>
            </a:endParaRPr>
          </a:p>
        </p:txBody>
      </p:sp>
      <p:sp>
        <p:nvSpPr>
          <p:cNvPr id="329" name="Google Shape;329;p18"/>
          <p:cNvSpPr/>
          <p:nvPr/>
        </p:nvSpPr>
        <p:spPr>
          <a:xfrm>
            <a:off x="698086" y="2278757"/>
            <a:ext cx="10795524" cy="3096617"/>
          </a:xfrm>
          <a:prstGeom prst="roundRect">
            <a:avLst>
              <a:gd fmla="val 891" name="adj"/>
            </a:avLst>
          </a:prstGeom>
          <a:noFill/>
          <a:ln cap="flat" cmpd="sng" w="9525">
            <a:solidFill>
              <a:srgbClr val="FFFFFF">
                <a:alpha val="2392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8"/>
          <p:cNvSpPr/>
          <p:nvPr/>
        </p:nvSpPr>
        <p:spPr>
          <a:xfrm>
            <a:off x="698086" y="2786955"/>
            <a:ext cx="10795524" cy="11494"/>
          </a:xfrm>
          <a:prstGeom prst="rect">
            <a:avLst/>
          </a:prstGeom>
          <a:solidFill>
            <a:srgbClr val="FFFFFF">
              <a:alpha val="2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8"/>
          <p:cNvSpPr/>
          <p:nvPr/>
        </p:nvSpPr>
        <p:spPr>
          <a:xfrm>
            <a:off x="698086" y="3574554"/>
            <a:ext cx="10795524" cy="11494"/>
          </a:xfrm>
          <a:prstGeom prst="rect">
            <a:avLst/>
          </a:prstGeom>
          <a:solidFill>
            <a:srgbClr val="FFFFFF">
              <a:alpha val="2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8"/>
          <p:cNvSpPr/>
          <p:nvPr/>
        </p:nvSpPr>
        <p:spPr>
          <a:xfrm>
            <a:off x="698086" y="4362152"/>
            <a:ext cx="10795524" cy="11494"/>
          </a:xfrm>
          <a:prstGeom prst="rect">
            <a:avLst/>
          </a:prstGeom>
          <a:solidFill>
            <a:srgbClr val="FFFFFF">
              <a:alpha val="2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8"/>
          <p:cNvSpPr/>
          <p:nvPr/>
        </p:nvSpPr>
        <p:spPr>
          <a:xfrm>
            <a:off x="698086" y="4867176"/>
            <a:ext cx="10795524" cy="11494"/>
          </a:xfrm>
          <a:prstGeom prst="rect">
            <a:avLst/>
          </a:prstGeom>
          <a:solidFill>
            <a:srgbClr val="FFFFFF">
              <a:alpha val="2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8"/>
          <p:cNvSpPr/>
          <p:nvPr/>
        </p:nvSpPr>
        <p:spPr>
          <a:xfrm>
            <a:off x="4299140" y="2278757"/>
            <a:ext cx="11493" cy="3096617"/>
          </a:xfrm>
          <a:prstGeom prst="rect">
            <a:avLst/>
          </a:prstGeom>
          <a:solidFill>
            <a:srgbClr val="FFFFFF">
              <a:alpha val="2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8"/>
          <p:cNvSpPr/>
          <p:nvPr/>
        </p:nvSpPr>
        <p:spPr>
          <a:xfrm>
            <a:off x="7892654" y="2278757"/>
            <a:ext cx="11493" cy="3096617"/>
          </a:xfrm>
          <a:prstGeom prst="rect">
            <a:avLst/>
          </a:prstGeom>
          <a:solidFill>
            <a:srgbClr val="FFFFFF">
              <a:alpha val="2392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8"/>
          <p:cNvSpPr/>
          <p:nvPr/>
        </p:nvSpPr>
        <p:spPr>
          <a:xfrm>
            <a:off x="705626" y="2285107"/>
            <a:ext cx="3593514" cy="501848"/>
          </a:xfrm>
          <a:prstGeom prst="rect">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8"/>
          <p:cNvSpPr/>
          <p:nvPr/>
        </p:nvSpPr>
        <p:spPr>
          <a:xfrm>
            <a:off x="889474" y="2393156"/>
            <a:ext cx="3832228" cy="282575"/>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272525"/>
              </a:buClr>
              <a:buSzPts val="1400"/>
              <a:buFont typeface="Cabin"/>
              <a:buNone/>
            </a:pPr>
            <a:r>
              <a:rPr b="1" i="0" lang="en-US" sz="1400" u="none" cap="none" strike="noStrike">
                <a:solidFill>
                  <a:srgbClr val="272525"/>
                </a:solidFill>
                <a:latin typeface="Cabin"/>
                <a:ea typeface="Cabin"/>
                <a:cs typeface="Cabin"/>
                <a:sym typeface="Cabin"/>
              </a:rPr>
              <a:t>Paper Limitation</a:t>
            </a:r>
            <a:endParaRPr b="0" i="0" sz="1400" u="none" cap="none" strike="noStrike">
              <a:solidFill>
                <a:schemeClr val="dk1"/>
              </a:solidFill>
              <a:latin typeface="Calibri"/>
              <a:ea typeface="Calibri"/>
              <a:cs typeface="Calibri"/>
              <a:sym typeface="Calibri"/>
            </a:endParaRPr>
          </a:p>
        </p:txBody>
      </p:sp>
      <p:sp>
        <p:nvSpPr>
          <p:cNvPr id="338" name="Google Shape;338;p18"/>
          <p:cNvSpPr/>
          <p:nvPr/>
        </p:nvSpPr>
        <p:spPr>
          <a:xfrm>
            <a:off x="4299140" y="2285107"/>
            <a:ext cx="3593514" cy="501848"/>
          </a:xfrm>
          <a:prstGeom prst="rect">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8"/>
          <p:cNvSpPr/>
          <p:nvPr/>
        </p:nvSpPr>
        <p:spPr>
          <a:xfrm>
            <a:off x="4486163" y="2393156"/>
            <a:ext cx="3829053" cy="282575"/>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272525"/>
              </a:buClr>
              <a:buSzPts val="1400"/>
              <a:buFont typeface="Cabin"/>
              <a:buNone/>
            </a:pPr>
            <a:r>
              <a:rPr b="1" i="0" lang="en-US" sz="1400" u="none" cap="none" strike="noStrike">
                <a:solidFill>
                  <a:srgbClr val="272525"/>
                </a:solidFill>
                <a:latin typeface="Cabin"/>
                <a:ea typeface="Cabin"/>
                <a:cs typeface="Cabin"/>
                <a:sym typeface="Cabin"/>
              </a:rPr>
              <a:t>Research Gap</a:t>
            </a:r>
            <a:endParaRPr b="0" i="0" sz="1400" u="none" cap="none" strike="noStrike">
              <a:solidFill>
                <a:schemeClr val="dk1"/>
              </a:solidFill>
              <a:latin typeface="Calibri"/>
              <a:ea typeface="Calibri"/>
              <a:cs typeface="Calibri"/>
              <a:sym typeface="Calibri"/>
            </a:endParaRPr>
          </a:p>
        </p:txBody>
      </p:sp>
      <p:sp>
        <p:nvSpPr>
          <p:cNvPr id="340" name="Google Shape;340;p18"/>
          <p:cNvSpPr/>
          <p:nvPr/>
        </p:nvSpPr>
        <p:spPr>
          <a:xfrm>
            <a:off x="7892654" y="2285107"/>
            <a:ext cx="3593514" cy="501848"/>
          </a:xfrm>
          <a:prstGeom prst="rect">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8"/>
          <p:cNvSpPr/>
          <p:nvPr/>
        </p:nvSpPr>
        <p:spPr>
          <a:xfrm>
            <a:off x="8079677" y="2393156"/>
            <a:ext cx="3832228" cy="282575"/>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272525"/>
              </a:buClr>
              <a:buSzPts val="1400"/>
              <a:buFont typeface="Cabin"/>
              <a:buNone/>
            </a:pPr>
            <a:r>
              <a:rPr b="1" i="0" lang="en-US" sz="1400" u="none" cap="none" strike="noStrike">
                <a:solidFill>
                  <a:srgbClr val="272525"/>
                </a:solidFill>
                <a:latin typeface="Cabin"/>
                <a:ea typeface="Cabin"/>
                <a:cs typeface="Cabin"/>
                <a:sym typeface="Cabin"/>
              </a:rPr>
              <a:t>Possible Direction</a:t>
            </a:r>
            <a:endParaRPr b="0" i="0" sz="1400" u="none" cap="none" strike="noStrike">
              <a:solidFill>
                <a:schemeClr val="dk1"/>
              </a:solidFill>
              <a:latin typeface="Calibri"/>
              <a:ea typeface="Calibri"/>
              <a:cs typeface="Calibri"/>
              <a:sym typeface="Calibri"/>
            </a:endParaRPr>
          </a:p>
        </p:txBody>
      </p:sp>
      <p:sp>
        <p:nvSpPr>
          <p:cNvPr id="342" name="Google Shape;342;p18"/>
          <p:cNvSpPr/>
          <p:nvPr/>
        </p:nvSpPr>
        <p:spPr>
          <a:xfrm>
            <a:off x="889474" y="2898180"/>
            <a:ext cx="3832228" cy="282575"/>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Tested only on clean images</a:t>
            </a:r>
            <a:endParaRPr b="0" i="0" sz="1400" u="none" cap="none" strike="noStrike">
              <a:solidFill>
                <a:schemeClr val="dk1"/>
              </a:solidFill>
              <a:latin typeface="Calibri"/>
              <a:ea typeface="Calibri"/>
              <a:cs typeface="Calibri"/>
              <a:sym typeface="Calibri"/>
            </a:endParaRPr>
          </a:p>
        </p:txBody>
      </p:sp>
      <p:sp>
        <p:nvSpPr>
          <p:cNvPr id="343" name="Google Shape;343;p18"/>
          <p:cNvSpPr/>
          <p:nvPr/>
        </p:nvSpPr>
        <p:spPr>
          <a:xfrm>
            <a:off x="4486163" y="2898180"/>
            <a:ext cx="3219469" cy="56515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Field-condition robustness remains unclear</a:t>
            </a:r>
            <a:endParaRPr b="0" i="0" sz="1400" u="none" cap="none" strike="noStrike">
              <a:solidFill>
                <a:schemeClr val="dk1"/>
              </a:solidFill>
              <a:latin typeface="Calibri"/>
              <a:ea typeface="Calibri"/>
              <a:cs typeface="Calibri"/>
              <a:sym typeface="Calibri"/>
            </a:endParaRPr>
          </a:p>
        </p:txBody>
      </p:sp>
      <p:sp>
        <p:nvSpPr>
          <p:cNvPr id="344" name="Google Shape;344;p18"/>
          <p:cNvSpPr/>
          <p:nvPr/>
        </p:nvSpPr>
        <p:spPr>
          <a:xfrm>
            <a:off x="8079677" y="2898180"/>
            <a:ext cx="3832228" cy="282575"/>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Evaluate under blur, poor light, and clutter</a:t>
            </a:r>
            <a:endParaRPr b="0" i="0" sz="1400" u="none" cap="none" strike="noStrike">
              <a:solidFill>
                <a:schemeClr val="dk1"/>
              </a:solidFill>
              <a:latin typeface="Calibri"/>
              <a:ea typeface="Calibri"/>
              <a:cs typeface="Calibri"/>
              <a:sym typeface="Calibri"/>
            </a:endParaRPr>
          </a:p>
        </p:txBody>
      </p:sp>
      <p:sp>
        <p:nvSpPr>
          <p:cNvPr id="345" name="Google Shape;345;p18"/>
          <p:cNvSpPr/>
          <p:nvPr/>
        </p:nvSpPr>
        <p:spPr>
          <a:xfrm>
            <a:off x="889474" y="3685778"/>
            <a:ext cx="3832228" cy="282575"/>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Data from one university</a:t>
            </a:r>
            <a:endParaRPr b="0" i="0" sz="1400" u="none" cap="none" strike="noStrike">
              <a:solidFill>
                <a:schemeClr val="dk1"/>
              </a:solidFill>
              <a:latin typeface="Calibri"/>
              <a:ea typeface="Calibri"/>
              <a:cs typeface="Calibri"/>
              <a:sym typeface="Calibri"/>
            </a:endParaRPr>
          </a:p>
        </p:txBody>
      </p:sp>
      <p:sp>
        <p:nvSpPr>
          <p:cNvPr id="346" name="Google Shape;346;p18"/>
          <p:cNvSpPr/>
          <p:nvPr/>
        </p:nvSpPr>
        <p:spPr>
          <a:xfrm>
            <a:off x="4486163" y="3685778"/>
            <a:ext cx="3219469" cy="56515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Cross-institution generalisability is unknown</a:t>
            </a:r>
            <a:endParaRPr b="0" i="0" sz="1400" u="none" cap="none" strike="noStrike">
              <a:solidFill>
                <a:schemeClr val="dk1"/>
              </a:solidFill>
              <a:latin typeface="Calibri"/>
              <a:ea typeface="Calibri"/>
              <a:cs typeface="Calibri"/>
              <a:sym typeface="Calibri"/>
            </a:endParaRPr>
          </a:p>
        </p:txBody>
      </p:sp>
      <p:sp>
        <p:nvSpPr>
          <p:cNvPr id="347" name="Google Shape;347;p18"/>
          <p:cNvSpPr/>
          <p:nvPr/>
        </p:nvSpPr>
        <p:spPr>
          <a:xfrm>
            <a:off x="8079677" y="3685778"/>
            <a:ext cx="3832228" cy="282575"/>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Conduct external validation</a:t>
            </a:r>
            <a:endParaRPr b="0" i="0" sz="1400" u="none" cap="none" strike="noStrike">
              <a:solidFill>
                <a:schemeClr val="dk1"/>
              </a:solidFill>
              <a:latin typeface="Calibri"/>
              <a:ea typeface="Calibri"/>
              <a:cs typeface="Calibri"/>
              <a:sym typeface="Calibri"/>
            </a:endParaRPr>
          </a:p>
        </p:txBody>
      </p:sp>
      <p:sp>
        <p:nvSpPr>
          <p:cNvPr id="348" name="Google Shape;348;p18"/>
          <p:cNvSpPr/>
          <p:nvPr/>
        </p:nvSpPr>
        <p:spPr>
          <a:xfrm>
            <a:off x="889474" y="4473377"/>
            <a:ext cx="3832228" cy="282575"/>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Only accuracy reported</a:t>
            </a:r>
            <a:endParaRPr b="0" i="0" sz="1400" u="none" cap="none" strike="noStrike">
              <a:solidFill>
                <a:schemeClr val="dk1"/>
              </a:solidFill>
              <a:latin typeface="Calibri"/>
              <a:ea typeface="Calibri"/>
              <a:cs typeface="Calibri"/>
              <a:sym typeface="Calibri"/>
            </a:endParaRPr>
          </a:p>
        </p:txBody>
      </p:sp>
      <p:sp>
        <p:nvSpPr>
          <p:cNvPr id="349" name="Google Shape;349;p18"/>
          <p:cNvSpPr/>
          <p:nvPr/>
        </p:nvSpPr>
        <p:spPr>
          <a:xfrm>
            <a:off x="4486163" y="4473377"/>
            <a:ext cx="3829053" cy="282575"/>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Minority-class performance is unclear</a:t>
            </a:r>
            <a:endParaRPr b="0" i="0" sz="1400" u="none" cap="none" strike="noStrike">
              <a:solidFill>
                <a:schemeClr val="dk1"/>
              </a:solidFill>
              <a:latin typeface="Calibri"/>
              <a:ea typeface="Calibri"/>
              <a:cs typeface="Calibri"/>
              <a:sym typeface="Calibri"/>
            </a:endParaRPr>
          </a:p>
        </p:txBody>
      </p:sp>
      <p:sp>
        <p:nvSpPr>
          <p:cNvPr id="350" name="Google Shape;350;p18"/>
          <p:cNvSpPr/>
          <p:nvPr/>
        </p:nvSpPr>
        <p:spPr>
          <a:xfrm>
            <a:off x="8079677" y="4473377"/>
            <a:ext cx="3832228" cy="282575"/>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Use recall, F1, and class-wise analysis</a:t>
            </a:r>
            <a:endParaRPr b="0" i="0" sz="1400" u="none" cap="none" strike="noStrike">
              <a:solidFill>
                <a:schemeClr val="dk1"/>
              </a:solidFill>
              <a:latin typeface="Calibri"/>
              <a:ea typeface="Calibri"/>
              <a:cs typeface="Calibri"/>
              <a:sym typeface="Calibri"/>
            </a:endParaRPr>
          </a:p>
        </p:txBody>
      </p:sp>
      <p:sp>
        <p:nvSpPr>
          <p:cNvPr id="351" name="Google Shape;351;p18"/>
          <p:cNvSpPr/>
          <p:nvPr/>
        </p:nvSpPr>
        <p:spPr>
          <a:xfrm>
            <a:off x="889474" y="4978400"/>
            <a:ext cx="3832228" cy="282575"/>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No user evaluation</a:t>
            </a:r>
            <a:endParaRPr b="0" i="0" sz="1400" u="none" cap="none" strike="noStrike">
              <a:solidFill>
                <a:schemeClr val="dk1"/>
              </a:solidFill>
              <a:latin typeface="Calibri"/>
              <a:ea typeface="Calibri"/>
              <a:cs typeface="Calibri"/>
              <a:sym typeface="Calibri"/>
            </a:endParaRPr>
          </a:p>
        </p:txBody>
      </p:sp>
      <p:sp>
        <p:nvSpPr>
          <p:cNvPr id="352" name="Google Shape;352;p18"/>
          <p:cNvSpPr/>
          <p:nvPr/>
        </p:nvSpPr>
        <p:spPr>
          <a:xfrm>
            <a:off x="4486163" y="4978400"/>
            <a:ext cx="3829053" cy="282575"/>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Usefulness of explanations is unknown</a:t>
            </a:r>
            <a:endParaRPr b="0" i="0" sz="1400" u="none" cap="none" strike="noStrike">
              <a:solidFill>
                <a:schemeClr val="dk1"/>
              </a:solidFill>
              <a:latin typeface="Calibri"/>
              <a:ea typeface="Calibri"/>
              <a:cs typeface="Calibri"/>
              <a:sym typeface="Calibri"/>
            </a:endParaRPr>
          </a:p>
        </p:txBody>
      </p:sp>
      <p:sp>
        <p:nvSpPr>
          <p:cNvPr id="353" name="Google Shape;353;p18"/>
          <p:cNvSpPr/>
          <p:nvPr/>
        </p:nvSpPr>
        <p:spPr>
          <a:xfrm>
            <a:off x="8079677" y="4978400"/>
            <a:ext cx="3832228" cy="282575"/>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AD6DE"/>
              </a:buClr>
              <a:buSzPts val="1400"/>
              <a:buFont typeface="Cabin"/>
              <a:buNone/>
            </a:pPr>
            <a:r>
              <a:rPr b="0" i="0" lang="en-US" sz="1400" u="none" cap="none" strike="noStrike">
                <a:solidFill>
                  <a:srgbClr val="CAD6DE"/>
                </a:solidFill>
                <a:latin typeface="Cabin"/>
                <a:ea typeface="Cabin"/>
                <a:cs typeface="Cabin"/>
                <a:sym typeface="Cabin"/>
              </a:rPr>
              <a:t>Conduct expert or user evaluation</a:t>
            </a:r>
            <a:endParaRPr b="0" i="0" sz="1400" u="none" cap="none" strike="noStrike">
              <a:solidFill>
                <a:schemeClr val="dk1"/>
              </a:solidFill>
              <a:latin typeface="Calibri"/>
              <a:ea typeface="Calibri"/>
              <a:cs typeface="Calibri"/>
              <a:sym typeface="Calibri"/>
            </a:endParaRPr>
          </a:p>
        </p:txBody>
      </p:sp>
      <p:sp>
        <p:nvSpPr>
          <p:cNvPr id="354" name="Google Shape;354;p18"/>
          <p:cNvSpPr/>
          <p:nvPr/>
        </p:nvSpPr>
        <p:spPr>
          <a:xfrm>
            <a:off x="698086" y="5566073"/>
            <a:ext cx="10795524" cy="696416"/>
          </a:xfrm>
          <a:prstGeom prst="roundRect">
            <a:avLst>
              <a:gd fmla="val 3961" name="adj"/>
            </a:avLst>
          </a:prstGeom>
          <a:solidFill>
            <a:srgbClr val="0878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5" name="Google Shape;355;p18"/>
          <p:cNvPicPr preferRelativeResize="0"/>
          <p:nvPr/>
        </p:nvPicPr>
        <p:blipFill rotWithShape="1">
          <a:blip r:embed="rId3">
            <a:alphaModFix/>
          </a:blip>
          <a:srcRect b="0" l="0" r="0" t="0"/>
          <a:stretch/>
        </p:blipFill>
        <p:spPr>
          <a:xfrm>
            <a:off x="881933" y="5825430"/>
            <a:ext cx="229785" cy="183852"/>
          </a:xfrm>
          <a:prstGeom prst="rect">
            <a:avLst/>
          </a:prstGeom>
          <a:noFill/>
          <a:ln>
            <a:noFill/>
          </a:ln>
        </p:spPr>
      </p:pic>
      <p:sp>
        <p:nvSpPr>
          <p:cNvPr id="356" name="Google Shape;356;p18"/>
          <p:cNvSpPr/>
          <p:nvPr/>
        </p:nvSpPr>
        <p:spPr>
          <a:xfrm>
            <a:off x="1295566" y="5781477"/>
            <a:ext cx="10623780" cy="282575"/>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FFFFF"/>
              </a:buClr>
              <a:buSzPts val="1400"/>
              <a:buFont typeface="Cabin"/>
              <a:buNone/>
            </a:pPr>
            <a:r>
              <a:rPr b="0" i="0" lang="en-US" sz="1400" u="none" cap="none" strike="noStrike">
                <a:solidFill>
                  <a:srgbClr val="FFFFFF"/>
                </a:solidFill>
                <a:latin typeface="Cabin"/>
                <a:ea typeface="Cabin"/>
                <a:cs typeface="Cabin"/>
                <a:sym typeface="Cabin"/>
              </a:rPr>
              <a:t>A limitation describes one study. A gap describes an unresolved issue supported by multiple studies.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19"/>
          <p:cNvSpPr/>
          <p:nvPr/>
        </p:nvSpPr>
        <p:spPr>
          <a:xfrm>
            <a:off x="698086" y="610691"/>
            <a:ext cx="966267" cy="212130"/>
          </a:xfrm>
          <a:prstGeom prst="roundRect">
            <a:avLst>
              <a:gd fmla="val 7899" name="adj"/>
            </a:avLst>
          </a:prstGeom>
          <a:solidFill>
            <a:srgbClr val="054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9"/>
          <p:cNvSpPr/>
          <p:nvPr/>
        </p:nvSpPr>
        <p:spPr>
          <a:xfrm>
            <a:off x="781824" y="652562"/>
            <a:ext cx="1408375" cy="128389"/>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CAD6DE"/>
              </a:buClr>
              <a:buSzPts val="850"/>
              <a:buFont typeface="Cabin"/>
              <a:buNone/>
            </a:pPr>
            <a:r>
              <a:rPr b="0" i="0" lang="en-US" sz="850" u="none" cap="none" strike="noStrike">
                <a:solidFill>
                  <a:srgbClr val="CAD6DE"/>
                </a:solidFill>
                <a:latin typeface="Cabin"/>
                <a:ea typeface="Cabin"/>
                <a:cs typeface="Cabin"/>
                <a:sym typeface="Cabin"/>
              </a:rPr>
              <a:t>GAP SYNTHESIS</a:t>
            </a:r>
            <a:endParaRPr b="0" i="0" sz="850" u="none" cap="none" strike="noStrike">
              <a:solidFill>
                <a:schemeClr val="dk1"/>
              </a:solidFill>
              <a:latin typeface="Calibri"/>
              <a:ea typeface="Calibri"/>
              <a:cs typeface="Calibri"/>
              <a:sym typeface="Calibri"/>
            </a:endParaRPr>
          </a:p>
        </p:txBody>
      </p:sp>
      <p:sp>
        <p:nvSpPr>
          <p:cNvPr id="364" name="Google Shape;364;p19"/>
          <p:cNvSpPr/>
          <p:nvPr/>
        </p:nvSpPr>
        <p:spPr>
          <a:xfrm>
            <a:off x="698086" y="861913"/>
            <a:ext cx="10795524" cy="41056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550"/>
              <a:buFont typeface="Unbounded"/>
              <a:buNone/>
            </a:pPr>
            <a:r>
              <a:rPr b="0" i="0" lang="en-US" sz="2550" u="none" cap="none" strike="noStrike">
                <a:solidFill>
                  <a:srgbClr val="FFFFFF"/>
                </a:solidFill>
                <a:latin typeface="Unbounded"/>
                <a:ea typeface="Unbounded"/>
                <a:cs typeface="Unbounded"/>
                <a:sym typeface="Unbounded"/>
              </a:rPr>
              <a:t>How to Synthesise Across Papers</a:t>
            </a:r>
            <a:endParaRPr b="0" i="0" sz="2550" u="none" cap="none" strike="noStrike">
              <a:solidFill>
                <a:schemeClr val="dk1"/>
              </a:solidFill>
              <a:latin typeface="Calibri"/>
              <a:ea typeface="Calibri"/>
              <a:cs typeface="Calibri"/>
              <a:sym typeface="Calibri"/>
            </a:endParaRPr>
          </a:p>
        </p:txBody>
      </p:sp>
      <p:sp>
        <p:nvSpPr>
          <p:cNvPr id="365" name="Google Shape;365;p19"/>
          <p:cNvSpPr/>
          <p:nvPr/>
        </p:nvSpPr>
        <p:spPr>
          <a:xfrm>
            <a:off x="698074" y="2114645"/>
            <a:ext cx="5227500" cy="211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50"/>
              <a:buFont typeface="Unbounded"/>
              <a:buNone/>
            </a:pPr>
            <a:r>
              <a:rPr b="0" i="0" lang="en-US" sz="1250" u="none" cap="none" strike="noStrike">
                <a:solidFill>
                  <a:srgbClr val="000000"/>
                </a:solidFill>
                <a:latin typeface="Unbounded"/>
                <a:ea typeface="Unbounded"/>
                <a:cs typeface="Unbounded"/>
                <a:sym typeface="Unbounded"/>
              </a:rPr>
              <a:t>❌</a:t>
            </a:r>
            <a:r>
              <a:rPr b="0" i="0" lang="en-US" sz="1250" u="none" cap="none" strike="noStrike">
                <a:solidFill>
                  <a:srgbClr val="FFFFFF"/>
                </a:solidFill>
                <a:latin typeface="Unbounded"/>
                <a:ea typeface="Unbounded"/>
                <a:cs typeface="Unbounded"/>
                <a:sym typeface="Unbounded"/>
              </a:rPr>
              <a:t> Weak Writing</a:t>
            </a:r>
            <a:endParaRPr b="0" i="0" sz="1250" u="none" cap="none" strike="noStrike">
              <a:solidFill>
                <a:schemeClr val="dk1"/>
              </a:solidFill>
              <a:latin typeface="Calibri"/>
              <a:ea typeface="Calibri"/>
              <a:cs typeface="Calibri"/>
              <a:sym typeface="Calibri"/>
            </a:endParaRPr>
          </a:p>
        </p:txBody>
      </p:sp>
      <p:sp>
        <p:nvSpPr>
          <p:cNvPr id="366" name="Google Shape;366;p19"/>
          <p:cNvSpPr/>
          <p:nvPr/>
        </p:nvSpPr>
        <p:spPr>
          <a:xfrm>
            <a:off x="698074" y="2436312"/>
            <a:ext cx="19200" cy="555300"/>
          </a:xfrm>
          <a:prstGeom prst="roundRect">
            <a:avLst>
              <a:gd fmla="val 59999" name="adj"/>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9"/>
          <p:cNvSpPr/>
          <p:nvPr/>
        </p:nvSpPr>
        <p:spPr>
          <a:xfrm>
            <a:off x="907518" y="2524220"/>
            <a:ext cx="5018100" cy="379500"/>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CAD6DE"/>
              </a:buClr>
              <a:buSzPts val="1050"/>
              <a:buFont typeface="Cabin"/>
              <a:buNone/>
            </a:pPr>
            <a:r>
              <a:rPr b="0" i="0" lang="en-US" sz="1250" u="none" cap="none" strike="noStrike">
                <a:solidFill>
                  <a:srgbClr val="CAD6DE"/>
                </a:solidFill>
                <a:latin typeface="Cabin"/>
                <a:ea typeface="Cabin"/>
                <a:cs typeface="Cabin"/>
                <a:sym typeface="Cabin"/>
              </a:rPr>
              <a:t>Paper A used CNN. Paper B used ResNet. Paper C used MobileNet. Paper D achieved 96% accuracy.</a:t>
            </a:r>
            <a:endParaRPr b="0" i="0" sz="1250" u="none" cap="none" strike="noStrike">
              <a:solidFill>
                <a:schemeClr val="dk1"/>
              </a:solidFill>
              <a:latin typeface="Calibri"/>
              <a:ea typeface="Calibri"/>
              <a:cs typeface="Calibri"/>
              <a:sym typeface="Calibri"/>
            </a:endParaRPr>
          </a:p>
        </p:txBody>
      </p:sp>
      <p:sp>
        <p:nvSpPr>
          <p:cNvPr id="368" name="Google Shape;368;p19"/>
          <p:cNvSpPr/>
          <p:nvPr/>
        </p:nvSpPr>
        <p:spPr>
          <a:xfrm>
            <a:off x="698024" y="3833910"/>
            <a:ext cx="5227500" cy="211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250"/>
              <a:buFont typeface="Unbounded"/>
              <a:buNone/>
            </a:pPr>
            <a:r>
              <a:rPr b="0" i="0" lang="en-US" sz="1250" u="none" cap="none" strike="noStrike">
                <a:solidFill>
                  <a:srgbClr val="000000"/>
                </a:solidFill>
                <a:latin typeface="Unbounded"/>
                <a:ea typeface="Unbounded"/>
                <a:cs typeface="Unbounded"/>
                <a:sym typeface="Unbounded"/>
              </a:rPr>
              <a:t>✅</a:t>
            </a:r>
            <a:r>
              <a:rPr b="0" i="0" lang="en-US" sz="1250" u="none" cap="none" strike="noStrike">
                <a:solidFill>
                  <a:srgbClr val="FFFFFF"/>
                </a:solidFill>
                <a:latin typeface="Unbounded"/>
                <a:ea typeface="Unbounded"/>
                <a:cs typeface="Unbounded"/>
                <a:sym typeface="Unbounded"/>
              </a:rPr>
              <a:t> Better Synthesis</a:t>
            </a:r>
            <a:endParaRPr b="0" i="0" sz="1250" u="none" cap="none" strike="noStrike">
              <a:solidFill>
                <a:schemeClr val="dk1"/>
              </a:solidFill>
              <a:latin typeface="Calibri"/>
              <a:ea typeface="Calibri"/>
              <a:cs typeface="Calibri"/>
              <a:sym typeface="Calibri"/>
            </a:endParaRPr>
          </a:p>
        </p:txBody>
      </p:sp>
      <p:sp>
        <p:nvSpPr>
          <p:cNvPr id="369" name="Google Shape;369;p19"/>
          <p:cNvSpPr/>
          <p:nvPr/>
        </p:nvSpPr>
        <p:spPr>
          <a:xfrm>
            <a:off x="698024" y="4155577"/>
            <a:ext cx="19200" cy="935100"/>
          </a:xfrm>
          <a:prstGeom prst="roundRect">
            <a:avLst>
              <a:gd fmla="val 59999" name="adj"/>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9"/>
          <p:cNvSpPr/>
          <p:nvPr/>
        </p:nvSpPr>
        <p:spPr>
          <a:xfrm>
            <a:off x="907468" y="4243485"/>
            <a:ext cx="5018100" cy="759300"/>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CAD6DE"/>
              </a:buClr>
              <a:buSzPts val="1050"/>
              <a:buFont typeface="Cabin"/>
              <a:buNone/>
            </a:pPr>
            <a:r>
              <a:rPr b="0" i="0" lang="en-US" sz="1250" u="none" cap="none" strike="noStrike">
                <a:solidFill>
                  <a:srgbClr val="CAD6DE"/>
                </a:solidFill>
                <a:latin typeface="Cabin"/>
                <a:ea typeface="Cabin"/>
                <a:cs typeface="Cabin"/>
                <a:sym typeface="Cabin"/>
              </a:rPr>
              <a:t>Existing studies report strong plant-disease classification performance using CNN-based models on curated image datasets. However, most evaluate models using clean images from the same benchmark source, providing limited evidence of robustness under poor lighting, blur, partial visibility, and background clutter.</a:t>
            </a:r>
            <a:endParaRPr b="0" i="0" sz="1250" u="none" cap="none" strike="noStrike">
              <a:solidFill>
                <a:schemeClr val="dk1"/>
              </a:solidFill>
              <a:latin typeface="Calibri"/>
              <a:ea typeface="Calibri"/>
              <a:cs typeface="Calibri"/>
              <a:sym typeface="Calibri"/>
            </a:endParaRPr>
          </a:p>
        </p:txBody>
      </p:sp>
      <p:sp>
        <p:nvSpPr>
          <p:cNvPr id="371" name="Google Shape;371;p19"/>
          <p:cNvSpPr/>
          <p:nvPr/>
        </p:nvSpPr>
        <p:spPr>
          <a:xfrm>
            <a:off x="6272552" y="1516757"/>
            <a:ext cx="5227408" cy="2053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250"/>
              <a:buFont typeface="Unbounded"/>
              <a:buNone/>
            </a:pPr>
            <a:r>
              <a:rPr b="0" i="0" lang="en-US" sz="1250" u="none" cap="none" strike="noStrike">
                <a:solidFill>
                  <a:srgbClr val="FFFFFF"/>
                </a:solidFill>
                <a:latin typeface="Unbounded"/>
                <a:ea typeface="Unbounded"/>
                <a:cs typeface="Unbounded"/>
                <a:sym typeface="Unbounded"/>
              </a:rPr>
              <a:t>Synthesis Questions</a:t>
            </a:r>
            <a:endParaRPr b="0" i="0" sz="1250" u="none" cap="none" strike="noStrike">
              <a:solidFill>
                <a:schemeClr val="dk1"/>
              </a:solidFill>
              <a:latin typeface="Calibri"/>
              <a:ea typeface="Calibri"/>
              <a:cs typeface="Calibri"/>
              <a:sym typeface="Calibri"/>
            </a:endParaRPr>
          </a:p>
        </p:txBody>
      </p:sp>
      <p:sp>
        <p:nvSpPr>
          <p:cNvPr id="372" name="Google Shape;372;p19"/>
          <p:cNvSpPr/>
          <p:nvPr/>
        </p:nvSpPr>
        <p:spPr>
          <a:xfrm>
            <a:off x="6272552" y="1832074"/>
            <a:ext cx="279195" cy="1745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6DE"/>
              </a:buClr>
              <a:buSzPts val="1050"/>
              <a:buFont typeface="Unbounded Light"/>
              <a:buNone/>
            </a:pPr>
            <a:r>
              <a:rPr b="0" i="0" lang="en-US" sz="1050" u="none" cap="none" strike="noStrike">
                <a:solidFill>
                  <a:srgbClr val="CAD6DE"/>
                </a:solidFill>
                <a:latin typeface="Unbounded Light"/>
                <a:ea typeface="Unbounded Light"/>
                <a:cs typeface="Unbounded Light"/>
                <a:sym typeface="Unbounded Light"/>
              </a:rPr>
              <a:t>01</a:t>
            </a:r>
            <a:endParaRPr b="0" i="0" sz="1050" u="none" cap="none" strike="noStrike">
              <a:solidFill>
                <a:schemeClr val="dk1"/>
              </a:solidFill>
              <a:latin typeface="Calibri"/>
              <a:ea typeface="Calibri"/>
              <a:cs typeface="Calibri"/>
              <a:sym typeface="Calibri"/>
            </a:endParaRPr>
          </a:p>
        </p:txBody>
      </p:sp>
      <p:sp>
        <p:nvSpPr>
          <p:cNvPr id="373" name="Google Shape;373;p19"/>
          <p:cNvSpPr/>
          <p:nvPr/>
        </p:nvSpPr>
        <p:spPr>
          <a:xfrm>
            <a:off x="6272552" y="2050256"/>
            <a:ext cx="5227408" cy="19050"/>
          </a:xfrm>
          <a:prstGeom prst="rect">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9"/>
          <p:cNvSpPr/>
          <p:nvPr/>
        </p:nvSpPr>
        <p:spPr>
          <a:xfrm>
            <a:off x="6272552" y="2158107"/>
            <a:ext cx="5227408" cy="2053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250"/>
              <a:buFont typeface="Unbounded"/>
              <a:buNone/>
            </a:pPr>
            <a:r>
              <a:rPr b="0" i="0" lang="en-US" sz="1250" u="none" cap="none" strike="noStrike">
                <a:solidFill>
                  <a:srgbClr val="CAD6DE"/>
                </a:solidFill>
                <a:latin typeface="Unbounded"/>
                <a:ea typeface="Unbounded"/>
                <a:cs typeface="Unbounded"/>
                <a:sym typeface="Unbounded"/>
              </a:rPr>
              <a:t>What has generally been studied?</a:t>
            </a:r>
            <a:endParaRPr b="0" i="0" sz="1250" u="none" cap="none" strike="noStrike">
              <a:solidFill>
                <a:schemeClr val="dk1"/>
              </a:solidFill>
              <a:latin typeface="Calibri"/>
              <a:ea typeface="Calibri"/>
              <a:cs typeface="Calibri"/>
              <a:sym typeface="Calibri"/>
            </a:endParaRPr>
          </a:p>
        </p:txBody>
      </p:sp>
      <p:sp>
        <p:nvSpPr>
          <p:cNvPr id="375" name="Google Shape;375;p19"/>
          <p:cNvSpPr/>
          <p:nvPr/>
        </p:nvSpPr>
        <p:spPr>
          <a:xfrm>
            <a:off x="6272552" y="2565896"/>
            <a:ext cx="279195" cy="1745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6DE"/>
              </a:buClr>
              <a:buSzPts val="1050"/>
              <a:buFont typeface="Unbounded Light"/>
              <a:buNone/>
            </a:pPr>
            <a:r>
              <a:rPr b="0" i="0" lang="en-US" sz="1050" u="none" cap="none" strike="noStrike">
                <a:solidFill>
                  <a:srgbClr val="CAD6DE"/>
                </a:solidFill>
                <a:latin typeface="Unbounded Light"/>
                <a:ea typeface="Unbounded Light"/>
                <a:cs typeface="Unbounded Light"/>
                <a:sym typeface="Unbounded Light"/>
              </a:rPr>
              <a:t>02</a:t>
            </a:r>
            <a:endParaRPr b="0" i="0" sz="1050" u="none" cap="none" strike="noStrike">
              <a:solidFill>
                <a:schemeClr val="dk1"/>
              </a:solidFill>
              <a:latin typeface="Calibri"/>
              <a:ea typeface="Calibri"/>
              <a:cs typeface="Calibri"/>
              <a:sym typeface="Calibri"/>
            </a:endParaRPr>
          </a:p>
        </p:txBody>
      </p:sp>
      <p:sp>
        <p:nvSpPr>
          <p:cNvPr id="376" name="Google Shape;376;p19"/>
          <p:cNvSpPr/>
          <p:nvPr/>
        </p:nvSpPr>
        <p:spPr>
          <a:xfrm>
            <a:off x="6272552" y="2784078"/>
            <a:ext cx="5227408" cy="19050"/>
          </a:xfrm>
          <a:prstGeom prst="rect">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9"/>
          <p:cNvSpPr/>
          <p:nvPr/>
        </p:nvSpPr>
        <p:spPr>
          <a:xfrm>
            <a:off x="6272552" y="2891929"/>
            <a:ext cx="5227408" cy="2053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250"/>
              <a:buFont typeface="Unbounded"/>
              <a:buNone/>
            </a:pPr>
            <a:r>
              <a:rPr b="0" i="0" lang="en-US" sz="1250" u="none" cap="none" strike="noStrike">
                <a:solidFill>
                  <a:srgbClr val="CAD6DE"/>
                </a:solidFill>
                <a:latin typeface="Unbounded"/>
                <a:ea typeface="Unbounded"/>
                <a:cs typeface="Unbounded"/>
                <a:sym typeface="Unbounded"/>
              </a:rPr>
              <a:t>Which data, methods, or contexts dominate?</a:t>
            </a:r>
            <a:endParaRPr b="0" i="0" sz="1250" u="none" cap="none" strike="noStrike">
              <a:solidFill>
                <a:schemeClr val="dk1"/>
              </a:solidFill>
              <a:latin typeface="Calibri"/>
              <a:ea typeface="Calibri"/>
              <a:cs typeface="Calibri"/>
              <a:sym typeface="Calibri"/>
            </a:endParaRPr>
          </a:p>
        </p:txBody>
      </p:sp>
      <p:sp>
        <p:nvSpPr>
          <p:cNvPr id="378" name="Google Shape;378;p19"/>
          <p:cNvSpPr/>
          <p:nvPr/>
        </p:nvSpPr>
        <p:spPr>
          <a:xfrm>
            <a:off x="6272552" y="3299718"/>
            <a:ext cx="279195" cy="1745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6DE"/>
              </a:buClr>
              <a:buSzPts val="1050"/>
              <a:buFont typeface="Unbounded Light"/>
              <a:buNone/>
            </a:pPr>
            <a:r>
              <a:rPr b="0" i="0" lang="en-US" sz="1050" u="none" cap="none" strike="noStrike">
                <a:solidFill>
                  <a:srgbClr val="CAD6DE"/>
                </a:solidFill>
                <a:latin typeface="Unbounded Light"/>
                <a:ea typeface="Unbounded Light"/>
                <a:cs typeface="Unbounded Light"/>
                <a:sym typeface="Unbounded Light"/>
              </a:rPr>
              <a:t>03</a:t>
            </a:r>
            <a:endParaRPr b="0" i="0" sz="1050" u="none" cap="none" strike="noStrike">
              <a:solidFill>
                <a:schemeClr val="dk1"/>
              </a:solidFill>
              <a:latin typeface="Calibri"/>
              <a:ea typeface="Calibri"/>
              <a:cs typeface="Calibri"/>
              <a:sym typeface="Calibri"/>
            </a:endParaRPr>
          </a:p>
        </p:txBody>
      </p:sp>
      <p:sp>
        <p:nvSpPr>
          <p:cNvPr id="379" name="Google Shape;379;p19"/>
          <p:cNvSpPr/>
          <p:nvPr/>
        </p:nvSpPr>
        <p:spPr>
          <a:xfrm>
            <a:off x="6272552" y="3517900"/>
            <a:ext cx="5227408" cy="19050"/>
          </a:xfrm>
          <a:prstGeom prst="rect">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9"/>
          <p:cNvSpPr/>
          <p:nvPr/>
        </p:nvSpPr>
        <p:spPr>
          <a:xfrm>
            <a:off x="6272552" y="3625751"/>
            <a:ext cx="5227408" cy="2053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250"/>
              <a:buFont typeface="Unbounded"/>
              <a:buNone/>
            </a:pPr>
            <a:r>
              <a:rPr b="0" i="0" lang="en-US" sz="1250" u="none" cap="none" strike="noStrike">
                <a:solidFill>
                  <a:srgbClr val="CAD6DE"/>
                </a:solidFill>
                <a:latin typeface="Unbounded"/>
                <a:ea typeface="Unbounded"/>
                <a:cs typeface="Unbounded"/>
                <a:sym typeface="Unbounded"/>
              </a:rPr>
              <a:t>What do studies collectively find?</a:t>
            </a:r>
            <a:endParaRPr b="0" i="0" sz="1250" u="none" cap="none" strike="noStrike">
              <a:solidFill>
                <a:schemeClr val="dk1"/>
              </a:solidFill>
              <a:latin typeface="Calibri"/>
              <a:ea typeface="Calibri"/>
              <a:cs typeface="Calibri"/>
              <a:sym typeface="Calibri"/>
            </a:endParaRPr>
          </a:p>
        </p:txBody>
      </p:sp>
      <p:sp>
        <p:nvSpPr>
          <p:cNvPr id="381" name="Google Shape;381;p19"/>
          <p:cNvSpPr/>
          <p:nvPr/>
        </p:nvSpPr>
        <p:spPr>
          <a:xfrm>
            <a:off x="6272552" y="4033540"/>
            <a:ext cx="279195" cy="1745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6DE"/>
              </a:buClr>
              <a:buSzPts val="1050"/>
              <a:buFont typeface="Unbounded Light"/>
              <a:buNone/>
            </a:pPr>
            <a:r>
              <a:rPr b="0" i="0" lang="en-US" sz="1050" u="none" cap="none" strike="noStrike">
                <a:solidFill>
                  <a:srgbClr val="CAD6DE"/>
                </a:solidFill>
                <a:latin typeface="Unbounded Light"/>
                <a:ea typeface="Unbounded Light"/>
                <a:cs typeface="Unbounded Light"/>
                <a:sym typeface="Unbounded Light"/>
              </a:rPr>
              <a:t>04</a:t>
            </a:r>
            <a:endParaRPr b="0" i="0" sz="1050" u="none" cap="none" strike="noStrike">
              <a:solidFill>
                <a:schemeClr val="dk1"/>
              </a:solidFill>
              <a:latin typeface="Calibri"/>
              <a:ea typeface="Calibri"/>
              <a:cs typeface="Calibri"/>
              <a:sym typeface="Calibri"/>
            </a:endParaRPr>
          </a:p>
        </p:txBody>
      </p:sp>
      <p:sp>
        <p:nvSpPr>
          <p:cNvPr id="382" name="Google Shape;382;p19"/>
          <p:cNvSpPr/>
          <p:nvPr/>
        </p:nvSpPr>
        <p:spPr>
          <a:xfrm>
            <a:off x="6272552" y="4251722"/>
            <a:ext cx="5227408" cy="19050"/>
          </a:xfrm>
          <a:prstGeom prst="rect">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9"/>
          <p:cNvSpPr/>
          <p:nvPr/>
        </p:nvSpPr>
        <p:spPr>
          <a:xfrm>
            <a:off x="6272552" y="4359573"/>
            <a:ext cx="5227408" cy="2053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250"/>
              <a:buFont typeface="Unbounded"/>
              <a:buNone/>
            </a:pPr>
            <a:r>
              <a:rPr b="0" i="0" lang="en-US" sz="1250" u="none" cap="none" strike="noStrike">
                <a:solidFill>
                  <a:srgbClr val="CAD6DE"/>
                </a:solidFill>
                <a:latin typeface="Unbounded"/>
                <a:ea typeface="Unbounded"/>
                <a:cs typeface="Unbounded"/>
                <a:sym typeface="Unbounded"/>
              </a:rPr>
              <a:t>Which limitation appears repeatedly?</a:t>
            </a:r>
            <a:endParaRPr b="0" i="0" sz="1250" u="none" cap="none" strike="noStrike">
              <a:solidFill>
                <a:schemeClr val="dk1"/>
              </a:solidFill>
              <a:latin typeface="Calibri"/>
              <a:ea typeface="Calibri"/>
              <a:cs typeface="Calibri"/>
              <a:sym typeface="Calibri"/>
            </a:endParaRPr>
          </a:p>
        </p:txBody>
      </p:sp>
      <p:sp>
        <p:nvSpPr>
          <p:cNvPr id="384" name="Google Shape;384;p19"/>
          <p:cNvSpPr/>
          <p:nvPr/>
        </p:nvSpPr>
        <p:spPr>
          <a:xfrm>
            <a:off x="6272552" y="4767362"/>
            <a:ext cx="279195" cy="1745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6DE"/>
              </a:buClr>
              <a:buSzPts val="1050"/>
              <a:buFont typeface="Unbounded Light"/>
              <a:buNone/>
            </a:pPr>
            <a:r>
              <a:rPr b="0" i="0" lang="en-US" sz="1050" u="none" cap="none" strike="noStrike">
                <a:solidFill>
                  <a:srgbClr val="CAD6DE"/>
                </a:solidFill>
                <a:latin typeface="Unbounded Light"/>
                <a:ea typeface="Unbounded Light"/>
                <a:cs typeface="Unbounded Light"/>
                <a:sym typeface="Unbounded Light"/>
              </a:rPr>
              <a:t>05</a:t>
            </a:r>
            <a:endParaRPr b="0" i="0" sz="1050" u="none" cap="none" strike="noStrike">
              <a:solidFill>
                <a:schemeClr val="dk1"/>
              </a:solidFill>
              <a:latin typeface="Calibri"/>
              <a:ea typeface="Calibri"/>
              <a:cs typeface="Calibri"/>
              <a:sym typeface="Calibri"/>
            </a:endParaRPr>
          </a:p>
        </p:txBody>
      </p:sp>
      <p:sp>
        <p:nvSpPr>
          <p:cNvPr id="385" name="Google Shape;385;p19"/>
          <p:cNvSpPr/>
          <p:nvPr/>
        </p:nvSpPr>
        <p:spPr>
          <a:xfrm>
            <a:off x="6272552" y="4985544"/>
            <a:ext cx="5227408" cy="19050"/>
          </a:xfrm>
          <a:prstGeom prst="rect">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9"/>
          <p:cNvSpPr/>
          <p:nvPr/>
        </p:nvSpPr>
        <p:spPr>
          <a:xfrm>
            <a:off x="6272552" y="5093395"/>
            <a:ext cx="5227408" cy="2053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250"/>
              <a:buFont typeface="Unbounded"/>
              <a:buNone/>
            </a:pPr>
            <a:r>
              <a:rPr b="0" i="0" lang="en-US" sz="1250" u="none" cap="none" strike="noStrike">
                <a:solidFill>
                  <a:srgbClr val="CAD6DE"/>
                </a:solidFill>
                <a:latin typeface="Unbounded"/>
                <a:ea typeface="Unbounded"/>
                <a:cs typeface="Unbounded"/>
                <a:sym typeface="Unbounded"/>
              </a:rPr>
              <a:t>Why does it matter?</a:t>
            </a:r>
            <a:endParaRPr b="0" i="0" sz="1250" u="none" cap="none" strike="noStrike">
              <a:solidFill>
                <a:schemeClr val="dk1"/>
              </a:solidFill>
              <a:latin typeface="Calibri"/>
              <a:ea typeface="Calibri"/>
              <a:cs typeface="Calibri"/>
              <a:sym typeface="Calibri"/>
            </a:endParaRPr>
          </a:p>
        </p:txBody>
      </p:sp>
      <p:sp>
        <p:nvSpPr>
          <p:cNvPr id="387" name="Google Shape;387;p19"/>
          <p:cNvSpPr/>
          <p:nvPr/>
        </p:nvSpPr>
        <p:spPr>
          <a:xfrm>
            <a:off x="6272552" y="5501184"/>
            <a:ext cx="279195" cy="17452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6DE"/>
              </a:buClr>
              <a:buSzPts val="1050"/>
              <a:buFont typeface="Unbounded Light"/>
              <a:buNone/>
            </a:pPr>
            <a:r>
              <a:rPr b="0" i="0" lang="en-US" sz="1050" u="none" cap="none" strike="noStrike">
                <a:solidFill>
                  <a:srgbClr val="CAD6DE"/>
                </a:solidFill>
                <a:latin typeface="Unbounded Light"/>
                <a:ea typeface="Unbounded Light"/>
                <a:cs typeface="Unbounded Light"/>
                <a:sym typeface="Unbounded Light"/>
              </a:rPr>
              <a:t>06</a:t>
            </a:r>
            <a:endParaRPr b="0" i="0" sz="1050" u="none" cap="none" strike="noStrike">
              <a:solidFill>
                <a:schemeClr val="dk1"/>
              </a:solidFill>
              <a:latin typeface="Calibri"/>
              <a:ea typeface="Calibri"/>
              <a:cs typeface="Calibri"/>
              <a:sym typeface="Calibri"/>
            </a:endParaRPr>
          </a:p>
        </p:txBody>
      </p:sp>
      <p:sp>
        <p:nvSpPr>
          <p:cNvPr id="388" name="Google Shape;388;p19"/>
          <p:cNvSpPr/>
          <p:nvPr/>
        </p:nvSpPr>
        <p:spPr>
          <a:xfrm>
            <a:off x="6272552" y="5719366"/>
            <a:ext cx="5227408" cy="19050"/>
          </a:xfrm>
          <a:prstGeom prst="rect">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9"/>
          <p:cNvSpPr/>
          <p:nvPr/>
        </p:nvSpPr>
        <p:spPr>
          <a:xfrm>
            <a:off x="6272552" y="5827216"/>
            <a:ext cx="5227408" cy="2053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250"/>
              <a:buFont typeface="Unbounded"/>
              <a:buNone/>
            </a:pPr>
            <a:r>
              <a:rPr b="0" i="0" lang="en-US" sz="1250" u="none" cap="none" strike="noStrike">
                <a:solidFill>
                  <a:srgbClr val="CAD6DE"/>
                </a:solidFill>
                <a:latin typeface="Unbounded"/>
                <a:ea typeface="Unbounded"/>
                <a:cs typeface="Unbounded"/>
                <a:sym typeface="Unbounded"/>
              </a:rPr>
              <a:t>What research direction follows?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pic>
        <p:nvPicPr>
          <p:cNvPr descr="preencoded.png" id="395" name="Google Shape;395;p20"/>
          <p:cNvPicPr preferRelativeResize="0"/>
          <p:nvPr/>
        </p:nvPicPr>
        <p:blipFill rotWithShape="1">
          <a:blip r:embed="rId3">
            <a:alphaModFix/>
          </a:blip>
          <a:srcRect b="0" l="0" r="0" t="0"/>
          <a:stretch/>
        </p:blipFill>
        <p:spPr>
          <a:xfrm>
            <a:off x="0" y="0"/>
            <a:ext cx="4571886" cy="6858000"/>
          </a:xfrm>
          <a:prstGeom prst="rect">
            <a:avLst/>
          </a:prstGeom>
          <a:noFill/>
          <a:ln>
            <a:noFill/>
          </a:ln>
        </p:spPr>
      </p:pic>
      <p:sp>
        <p:nvSpPr>
          <p:cNvPr id="396" name="Google Shape;396;p20"/>
          <p:cNvSpPr/>
          <p:nvPr/>
        </p:nvSpPr>
        <p:spPr>
          <a:xfrm>
            <a:off x="5269971" y="595511"/>
            <a:ext cx="1203989" cy="264120"/>
          </a:xfrm>
          <a:prstGeom prst="roundRect">
            <a:avLst>
              <a:gd fmla="val 7902" name="adj"/>
            </a:avLst>
          </a:prstGeom>
          <a:solidFill>
            <a:srgbClr val="054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0"/>
          <p:cNvSpPr/>
          <p:nvPr/>
        </p:nvSpPr>
        <p:spPr>
          <a:xfrm>
            <a:off x="5374248" y="647601"/>
            <a:ext cx="1605022" cy="15994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CAD6DE"/>
              </a:buClr>
              <a:buSzPts val="1050"/>
              <a:buFont typeface="Cabin"/>
              <a:buNone/>
            </a:pPr>
            <a:r>
              <a:rPr b="0" i="0" lang="en-US" sz="1050" u="none" cap="none" strike="noStrike">
                <a:solidFill>
                  <a:srgbClr val="CAD6DE"/>
                </a:solidFill>
                <a:latin typeface="Cabin"/>
                <a:ea typeface="Cabin"/>
                <a:cs typeface="Cabin"/>
                <a:sym typeface="Cabin"/>
              </a:rPr>
              <a:t>GAP SYNTHESIS</a:t>
            </a:r>
            <a:endParaRPr b="0" i="0" sz="1050" u="none" cap="none" strike="noStrike">
              <a:solidFill>
                <a:schemeClr val="dk1"/>
              </a:solidFill>
              <a:latin typeface="Calibri"/>
              <a:ea typeface="Calibri"/>
              <a:cs typeface="Calibri"/>
              <a:sym typeface="Calibri"/>
            </a:endParaRPr>
          </a:p>
        </p:txBody>
      </p:sp>
      <p:sp>
        <p:nvSpPr>
          <p:cNvPr id="398" name="Google Shape;398;p20"/>
          <p:cNvSpPr/>
          <p:nvPr/>
        </p:nvSpPr>
        <p:spPr>
          <a:xfrm>
            <a:off x="5269971" y="920254"/>
            <a:ext cx="6223638" cy="51157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200"/>
              <a:buFont typeface="Unbounded"/>
              <a:buNone/>
            </a:pPr>
            <a:r>
              <a:rPr b="0" i="0" lang="en-US" sz="3200" u="none" cap="none" strike="noStrike">
                <a:solidFill>
                  <a:srgbClr val="FFFFFF"/>
                </a:solidFill>
                <a:latin typeface="Unbounded"/>
                <a:ea typeface="Unbounded"/>
                <a:cs typeface="Unbounded"/>
                <a:sym typeface="Unbounded"/>
              </a:rPr>
              <a:t>Gap Synthesis Scaffold</a:t>
            </a:r>
            <a:endParaRPr b="0" i="0" sz="3200" u="none" cap="none" strike="noStrike">
              <a:solidFill>
                <a:schemeClr val="dk1"/>
              </a:solidFill>
              <a:latin typeface="Calibri"/>
              <a:ea typeface="Calibri"/>
              <a:cs typeface="Calibri"/>
              <a:sym typeface="Calibri"/>
            </a:endParaRPr>
          </a:p>
        </p:txBody>
      </p:sp>
      <p:sp>
        <p:nvSpPr>
          <p:cNvPr id="399" name="Google Shape;399;p20"/>
          <p:cNvSpPr/>
          <p:nvPr/>
        </p:nvSpPr>
        <p:spPr>
          <a:xfrm>
            <a:off x="5269971" y="1659235"/>
            <a:ext cx="19050" cy="1643360"/>
          </a:xfrm>
          <a:prstGeom prst="roundRect">
            <a:avLst>
              <a:gd fmla="val 59999" name="adj"/>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0"/>
          <p:cNvSpPr/>
          <p:nvPr/>
        </p:nvSpPr>
        <p:spPr>
          <a:xfrm>
            <a:off x="5530811" y="1829792"/>
            <a:ext cx="5962798" cy="130224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AD6DE"/>
              </a:buClr>
              <a:buSzPts val="1350"/>
              <a:buFont typeface="Cabin"/>
              <a:buNone/>
            </a:pPr>
            <a:r>
              <a:rPr b="0" i="0" lang="en-US" sz="1350" u="none" cap="none" strike="noStrike">
                <a:solidFill>
                  <a:srgbClr val="CAD6DE"/>
                </a:solidFill>
                <a:latin typeface="Cabin"/>
                <a:ea typeface="Cabin"/>
                <a:cs typeface="Cabin"/>
                <a:sym typeface="Cabin"/>
              </a:rPr>
              <a:t>Existing studies primarily investigate </a:t>
            </a:r>
            <a:r>
              <a:rPr b="0" i="0" lang="en-US" sz="1350" u="none" cap="none" strike="noStrike">
                <a:solidFill>
                  <a:srgbClr val="FF954F"/>
                </a:solidFill>
                <a:latin typeface="Cabin"/>
                <a:ea typeface="Cabin"/>
                <a:cs typeface="Cabin"/>
                <a:sym typeface="Cabin"/>
              </a:rPr>
              <a:t>[problem]</a:t>
            </a:r>
            <a:r>
              <a:rPr b="0" i="0" lang="en-US" sz="1350" u="none" cap="none" strike="noStrike">
                <a:solidFill>
                  <a:srgbClr val="CAD6DE"/>
                </a:solidFill>
                <a:latin typeface="Cabin"/>
                <a:ea typeface="Cabin"/>
                <a:cs typeface="Cabin"/>
                <a:sym typeface="Cabin"/>
              </a:rPr>
              <a:t> using </a:t>
            </a:r>
            <a:r>
              <a:rPr b="0" i="0" lang="en-US" sz="1350" u="none" cap="none" strike="noStrike">
                <a:solidFill>
                  <a:srgbClr val="FF954F"/>
                </a:solidFill>
                <a:latin typeface="Cabin"/>
                <a:ea typeface="Cabin"/>
                <a:cs typeface="Cabin"/>
                <a:sym typeface="Cabin"/>
              </a:rPr>
              <a:t>[common datasets, methods, or contexts]</a:t>
            </a:r>
            <a:r>
              <a:rPr b="0" i="0" lang="en-US" sz="1350" u="none" cap="none" strike="noStrike">
                <a:solidFill>
                  <a:srgbClr val="CAD6DE"/>
                </a:solidFill>
                <a:latin typeface="Cabin"/>
                <a:ea typeface="Cabin"/>
                <a:cs typeface="Cabin"/>
                <a:sym typeface="Cabin"/>
              </a:rPr>
              <a:t>. While they generally report </a:t>
            </a:r>
            <a:r>
              <a:rPr b="0" i="0" lang="en-US" sz="1350" u="none" cap="none" strike="noStrike">
                <a:solidFill>
                  <a:srgbClr val="FF954F"/>
                </a:solidFill>
                <a:latin typeface="Cabin"/>
                <a:ea typeface="Cabin"/>
                <a:cs typeface="Cabin"/>
                <a:sym typeface="Cabin"/>
              </a:rPr>
              <a:t>[main findings]</a:t>
            </a:r>
            <a:r>
              <a:rPr b="0" i="0" lang="en-US" sz="1350" u="none" cap="none" strike="noStrike">
                <a:solidFill>
                  <a:srgbClr val="CAD6DE"/>
                </a:solidFill>
                <a:latin typeface="Cabin"/>
                <a:ea typeface="Cabin"/>
                <a:cs typeface="Cabin"/>
                <a:sym typeface="Cabin"/>
              </a:rPr>
              <a:t>, evidence remains limited regarding </a:t>
            </a:r>
            <a:r>
              <a:rPr b="0" i="0" lang="en-US" sz="1350" u="none" cap="none" strike="noStrike">
                <a:solidFill>
                  <a:srgbClr val="FF954F"/>
                </a:solidFill>
                <a:latin typeface="Cabin"/>
                <a:ea typeface="Cabin"/>
                <a:cs typeface="Cabin"/>
                <a:sym typeface="Cabin"/>
              </a:rPr>
              <a:t>[recurring unresolved issue]</a:t>
            </a:r>
            <a:r>
              <a:rPr b="0" i="0" lang="en-US" sz="1350" u="none" cap="none" strike="noStrike">
                <a:solidFill>
                  <a:srgbClr val="CAD6DE"/>
                </a:solidFill>
                <a:latin typeface="Cabin"/>
                <a:ea typeface="Cabin"/>
                <a:cs typeface="Cabin"/>
                <a:sym typeface="Cabin"/>
              </a:rPr>
              <a:t>. This matters because </a:t>
            </a:r>
            <a:r>
              <a:rPr b="0" i="0" lang="en-US" sz="1350" u="none" cap="none" strike="noStrike">
                <a:solidFill>
                  <a:srgbClr val="FF954F"/>
                </a:solidFill>
                <a:latin typeface="Cabin"/>
                <a:ea typeface="Cabin"/>
                <a:cs typeface="Cabin"/>
                <a:sym typeface="Cabin"/>
              </a:rPr>
              <a:t>[practical or scientific consequence]</a:t>
            </a:r>
            <a:r>
              <a:rPr b="0" i="0" lang="en-US" sz="1350" u="none" cap="none" strike="noStrike">
                <a:solidFill>
                  <a:srgbClr val="CAD6DE"/>
                </a:solidFill>
                <a:latin typeface="Cabin"/>
                <a:ea typeface="Cabin"/>
                <a:cs typeface="Cabin"/>
                <a:sym typeface="Cabin"/>
              </a:rPr>
              <a:t>. Therefore, further research should investigate </a:t>
            </a:r>
            <a:r>
              <a:rPr b="0" i="0" lang="en-US" sz="1350" u="none" cap="none" strike="noStrike">
                <a:solidFill>
                  <a:srgbClr val="FF954F"/>
                </a:solidFill>
                <a:latin typeface="Cabin"/>
                <a:ea typeface="Cabin"/>
                <a:cs typeface="Cabin"/>
                <a:sym typeface="Cabin"/>
              </a:rPr>
              <a:t>[specific direction]</a:t>
            </a:r>
            <a:r>
              <a:rPr b="0" i="0" lang="en-US" sz="1350" u="none" cap="none" strike="noStrike">
                <a:solidFill>
                  <a:srgbClr val="CAD6DE"/>
                </a:solidFill>
                <a:latin typeface="Cabin"/>
                <a:ea typeface="Cabin"/>
                <a:cs typeface="Cabin"/>
                <a:sym typeface="Cabin"/>
              </a:rPr>
              <a:t> using </a:t>
            </a:r>
            <a:r>
              <a:rPr b="0" i="0" lang="en-US" sz="1350" u="none" cap="none" strike="noStrike">
                <a:solidFill>
                  <a:srgbClr val="FF954F"/>
                </a:solidFill>
                <a:latin typeface="Cabin"/>
                <a:ea typeface="Cabin"/>
                <a:cs typeface="Cabin"/>
                <a:sym typeface="Cabin"/>
              </a:rPr>
              <a:t>[appropriate data and evaluation approach]</a:t>
            </a:r>
            <a:r>
              <a:rPr b="0" i="0" lang="en-US" sz="1350" u="none" cap="none" strike="noStrike">
                <a:solidFill>
                  <a:srgbClr val="CAD6DE"/>
                </a:solidFill>
                <a:latin typeface="Cabin"/>
                <a:ea typeface="Cabin"/>
                <a:cs typeface="Cabin"/>
                <a:sym typeface="Cabin"/>
              </a:rPr>
              <a:t>.</a:t>
            </a:r>
            <a:endParaRPr b="0" i="0" sz="1350" u="none" cap="none" strike="noStrike">
              <a:solidFill>
                <a:schemeClr val="dk1"/>
              </a:solidFill>
              <a:latin typeface="Calibri"/>
              <a:ea typeface="Calibri"/>
              <a:cs typeface="Calibri"/>
              <a:sym typeface="Calibri"/>
            </a:endParaRPr>
          </a:p>
        </p:txBody>
      </p:sp>
      <p:pic>
        <p:nvPicPr>
          <p:cNvPr descr="preencoded.png" id="401" name="Google Shape;401;p20"/>
          <p:cNvPicPr preferRelativeResize="0"/>
          <p:nvPr/>
        </p:nvPicPr>
        <p:blipFill rotWithShape="1">
          <a:blip r:embed="rId4">
            <a:alphaModFix/>
          </a:blip>
          <a:srcRect b="0" l="0" r="0" t="0"/>
          <a:stretch/>
        </p:blipFill>
        <p:spPr>
          <a:xfrm>
            <a:off x="5269971" y="3473152"/>
            <a:ext cx="6223638" cy="999232"/>
          </a:xfrm>
          <a:prstGeom prst="rect">
            <a:avLst/>
          </a:prstGeom>
          <a:noFill/>
          <a:ln>
            <a:noFill/>
          </a:ln>
        </p:spPr>
      </p:pic>
      <p:sp>
        <p:nvSpPr>
          <p:cNvPr id="402" name="Google Shape;402;p20"/>
          <p:cNvSpPr/>
          <p:nvPr/>
        </p:nvSpPr>
        <p:spPr>
          <a:xfrm>
            <a:off x="5539046" y="3666034"/>
            <a:ext cx="5761687" cy="26203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600"/>
              <a:buFont typeface="Unbounded"/>
              <a:buNone/>
            </a:pPr>
            <a:r>
              <a:rPr b="0" i="0" lang="en-US" sz="1600" u="none" cap="none" strike="noStrike">
                <a:solidFill>
                  <a:srgbClr val="000000"/>
                </a:solidFill>
                <a:latin typeface="Unbounded"/>
                <a:ea typeface="Unbounded"/>
                <a:cs typeface="Unbounded"/>
                <a:sym typeface="Unbounded"/>
              </a:rPr>
              <a:t>⚠</a:t>
            </a:r>
            <a:r>
              <a:rPr b="0" i="0" lang="en-US" sz="1600" u="none" cap="none" strike="noStrike">
                <a:solidFill>
                  <a:srgbClr val="CAD6DE"/>
                </a:solidFill>
                <a:latin typeface="Unbounded"/>
                <a:ea typeface="Unbounded"/>
                <a:cs typeface="Unbounded"/>
                <a:sym typeface="Unbounded"/>
              </a:rPr>
              <a:t> Do not claim "no study exists"</a:t>
            </a:r>
            <a:endParaRPr b="0" i="0" sz="1600" u="none" cap="none" strike="noStrike">
              <a:solidFill>
                <a:schemeClr val="dk1"/>
              </a:solidFill>
              <a:latin typeface="Calibri"/>
              <a:ea typeface="Calibri"/>
              <a:cs typeface="Calibri"/>
              <a:sym typeface="Calibri"/>
            </a:endParaRPr>
          </a:p>
        </p:txBody>
      </p:sp>
      <p:sp>
        <p:nvSpPr>
          <p:cNvPr id="403" name="Google Shape;403;p20"/>
          <p:cNvSpPr/>
          <p:nvPr/>
        </p:nvSpPr>
        <p:spPr>
          <a:xfrm>
            <a:off x="5539046" y="4019054"/>
            <a:ext cx="5761687" cy="2604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AD6DE"/>
              </a:buClr>
              <a:buSzPts val="1350"/>
              <a:buFont typeface="Cabin"/>
              <a:buNone/>
            </a:pPr>
            <a:r>
              <a:rPr b="0" i="0" lang="en-US" sz="1350" u="none" cap="none" strike="noStrike">
                <a:solidFill>
                  <a:srgbClr val="CAD6DE"/>
                </a:solidFill>
                <a:latin typeface="Cabin"/>
                <a:ea typeface="Cabin"/>
                <a:cs typeface="Cabin"/>
                <a:sym typeface="Cabin"/>
              </a:rPr>
              <a:t>Only make this claim after an exhaustive, well-documented search.</a:t>
            </a:r>
            <a:endParaRPr b="0" i="0" sz="1350" u="none" cap="none" strike="noStrike">
              <a:solidFill>
                <a:schemeClr val="dk1"/>
              </a:solidFill>
              <a:latin typeface="Calibri"/>
              <a:ea typeface="Calibri"/>
              <a:cs typeface="Calibri"/>
              <a:sym typeface="Calibri"/>
            </a:endParaRPr>
          </a:p>
        </p:txBody>
      </p:sp>
      <p:pic>
        <p:nvPicPr>
          <p:cNvPr descr="preencoded.png" id="404" name="Google Shape;404;p20"/>
          <p:cNvPicPr preferRelativeResize="0"/>
          <p:nvPr/>
        </p:nvPicPr>
        <p:blipFill rotWithShape="1">
          <a:blip r:embed="rId5">
            <a:alphaModFix/>
          </a:blip>
          <a:srcRect b="0" l="0" r="0" t="0"/>
          <a:stretch/>
        </p:blipFill>
        <p:spPr>
          <a:xfrm>
            <a:off x="5269971" y="4623991"/>
            <a:ext cx="6223638" cy="1259681"/>
          </a:xfrm>
          <a:prstGeom prst="rect">
            <a:avLst/>
          </a:prstGeom>
          <a:noFill/>
          <a:ln>
            <a:noFill/>
          </a:ln>
        </p:spPr>
      </p:pic>
      <p:sp>
        <p:nvSpPr>
          <p:cNvPr id="405" name="Google Shape;405;p20"/>
          <p:cNvSpPr/>
          <p:nvPr/>
        </p:nvSpPr>
        <p:spPr>
          <a:xfrm>
            <a:off x="5539046" y="4816872"/>
            <a:ext cx="5761687" cy="26203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600"/>
              <a:buFont typeface="Unbounded"/>
              <a:buNone/>
            </a:pPr>
            <a:r>
              <a:rPr b="0" i="0" lang="en-US" sz="1600" u="none" cap="none" strike="noStrike">
                <a:solidFill>
                  <a:srgbClr val="000000"/>
                </a:solidFill>
                <a:latin typeface="Unbounded"/>
                <a:ea typeface="Unbounded"/>
                <a:cs typeface="Unbounded"/>
                <a:sym typeface="Unbounded"/>
              </a:rPr>
              <a:t>⚠</a:t>
            </a:r>
            <a:r>
              <a:rPr b="0" i="0" lang="en-US" sz="1600" u="none" cap="none" strike="noStrike">
                <a:solidFill>
                  <a:srgbClr val="CAD6DE"/>
                </a:solidFill>
                <a:latin typeface="Unbounded"/>
                <a:ea typeface="Unbounded"/>
                <a:cs typeface="Unbounded"/>
                <a:sym typeface="Unbounded"/>
              </a:rPr>
              <a:t> Do not echo author-suggested future work</a:t>
            </a:r>
            <a:endParaRPr b="0" i="0" sz="1600" u="none" cap="none" strike="noStrike">
              <a:solidFill>
                <a:schemeClr val="dk1"/>
              </a:solidFill>
              <a:latin typeface="Calibri"/>
              <a:ea typeface="Calibri"/>
              <a:cs typeface="Calibri"/>
              <a:sym typeface="Calibri"/>
            </a:endParaRPr>
          </a:p>
        </p:txBody>
      </p:sp>
      <p:sp>
        <p:nvSpPr>
          <p:cNvPr id="406" name="Google Shape;406;p20"/>
          <p:cNvSpPr/>
          <p:nvPr/>
        </p:nvSpPr>
        <p:spPr>
          <a:xfrm>
            <a:off x="5539046" y="5169892"/>
            <a:ext cx="5761687" cy="52089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AD6DE"/>
              </a:buClr>
              <a:buSzPts val="1350"/>
              <a:buFont typeface="Cabin"/>
              <a:buNone/>
            </a:pPr>
            <a:r>
              <a:rPr b="0" i="0" lang="en-US" sz="1350" u="none" cap="none" strike="noStrike">
                <a:solidFill>
                  <a:srgbClr val="CAD6DE"/>
                </a:solidFill>
                <a:latin typeface="Cabin"/>
                <a:ea typeface="Cabin"/>
                <a:cs typeface="Cabin"/>
                <a:sym typeface="Cabin"/>
              </a:rPr>
              <a:t>Author suggestions are not confirmed gaps — they require independent validation across multiple papers.</a:t>
            </a:r>
            <a:endParaRPr b="0" i="0" sz="1350" u="none" cap="none" strike="noStrike">
              <a:solidFill>
                <a:schemeClr val="dk1"/>
              </a:solidFill>
              <a:latin typeface="Calibri"/>
              <a:ea typeface="Calibri"/>
              <a:cs typeface="Calibri"/>
              <a:sym typeface="Calibri"/>
            </a:endParaRPr>
          </a:p>
        </p:txBody>
      </p:sp>
      <p:sp>
        <p:nvSpPr>
          <p:cNvPr id="407" name="Google Shape;407;p20"/>
          <p:cNvSpPr/>
          <p:nvPr/>
        </p:nvSpPr>
        <p:spPr>
          <a:xfrm>
            <a:off x="5269971" y="6054229"/>
            <a:ext cx="6833223" cy="2082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AD6DE"/>
              </a:buClr>
              <a:buSzPts val="1050"/>
              <a:buFont typeface="Cabin"/>
              <a:buNone/>
            </a:pPr>
            <a:r>
              <a:rPr b="0" i="0" lang="en-US" sz="1050" u="none" cap="none" strike="noStrike">
                <a:solidFill>
                  <a:srgbClr val="CAD6DE"/>
                </a:solidFill>
                <a:latin typeface="Cabin"/>
                <a:ea typeface="Cabin"/>
                <a:cs typeface="Cabin"/>
                <a:sym typeface="Cabin"/>
              </a:rPr>
              <a:t>Use this as a thinking scaffold. Do not copy it mechanically into the thesis.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1"/>
          <p:cNvSpPr/>
          <p:nvPr/>
        </p:nvSpPr>
        <p:spPr>
          <a:xfrm>
            <a:off x="698086" y="605929"/>
            <a:ext cx="1673878" cy="293588"/>
          </a:xfrm>
          <a:prstGeom prst="roundRect">
            <a:avLst>
              <a:gd fmla="val 7899" name="adj"/>
            </a:avLst>
          </a:prstGeom>
          <a:solidFill>
            <a:srgbClr val="054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1"/>
          <p:cNvSpPr/>
          <p:nvPr/>
        </p:nvSpPr>
        <p:spPr>
          <a:xfrm>
            <a:off x="813970" y="663873"/>
            <a:ext cx="2051693" cy="177701"/>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CAD6DE"/>
              </a:buClr>
              <a:buSzPts val="1200"/>
              <a:buFont typeface="Cabin"/>
              <a:buNone/>
            </a:pPr>
            <a:r>
              <a:rPr b="0" i="0" lang="en-US" sz="1200" u="none" cap="none" strike="noStrike">
                <a:solidFill>
                  <a:srgbClr val="CAD6DE"/>
                </a:solidFill>
                <a:latin typeface="Cabin"/>
                <a:ea typeface="Cabin"/>
                <a:cs typeface="Cabin"/>
                <a:sym typeface="Cabin"/>
              </a:rPr>
              <a:t>POST-SESSION TASK</a:t>
            </a:r>
            <a:endParaRPr b="0" i="0" sz="1200" u="none" cap="none" strike="noStrike">
              <a:solidFill>
                <a:schemeClr val="dk1"/>
              </a:solidFill>
              <a:latin typeface="Calibri"/>
              <a:ea typeface="Calibri"/>
              <a:cs typeface="Calibri"/>
              <a:sym typeface="Calibri"/>
            </a:endParaRPr>
          </a:p>
        </p:txBody>
      </p:sp>
      <p:sp>
        <p:nvSpPr>
          <p:cNvPr id="415" name="Google Shape;415;p21"/>
          <p:cNvSpPr/>
          <p:nvPr/>
        </p:nvSpPr>
        <p:spPr>
          <a:xfrm>
            <a:off x="698086" y="974328"/>
            <a:ext cx="10795524" cy="113665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550"/>
              <a:buFont typeface="Unbounded"/>
              <a:buNone/>
            </a:pPr>
            <a:r>
              <a:rPr b="0" i="0" lang="en-US" sz="3550" u="none" cap="none" strike="noStrike">
                <a:solidFill>
                  <a:srgbClr val="FFFFFF"/>
                </a:solidFill>
                <a:latin typeface="Unbounded"/>
                <a:ea typeface="Unbounded"/>
                <a:cs typeface="Unbounded"/>
                <a:sym typeface="Unbounded"/>
              </a:rPr>
              <a:t>Apply Today's Process After the Session</a:t>
            </a:r>
            <a:endParaRPr b="0" i="0" sz="3550" u="none" cap="none" strike="noStrike">
              <a:solidFill>
                <a:schemeClr val="dk1"/>
              </a:solidFill>
              <a:latin typeface="Calibri"/>
              <a:ea typeface="Calibri"/>
              <a:cs typeface="Calibri"/>
              <a:sym typeface="Calibri"/>
            </a:endParaRPr>
          </a:p>
        </p:txBody>
      </p:sp>
      <p:sp>
        <p:nvSpPr>
          <p:cNvPr id="416" name="Google Shape;416;p21"/>
          <p:cNvSpPr/>
          <p:nvPr/>
        </p:nvSpPr>
        <p:spPr>
          <a:xfrm>
            <a:off x="698086" y="2391767"/>
            <a:ext cx="3473760" cy="2588816"/>
          </a:xfrm>
          <a:prstGeom prst="roundRect">
            <a:avLst>
              <a:gd fmla="val 1120"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1"/>
          <p:cNvSpPr/>
          <p:nvPr/>
        </p:nvSpPr>
        <p:spPr>
          <a:xfrm>
            <a:off x="891260" y="2584946"/>
            <a:ext cx="3087412" cy="56812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750"/>
              <a:buFont typeface="Unbounded"/>
              <a:buNone/>
            </a:pPr>
            <a:r>
              <a:rPr b="0" i="0" lang="en-US" sz="1750" u="none" cap="none" strike="noStrike">
                <a:solidFill>
                  <a:srgbClr val="CAD6DE"/>
                </a:solidFill>
                <a:latin typeface="Unbounded"/>
                <a:ea typeface="Unbounded"/>
                <a:cs typeface="Unbounded"/>
                <a:sym typeface="Unbounded"/>
              </a:rPr>
              <a:t>Step 1 — Test All Three Topics</a:t>
            </a:r>
            <a:endParaRPr b="0" i="0" sz="1750" u="none" cap="none" strike="noStrike">
              <a:solidFill>
                <a:schemeClr val="dk1"/>
              </a:solidFill>
              <a:latin typeface="Calibri"/>
              <a:ea typeface="Calibri"/>
              <a:cs typeface="Calibri"/>
              <a:sym typeface="Calibri"/>
            </a:endParaRPr>
          </a:p>
        </p:txBody>
      </p:sp>
      <p:sp>
        <p:nvSpPr>
          <p:cNvPr id="418" name="Google Shape;418;p21"/>
          <p:cNvSpPr/>
          <p:nvPr/>
        </p:nvSpPr>
        <p:spPr>
          <a:xfrm>
            <a:off x="891260" y="3265388"/>
            <a:ext cx="3087412" cy="1522016"/>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CAD6DE"/>
              </a:buClr>
              <a:buSzPts val="1500"/>
              <a:buFont typeface="Cabin"/>
              <a:buNone/>
            </a:pPr>
            <a:r>
              <a:rPr b="0" i="0" lang="en-US" sz="1500" u="none" cap="none" strike="noStrike">
                <a:solidFill>
                  <a:srgbClr val="CAD6DE"/>
                </a:solidFill>
                <a:latin typeface="Cabin"/>
                <a:ea typeface="Cabin"/>
                <a:cs typeface="Cabin"/>
                <a:sym typeface="Cabin"/>
              </a:rPr>
              <a:t>For each candidate topic, find three closely related papers and one anchor paper. Compare problem, data, method, evaluation, results, and limitations.</a:t>
            </a:r>
            <a:endParaRPr b="0" i="0" sz="1500" u="none" cap="none" strike="noStrike">
              <a:solidFill>
                <a:schemeClr val="dk1"/>
              </a:solidFill>
              <a:latin typeface="Calibri"/>
              <a:ea typeface="Calibri"/>
              <a:cs typeface="Calibri"/>
              <a:sym typeface="Calibri"/>
            </a:endParaRPr>
          </a:p>
        </p:txBody>
      </p:sp>
      <p:sp>
        <p:nvSpPr>
          <p:cNvPr id="419" name="Google Shape;419;p21"/>
          <p:cNvSpPr/>
          <p:nvPr/>
        </p:nvSpPr>
        <p:spPr>
          <a:xfrm>
            <a:off x="4358968" y="2391767"/>
            <a:ext cx="3473760" cy="2588816"/>
          </a:xfrm>
          <a:prstGeom prst="roundRect">
            <a:avLst>
              <a:gd fmla="val 1120"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1"/>
          <p:cNvSpPr/>
          <p:nvPr/>
        </p:nvSpPr>
        <p:spPr>
          <a:xfrm>
            <a:off x="4552142" y="2584946"/>
            <a:ext cx="3087412" cy="56812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750"/>
              <a:buFont typeface="Unbounded"/>
              <a:buNone/>
            </a:pPr>
            <a:r>
              <a:rPr b="0" i="0" lang="en-US" sz="1750" u="none" cap="none" strike="noStrike">
                <a:solidFill>
                  <a:srgbClr val="CAD6DE"/>
                </a:solidFill>
                <a:latin typeface="Unbounded"/>
                <a:ea typeface="Unbounded"/>
                <a:cs typeface="Unbounded"/>
                <a:sym typeface="Unbounded"/>
              </a:rPr>
              <a:t>Step 2 — Select the Strongest Topic</a:t>
            </a:r>
            <a:endParaRPr b="0" i="0" sz="1750" u="none" cap="none" strike="noStrike">
              <a:solidFill>
                <a:schemeClr val="dk1"/>
              </a:solidFill>
              <a:latin typeface="Calibri"/>
              <a:ea typeface="Calibri"/>
              <a:cs typeface="Calibri"/>
              <a:sym typeface="Calibri"/>
            </a:endParaRPr>
          </a:p>
        </p:txBody>
      </p:sp>
      <p:sp>
        <p:nvSpPr>
          <p:cNvPr id="421" name="Google Shape;421;p21"/>
          <p:cNvSpPr/>
          <p:nvPr/>
        </p:nvSpPr>
        <p:spPr>
          <a:xfrm>
            <a:off x="4552142" y="3265388"/>
            <a:ext cx="3087412" cy="1522016"/>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CAD6DE"/>
              </a:buClr>
              <a:buSzPts val="1500"/>
              <a:buFont typeface="Cabin"/>
              <a:buNone/>
            </a:pPr>
            <a:r>
              <a:rPr b="0" i="0" lang="en-US" sz="1500" u="none" cap="none" strike="noStrike">
                <a:solidFill>
                  <a:srgbClr val="CAD6DE"/>
                </a:solidFill>
                <a:latin typeface="Cabin"/>
                <a:ea typeface="Cabin"/>
                <a:cs typeface="Cabin"/>
                <a:sym typeface="Cabin"/>
              </a:rPr>
              <a:t>Choose the topic with a clearer unresolved problem, accessible data, feasible method direction, suitable evaluation, and an explainable contribution.</a:t>
            </a:r>
            <a:endParaRPr b="0" i="0" sz="1500" u="none" cap="none" strike="noStrike">
              <a:solidFill>
                <a:schemeClr val="dk1"/>
              </a:solidFill>
              <a:latin typeface="Calibri"/>
              <a:ea typeface="Calibri"/>
              <a:cs typeface="Calibri"/>
              <a:sym typeface="Calibri"/>
            </a:endParaRPr>
          </a:p>
        </p:txBody>
      </p:sp>
      <p:sp>
        <p:nvSpPr>
          <p:cNvPr id="422" name="Google Shape;422;p21"/>
          <p:cNvSpPr/>
          <p:nvPr/>
        </p:nvSpPr>
        <p:spPr>
          <a:xfrm>
            <a:off x="8019849" y="2391767"/>
            <a:ext cx="3473760" cy="2588816"/>
          </a:xfrm>
          <a:prstGeom prst="roundRect">
            <a:avLst>
              <a:gd fmla="val 1120"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1"/>
          <p:cNvSpPr/>
          <p:nvPr/>
        </p:nvSpPr>
        <p:spPr>
          <a:xfrm>
            <a:off x="8213023" y="2584946"/>
            <a:ext cx="3087412" cy="56812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AD6DE"/>
              </a:buClr>
              <a:buSzPts val="1750"/>
              <a:buFont typeface="Unbounded"/>
              <a:buNone/>
            </a:pPr>
            <a:r>
              <a:rPr b="0" i="0" lang="en-US" sz="1750" u="none" cap="none" strike="noStrike">
                <a:solidFill>
                  <a:srgbClr val="CAD6DE"/>
                </a:solidFill>
                <a:latin typeface="Unbounded"/>
                <a:ea typeface="Unbounded"/>
                <a:cs typeface="Unbounded"/>
                <a:sym typeface="Unbounded"/>
              </a:rPr>
              <a:t>Step 3 — Expand the Review</a:t>
            </a:r>
            <a:endParaRPr b="0" i="0" sz="1750" u="none" cap="none" strike="noStrike">
              <a:solidFill>
                <a:schemeClr val="dk1"/>
              </a:solidFill>
              <a:latin typeface="Calibri"/>
              <a:ea typeface="Calibri"/>
              <a:cs typeface="Calibri"/>
              <a:sym typeface="Calibri"/>
            </a:endParaRPr>
          </a:p>
        </p:txBody>
      </p:sp>
      <p:sp>
        <p:nvSpPr>
          <p:cNvPr id="424" name="Google Shape;424;p21"/>
          <p:cNvSpPr/>
          <p:nvPr/>
        </p:nvSpPr>
        <p:spPr>
          <a:xfrm>
            <a:off x="8213023" y="3265388"/>
            <a:ext cx="3087412" cy="1522016"/>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CAD6DE"/>
              </a:buClr>
              <a:buSzPts val="1500"/>
              <a:buFont typeface="Cabin"/>
              <a:buNone/>
            </a:pPr>
            <a:r>
              <a:rPr b="0" i="0" lang="en-US" sz="1500" u="none" cap="none" strike="noStrike">
                <a:solidFill>
                  <a:srgbClr val="CAD6DE"/>
                </a:solidFill>
                <a:latin typeface="Cabin"/>
                <a:ea typeface="Cabin"/>
                <a:cs typeface="Cabin"/>
                <a:sym typeface="Cabin"/>
              </a:rPr>
              <a:t>For the preferred topic, expand to 5–7 papers, complete the tracker thoroughly, identify recurring limitations, write one gap synthesis, and keep one backup topic.</a:t>
            </a:r>
            <a:endParaRPr b="0" i="0" sz="1500" u="none" cap="none" strike="noStrike">
              <a:solidFill>
                <a:schemeClr val="dk1"/>
              </a:solidFill>
              <a:latin typeface="Calibri"/>
              <a:ea typeface="Calibri"/>
              <a:cs typeface="Calibri"/>
              <a:sym typeface="Calibri"/>
            </a:endParaRPr>
          </a:p>
        </p:txBody>
      </p:sp>
      <p:sp>
        <p:nvSpPr>
          <p:cNvPr id="425" name="Google Shape;425;p21"/>
          <p:cNvSpPr/>
          <p:nvPr/>
        </p:nvSpPr>
        <p:spPr>
          <a:xfrm>
            <a:off x="698086" y="5191125"/>
            <a:ext cx="10795524" cy="1060847"/>
          </a:xfrm>
          <a:prstGeom prst="roundRect">
            <a:avLst>
              <a:gd fmla="val 2732" name="adj"/>
            </a:avLst>
          </a:prstGeom>
          <a:solidFill>
            <a:srgbClr val="0878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6" name="Google Shape;426;p21"/>
          <p:cNvPicPr preferRelativeResize="0"/>
          <p:nvPr/>
        </p:nvPicPr>
        <p:blipFill rotWithShape="1">
          <a:blip r:embed="rId3">
            <a:alphaModFix/>
          </a:blip>
          <a:srcRect b="0" l="0" r="0" t="0"/>
          <a:stretch/>
        </p:blipFill>
        <p:spPr>
          <a:xfrm>
            <a:off x="891260" y="5466655"/>
            <a:ext cx="241492" cy="193179"/>
          </a:xfrm>
          <a:prstGeom prst="rect">
            <a:avLst/>
          </a:prstGeom>
          <a:noFill/>
          <a:ln>
            <a:noFill/>
          </a:ln>
        </p:spPr>
      </p:pic>
      <p:sp>
        <p:nvSpPr>
          <p:cNvPr id="427" name="Google Shape;427;p21"/>
          <p:cNvSpPr/>
          <p:nvPr/>
        </p:nvSpPr>
        <p:spPr>
          <a:xfrm>
            <a:off x="1325926" y="5426472"/>
            <a:ext cx="9974509" cy="608806"/>
          </a:xfrm>
          <a:prstGeom prst="rect">
            <a:avLst/>
          </a:prstGeom>
          <a:noFill/>
          <a:ln>
            <a:noFill/>
          </a:ln>
        </p:spPr>
        <p:txBody>
          <a:bodyPr anchorCtr="0" anchor="t" bIns="0" lIns="0" spcFirstLastPara="1" rIns="0" wrap="square" tIns="0">
            <a:noAutofit/>
          </a:bodyPr>
          <a:lstStyle/>
          <a:p>
            <a:pPr indent="0" lvl="0" marL="0" marR="0" rtl="0" algn="l">
              <a:lnSpc>
                <a:spcPct val="131000"/>
              </a:lnSpc>
              <a:spcBef>
                <a:spcPts val="0"/>
              </a:spcBef>
              <a:spcAft>
                <a:spcPts val="0"/>
              </a:spcAft>
              <a:buClr>
                <a:srgbClr val="FFFFFF"/>
              </a:buClr>
              <a:buSzPts val="1500"/>
              <a:buFont typeface="Cabin"/>
              <a:buNone/>
            </a:pPr>
            <a:r>
              <a:rPr b="0" i="0" lang="en-US" sz="1500" u="none" cap="none" strike="noStrike">
                <a:solidFill>
                  <a:srgbClr val="FFFFFF"/>
                </a:solidFill>
                <a:latin typeface="Cabin"/>
                <a:ea typeface="Cabin"/>
                <a:cs typeface="Cabin"/>
                <a:sym typeface="Cabin"/>
              </a:rPr>
              <a:t>Do not choose a topic first and then search for papers that support it. Use the literature to decide which topic deserves to continue.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22"/>
          <p:cNvSpPr/>
          <p:nvPr/>
        </p:nvSpPr>
        <p:spPr>
          <a:xfrm>
            <a:off x="698086" y="793948"/>
            <a:ext cx="1728645" cy="303113"/>
          </a:xfrm>
          <a:prstGeom prst="roundRect">
            <a:avLst>
              <a:gd fmla="val 7897" name="adj"/>
            </a:avLst>
          </a:prstGeom>
          <a:solidFill>
            <a:srgbClr val="0548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2"/>
          <p:cNvSpPr/>
          <p:nvPr/>
        </p:nvSpPr>
        <p:spPr>
          <a:xfrm>
            <a:off x="817740" y="853777"/>
            <a:ext cx="2098920" cy="183455"/>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CAD6DE"/>
              </a:buClr>
              <a:buSzPts val="1250"/>
              <a:buFont typeface="Cabin"/>
              <a:buNone/>
            </a:pPr>
            <a:r>
              <a:rPr b="0" i="0" lang="en-US" sz="1250" u="none" cap="none" strike="noStrike">
                <a:solidFill>
                  <a:srgbClr val="CAD6DE"/>
                </a:solidFill>
                <a:latin typeface="Cabin"/>
                <a:ea typeface="Cabin"/>
                <a:cs typeface="Cabin"/>
                <a:sym typeface="Cabin"/>
              </a:rPr>
              <a:t>POST-SESSION TASK</a:t>
            </a:r>
            <a:endParaRPr b="0" i="0" sz="1250" u="none" cap="none" strike="noStrike">
              <a:solidFill>
                <a:schemeClr val="dk1"/>
              </a:solidFill>
              <a:latin typeface="Calibri"/>
              <a:ea typeface="Calibri"/>
              <a:cs typeface="Calibri"/>
              <a:sym typeface="Calibri"/>
            </a:endParaRPr>
          </a:p>
        </p:txBody>
      </p:sp>
      <p:sp>
        <p:nvSpPr>
          <p:cNvPr id="435" name="Google Shape;435;p22"/>
          <p:cNvSpPr/>
          <p:nvPr/>
        </p:nvSpPr>
        <p:spPr>
          <a:xfrm>
            <a:off x="698086" y="1176834"/>
            <a:ext cx="10795524" cy="117336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Unbounded"/>
              <a:buNone/>
            </a:pPr>
            <a:r>
              <a:rPr b="0" i="0" lang="en-US" sz="3650" u="none" cap="none" strike="noStrike">
                <a:solidFill>
                  <a:srgbClr val="FFFFFF"/>
                </a:solidFill>
                <a:latin typeface="Unbounded"/>
                <a:ea typeface="Unbounded"/>
                <a:cs typeface="Unbounded"/>
                <a:sym typeface="Unbounded"/>
              </a:rPr>
              <a:t>Expected Output Before Supervisor Review</a:t>
            </a:r>
            <a:endParaRPr b="0" i="0" sz="3650" u="none" cap="none" strike="noStrike">
              <a:solidFill>
                <a:schemeClr val="dk1"/>
              </a:solidFill>
              <a:latin typeface="Calibri"/>
              <a:ea typeface="Calibri"/>
              <a:cs typeface="Calibri"/>
              <a:sym typeface="Calibri"/>
            </a:endParaRPr>
          </a:p>
        </p:txBody>
      </p:sp>
      <p:sp>
        <p:nvSpPr>
          <p:cNvPr id="436" name="Google Shape;436;p22"/>
          <p:cNvSpPr/>
          <p:nvPr/>
        </p:nvSpPr>
        <p:spPr>
          <a:xfrm>
            <a:off x="698086" y="2848769"/>
            <a:ext cx="5154484"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800"/>
              <a:buFont typeface="Unbounded"/>
              <a:buNone/>
            </a:pPr>
            <a:r>
              <a:rPr b="0" i="0" lang="en-US" sz="1800" u="none" cap="none" strike="noStrike">
                <a:solidFill>
                  <a:srgbClr val="FFFFFF"/>
                </a:solidFill>
                <a:latin typeface="Unbounded"/>
                <a:ea typeface="Unbounded"/>
                <a:cs typeface="Unbounded"/>
                <a:sym typeface="Unbounded"/>
              </a:rPr>
              <a:t>Submit This Evidence Package</a:t>
            </a:r>
            <a:endParaRPr b="0" i="0" sz="1800" u="none" cap="none" strike="noStrike">
              <a:solidFill>
                <a:schemeClr val="dk1"/>
              </a:solidFill>
              <a:latin typeface="Calibri"/>
              <a:ea typeface="Calibri"/>
              <a:cs typeface="Calibri"/>
              <a:sym typeface="Calibri"/>
            </a:endParaRPr>
          </a:p>
        </p:txBody>
      </p:sp>
      <p:sp>
        <p:nvSpPr>
          <p:cNvPr id="437" name="Google Shape;437;p22"/>
          <p:cNvSpPr/>
          <p:nvPr/>
        </p:nvSpPr>
        <p:spPr>
          <a:xfrm>
            <a:off x="698086" y="3341489"/>
            <a:ext cx="5154484" cy="2652812"/>
          </a:xfrm>
          <a:prstGeom prst="rect">
            <a:avLst/>
          </a:prstGeom>
          <a:noFill/>
          <a:ln>
            <a:noFill/>
          </a:ln>
        </p:spPr>
        <p:txBody>
          <a:bodyPr anchorCtr="0" anchor="t" bIns="0" lIns="0" spcFirstLastPara="1" rIns="0" wrap="square" tIns="0">
            <a:noAutofit/>
          </a:bodyPr>
          <a:lstStyle/>
          <a:p>
            <a:pPr indent="-314960" lvl="0" marL="31496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Three candidate topics</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Three-paper comparison for each topic</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Five to seven papers for the preferred topic</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One gap synthesis paragraph</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Preferred topic with justification</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One backup topic</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CAD6DE"/>
              </a:buClr>
              <a:buSzPts val="1550"/>
              <a:buFont typeface="Cabin"/>
              <a:buChar char="•"/>
            </a:pPr>
            <a:r>
              <a:rPr b="0" i="0" lang="en-US" sz="1550" u="none" cap="none" strike="noStrike">
                <a:solidFill>
                  <a:srgbClr val="CAD6DE"/>
                </a:solidFill>
                <a:latin typeface="Cabin"/>
                <a:ea typeface="Cabin"/>
                <a:cs typeface="Cabin"/>
                <a:sym typeface="Cabin"/>
              </a:rPr>
              <a:t>Questions for the supervisor</a:t>
            </a:r>
            <a:endParaRPr b="0" i="0" sz="1550" u="none" cap="none" strike="noStrike">
              <a:solidFill>
                <a:schemeClr val="dk1"/>
              </a:solidFill>
              <a:latin typeface="Calibri"/>
              <a:ea typeface="Calibri"/>
              <a:cs typeface="Calibri"/>
              <a:sym typeface="Calibri"/>
            </a:endParaRPr>
          </a:p>
        </p:txBody>
      </p:sp>
      <p:sp>
        <p:nvSpPr>
          <p:cNvPr id="438" name="Google Shape;438;p22"/>
          <p:cNvSpPr/>
          <p:nvPr/>
        </p:nvSpPr>
        <p:spPr>
          <a:xfrm>
            <a:off x="6345476" y="2848769"/>
            <a:ext cx="5154484"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800"/>
              <a:buFont typeface="Unbounded"/>
              <a:buNone/>
            </a:pPr>
            <a:r>
              <a:rPr b="0" i="0" lang="en-US" sz="1800" u="none" cap="none" strike="noStrike">
                <a:solidFill>
                  <a:srgbClr val="FFFFFF"/>
                </a:solidFill>
                <a:latin typeface="Unbounded"/>
                <a:ea typeface="Unbounded"/>
                <a:cs typeface="Unbounded"/>
                <a:sym typeface="Unbounded"/>
              </a:rPr>
              <a:t>What a Strong Submission Says</a:t>
            </a:r>
            <a:endParaRPr b="0" i="0" sz="1800" u="none" cap="none" strike="noStrike">
              <a:solidFill>
                <a:schemeClr val="dk1"/>
              </a:solidFill>
              <a:latin typeface="Calibri"/>
              <a:ea typeface="Calibri"/>
              <a:cs typeface="Calibri"/>
              <a:sym typeface="Calibri"/>
            </a:endParaRPr>
          </a:p>
        </p:txBody>
      </p:sp>
      <p:sp>
        <p:nvSpPr>
          <p:cNvPr id="439" name="Google Shape;439;p22"/>
          <p:cNvSpPr/>
          <p:nvPr/>
        </p:nvSpPr>
        <p:spPr>
          <a:xfrm>
            <a:off x="6345476" y="3366393"/>
            <a:ext cx="25399" cy="1316434"/>
          </a:xfrm>
          <a:prstGeom prst="roundRect">
            <a:avLst>
              <a:gd fmla="val 60001" name="adj"/>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2"/>
          <p:cNvSpPr/>
          <p:nvPr/>
        </p:nvSpPr>
        <p:spPr>
          <a:xfrm>
            <a:off x="6644613" y="3545880"/>
            <a:ext cx="4855347" cy="95756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"These papers show what has been done, what remains unresolved, which topic is feasible, and why our selected direction is defensible."</a:t>
            </a:r>
            <a:endParaRPr b="0" i="0" sz="1550" u="none" cap="none" strike="noStrike">
              <a:solidFill>
                <a:schemeClr val="dk1"/>
              </a:solidFill>
              <a:latin typeface="Calibri"/>
              <a:ea typeface="Calibri"/>
              <a:cs typeface="Calibri"/>
              <a:sym typeface="Calibri"/>
            </a:endParaRPr>
          </a:p>
        </p:txBody>
      </p:sp>
      <p:sp>
        <p:nvSpPr>
          <p:cNvPr id="441" name="Google Shape;441;p22"/>
          <p:cNvSpPr/>
          <p:nvPr/>
        </p:nvSpPr>
        <p:spPr>
          <a:xfrm>
            <a:off x="6345476" y="4907260"/>
            <a:ext cx="5154484" cy="638373"/>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AD6DE"/>
              </a:buClr>
              <a:buSzPts val="1550"/>
              <a:buFont typeface="Cabin"/>
              <a:buNone/>
            </a:pPr>
            <a:r>
              <a:rPr b="0" i="0" lang="en-US" sz="1550" u="none" cap="none" strike="noStrike">
                <a:solidFill>
                  <a:srgbClr val="CAD6DE"/>
                </a:solidFill>
                <a:latin typeface="Cabin"/>
                <a:ea typeface="Cabin"/>
                <a:cs typeface="Cabin"/>
                <a:sym typeface="Cabin"/>
              </a:rPr>
              <a:t>The supervisor meeting should be used for </a:t>
            </a:r>
            <a:r>
              <a:rPr b="1" i="0" lang="en-US" sz="1550" u="none" cap="none" strike="noStrike">
                <a:solidFill>
                  <a:srgbClr val="CAD6DE"/>
                </a:solidFill>
                <a:latin typeface="Cabin"/>
                <a:ea typeface="Cabin"/>
                <a:cs typeface="Cabin"/>
                <a:sym typeface="Cabin"/>
              </a:rPr>
              <a:t>decisions</a:t>
            </a:r>
            <a:r>
              <a:rPr b="0" i="0" lang="en-US" sz="1550" u="none" cap="none" strike="noStrike">
                <a:solidFill>
                  <a:srgbClr val="CAD6DE"/>
                </a:solidFill>
                <a:latin typeface="Cabin"/>
                <a:ea typeface="Cabin"/>
                <a:cs typeface="Cabin"/>
                <a:sym typeface="Cabin"/>
              </a:rPr>
              <a:t>, not for basic guessing about whether a topic is valid.</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
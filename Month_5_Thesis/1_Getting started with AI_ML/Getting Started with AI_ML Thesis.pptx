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6858000" cx="12191675"/>
  <p:notesSz cx="6858000" cy="12191675"/>
  <p:embeddedFontLst>
    <p:embeddedFont>
      <p:font typeface="Unbounded"/>
      <p:bold r:id="rId32"/>
    </p:embeddedFont>
    <p:embeddedFont>
      <p:font typeface="Open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OpenSans-regular.fntdata"/><Relationship Id="rId10" Type="http://schemas.openxmlformats.org/officeDocument/2006/relationships/slide" Target="slides/slide6.xml"/><Relationship Id="rId32" Type="http://schemas.openxmlformats.org/officeDocument/2006/relationships/font" Target="fonts/Unbounded-bold.fntdata"/><Relationship Id="rId13" Type="http://schemas.openxmlformats.org/officeDocument/2006/relationships/slide" Target="slides/slide9.xml"/><Relationship Id="rId35" Type="http://schemas.openxmlformats.org/officeDocument/2006/relationships/font" Target="fonts/OpenSans-italic.fntdata"/><Relationship Id="rId12" Type="http://schemas.openxmlformats.org/officeDocument/2006/relationships/slide" Target="slides/slide8.xml"/><Relationship Id="rId34" Type="http://schemas.openxmlformats.org/officeDocument/2006/relationships/font" Target="fonts/OpenSans-bold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schemas.openxmlformats.org/officeDocument/2006/relationships/font" Target="fonts/OpenSans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" name="Google Shape;1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" name="Google Shape;49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4" name="Google Shape;52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6" name="Google Shape;56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0" name="Google Shape;60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2" name="Google Shape;62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8" name="Google Shape;64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3" name="Google Shape;67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0" name="Google Shape;70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2" name="Google Shape;73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661475" y="1398091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3700"/>
              <a:buFont typeface="Unbounded"/>
              <a:buNone/>
            </a:pPr>
            <a:r>
              <a:rPr b="1" i="0" lang="en-US" sz="37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Getting Started with AI/ML Thesis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661475" y="2366764"/>
            <a:ext cx="11478330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Topic, scope, dataset, literature, and the first two-week submission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661475" y="2938463"/>
            <a:ext cx="2240303" cy="241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6A688"/>
              </a:buClr>
              <a:buSzPts val="1150"/>
              <a:buFont typeface="Open Sans"/>
              <a:buNone/>
            </a:pPr>
            <a:r>
              <a:rPr b="0" i="0" lang="en-US" sz="1150" u="none" cap="none" strike="noStrike">
                <a:solidFill>
                  <a:srgbClr val="26A688"/>
                </a:solidFill>
                <a:latin typeface="Open Sans"/>
                <a:ea typeface="Open Sans"/>
                <a:cs typeface="Open Sans"/>
                <a:sym typeface="Open Sans"/>
              </a:rPr>
              <a:t>BY MD. SABBIR AHMED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661475" y="3449637"/>
            <a:ext cx="1547476" cy="355203"/>
          </a:xfrm>
          <a:prstGeom prst="roundRect">
            <a:avLst>
              <a:gd fmla="val 17880" name="adj"/>
            </a:avLst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774879" y="3506291"/>
            <a:ext cx="1930252" cy="241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50"/>
              <a:buFont typeface="Open Sans"/>
              <a:buNone/>
            </a:pPr>
            <a:r>
              <a:rPr b="0" i="0" lang="en-US" sz="11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LIVE ORIENTATION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2303405" y="3449637"/>
            <a:ext cx="2030957" cy="355203"/>
          </a:xfrm>
          <a:prstGeom prst="roundRect">
            <a:avLst>
              <a:gd fmla="val 17880" name="adj"/>
            </a:avLst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2416809" y="3506291"/>
            <a:ext cx="2413733" cy="241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50"/>
              <a:buFont typeface="Open Sans"/>
              <a:buNone/>
            </a:pPr>
            <a:r>
              <a:rPr b="0" i="0" lang="en-US" sz="11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FIRST TWO WEEKS FOCUS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661475" y="4017466"/>
            <a:ext cx="3496877" cy="1442343"/>
          </a:xfrm>
          <a:prstGeom prst="roundRect">
            <a:avLst>
              <a:gd fmla="val 5504" name="adj"/>
            </a:avLst>
          </a:prstGeom>
          <a:solidFill>
            <a:srgbClr val="FFFFFF"/>
          </a:solidFill>
          <a:ln cap="flat" cmpd="sng" w="2537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875881" y="4231878"/>
            <a:ext cx="306806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850"/>
              <a:buFont typeface="Unbounded"/>
              <a:buNone/>
            </a:pPr>
            <a:r>
              <a:rPr b="1" i="0" lang="en-US" sz="1850" u="none" cap="none" strike="noStrike">
                <a:solidFill>
                  <a:srgbClr val="0D9488"/>
                </a:solidFill>
                <a:latin typeface="Unbounded"/>
                <a:ea typeface="Unbounded"/>
                <a:cs typeface="Unbounded"/>
                <a:sym typeface="Unbounded"/>
              </a:rPr>
              <a:t>Start with problems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875881" y="4640560"/>
            <a:ext cx="3068065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Not tools, models, or random datasets.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4347359" y="4017466"/>
            <a:ext cx="3496877" cy="1442343"/>
          </a:xfrm>
          <a:prstGeom prst="roundRect">
            <a:avLst>
              <a:gd fmla="val 5504" name="adj"/>
            </a:avLst>
          </a:prstGeom>
          <a:solidFill>
            <a:srgbClr val="FFFFFF"/>
          </a:solidFill>
          <a:ln cap="flat" cmpd="sng" w="2537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4561766" y="4231878"/>
            <a:ext cx="306806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50"/>
              <a:buFont typeface="Unbounded"/>
              <a:buNone/>
            </a:pPr>
            <a:r>
              <a:rPr b="1" i="0" lang="en-US" sz="1850" u="none" cap="none" strike="noStrike">
                <a:solidFill>
                  <a:srgbClr val="2563EB"/>
                </a:solidFill>
                <a:latin typeface="Unbounded"/>
                <a:ea typeface="Unbounded"/>
                <a:cs typeface="Unbounded"/>
                <a:sym typeface="Unbounded"/>
              </a:rPr>
              <a:t>Use SPOT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4561766" y="4640560"/>
            <a:ext cx="3068065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Scope, Probe, Own, Test the topic before committing.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8033244" y="4017466"/>
            <a:ext cx="3496877" cy="1442343"/>
          </a:xfrm>
          <a:prstGeom prst="roundRect">
            <a:avLst>
              <a:gd fmla="val 5504" name="adj"/>
            </a:avLst>
          </a:prstGeom>
          <a:solidFill>
            <a:srgbClr val="FFFFFF"/>
          </a:solidFill>
          <a:ln cap="flat" cmpd="sng" w="2537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8247650" y="4231878"/>
            <a:ext cx="306806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850"/>
              <a:buFont typeface="Unbounded"/>
              <a:buNone/>
            </a:pPr>
            <a:r>
              <a:rPr b="1" i="0" lang="en-US" sz="1850" u="none" cap="none" strike="noStrike">
                <a:solidFill>
                  <a:srgbClr val="EA580C"/>
                </a:solidFill>
                <a:latin typeface="Unbounded"/>
                <a:ea typeface="Unbounded"/>
                <a:cs typeface="Unbounded"/>
                <a:sym typeface="Unbounded"/>
              </a:rPr>
              <a:t>Dataset early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8247650" y="4640560"/>
            <a:ext cx="3068065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For AI/ML, the data often decides feasibility.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/>
          <p:nvPr/>
        </p:nvSpPr>
        <p:spPr>
          <a:xfrm>
            <a:off x="661475" y="962323"/>
            <a:ext cx="10868745" cy="561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3500"/>
              <a:buFont typeface="Unbounded"/>
              <a:buNone/>
            </a:pPr>
            <a:r>
              <a:rPr b="1" i="0" lang="en-US" sz="35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By the end of this session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356682" y="1864618"/>
            <a:ext cx="11478330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Students should leave with a clear first action plan, not just motivation.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661475" y="2336602"/>
            <a:ext cx="5349047" cy="1072654"/>
          </a:xfrm>
          <a:prstGeom prst="roundRect">
            <a:avLst>
              <a:gd fmla="val 7031" name="adj"/>
            </a:avLst>
          </a:prstGeom>
          <a:solidFill>
            <a:srgbClr val="FFFFFF"/>
          </a:solidFill>
          <a:ln cap="flat" cmpd="sng" w="2537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866356" y="2541488"/>
            <a:ext cx="4939283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Unbounded"/>
              <a:buNone/>
            </a:pPr>
            <a:r>
              <a:rPr b="1" i="0" lang="en-US" sz="17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1. Explain thesis in simple terms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866356" y="2924274"/>
            <a:ext cx="4939283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What makes thesis different from a class project.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6181074" y="2336602"/>
            <a:ext cx="5349146" cy="1072654"/>
          </a:xfrm>
          <a:prstGeom prst="roundRect">
            <a:avLst>
              <a:gd fmla="val 7031" name="adj"/>
            </a:avLst>
          </a:prstGeom>
          <a:solidFill>
            <a:srgbClr val="FFFFFF"/>
          </a:solidFill>
          <a:ln cap="flat" cmpd="sng" w="2537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6385956" y="2541488"/>
            <a:ext cx="4939383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Unbounded"/>
              <a:buNone/>
            </a:pPr>
            <a:r>
              <a:rPr b="1" i="0" lang="en-US" sz="17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2. Judge a topic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6385956" y="2924274"/>
            <a:ext cx="4939383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Problem, data, method direction, evaluation, contribution.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661475" y="3579813"/>
            <a:ext cx="5349047" cy="1072654"/>
          </a:xfrm>
          <a:prstGeom prst="roundRect">
            <a:avLst>
              <a:gd fmla="val 7031" name="adj"/>
            </a:avLst>
          </a:prstGeom>
          <a:solidFill>
            <a:srgbClr val="FFFFFF"/>
          </a:solidFill>
          <a:ln cap="flat" cmpd="sng" w="2537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866356" y="3784699"/>
            <a:ext cx="4939283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Unbounded"/>
              <a:buNone/>
            </a:pPr>
            <a:r>
              <a:rPr b="1" i="0" lang="en-US" sz="17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3. Avoid fake feasibility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866356" y="4167485"/>
            <a:ext cx="4939283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No dataset, no labels, no timeline, no thesis.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6181074" y="3579813"/>
            <a:ext cx="5349146" cy="1072654"/>
          </a:xfrm>
          <a:prstGeom prst="roundRect">
            <a:avLst>
              <a:gd fmla="val 7031" name="adj"/>
            </a:avLst>
          </a:prstGeom>
          <a:solidFill>
            <a:srgbClr val="FFFFFF"/>
          </a:solidFill>
          <a:ln cap="flat" cmpd="sng" w="2537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6385956" y="3784699"/>
            <a:ext cx="4939383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Unbounded"/>
              <a:buNone/>
            </a:pPr>
            <a:r>
              <a:rPr b="1" i="0" lang="en-US" sz="17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4. Use SPOT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6385956" y="4167485"/>
            <a:ext cx="4939383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Scope, Probe, Own, Test before final topic approval.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661475" y="4823023"/>
            <a:ext cx="5349047" cy="1072654"/>
          </a:xfrm>
          <a:prstGeom prst="roundRect">
            <a:avLst>
              <a:gd fmla="val 7031" name="adj"/>
            </a:avLst>
          </a:prstGeom>
          <a:solidFill>
            <a:srgbClr val="FFFFFF"/>
          </a:solidFill>
          <a:ln cap="flat" cmpd="sng" w="2537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866356" y="5027910"/>
            <a:ext cx="4939283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Unbounded"/>
              <a:buNone/>
            </a:pPr>
            <a:r>
              <a:rPr b="1" i="0" lang="en-US" sz="17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5. Prepare first submission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866356" y="5410696"/>
            <a:ext cx="4939283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3 to 5 candidate topics with dataset and paper evidence.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6181074" y="4823023"/>
            <a:ext cx="5349146" cy="1072654"/>
          </a:xfrm>
          <a:prstGeom prst="roundRect">
            <a:avLst>
              <a:gd fmla="val 7031" name="adj"/>
            </a:avLst>
          </a:prstGeom>
          <a:solidFill>
            <a:srgbClr val="FFFFFF"/>
          </a:solidFill>
          <a:ln cap="flat" cmpd="sng" w="2537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6385956" y="5027910"/>
            <a:ext cx="4939383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Unbounded"/>
              <a:buNone/>
            </a:pPr>
            <a:r>
              <a:rPr b="1" i="0" lang="en-US" sz="17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6. Know what comes next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6385956" y="5410696"/>
            <a:ext cx="4939383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Supervisor review after the first two-week output.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>
            <a:off x="661475" y="781546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3700"/>
              <a:buFont typeface="Unbounded"/>
              <a:buNone/>
            </a:pPr>
            <a:r>
              <a:rPr b="1" i="0" lang="en-US" sz="37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This is not a generic thesis talk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356682" y="1750219"/>
            <a:ext cx="11478330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The focus is the first two weeks: topic selection, dataset feasibility, and initial evidence.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661475" y="2265263"/>
            <a:ext cx="10868745" cy="3296047"/>
          </a:xfrm>
          <a:prstGeom prst="roundRect">
            <a:avLst>
              <a:gd fmla="val 2409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661475" y="2816721"/>
            <a:ext cx="10868745" cy="11814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661475" y="3365004"/>
            <a:ext cx="10868745" cy="11814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661475" y="3913287"/>
            <a:ext cx="10868745" cy="11814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661475" y="4461570"/>
            <a:ext cx="10868745" cy="11814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661475" y="5009852"/>
            <a:ext cx="10868745" cy="11814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667825" y="2271613"/>
            <a:ext cx="5428023" cy="545108"/>
          </a:xfrm>
          <a:prstGeom prst="rect">
            <a:avLst/>
          </a:prstGeom>
          <a:solidFill>
            <a:srgbClr val="1A9E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856832" y="2391370"/>
            <a:ext cx="565959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Open Sans"/>
              <a:buNone/>
            </a:pPr>
            <a:r>
              <a:rPr b="1" i="0" lang="en-US" sz="14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We will discuss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6095848" y="2271613"/>
            <a:ext cx="5428023" cy="545108"/>
          </a:xfrm>
          <a:prstGeom prst="rect">
            <a:avLst/>
          </a:prstGeom>
          <a:solidFill>
            <a:srgbClr val="1A9E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6284854" y="2391370"/>
            <a:ext cx="565959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Open Sans"/>
              <a:buNone/>
            </a:pPr>
            <a:r>
              <a:rPr b="1" i="0" lang="en-US" sz="14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We will not do today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856832" y="2939653"/>
            <a:ext cx="565959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How to choose a thesis topic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6284854" y="2939653"/>
            <a:ext cx="565959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Detailed writing tool walkthrough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856832" y="3487936"/>
            <a:ext cx="565959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How to check if the topic is feasible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6284854" y="3487936"/>
            <a:ext cx="565959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Detailed model training tutorial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856832" y="4036219"/>
            <a:ext cx="565959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Why dataset thinking starts early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6284854" y="4036219"/>
            <a:ext cx="565959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Full literature review writing class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856832" y="4584502"/>
            <a:ext cx="565959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How to use SPOT for topic approval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6284854" y="4584502"/>
            <a:ext cx="565959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Conference paper writing details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856832" y="5132784"/>
            <a:ext cx="565959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What to submit in the first two weeks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6284854" y="5132784"/>
            <a:ext cx="565959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Final defense preparation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356682" y="5773936"/>
            <a:ext cx="11478330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1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Those later topics will come when students have a topic worth writing about.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/>
          <p:nvPr/>
        </p:nvSpPr>
        <p:spPr>
          <a:xfrm>
            <a:off x="661475" y="606028"/>
            <a:ext cx="10868745" cy="443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750"/>
              <a:buFont typeface="Unbounded"/>
              <a:buNone/>
            </a:pPr>
            <a:r>
              <a:rPr b="1" i="0" lang="en-US" sz="27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Where this session fits in the 16-week track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356682" y="1261666"/>
            <a:ext cx="11478330" cy="198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00"/>
              <a:buFont typeface="Open Sans"/>
              <a:buNone/>
            </a:pPr>
            <a:r>
              <a:rPr b="0" i="0" lang="en-US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We will zoom into Weeks 1 and 2, then give a quick view of the full journey.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661475" y="1579662"/>
            <a:ext cx="5381193" cy="1091208"/>
          </a:xfrm>
          <a:prstGeom prst="roundRect">
            <a:avLst>
              <a:gd fmla="val 5456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822205" y="1740396"/>
            <a:ext cx="728148" cy="243681"/>
          </a:xfrm>
          <a:prstGeom prst="roundRect">
            <a:avLst>
              <a:gd fmla="val 19547" name="adj"/>
            </a:avLst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907234" y="1782862"/>
            <a:ext cx="558092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850"/>
              <a:buFont typeface="Open Sans"/>
              <a:buNone/>
            </a:pPr>
            <a:r>
              <a:rPr b="0" i="0" lang="en-US" sz="8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WEEKS 1-2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822205" y="2026543"/>
            <a:ext cx="505973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0D9488"/>
                </a:solidFill>
                <a:latin typeface="Unbounded"/>
                <a:ea typeface="Unbounded"/>
                <a:cs typeface="Unbounded"/>
                <a:sym typeface="Unbounded"/>
              </a:rPr>
              <a:t>Topic selection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822205" y="2311698"/>
            <a:ext cx="5059732" cy="198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00"/>
              <a:buFont typeface="Open Sans"/>
              <a:buNone/>
            </a:pPr>
            <a:r>
              <a:rPr b="0" i="0" lang="en-US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Choose a feasible topic, check dataset options, and prepare topic proposal.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6148928" y="1579662"/>
            <a:ext cx="5381292" cy="1091208"/>
          </a:xfrm>
          <a:prstGeom prst="roundRect">
            <a:avLst>
              <a:gd fmla="val 5456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6309659" y="1740396"/>
            <a:ext cx="728148" cy="243681"/>
          </a:xfrm>
          <a:prstGeom prst="roundRect">
            <a:avLst>
              <a:gd fmla="val 19547" name="adj"/>
            </a:avLst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6394687" y="1782862"/>
            <a:ext cx="558092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850"/>
              <a:buFont typeface="Open Sans"/>
              <a:buNone/>
            </a:pPr>
            <a:r>
              <a:rPr b="0" i="0" lang="en-US" sz="8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WEEKS 3-4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6309659" y="2026543"/>
            <a:ext cx="505983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Unbounded"/>
                <a:ea typeface="Unbounded"/>
                <a:cs typeface="Unbounded"/>
                <a:sym typeface="Unbounded"/>
              </a:rPr>
              <a:t>Proposal foundation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6309659" y="2311698"/>
            <a:ext cx="5059831" cy="198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00"/>
              <a:buFont typeface="Open Sans"/>
              <a:buNone/>
            </a:pPr>
            <a:r>
              <a:rPr b="0" i="0" lang="en-US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Problem statement, RQs, objectives, contribution, and proposal outline.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661475" y="2777133"/>
            <a:ext cx="5381193" cy="1289645"/>
          </a:xfrm>
          <a:prstGeom prst="roundRect">
            <a:avLst>
              <a:gd fmla="val 4617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822205" y="2937867"/>
            <a:ext cx="728148" cy="243681"/>
          </a:xfrm>
          <a:prstGeom prst="roundRect">
            <a:avLst>
              <a:gd fmla="val 19547" name="adj"/>
            </a:avLst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907234" y="2980333"/>
            <a:ext cx="558092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850"/>
              <a:buFont typeface="Open Sans"/>
              <a:buNone/>
            </a:pPr>
            <a:r>
              <a:rPr b="0" i="0" lang="en-US" sz="8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WEEKS 5-7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822205" y="3224014"/>
            <a:ext cx="505973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7C3AED"/>
                </a:solidFill>
                <a:latin typeface="Unbounded"/>
                <a:ea typeface="Unbounded"/>
                <a:cs typeface="Unbounded"/>
                <a:sym typeface="Unbounded"/>
              </a:rPr>
              <a:t>Literature and proposal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822205" y="3509169"/>
            <a:ext cx="5059732" cy="198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00"/>
              <a:buFont typeface="Open Sans"/>
              <a:buNone/>
            </a:pPr>
            <a:r>
              <a:rPr b="0" i="0" lang="en-US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Structured reading, literature matrix, gap claim, and proposal submission.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6148928" y="2777133"/>
            <a:ext cx="5381292" cy="1289645"/>
          </a:xfrm>
          <a:prstGeom prst="roundRect">
            <a:avLst>
              <a:gd fmla="val 4617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6309659" y="2937867"/>
            <a:ext cx="792936" cy="243681"/>
          </a:xfrm>
          <a:prstGeom prst="roundRect">
            <a:avLst>
              <a:gd fmla="val 19547" name="adj"/>
            </a:avLst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6394687" y="2980333"/>
            <a:ext cx="62288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850"/>
              <a:buFont typeface="Open Sans"/>
              <a:buNone/>
            </a:pPr>
            <a:r>
              <a:rPr b="0" i="0" lang="en-US" sz="8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WEEKS 8-11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6309659" y="3224014"/>
            <a:ext cx="505983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EA580C"/>
                </a:solidFill>
                <a:latin typeface="Unbounded"/>
                <a:ea typeface="Unbounded"/>
                <a:cs typeface="Unbounded"/>
                <a:sym typeface="Unbounded"/>
              </a:rPr>
              <a:t>Method and mid report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6309659" y="3509169"/>
            <a:ext cx="5059831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00"/>
              <a:buFont typeface="Open Sans"/>
              <a:buNone/>
            </a:pPr>
            <a:r>
              <a:rPr b="0" i="0" lang="en-US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Methodology, dataset plan, evaluation plan, progress log, and mid-thesis report.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661475" y="4173041"/>
            <a:ext cx="5381193" cy="1289645"/>
          </a:xfrm>
          <a:prstGeom prst="roundRect">
            <a:avLst>
              <a:gd fmla="val 4617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822205" y="4333776"/>
            <a:ext cx="857824" cy="243681"/>
          </a:xfrm>
          <a:prstGeom prst="roundRect">
            <a:avLst>
              <a:gd fmla="val 19547" name="adj"/>
            </a:avLst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907234" y="4376241"/>
            <a:ext cx="687767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850"/>
              <a:buFont typeface="Open Sans"/>
              <a:buNone/>
            </a:pPr>
            <a:r>
              <a:rPr b="0" i="0" lang="en-US" sz="8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WEEKS 12-14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822205" y="4619923"/>
            <a:ext cx="505973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16A34A"/>
                </a:solidFill>
                <a:latin typeface="Unbounded"/>
                <a:ea typeface="Unbounded"/>
                <a:cs typeface="Unbounded"/>
                <a:sym typeface="Unbounded"/>
              </a:rPr>
              <a:t>Results and paper/report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822205" y="4905077"/>
            <a:ext cx="505973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00"/>
              <a:buFont typeface="Open Sans"/>
              <a:buNone/>
            </a:pPr>
            <a:r>
              <a:rPr b="0" i="0" lang="en-US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Results writing, discussion, limitations, conclusion, and publication-ready report.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148928" y="4173041"/>
            <a:ext cx="5381292" cy="1289645"/>
          </a:xfrm>
          <a:prstGeom prst="roundRect">
            <a:avLst>
              <a:gd fmla="val 4617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6309659" y="4333776"/>
            <a:ext cx="857824" cy="243681"/>
          </a:xfrm>
          <a:prstGeom prst="roundRect">
            <a:avLst>
              <a:gd fmla="val 19547" name="adj"/>
            </a:avLst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6394687" y="4376241"/>
            <a:ext cx="687767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850"/>
              <a:buFont typeface="Open Sans"/>
              <a:buNone/>
            </a:pPr>
            <a:r>
              <a:rPr b="0" i="0" lang="en-US" sz="8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WEEKS 15-16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6309659" y="4619923"/>
            <a:ext cx="505983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Final thesis and defense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6309659" y="4905077"/>
            <a:ext cx="5059831" cy="198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00"/>
              <a:buFont typeface="Open Sans"/>
              <a:buNone/>
            </a:pPr>
            <a:r>
              <a:rPr b="0" i="0" lang="en-US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Full thesis audit, slides, mock defense, and final submission.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661475" y="5582245"/>
            <a:ext cx="10868745" cy="669627"/>
          </a:xfrm>
          <a:prstGeom prst="roundRect">
            <a:avLst>
              <a:gd fmla="val 8892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6" name="Google Shape;12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156" y="5775027"/>
            <a:ext cx="177200" cy="14168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7"/>
          <p:cNvSpPr/>
          <p:nvPr/>
        </p:nvSpPr>
        <p:spPr>
          <a:xfrm>
            <a:off x="1122037" y="5723930"/>
            <a:ext cx="1026650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Open Sans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Today's focus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Open Sans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Weeks 1-2: thesis mindset, topic discovery, dataset feasibility, initial paper evidence, and final topic proposal.    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/>
          <p:nvPr/>
        </p:nvSpPr>
        <p:spPr>
          <a:xfrm>
            <a:off x="661475" y="524867"/>
            <a:ext cx="10868745" cy="502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3150"/>
              <a:buFont typeface="Unbounded"/>
              <a:buNone/>
            </a:pPr>
            <a:r>
              <a:rPr b="1" i="0" lang="en-US" sz="31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Weeks 1 and 2: the action map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356682" y="1299964"/>
            <a:ext cx="11478330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Every group should move from broad interest to one supervisor-ready topic proposal.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5" name="Google Shape;13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691283"/>
            <a:ext cx="5366112" cy="169346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8"/>
          <p:cNvSpPr/>
          <p:nvPr/>
        </p:nvSpPr>
        <p:spPr>
          <a:xfrm>
            <a:off x="3224033" y="1797546"/>
            <a:ext cx="240996" cy="3012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850"/>
              <a:buFont typeface="Unbounded"/>
              <a:buNone/>
            </a:pPr>
            <a:r>
              <a:rPr b="1" i="0" lang="en-US" sz="18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1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841156" y="2328863"/>
            <a:ext cx="5006751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550"/>
              <a:buFont typeface="Unbounded"/>
              <a:buNone/>
            </a:pPr>
            <a:r>
              <a:rPr b="1" i="0" lang="en-US" sz="15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Module 1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841156" y="2634456"/>
            <a:ext cx="5006751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550"/>
              <a:buFont typeface="Unbounded"/>
              <a:buNone/>
            </a:pPr>
            <a:r>
              <a:rPr b="1" i="0" lang="en-US" sz="15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Understand thesis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841156" y="2967335"/>
            <a:ext cx="5006751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Research orientation worksheet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0" name="Google Shape;14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4108" y="1691283"/>
            <a:ext cx="5366112" cy="169346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8"/>
          <p:cNvSpPr/>
          <p:nvPr/>
        </p:nvSpPr>
        <p:spPr>
          <a:xfrm>
            <a:off x="8726666" y="1797546"/>
            <a:ext cx="240996" cy="3012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850"/>
              <a:buFont typeface="Unbounded"/>
              <a:buNone/>
            </a:pPr>
            <a:r>
              <a:rPr b="1" i="0" lang="en-US" sz="18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2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6343789" y="2328863"/>
            <a:ext cx="5006751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550"/>
              <a:buFont typeface="Unbounded"/>
              <a:buNone/>
            </a:pPr>
            <a:r>
              <a:rPr b="1" i="0" lang="en-US" sz="15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Module 2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6343789" y="2634456"/>
            <a:ext cx="5006751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550"/>
              <a:buFont typeface="Unbounded"/>
              <a:buNone/>
            </a:pPr>
            <a:r>
              <a:rPr b="1" i="0" lang="en-US" sz="15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Explore areas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6343789" y="2967335"/>
            <a:ext cx="5006751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Interest mapping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5" name="Google Shape;14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3521273"/>
            <a:ext cx="5366112" cy="169346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8"/>
          <p:cNvSpPr/>
          <p:nvPr/>
        </p:nvSpPr>
        <p:spPr>
          <a:xfrm>
            <a:off x="3224033" y="3627537"/>
            <a:ext cx="240996" cy="3012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850"/>
              <a:buFont typeface="Unbounded"/>
              <a:buNone/>
            </a:pPr>
            <a:r>
              <a:rPr b="1" i="0" lang="en-US" sz="18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3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841156" y="4158853"/>
            <a:ext cx="5006751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550"/>
              <a:buFont typeface="Unbounded"/>
              <a:buNone/>
            </a:pPr>
            <a:r>
              <a:rPr b="1" i="0" lang="en-US" sz="15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Module 3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841156" y="4464447"/>
            <a:ext cx="5006751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550"/>
              <a:buFont typeface="Unbounded"/>
              <a:buNone/>
            </a:pPr>
            <a:r>
              <a:rPr b="1" i="0" lang="en-US" sz="15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Discover topics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841156" y="4797326"/>
            <a:ext cx="5006751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5 topic ideas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0" name="Google Shape;1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4108" y="3521273"/>
            <a:ext cx="5366112" cy="169346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8"/>
          <p:cNvSpPr/>
          <p:nvPr/>
        </p:nvSpPr>
        <p:spPr>
          <a:xfrm>
            <a:off x="8726666" y="3627537"/>
            <a:ext cx="240996" cy="3012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850"/>
              <a:buFont typeface="Unbounded"/>
              <a:buNone/>
            </a:pPr>
            <a:r>
              <a:rPr b="1" i="0" lang="en-US" sz="18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4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6343789" y="4158853"/>
            <a:ext cx="5006751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550"/>
              <a:buFont typeface="Unbounded"/>
              <a:buNone/>
            </a:pPr>
            <a:r>
              <a:rPr b="1" i="0" lang="en-US" sz="15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Module 4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6343789" y="4464447"/>
            <a:ext cx="5006751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550"/>
              <a:buFont typeface="Unbounded"/>
              <a:buNone/>
            </a:pPr>
            <a:r>
              <a:rPr b="1" i="0" lang="en-US" sz="15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Refine and submit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6343789" y="4797326"/>
            <a:ext cx="5006751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Final topic proposal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661475" y="5368330"/>
            <a:ext cx="10868745" cy="964803"/>
          </a:xfrm>
          <a:prstGeom prst="roundRect">
            <a:avLst>
              <a:gd fmla="val 6994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" name="Google Shape;15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106" y="5566073"/>
            <a:ext cx="251017" cy="20081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8"/>
          <p:cNvSpPr/>
          <p:nvPr/>
        </p:nvSpPr>
        <p:spPr>
          <a:xfrm>
            <a:off x="1233754" y="5544939"/>
            <a:ext cx="10135835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550"/>
              <a:buFont typeface="Unbounded"/>
              <a:buNone/>
            </a:pPr>
            <a:r>
              <a:rPr b="1" i="0" lang="en-US" sz="1550" u="none" cap="none" strike="noStrike">
                <a:solidFill>
                  <a:srgbClr val="EA580C"/>
                </a:solidFill>
                <a:latin typeface="Unbounded"/>
                <a:ea typeface="Unbounded"/>
                <a:cs typeface="Unbounded"/>
                <a:sym typeface="Unbounded"/>
              </a:rPr>
              <a:t>Supervisor review after Module 4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1233754" y="5932488"/>
            <a:ext cx="10745419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Bring the final topic proposal with dataset status and initial paper evidence. Do not bring only a title.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/>
          <p:nvPr/>
        </p:nvSpPr>
        <p:spPr>
          <a:xfrm>
            <a:off x="661475" y="887909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3700"/>
              <a:buFont typeface="Unbounded"/>
              <a:buNone/>
            </a:pPr>
            <a:r>
              <a:rPr b="1" i="0" lang="en-US" sz="37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 thesis is not just model training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356682" y="1856581"/>
            <a:ext cx="11478330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 model can be part of the work. It is not the whole thesis.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661475" y="2371626"/>
            <a:ext cx="10868745" cy="3598466"/>
          </a:xfrm>
          <a:prstGeom prst="roundRect">
            <a:avLst>
              <a:gd fmla="val 2206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661475" y="2923084"/>
            <a:ext cx="10868745" cy="11814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661475" y="3471366"/>
            <a:ext cx="10868745" cy="11814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661475" y="4019649"/>
            <a:ext cx="10868745" cy="11814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661475" y="4567932"/>
            <a:ext cx="10868745" cy="11814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661475" y="5116215"/>
            <a:ext cx="10868745" cy="11814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667825" y="2377976"/>
            <a:ext cx="5428023" cy="545108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856832" y="2497733"/>
            <a:ext cx="565959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Open Sans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Weak view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6095848" y="2377976"/>
            <a:ext cx="5428023" cy="545108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6284854" y="2497733"/>
            <a:ext cx="565959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Open Sans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Better view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856832" y="3046016"/>
            <a:ext cx="565959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We used CNN and got 97% accuracy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6284854" y="3046016"/>
            <a:ext cx="565959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We solved a defined problem and showed evidence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856832" y="3594298"/>
            <a:ext cx="565959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We downloaded a dataset and ran models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6284854" y="3594298"/>
            <a:ext cx="565959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We justified the dataset, method, and evaluation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856832" y="4142581"/>
            <a:ext cx="565959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We compared five algorithms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6284854" y="4142581"/>
            <a:ext cx="565959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We explained why the comparison matters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856832" y="4690864"/>
            <a:ext cx="565959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We wrote everything at the end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6284854" y="4690864"/>
            <a:ext cx="565959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We wrote each section as the work progressed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856832" y="5239147"/>
            <a:ext cx="565959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Our contribution is high accuracy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6284854" y="5239147"/>
            <a:ext cx="5050009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Our contribution is a clear improvement, insight, resource, or method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"/>
          <p:cNvSpPr/>
          <p:nvPr/>
        </p:nvSpPr>
        <p:spPr>
          <a:xfrm>
            <a:off x="661475" y="547787"/>
            <a:ext cx="10868745" cy="1162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3650"/>
              <a:buFont typeface="Unbounded"/>
              <a:buNone/>
            </a:pPr>
            <a:r>
              <a:rPr b="1" i="0" lang="en-US" sz="36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Use SPOT before choosing the final topic</a:t>
            </a:r>
            <a:endParaRPr b="0" i="0" sz="3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356682" y="2076946"/>
            <a:ext cx="1147833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SPOT keeps groups from jumping into methods too early.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661475" y="2578199"/>
            <a:ext cx="5342796" cy="1523802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 cap="flat" cmpd="sng" w="2537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872905" y="2789634"/>
            <a:ext cx="4919936" cy="290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800"/>
              <a:buFont typeface="Unbounded"/>
              <a:buNone/>
            </a:pPr>
            <a:r>
              <a:rPr b="1" i="0" lang="en-US" sz="1800" u="none" cap="none" strike="noStrike">
                <a:solidFill>
                  <a:srgbClr val="0D9488"/>
                </a:solidFill>
                <a:latin typeface="Unbounded"/>
                <a:ea typeface="Unbounded"/>
                <a:cs typeface="Unbounded"/>
                <a:sym typeface="Unbounded"/>
              </a:rPr>
              <a:t>Scope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872905" y="3190180"/>
            <a:ext cx="4919936" cy="70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Find a real problem and write it in simple words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85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1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Output: Two-sentence problem statement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6187424" y="2578199"/>
            <a:ext cx="5342796" cy="1523802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 cap="flat" cmpd="sng" w="2537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6398854" y="2789634"/>
            <a:ext cx="4919936" cy="290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Unbounded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Unbounded"/>
                <a:ea typeface="Unbounded"/>
                <a:cs typeface="Unbounded"/>
                <a:sym typeface="Unbounded"/>
              </a:rPr>
              <a:t>Probe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6398854" y="3190180"/>
            <a:ext cx="4919936" cy="70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Read early papers and check what is already done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85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1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Output: Initial gap map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661475" y="4285159"/>
            <a:ext cx="5342796" cy="1523802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 cap="flat" cmpd="sng" w="2537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872905" y="4496594"/>
            <a:ext cx="4919936" cy="290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800"/>
              <a:buFont typeface="Unbounded"/>
              <a:buNone/>
            </a:pPr>
            <a:r>
              <a:rPr b="1" i="0" lang="en-US" sz="1800" u="none" cap="none" strike="noStrike">
                <a:solidFill>
                  <a:srgbClr val="7C3AED"/>
                </a:solidFill>
                <a:latin typeface="Unbounded"/>
                <a:ea typeface="Unbounded"/>
                <a:cs typeface="Unbounded"/>
                <a:sym typeface="Unbounded"/>
              </a:rPr>
              <a:t>Own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872905" y="4897140"/>
            <a:ext cx="4919936" cy="70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Shortlist topics that match your data, skills, and time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85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1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Output: 3 to 5 candidate topics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6187424" y="4285159"/>
            <a:ext cx="5342796" cy="1523802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 cap="flat" cmpd="sng" w="2537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6398854" y="4496594"/>
            <a:ext cx="4919936" cy="290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800"/>
              <a:buFont typeface="Unbounded"/>
              <a:buNone/>
            </a:pPr>
            <a:r>
              <a:rPr b="1" i="0" lang="en-US" sz="1800" u="none" cap="none" strike="noStrike">
                <a:solidFill>
                  <a:srgbClr val="EA580C"/>
                </a:solidFill>
                <a:latin typeface="Unbounded"/>
                <a:ea typeface="Unbounded"/>
                <a:cs typeface="Unbounded"/>
                <a:sym typeface="Unbounded"/>
              </a:rPr>
              <a:t>Test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6398854" y="4897140"/>
            <a:ext cx="4919936" cy="70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Check if the topic can survive supervisor questions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85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1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Output: Confirmed topic direction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356682" y="6014938"/>
            <a:ext cx="1147833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1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Today we cover Scope and Probe deeply, then preview Own and Test for the first submission.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"/>
          <p:cNvSpPr/>
          <p:nvPr/>
        </p:nvSpPr>
        <p:spPr>
          <a:xfrm>
            <a:off x="661475" y="616744"/>
            <a:ext cx="10868745" cy="443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750"/>
              <a:buFont typeface="Unbounded"/>
              <a:buNone/>
            </a:pPr>
            <a:r>
              <a:rPr b="1" i="0" lang="en-US" sz="27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Scope: real problems students can recognize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356682" y="1272381"/>
            <a:ext cx="11478330" cy="198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00"/>
              <a:buFont typeface="Open Sans"/>
              <a:buNone/>
            </a:pPr>
            <a:r>
              <a:rPr b="0" i="0" lang="en-US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Start from situations people actually face. Then check data, papers, method direction, and contribution.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661475" y="1590377"/>
            <a:ext cx="5381193" cy="1003498"/>
          </a:xfrm>
          <a:prstGeom prst="roundRect">
            <a:avLst>
              <a:gd fmla="val 5933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"/>
          <p:cNvSpPr/>
          <p:nvPr/>
        </p:nvSpPr>
        <p:spPr>
          <a:xfrm>
            <a:off x="822205" y="1751112"/>
            <a:ext cx="505973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FinTech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822205" y="2036266"/>
            <a:ext cx="505973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00"/>
              <a:buFont typeface="Open Sans"/>
              <a:buNone/>
            </a:pPr>
            <a:r>
              <a:rPr b="0" i="0" lang="en-US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 user receives a fake bKash/Nagad call or SMS. Existing fraud datasets mostly look like credit-card data.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6148928" y="1590377"/>
            <a:ext cx="5381292" cy="1003498"/>
          </a:xfrm>
          <a:prstGeom prst="roundRect">
            <a:avLst>
              <a:gd fmla="val 5933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6309659" y="1751112"/>
            <a:ext cx="505983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Healthcare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6309659" y="2036266"/>
            <a:ext cx="5059831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00"/>
              <a:buFont typeface="Open Sans"/>
              <a:buNone/>
            </a:pPr>
            <a:r>
              <a:rPr b="0" i="0" lang="en-US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 clinic keeps mixed Bangla-English notes. Most health AI papers assume clean structured data.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661475" y="2700139"/>
            <a:ext cx="5381193" cy="1003498"/>
          </a:xfrm>
          <a:prstGeom prst="roundRect">
            <a:avLst>
              <a:gd fmla="val 5933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"/>
          <p:cNvSpPr/>
          <p:nvPr/>
        </p:nvSpPr>
        <p:spPr>
          <a:xfrm>
            <a:off x="822205" y="2860873"/>
            <a:ext cx="505973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Traffic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822205" y="3146028"/>
            <a:ext cx="505973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00"/>
              <a:buFont typeface="Open Sans"/>
              <a:buNone/>
            </a:pPr>
            <a:r>
              <a:rPr b="0" i="0" lang="en-US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CNG, buses, rickshaws, bikes, and pedestrians share the same road. Standard traffic datasets miss this mess.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6148928" y="2700139"/>
            <a:ext cx="5381292" cy="1003498"/>
          </a:xfrm>
          <a:prstGeom prst="roundRect">
            <a:avLst>
              <a:gd fmla="val 5933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"/>
          <p:cNvSpPr/>
          <p:nvPr/>
        </p:nvSpPr>
        <p:spPr>
          <a:xfrm>
            <a:off x="6309659" y="2860873"/>
            <a:ext cx="505983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Agriculture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6309659" y="3146028"/>
            <a:ext cx="5059831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00"/>
              <a:buFont typeface="Open Sans"/>
              <a:buNone/>
            </a:pPr>
            <a:r>
              <a:rPr b="0" i="0" lang="en-US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 farmer takes a leaf photo in bad light with a low-end phone. Clean lab images are not enough.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661475" y="3809901"/>
            <a:ext cx="5381193" cy="1003498"/>
          </a:xfrm>
          <a:prstGeom prst="roundRect">
            <a:avLst>
              <a:gd fmla="val 5933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"/>
          <p:cNvSpPr/>
          <p:nvPr/>
        </p:nvSpPr>
        <p:spPr>
          <a:xfrm>
            <a:off x="822205" y="3970635"/>
            <a:ext cx="505973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Education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822205" y="4255790"/>
            <a:ext cx="505973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00"/>
              <a:buFont typeface="Open Sans"/>
              <a:buNone/>
            </a:pPr>
            <a:r>
              <a:rPr b="0" i="0" lang="en-US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Students stop submitting labs before midterm. Teachers often notice the risk too late.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6148928" y="3809901"/>
            <a:ext cx="5381292" cy="1003498"/>
          </a:xfrm>
          <a:prstGeom prst="roundRect">
            <a:avLst>
              <a:gd fmla="val 5933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6309659" y="3970635"/>
            <a:ext cx="505983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NLP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6309659" y="4255790"/>
            <a:ext cx="5059831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00"/>
              <a:buFont typeface="Open Sans"/>
              <a:buNone/>
            </a:pPr>
            <a:r>
              <a:rPr b="0" i="0" lang="en-US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Bangla posts mix English words, slang, emojis, and screenshots during major events.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661475" y="4919663"/>
            <a:ext cx="5381193" cy="1003498"/>
          </a:xfrm>
          <a:prstGeom prst="roundRect">
            <a:avLst>
              <a:gd fmla="val 5933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822205" y="5080397"/>
            <a:ext cx="505973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Security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822205" y="5365552"/>
            <a:ext cx="505973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00"/>
              <a:buFont typeface="Open Sans"/>
              <a:buNone/>
            </a:pPr>
            <a:r>
              <a:rPr b="0" i="0" lang="en-US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Phishing messages look like university notices, payment alerts, or delivery updates.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6148928" y="4919663"/>
            <a:ext cx="5381292" cy="1003498"/>
          </a:xfrm>
          <a:prstGeom prst="roundRect">
            <a:avLst>
              <a:gd fmla="val 5933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6309659" y="5080397"/>
            <a:ext cx="505983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HCI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6309659" y="5365552"/>
            <a:ext cx="5059831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00"/>
              <a:buFont typeface="Open Sans"/>
              <a:buNone/>
            </a:pPr>
            <a:r>
              <a:rPr b="0" i="0" lang="en-US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Low-literacy users struggle with OTP, form fields, English labels, and error messages.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356682" y="6042720"/>
            <a:ext cx="11478330" cy="198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00"/>
              <a:buFont typeface="Open Sans"/>
              <a:buNone/>
            </a:pPr>
            <a:r>
              <a:rPr b="1" i="0" lang="en-US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Question for students: what frustrating, repeated, data-related problem have you personally seen around you?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"/>
          <p:cNvSpPr/>
          <p:nvPr/>
        </p:nvSpPr>
        <p:spPr>
          <a:xfrm>
            <a:off x="661475" y="571698"/>
            <a:ext cx="10868745" cy="110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3450"/>
              <a:buFont typeface="Unbounded"/>
              <a:buNone/>
            </a:pPr>
            <a:r>
              <a:rPr b="1" i="0" lang="en-US" sz="34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Real problem stories students can start from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356682" y="2011362"/>
            <a:ext cx="1147833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Open Sans"/>
              <a:buNone/>
            </a:pPr>
            <a:r>
              <a:rPr b="0" i="0" lang="en-US" sz="13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Use these as examples of how everyday problems can become thesis directions.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5" name="Google Shape;24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2472829"/>
            <a:ext cx="5351329" cy="1592957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2"/>
          <p:cNvSpPr/>
          <p:nvPr/>
        </p:nvSpPr>
        <p:spPr>
          <a:xfrm>
            <a:off x="933923" y="2669084"/>
            <a:ext cx="4882631" cy="27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00"/>
              <a:buFont typeface="Unbounded"/>
              <a:buNone/>
            </a:pPr>
            <a:r>
              <a:rPr b="1" i="0" lang="en-US" sz="17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Programming course risk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933923" y="3045619"/>
            <a:ext cx="4882631" cy="549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Open Sans"/>
              <a:buNone/>
            </a:pPr>
            <a:r>
              <a:rPr b="0" i="0" lang="en-US" sz="13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Some students stop submitting labs before midterm. The problem is early warning, not just final grade prediction.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8" name="Google Shape;24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8892" y="2472829"/>
            <a:ext cx="5351329" cy="1592957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2"/>
          <p:cNvSpPr/>
          <p:nvPr/>
        </p:nvSpPr>
        <p:spPr>
          <a:xfrm>
            <a:off x="6451339" y="2669084"/>
            <a:ext cx="4882631" cy="27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00"/>
              <a:buFont typeface="Unbounded"/>
              <a:buNone/>
            </a:pPr>
            <a:r>
              <a:rPr b="1" i="0" lang="en-US" sz="17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Misinformation in Bangla posts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6451339" y="3045619"/>
            <a:ext cx="4882631" cy="8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Open Sans"/>
              <a:buNone/>
            </a:pPr>
            <a:r>
              <a:rPr b="0" i="0" lang="en-US" sz="13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 copied caption or screenshot spreads before people check it. The language is mixed, informal, and event-specific.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1" name="Google Shape;25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4231878"/>
            <a:ext cx="5351329" cy="1592957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2"/>
          <p:cNvSpPr/>
          <p:nvPr/>
        </p:nvSpPr>
        <p:spPr>
          <a:xfrm>
            <a:off x="933923" y="4428133"/>
            <a:ext cx="4882631" cy="27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00"/>
              <a:buFont typeface="Unbounded"/>
              <a:buNone/>
            </a:pPr>
            <a:r>
              <a:rPr b="1" i="0" lang="en-US" sz="17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Farm photos are not clean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933923" y="4804668"/>
            <a:ext cx="4882631" cy="8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Open Sans"/>
              <a:buNone/>
            </a:pPr>
            <a:r>
              <a:rPr b="0" i="0" lang="en-US" sz="13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Field images have bad lighting, blur, soil, hands, and background noise. Benchmark accuracy may not mean real use.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4" name="Google Shape;25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8892" y="4231878"/>
            <a:ext cx="5351329" cy="1592957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2"/>
          <p:cNvSpPr/>
          <p:nvPr/>
        </p:nvSpPr>
        <p:spPr>
          <a:xfrm>
            <a:off x="6451339" y="4428133"/>
            <a:ext cx="4882631" cy="27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00"/>
              <a:buFont typeface="Unbounded"/>
              <a:buNone/>
            </a:pPr>
            <a:r>
              <a:rPr b="1" i="0" lang="en-US" sz="17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OTP and payment scams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6451339" y="4804668"/>
            <a:ext cx="4882631" cy="8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Open Sans"/>
              <a:buNone/>
            </a:pPr>
            <a:r>
              <a:rPr b="0" i="0" lang="en-US" sz="13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Fake messages copy real bank, delivery, or university wording. The research problem is local scam detection and explanation.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356682" y="6011664"/>
            <a:ext cx="1147833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Open Sans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Pattern to notice: real problem → possible data → possible method → evaluation → contribution.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3"/>
          <p:cNvSpPr/>
          <p:nvPr/>
        </p:nvSpPr>
        <p:spPr>
          <a:xfrm>
            <a:off x="661475" y="527248"/>
            <a:ext cx="10868745" cy="561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3500"/>
              <a:buFont typeface="Unbounded"/>
              <a:buNone/>
            </a:pPr>
            <a:r>
              <a:rPr b="1" i="0" lang="en-US" sz="35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Common bad topic patterns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356682" y="1429544"/>
            <a:ext cx="11478330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These topics sound familiar because students repeat them every semester.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661475" y="1901527"/>
            <a:ext cx="10868745" cy="4429224"/>
          </a:xfrm>
          <a:prstGeom prst="roundRect">
            <a:avLst>
              <a:gd fmla="val 1703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3"/>
          <p:cNvSpPr/>
          <p:nvPr/>
        </p:nvSpPr>
        <p:spPr>
          <a:xfrm>
            <a:off x="661475" y="2408436"/>
            <a:ext cx="10868745" cy="1122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3"/>
          <p:cNvSpPr/>
          <p:nvPr/>
        </p:nvSpPr>
        <p:spPr>
          <a:xfrm>
            <a:off x="661475" y="3192264"/>
            <a:ext cx="10868745" cy="1122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"/>
          <p:cNvSpPr/>
          <p:nvPr/>
        </p:nvSpPr>
        <p:spPr>
          <a:xfrm>
            <a:off x="661475" y="3976092"/>
            <a:ext cx="10868745" cy="1122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"/>
          <p:cNvSpPr/>
          <p:nvPr/>
        </p:nvSpPr>
        <p:spPr>
          <a:xfrm>
            <a:off x="661475" y="4759920"/>
            <a:ext cx="10868745" cy="1122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3"/>
          <p:cNvSpPr/>
          <p:nvPr/>
        </p:nvSpPr>
        <p:spPr>
          <a:xfrm>
            <a:off x="661475" y="5543748"/>
            <a:ext cx="10868745" cy="1122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3"/>
          <p:cNvSpPr/>
          <p:nvPr/>
        </p:nvSpPr>
        <p:spPr>
          <a:xfrm>
            <a:off x="668023" y="1907877"/>
            <a:ext cx="3582402" cy="500559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3"/>
          <p:cNvSpPr/>
          <p:nvPr/>
        </p:nvSpPr>
        <p:spPr>
          <a:xfrm>
            <a:off x="847505" y="2016522"/>
            <a:ext cx="3833022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Pattern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4250425" y="1907877"/>
            <a:ext cx="3691044" cy="500559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"/>
          <p:cNvSpPr/>
          <p:nvPr/>
        </p:nvSpPr>
        <p:spPr>
          <a:xfrm>
            <a:off x="4429907" y="2016522"/>
            <a:ext cx="3941664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Why it fails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7941469" y="1907877"/>
            <a:ext cx="3582402" cy="500559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3"/>
          <p:cNvSpPr/>
          <p:nvPr/>
        </p:nvSpPr>
        <p:spPr>
          <a:xfrm>
            <a:off x="8120951" y="2016522"/>
            <a:ext cx="3833022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Fix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847505" y="2520255"/>
            <a:ext cx="3223437" cy="560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Method-first: 'Using deep learning for X'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4429907" y="2520255"/>
            <a:ext cx="3941664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No clear problem or contribution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8120951" y="2520255"/>
            <a:ext cx="3833022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Start with the problem and context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847505" y="3304084"/>
            <a:ext cx="3223437" cy="560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Dataset-first: 'Kaggle dataset classification'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4429907" y="3304084"/>
            <a:ext cx="3941664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Dataset may not match a real problem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8120951" y="3304084"/>
            <a:ext cx="3833022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Explain why the dataset matters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847505" y="4087912"/>
            <a:ext cx="3833022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Too broad: 'AI for healthcare'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4429907" y="4087912"/>
            <a:ext cx="3941664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Impossible to finish well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8120951" y="4087912"/>
            <a:ext cx="3223437" cy="560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Choose one disease, task, dataset, and evaluation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847505" y="4871740"/>
            <a:ext cx="3833022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Accuracy-only: 'Improve accuracy'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4429907" y="4871740"/>
            <a:ext cx="3941664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Weak contribution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8120951" y="4871740"/>
            <a:ext cx="3223437" cy="560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Show why the improvement is meaningful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847505" y="5655568"/>
            <a:ext cx="3223437" cy="560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Copy-topic: same dataset, same method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4429907" y="5655568"/>
            <a:ext cx="3941664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Saturated and hard to defend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8120951" y="5655568"/>
            <a:ext cx="3223437" cy="560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Change problem, dataset, method, or evaluation angle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4"/>
          <p:cNvSpPr/>
          <p:nvPr/>
        </p:nvSpPr>
        <p:spPr>
          <a:xfrm>
            <a:off x="661475" y="1105694"/>
            <a:ext cx="10868745" cy="502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3150"/>
              <a:buFont typeface="Unbounded"/>
              <a:buNone/>
            </a:pPr>
            <a:r>
              <a:rPr b="1" i="0" lang="en-US" sz="31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Turn a weak topic into a thesis-ready topic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356682" y="1880791"/>
            <a:ext cx="11478330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 better topic is more specific about context, data, method direction, and evaluation.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661475" y="2272109"/>
            <a:ext cx="10868745" cy="3480197"/>
          </a:xfrm>
          <a:prstGeom prst="roundRect">
            <a:avLst>
              <a:gd fmla="val 1939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4"/>
          <p:cNvSpPr/>
          <p:nvPr/>
        </p:nvSpPr>
        <p:spPr>
          <a:xfrm>
            <a:off x="661475" y="2695773"/>
            <a:ext cx="10868745" cy="10042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4"/>
          <p:cNvSpPr/>
          <p:nvPr/>
        </p:nvSpPr>
        <p:spPr>
          <a:xfrm>
            <a:off x="661475" y="3353991"/>
            <a:ext cx="10868745" cy="10042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4"/>
          <p:cNvSpPr/>
          <p:nvPr/>
        </p:nvSpPr>
        <p:spPr>
          <a:xfrm>
            <a:off x="661475" y="4012208"/>
            <a:ext cx="10868745" cy="10042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4"/>
          <p:cNvSpPr/>
          <p:nvPr/>
        </p:nvSpPr>
        <p:spPr>
          <a:xfrm>
            <a:off x="661475" y="4670425"/>
            <a:ext cx="10868745" cy="10042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4"/>
          <p:cNvSpPr/>
          <p:nvPr/>
        </p:nvSpPr>
        <p:spPr>
          <a:xfrm>
            <a:off x="661475" y="5328642"/>
            <a:ext cx="10868745" cy="10042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4"/>
          <p:cNvSpPr/>
          <p:nvPr/>
        </p:nvSpPr>
        <p:spPr>
          <a:xfrm>
            <a:off x="668023" y="2278459"/>
            <a:ext cx="1628337" cy="41731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4"/>
          <p:cNvSpPr/>
          <p:nvPr/>
        </p:nvSpPr>
        <p:spPr>
          <a:xfrm>
            <a:off x="828654" y="2366665"/>
            <a:ext cx="1916660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Open Sans"/>
              <a:buNone/>
            </a:pPr>
            <a:r>
              <a:rPr b="1" i="0" lang="en-US" sz="12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Area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2296361" y="2278459"/>
            <a:ext cx="3256774" cy="41731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4"/>
          <p:cNvSpPr/>
          <p:nvPr/>
        </p:nvSpPr>
        <p:spPr>
          <a:xfrm>
            <a:off x="2456992" y="2366665"/>
            <a:ext cx="3545096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Open Sans"/>
              <a:buNone/>
            </a:pPr>
            <a:r>
              <a:rPr b="1" i="0" lang="en-US" sz="12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Weak topic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5553135" y="2278459"/>
            <a:ext cx="5970736" cy="41731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4"/>
          <p:cNvSpPr/>
          <p:nvPr/>
        </p:nvSpPr>
        <p:spPr>
          <a:xfrm>
            <a:off x="5713766" y="2366665"/>
            <a:ext cx="6259058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Open Sans"/>
              <a:buNone/>
            </a:pPr>
            <a:r>
              <a:rPr b="1" i="0" lang="en-US" sz="12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Thesis-ready direction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828654" y="2787154"/>
            <a:ext cx="1916660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NLP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2456992" y="2787154"/>
            <a:ext cx="3545096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Fake news detection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5713766" y="2787154"/>
            <a:ext cx="5649474" cy="475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Bangla crisis-time misinformation using local language cues and explanation support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828654" y="3445371"/>
            <a:ext cx="1916660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CV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2456992" y="3445371"/>
            <a:ext cx="3545096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Plant disease detection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5713766" y="3445371"/>
            <a:ext cx="5649474" cy="475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Crop disease detection tested on field-like images, not only clean lab photos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828654" y="4103588"/>
            <a:ext cx="1916660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Health AI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2456992" y="4103588"/>
            <a:ext cx="3545096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Diabetes prediction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5713766" y="4103588"/>
            <a:ext cx="5649474" cy="475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Interpretable risk prediction with missing-value handling and subgroup analysis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828654" y="4761805"/>
            <a:ext cx="1916660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Education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2456992" y="4761805"/>
            <a:ext cx="3545096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Student performance prediction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5713766" y="4761805"/>
            <a:ext cx="5649474" cy="475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Early programming-risk detection using attendance, lab, and submission patterns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828654" y="5420023"/>
            <a:ext cx="1916660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Security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2456992" y="5420023"/>
            <a:ext cx="3545096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Spam detection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5713766" y="5420023"/>
            <a:ext cx="6259058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Bangla SMS phishing detection using local scam patterns and error analysis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5"/>
          <p:cNvSpPr/>
          <p:nvPr/>
        </p:nvSpPr>
        <p:spPr>
          <a:xfrm>
            <a:off x="661475" y="708620"/>
            <a:ext cx="10868745" cy="472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950"/>
              <a:buFont typeface="Unbounded"/>
              <a:buNone/>
            </a:pPr>
            <a:r>
              <a:rPr b="1" i="0" lang="en-US" sz="29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The topic equation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5"/>
          <p:cNvSpPr/>
          <p:nvPr/>
        </p:nvSpPr>
        <p:spPr>
          <a:xfrm>
            <a:off x="356682" y="1422995"/>
            <a:ext cx="11478330" cy="217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50"/>
              <a:buFont typeface="Open Sans"/>
              <a:buNone/>
            </a:pPr>
            <a:r>
              <a:rPr b="0" i="0" lang="en-US" sz="11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 thesis topic is not a title. It is a complete argument you can defend.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5"/>
          <p:cNvSpPr/>
          <p:nvPr/>
        </p:nvSpPr>
        <p:spPr>
          <a:xfrm>
            <a:off x="661475" y="1776710"/>
            <a:ext cx="5373851" cy="866973"/>
          </a:xfrm>
          <a:prstGeom prst="roundRect">
            <a:avLst>
              <a:gd fmla="val 7326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5"/>
          <p:cNvSpPr/>
          <p:nvPr/>
        </p:nvSpPr>
        <p:spPr>
          <a:xfrm>
            <a:off x="831730" y="1946970"/>
            <a:ext cx="5033340" cy="23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50"/>
              <a:buFont typeface="Unbounded"/>
              <a:buNone/>
            </a:pPr>
            <a:r>
              <a:rPr b="1" i="0" lang="en-US" sz="1450" u="none" cap="none" strike="noStrike">
                <a:solidFill>
                  <a:srgbClr val="0D9488"/>
                </a:solidFill>
                <a:latin typeface="Unbounded"/>
                <a:ea typeface="Unbounded"/>
                <a:cs typeface="Unbounded"/>
                <a:sym typeface="Unbounded"/>
              </a:rPr>
              <a:t>Problem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5"/>
          <p:cNvSpPr/>
          <p:nvPr/>
        </p:nvSpPr>
        <p:spPr>
          <a:xfrm>
            <a:off x="831730" y="2255738"/>
            <a:ext cx="5033340" cy="217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50"/>
              <a:buFont typeface="Open Sans"/>
              <a:buNone/>
            </a:pPr>
            <a:r>
              <a:rPr b="0" i="0" lang="en-US" sz="11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What is wrong or missing?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6156270" y="1776710"/>
            <a:ext cx="5373950" cy="866973"/>
          </a:xfrm>
          <a:prstGeom prst="roundRect">
            <a:avLst>
              <a:gd fmla="val 7326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5"/>
          <p:cNvSpPr/>
          <p:nvPr/>
        </p:nvSpPr>
        <p:spPr>
          <a:xfrm>
            <a:off x="6326525" y="1946970"/>
            <a:ext cx="5033440" cy="23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50"/>
              <a:buFont typeface="Unbounded"/>
              <a:buNone/>
            </a:pPr>
            <a:r>
              <a:rPr b="1" i="0" lang="en-US" sz="1450" u="none" cap="none" strike="noStrike">
                <a:solidFill>
                  <a:srgbClr val="2563EB"/>
                </a:solidFill>
                <a:latin typeface="Unbounded"/>
                <a:ea typeface="Unbounded"/>
                <a:cs typeface="Unbounded"/>
                <a:sym typeface="Unbounded"/>
              </a:rPr>
              <a:t>Context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5"/>
          <p:cNvSpPr/>
          <p:nvPr/>
        </p:nvSpPr>
        <p:spPr>
          <a:xfrm>
            <a:off x="6326525" y="2255738"/>
            <a:ext cx="5033440" cy="217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50"/>
              <a:buFont typeface="Open Sans"/>
              <a:buNone/>
            </a:pPr>
            <a:r>
              <a:rPr b="0" i="0" lang="en-US" sz="11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Where does it matter?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5"/>
          <p:cNvSpPr/>
          <p:nvPr/>
        </p:nvSpPr>
        <p:spPr>
          <a:xfrm>
            <a:off x="661475" y="2764631"/>
            <a:ext cx="5373851" cy="866973"/>
          </a:xfrm>
          <a:prstGeom prst="roundRect">
            <a:avLst>
              <a:gd fmla="val 7326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5"/>
          <p:cNvSpPr/>
          <p:nvPr/>
        </p:nvSpPr>
        <p:spPr>
          <a:xfrm>
            <a:off x="831730" y="2934891"/>
            <a:ext cx="5033340" cy="23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450"/>
              <a:buFont typeface="Unbounded"/>
              <a:buNone/>
            </a:pPr>
            <a:r>
              <a:rPr b="1" i="0" lang="en-US" sz="1450" u="none" cap="none" strike="noStrike">
                <a:solidFill>
                  <a:srgbClr val="EA580C"/>
                </a:solidFill>
                <a:latin typeface="Unbounded"/>
                <a:ea typeface="Unbounded"/>
                <a:cs typeface="Unbounded"/>
                <a:sym typeface="Unbounded"/>
              </a:rPr>
              <a:t>Data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5"/>
          <p:cNvSpPr/>
          <p:nvPr/>
        </p:nvSpPr>
        <p:spPr>
          <a:xfrm>
            <a:off x="831730" y="3243659"/>
            <a:ext cx="5033340" cy="217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50"/>
              <a:buFont typeface="Open Sans"/>
              <a:buNone/>
            </a:pPr>
            <a:r>
              <a:rPr b="0" i="0" lang="en-US" sz="11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What evidence can you use?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5"/>
          <p:cNvSpPr/>
          <p:nvPr/>
        </p:nvSpPr>
        <p:spPr>
          <a:xfrm>
            <a:off x="6156270" y="2764631"/>
            <a:ext cx="5373950" cy="866973"/>
          </a:xfrm>
          <a:prstGeom prst="roundRect">
            <a:avLst>
              <a:gd fmla="val 7326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5"/>
          <p:cNvSpPr/>
          <p:nvPr/>
        </p:nvSpPr>
        <p:spPr>
          <a:xfrm>
            <a:off x="6326525" y="2934891"/>
            <a:ext cx="5033440" cy="23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50"/>
              <a:buFont typeface="Unbounded"/>
              <a:buNone/>
            </a:pPr>
            <a:r>
              <a:rPr b="1" i="0" lang="en-US" sz="1450" u="none" cap="none" strike="noStrike">
                <a:solidFill>
                  <a:srgbClr val="7C3AED"/>
                </a:solidFill>
                <a:latin typeface="Unbounded"/>
                <a:ea typeface="Unbounded"/>
                <a:cs typeface="Unbounded"/>
                <a:sym typeface="Unbounded"/>
              </a:rPr>
              <a:t>Method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5"/>
          <p:cNvSpPr/>
          <p:nvPr/>
        </p:nvSpPr>
        <p:spPr>
          <a:xfrm>
            <a:off x="6326525" y="3243659"/>
            <a:ext cx="5033440" cy="217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50"/>
              <a:buFont typeface="Open Sans"/>
              <a:buNone/>
            </a:pPr>
            <a:r>
              <a:rPr b="0" i="0" lang="en-US" sz="11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What approach may work?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5"/>
          <p:cNvSpPr/>
          <p:nvPr/>
        </p:nvSpPr>
        <p:spPr>
          <a:xfrm>
            <a:off x="661475" y="3752552"/>
            <a:ext cx="5373851" cy="866973"/>
          </a:xfrm>
          <a:prstGeom prst="roundRect">
            <a:avLst>
              <a:gd fmla="val 7326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5"/>
          <p:cNvSpPr/>
          <p:nvPr/>
        </p:nvSpPr>
        <p:spPr>
          <a:xfrm>
            <a:off x="831730" y="3922812"/>
            <a:ext cx="5033340" cy="23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450"/>
              <a:buFont typeface="Unbounded"/>
              <a:buNone/>
            </a:pPr>
            <a:r>
              <a:rPr b="1" i="0" lang="en-US" sz="1450" u="none" cap="none" strike="noStrike">
                <a:solidFill>
                  <a:srgbClr val="16A34A"/>
                </a:solidFill>
                <a:latin typeface="Unbounded"/>
                <a:ea typeface="Unbounded"/>
                <a:cs typeface="Unbounded"/>
                <a:sym typeface="Unbounded"/>
              </a:rPr>
              <a:t>Evaluation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5"/>
          <p:cNvSpPr/>
          <p:nvPr/>
        </p:nvSpPr>
        <p:spPr>
          <a:xfrm>
            <a:off x="831730" y="4231580"/>
            <a:ext cx="5033340" cy="217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50"/>
              <a:buFont typeface="Open Sans"/>
              <a:buNone/>
            </a:pPr>
            <a:r>
              <a:rPr b="0" i="0" lang="en-US" sz="11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How will you know it worked?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5"/>
          <p:cNvSpPr/>
          <p:nvPr/>
        </p:nvSpPr>
        <p:spPr>
          <a:xfrm>
            <a:off x="6156270" y="3752552"/>
            <a:ext cx="5373950" cy="866973"/>
          </a:xfrm>
          <a:prstGeom prst="roundRect">
            <a:avLst>
              <a:gd fmla="val 7326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5"/>
          <p:cNvSpPr/>
          <p:nvPr/>
        </p:nvSpPr>
        <p:spPr>
          <a:xfrm>
            <a:off x="6326525" y="3922812"/>
            <a:ext cx="5033440" cy="23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Unbounded"/>
              <a:buNone/>
            </a:pPr>
            <a:r>
              <a:rPr b="1" i="0" lang="en-US" sz="14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Contribution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"/>
          <p:cNvSpPr/>
          <p:nvPr/>
        </p:nvSpPr>
        <p:spPr>
          <a:xfrm>
            <a:off x="6326525" y="4231580"/>
            <a:ext cx="5033440" cy="217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50"/>
              <a:buFont typeface="Open Sans"/>
              <a:buNone/>
            </a:pPr>
            <a:r>
              <a:rPr b="0" i="0" lang="en-US" sz="11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What is new or useful?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5"/>
          <p:cNvSpPr/>
          <p:nvPr/>
        </p:nvSpPr>
        <p:spPr>
          <a:xfrm>
            <a:off x="661475" y="4755555"/>
            <a:ext cx="10868745" cy="1393825"/>
          </a:xfrm>
          <a:prstGeom prst="roundRect">
            <a:avLst>
              <a:gd fmla="val 4557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2" name="Google Shape;35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680" y="4958259"/>
            <a:ext cx="189007" cy="151209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5"/>
          <p:cNvSpPr/>
          <p:nvPr/>
        </p:nvSpPr>
        <p:spPr>
          <a:xfrm>
            <a:off x="1152893" y="4914305"/>
            <a:ext cx="10226122" cy="1088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Open Sans"/>
              <a:buNone/>
            </a:pPr>
            <a:r>
              <a:rPr b="1" i="0" lang="en-US" sz="11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Example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Open Sans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Problem: fake news spreads faster than corrections on social media, causing real-world harm. Context: Bengali-language news verification for local fact-checking platforms. Data: LIAR dataset (publicly available, 12,800+ labeled statements) combined with Bengali translated samples. Method: fine-tuned BERT-based classifier with linguistic feature extraction. Evaluation: accuracy, F1-score, precision, recall on held-out test split. Contribution: a multilingual fake news detector adapted for low-resource Bengali context using an established benchmark dataset.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6"/>
          <p:cNvSpPr/>
          <p:nvPr/>
        </p:nvSpPr>
        <p:spPr>
          <a:xfrm>
            <a:off x="661475" y="680145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3700"/>
              <a:buFont typeface="Unbounded"/>
              <a:buNone/>
            </a:pPr>
            <a:r>
              <a:rPr b="1" i="0" lang="en-US" sz="37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Why dataset thinking starts early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6"/>
          <p:cNvSpPr/>
          <p:nvPr/>
        </p:nvSpPr>
        <p:spPr>
          <a:xfrm>
            <a:off x="356682" y="1648817"/>
            <a:ext cx="11478330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For AI/ML, CV, NLP, and data science thesis work, data often decides whether the topic is real.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6"/>
          <p:cNvSpPr/>
          <p:nvPr/>
        </p:nvSpPr>
        <p:spPr>
          <a:xfrm>
            <a:off x="661475" y="2163862"/>
            <a:ext cx="3496877" cy="1442343"/>
          </a:xfrm>
          <a:prstGeom prst="roundRect">
            <a:avLst>
              <a:gd fmla="val 5504" name="adj"/>
            </a:avLst>
          </a:prstGeom>
          <a:solidFill>
            <a:srgbClr val="FFFFFF"/>
          </a:solidFill>
          <a:ln cap="flat" cmpd="sng" w="2537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6"/>
          <p:cNvSpPr/>
          <p:nvPr/>
        </p:nvSpPr>
        <p:spPr>
          <a:xfrm>
            <a:off x="875881" y="2378273"/>
            <a:ext cx="306806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850"/>
              <a:buFont typeface="Unbounded"/>
              <a:buNone/>
            </a:pPr>
            <a:r>
              <a:rPr b="1" i="0" lang="en-US" sz="1850" u="none" cap="none" strike="noStrike">
                <a:solidFill>
                  <a:srgbClr val="0D9488"/>
                </a:solidFill>
                <a:latin typeface="Unbounded"/>
                <a:ea typeface="Unbounded"/>
                <a:cs typeface="Unbounded"/>
                <a:sym typeface="Unbounded"/>
              </a:rPr>
              <a:t>Feasibility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6"/>
          <p:cNvSpPr/>
          <p:nvPr/>
        </p:nvSpPr>
        <p:spPr>
          <a:xfrm>
            <a:off x="875881" y="2786955"/>
            <a:ext cx="3068065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Can the group actually get usable data in time?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6"/>
          <p:cNvSpPr/>
          <p:nvPr/>
        </p:nvSpPr>
        <p:spPr>
          <a:xfrm>
            <a:off x="4347359" y="2163862"/>
            <a:ext cx="3496877" cy="1442343"/>
          </a:xfrm>
          <a:prstGeom prst="roundRect">
            <a:avLst>
              <a:gd fmla="val 5504" name="adj"/>
            </a:avLst>
          </a:prstGeom>
          <a:solidFill>
            <a:srgbClr val="FFFFFF"/>
          </a:solidFill>
          <a:ln cap="flat" cmpd="sng" w="2537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6"/>
          <p:cNvSpPr/>
          <p:nvPr/>
        </p:nvSpPr>
        <p:spPr>
          <a:xfrm>
            <a:off x="4561766" y="2378273"/>
            <a:ext cx="306806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50"/>
              <a:buFont typeface="Unbounded"/>
              <a:buNone/>
            </a:pPr>
            <a:r>
              <a:rPr b="1" i="0" lang="en-US" sz="1850" u="none" cap="none" strike="noStrike">
                <a:solidFill>
                  <a:srgbClr val="2563EB"/>
                </a:solidFill>
                <a:latin typeface="Unbounded"/>
                <a:ea typeface="Unbounded"/>
                <a:cs typeface="Unbounded"/>
                <a:sym typeface="Unbounded"/>
              </a:rPr>
              <a:t>Method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6"/>
          <p:cNvSpPr/>
          <p:nvPr/>
        </p:nvSpPr>
        <p:spPr>
          <a:xfrm>
            <a:off x="4561766" y="2786955"/>
            <a:ext cx="3068065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The data type controls the possible method direction.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6"/>
          <p:cNvSpPr/>
          <p:nvPr/>
        </p:nvSpPr>
        <p:spPr>
          <a:xfrm>
            <a:off x="8033244" y="2163862"/>
            <a:ext cx="3496877" cy="1442343"/>
          </a:xfrm>
          <a:prstGeom prst="roundRect">
            <a:avLst>
              <a:gd fmla="val 5504" name="adj"/>
            </a:avLst>
          </a:prstGeom>
          <a:solidFill>
            <a:srgbClr val="FFFFFF"/>
          </a:solidFill>
          <a:ln cap="flat" cmpd="sng" w="2537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6"/>
          <p:cNvSpPr/>
          <p:nvPr/>
        </p:nvSpPr>
        <p:spPr>
          <a:xfrm>
            <a:off x="8247650" y="2378273"/>
            <a:ext cx="306806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850"/>
              <a:buFont typeface="Unbounded"/>
              <a:buNone/>
            </a:pPr>
            <a:r>
              <a:rPr b="1" i="0" lang="en-US" sz="1850" u="none" cap="none" strike="noStrike">
                <a:solidFill>
                  <a:srgbClr val="7C3AED"/>
                </a:solidFill>
                <a:latin typeface="Unbounded"/>
                <a:ea typeface="Unbounded"/>
                <a:cs typeface="Unbounded"/>
                <a:sym typeface="Unbounded"/>
              </a:rPr>
              <a:t>Evaluation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6"/>
          <p:cNvSpPr/>
          <p:nvPr/>
        </p:nvSpPr>
        <p:spPr>
          <a:xfrm>
            <a:off x="8247650" y="2786955"/>
            <a:ext cx="3068065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No labels or ground truth means weak evaluation.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6"/>
          <p:cNvSpPr/>
          <p:nvPr/>
        </p:nvSpPr>
        <p:spPr>
          <a:xfrm>
            <a:off x="661475" y="3795216"/>
            <a:ext cx="5339820" cy="1442343"/>
          </a:xfrm>
          <a:prstGeom prst="roundRect">
            <a:avLst>
              <a:gd fmla="val 5504" name="adj"/>
            </a:avLst>
          </a:prstGeom>
          <a:solidFill>
            <a:srgbClr val="FFFFFF"/>
          </a:solidFill>
          <a:ln cap="flat" cmpd="sng" w="2537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6"/>
          <p:cNvSpPr/>
          <p:nvPr/>
        </p:nvSpPr>
        <p:spPr>
          <a:xfrm>
            <a:off x="875881" y="4009628"/>
            <a:ext cx="491100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850"/>
              <a:buFont typeface="Unbounded"/>
              <a:buNone/>
            </a:pPr>
            <a:r>
              <a:rPr b="1" i="0" lang="en-US" sz="1850" u="none" cap="none" strike="noStrike">
                <a:solidFill>
                  <a:srgbClr val="EA580C"/>
                </a:solidFill>
                <a:latin typeface="Unbounded"/>
                <a:ea typeface="Unbounded"/>
                <a:cs typeface="Unbounded"/>
                <a:sym typeface="Unbounded"/>
              </a:rPr>
              <a:t>Ethics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6"/>
          <p:cNvSpPr/>
          <p:nvPr/>
        </p:nvSpPr>
        <p:spPr>
          <a:xfrm>
            <a:off x="875881" y="4418310"/>
            <a:ext cx="4911007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Health, student, and scraped data may need permission.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6"/>
          <p:cNvSpPr/>
          <p:nvPr/>
        </p:nvSpPr>
        <p:spPr>
          <a:xfrm>
            <a:off x="6190301" y="3795216"/>
            <a:ext cx="5339820" cy="1442343"/>
          </a:xfrm>
          <a:prstGeom prst="roundRect">
            <a:avLst>
              <a:gd fmla="val 5504" name="adj"/>
            </a:avLst>
          </a:prstGeom>
          <a:solidFill>
            <a:srgbClr val="FFFFFF"/>
          </a:solidFill>
          <a:ln cap="flat" cmpd="sng" w="2537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6"/>
          <p:cNvSpPr/>
          <p:nvPr/>
        </p:nvSpPr>
        <p:spPr>
          <a:xfrm>
            <a:off x="6404708" y="4009628"/>
            <a:ext cx="491100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850"/>
              <a:buFont typeface="Unbounded"/>
              <a:buNone/>
            </a:pPr>
            <a:r>
              <a:rPr b="1" i="0" lang="en-US" sz="1850" u="none" cap="none" strike="noStrike">
                <a:solidFill>
                  <a:srgbClr val="16A34A"/>
                </a:solidFill>
                <a:latin typeface="Unbounded"/>
                <a:ea typeface="Unbounded"/>
                <a:cs typeface="Unbounded"/>
                <a:sym typeface="Unbounded"/>
              </a:rPr>
              <a:t>Contribution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6"/>
          <p:cNvSpPr/>
          <p:nvPr/>
        </p:nvSpPr>
        <p:spPr>
          <a:xfrm>
            <a:off x="6404708" y="4418310"/>
            <a:ext cx="4911007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 local or better-documented dataset can itself be valuable.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6"/>
          <p:cNvSpPr/>
          <p:nvPr/>
        </p:nvSpPr>
        <p:spPr>
          <a:xfrm>
            <a:off x="661475" y="5450185"/>
            <a:ext cx="25399" cy="727670"/>
          </a:xfrm>
          <a:prstGeom prst="roundRect">
            <a:avLst>
              <a:gd fmla="val 60001" name="adj"/>
            </a:avLst>
          </a:prstGeom>
          <a:solidFill>
            <a:srgbClr val="26A6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6"/>
          <p:cNvSpPr/>
          <p:nvPr/>
        </p:nvSpPr>
        <p:spPr>
          <a:xfrm>
            <a:off x="640143" y="5662811"/>
            <a:ext cx="11194869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1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Simple rule: if you cannot explain the data source, labels, and access status, the topic is not ready for approval.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7"/>
          <p:cNvSpPr/>
          <p:nvPr/>
        </p:nvSpPr>
        <p:spPr>
          <a:xfrm>
            <a:off x="661475" y="811808"/>
            <a:ext cx="10868745" cy="1063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3300"/>
              <a:buFont typeface="Unbounded"/>
              <a:buNone/>
            </a:pPr>
            <a:r>
              <a:rPr b="1" i="0" lang="en-US" sz="33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Dataset examples: same topic, different reality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7"/>
          <p:cNvSpPr/>
          <p:nvPr/>
        </p:nvSpPr>
        <p:spPr>
          <a:xfrm>
            <a:off x="356682" y="2181225"/>
            <a:ext cx="11478330" cy="258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The dataset changes what the thesis can honestly claim.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5" name="Google Shape;38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2612033"/>
            <a:ext cx="5357778" cy="1252835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7"/>
          <p:cNvSpPr/>
          <p:nvPr/>
        </p:nvSpPr>
        <p:spPr>
          <a:xfrm>
            <a:off x="926779" y="2801144"/>
            <a:ext cx="4903367" cy="265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650"/>
              <a:buFont typeface="Unbounded"/>
              <a:buNone/>
            </a:pPr>
            <a:r>
              <a:rPr b="1" i="0" lang="en-US" sz="16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Plant disease images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7"/>
          <p:cNvSpPr/>
          <p:nvPr/>
        </p:nvSpPr>
        <p:spPr>
          <a:xfrm>
            <a:off x="926779" y="3158629"/>
            <a:ext cx="4903367" cy="517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Clean lab images may give high accuracy. Field images test whether the model works under real farmer conditions.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8" name="Google Shape;38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343" y="2612033"/>
            <a:ext cx="5357877" cy="1252835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17"/>
          <p:cNvSpPr/>
          <p:nvPr/>
        </p:nvSpPr>
        <p:spPr>
          <a:xfrm>
            <a:off x="6437648" y="2801144"/>
            <a:ext cx="4903466" cy="265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650"/>
              <a:buFont typeface="Unbounded"/>
              <a:buNone/>
            </a:pPr>
            <a:r>
              <a:rPr b="1" i="0" lang="en-US" sz="16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Bangla misinformation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7"/>
          <p:cNvSpPr/>
          <p:nvPr/>
        </p:nvSpPr>
        <p:spPr>
          <a:xfrm>
            <a:off x="6437648" y="3158629"/>
            <a:ext cx="4903466" cy="517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 dataset from old news articles may not match current Facebook captions, code-mixing, screenshots, or slang.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1" name="Google Shape;39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4017962"/>
            <a:ext cx="5357778" cy="1252835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7"/>
          <p:cNvSpPr/>
          <p:nvPr/>
        </p:nvSpPr>
        <p:spPr>
          <a:xfrm>
            <a:off x="926779" y="4207073"/>
            <a:ext cx="4903367" cy="265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650"/>
              <a:buFont typeface="Unbounded"/>
              <a:buNone/>
            </a:pPr>
            <a:r>
              <a:rPr b="1" i="0" lang="en-US" sz="16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Student risk prediction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7"/>
          <p:cNvSpPr/>
          <p:nvPr/>
        </p:nvSpPr>
        <p:spPr>
          <a:xfrm>
            <a:off x="926779" y="4564559"/>
            <a:ext cx="4903367" cy="517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Using final exam marks as input is leakage. Use early-semester signals if the goal is early support.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4" name="Google Shape;39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343" y="4017962"/>
            <a:ext cx="5357877" cy="1252835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17"/>
          <p:cNvSpPr/>
          <p:nvPr/>
        </p:nvSpPr>
        <p:spPr>
          <a:xfrm>
            <a:off x="6437648" y="4207073"/>
            <a:ext cx="4903466" cy="265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650"/>
              <a:buFont typeface="Unbounded"/>
              <a:buNone/>
            </a:pPr>
            <a:r>
              <a:rPr b="1" i="0" lang="en-US" sz="16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Health prediction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7"/>
          <p:cNvSpPr/>
          <p:nvPr/>
        </p:nvSpPr>
        <p:spPr>
          <a:xfrm>
            <a:off x="6437648" y="4564559"/>
            <a:ext cx="4903466" cy="517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Missing values, imbalance, and unclear labels can make 95% accuracy meaningless or even misleading.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7"/>
          <p:cNvSpPr/>
          <p:nvPr/>
        </p:nvSpPr>
        <p:spPr>
          <a:xfrm>
            <a:off x="661475" y="5443041"/>
            <a:ext cx="19050" cy="603052"/>
          </a:xfrm>
          <a:prstGeom prst="roundRect">
            <a:avLst>
              <a:gd fmla="val 59999" name="adj"/>
            </a:avLst>
          </a:prstGeom>
          <a:solidFill>
            <a:srgbClr val="26A6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7"/>
          <p:cNvSpPr/>
          <p:nvPr/>
        </p:nvSpPr>
        <p:spPr>
          <a:xfrm>
            <a:off x="611768" y="5615285"/>
            <a:ext cx="11223245" cy="258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1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Dataset question for every topic: Is this data actually suitable for the problem, or is it only convenient?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8"/>
          <p:cNvSpPr/>
          <p:nvPr/>
        </p:nvSpPr>
        <p:spPr>
          <a:xfrm>
            <a:off x="661475" y="736699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3700"/>
              <a:buFont typeface="Unbounded"/>
              <a:buNone/>
            </a:pPr>
            <a:r>
              <a:rPr b="1" i="0" lang="en-US" sz="37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Dataset reality check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8"/>
          <p:cNvSpPr/>
          <p:nvPr/>
        </p:nvSpPr>
        <p:spPr>
          <a:xfrm>
            <a:off x="356682" y="1705372"/>
            <a:ext cx="11478330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Students should classify the dataset situation before choosing the final topic.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8"/>
          <p:cNvSpPr/>
          <p:nvPr/>
        </p:nvSpPr>
        <p:spPr>
          <a:xfrm>
            <a:off x="661475" y="2220416"/>
            <a:ext cx="10868745" cy="3900884"/>
          </a:xfrm>
          <a:prstGeom prst="roundRect">
            <a:avLst>
              <a:gd fmla="val 2035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8"/>
          <p:cNvSpPr/>
          <p:nvPr/>
        </p:nvSpPr>
        <p:spPr>
          <a:xfrm>
            <a:off x="661475" y="2771874"/>
            <a:ext cx="10868745" cy="11814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8"/>
          <p:cNvSpPr/>
          <p:nvPr/>
        </p:nvSpPr>
        <p:spPr>
          <a:xfrm>
            <a:off x="661475" y="3622576"/>
            <a:ext cx="10868745" cy="11814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8"/>
          <p:cNvSpPr/>
          <p:nvPr/>
        </p:nvSpPr>
        <p:spPr>
          <a:xfrm>
            <a:off x="661475" y="4473277"/>
            <a:ext cx="10868745" cy="11814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8"/>
          <p:cNvSpPr/>
          <p:nvPr/>
        </p:nvSpPr>
        <p:spPr>
          <a:xfrm>
            <a:off x="661475" y="5021560"/>
            <a:ext cx="10868745" cy="11814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8"/>
          <p:cNvSpPr/>
          <p:nvPr/>
        </p:nvSpPr>
        <p:spPr>
          <a:xfrm>
            <a:off x="661475" y="5569843"/>
            <a:ext cx="10868745" cy="11814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8"/>
          <p:cNvSpPr/>
          <p:nvPr/>
        </p:nvSpPr>
        <p:spPr>
          <a:xfrm>
            <a:off x="668023" y="2226766"/>
            <a:ext cx="3582402" cy="545108"/>
          </a:xfrm>
          <a:prstGeom prst="rect">
            <a:avLst/>
          </a:prstGeom>
          <a:solidFill>
            <a:srgbClr val="E854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8"/>
          <p:cNvSpPr/>
          <p:nvPr/>
        </p:nvSpPr>
        <p:spPr>
          <a:xfrm>
            <a:off x="857030" y="2346523"/>
            <a:ext cx="3813973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Open Sans"/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 route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8"/>
          <p:cNvSpPr/>
          <p:nvPr/>
        </p:nvSpPr>
        <p:spPr>
          <a:xfrm>
            <a:off x="4250425" y="2226766"/>
            <a:ext cx="3691044" cy="545108"/>
          </a:xfrm>
          <a:prstGeom prst="rect">
            <a:avLst/>
          </a:prstGeom>
          <a:solidFill>
            <a:srgbClr val="E854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8"/>
          <p:cNvSpPr/>
          <p:nvPr/>
        </p:nvSpPr>
        <p:spPr>
          <a:xfrm>
            <a:off x="4439432" y="2346523"/>
            <a:ext cx="392261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Open Sans"/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Good for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8"/>
          <p:cNvSpPr/>
          <p:nvPr/>
        </p:nvSpPr>
        <p:spPr>
          <a:xfrm>
            <a:off x="7941469" y="2226766"/>
            <a:ext cx="3582402" cy="545108"/>
          </a:xfrm>
          <a:prstGeom prst="rect">
            <a:avLst/>
          </a:prstGeom>
          <a:solidFill>
            <a:srgbClr val="E854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8"/>
          <p:cNvSpPr/>
          <p:nvPr/>
        </p:nvSpPr>
        <p:spPr>
          <a:xfrm>
            <a:off x="8130476" y="2346523"/>
            <a:ext cx="3813973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Open Sans"/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Risk to check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8"/>
          <p:cNvSpPr/>
          <p:nvPr/>
        </p:nvSpPr>
        <p:spPr>
          <a:xfrm>
            <a:off x="857030" y="2894806"/>
            <a:ext cx="3813973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Public dataset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8"/>
          <p:cNvSpPr/>
          <p:nvPr/>
        </p:nvSpPr>
        <p:spPr>
          <a:xfrm>
            <a:off x="4439432" y="2894806"/>
            <a:ext cx="392261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Fast start, easy comparison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8"/>
          <p:cNvSpPr/>
          <p:nvPr/>
        </p:nvSpPr>
        <p:spPr>
          <a:xfrm>
            <a:off x="8130476" y="2894806"/>
            <a:ext cx="3204388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Too saturated, unclear license, weak labels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8"/>
          <p:cNvSpPr/>
          <p:nvPr/>
        </p:nvSpPr>
        <p:spPr>
          <a:xfrm>
            <a:off x="857030" y="3745508"/>
            <a:ext cx="3813973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Scraped data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8"/>
          <p:cNvSpPr/>
          <p:nvPr/>
        </p:nvSpPr>
        <p:spPr>
          <a:xfrm>
            <a:off x="4439432" y="3745508"/>
            <a:ext cx="392261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Recent local problems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8"/>
          <p:cNvSpPr/>
          <p:nvPr/>
        </p:nvSpPr>
        <p:spPr>
          <a:xfrm>
            <a:off x="8130476" y="3745508"/>
            <a:ext cx="3204388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Terms of service, privacy, noisy labels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8"/>
          <p:cNvSpPr/>
          <p:nvPr/>
        </p:nvSpPr>
        <p:spPr>
          <a:xfrm>
            <a:off x="857030" y="4596209"/>
            <a:ext cx="3813973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Manual collection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8"/>
          <p:cNvSpPr/>
          <p:nvPr/>
        </p:nvSpPr>
        <p:spPr>
          <a:xfrm>
            <a:off x="4439432" y="4596209"/>
            <a:ext cx="392261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Bangla, local, or niche problems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8"/>
          <p:cNvSpPr/>
          <p:nvPr/>
        </p:nvSpPr>
        <p:spPr>
          <a:xfrm>
            <a:off x="8130476" y="4596209"/>
            <a:ext cx="3813973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Time, labeling quality, sample size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8"/>
          <p:cNvSpPr/>
          <p:nvPr/>
        </p:nvSpPr>
        <p:spPr>
          <a:xfrm>
            <a:off x="857030" y="5144492"/>
            <a:ext cx="3813973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Private/institutional data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8"/>
          <p:cNvSpPr/>
          <p:nvPr/>
        </p:nvSpPr>
        <p:spPr>
          <a:xfrm>
            <a:off x="4439432" y="5144492"/>
            <a:ext cx="392261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Strong real-world value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8"/>
          <p:cNvSpPr/>
          <p:nvPr/>
        </p:nvSpPr>
        <p:spPr>
          <a:xfrm>
            <a:off x="8130476" y="5144492"/>
            <a:ext cx="3813973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Permission, ethics, access delay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8"/>
          <p:cNvSpPr/>
          <p:nvPr/>
        </p:nvSpPr>
        <p:spPr>
          <a:xfrm>
            <a:off x="857030" y="5692775"/>
            <a:ext cx="3813973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Generated/synthetic data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8"/>
          <p:cNvSpPr/>
          <p:nvPr/>
        </p:nvSpPr>
        <p:spPr>
          <a:xfrm>
            <a:off x="4439432" y="5692775"/>
            <a:ext cx="392261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Rare cases or augmentation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8"/>
          <p:cNvSpPr/>
          <p:nvPr/>
        </p:nvSpPr>
        <p:spPr>
          <a:xfrm>
            <a:off x="8130476" y="5692775"/>
            <a:ext cx="3813973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May not reflect real-world behavior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9"/>
          <p:cNvSpPr/>
          <p:nvPr/>
        </p:nvSpPr>
        <p:spPr>
          <a:xfrm>
            <a:off x="661475" y="576858"/>
            <a:ext cx="10868745" cy="502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3150"/>
              <a:buFont typeface="Unbounded"/>
              <a:buNone/>
            </a:pPr>
            <a:r>
              <a:rPr b="1" i="0" lang="en-US" sz="31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Dataset traps that break AI/ML theses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9"/>
          <p:cNvSpPr/>
          <p:nvPr/>
        </p:nvSpPr>
        <p:spPr>
          <a:xfrm>
            <a:off x="356682" y="1351955"/>
            <a:ext cx="11478330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Most weak thesis topics fail here, not during model training.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9"/>
          <p:cNvSpPr/>
          <p:nvPr/>
        </p:nvSpPr>
        <p:spPr>
          <a:xfrm>
            <a:off x="661475" y="1743273"/>
            <a:ext cx="5366112" cy="929977"/>
          </a:xfrm>
          <a:prstGeom prst="roundRect">
            <a:avLst>
              <a:gd fmla="val 7256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9"/>
          <p:cNvSpPr/>
          <p:nvPr/>
        </p:nvSpPr>
        <p:spPr>
          <a:xfrm>
            <a:off x="841156" y="1922959"/>
            <a:ext cx="5006751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550"/>
              <a:buFont typeface="Unbounded"/>
              <a:buNone/>
            </a:pPr>
            <a:r>
              <a:rPr b="1" i="0" lang="en-US" sz="1550" u="none" cap="none" strike="noStrike">
                <a:solidFill>
                  <a:srgbClr val="DC2626"/>
                </a:solidFill>
                <a:latin typeface="Unbounded"/>
                <a:ea typeface="Unbounded"/>
                <a:cs typeface="Unbounded"/>
                <a:sym typeface="Unbounded"/>
              </a:rPr>
              <a:t>No labels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9"/>
          <p:cNvSpPr/>
          <p:nvPr/>
        </p:nvSpPr>
        <p:spPr>
          <a:xfrm>
            <a:off x="841156" y="2255838"/>
            <a:ext cx="5006751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Supervised learning needs trustworthy labels.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9"/>
          <p:cNvSpPr/>
          <p:nvPr/>
        </p:nvSpPr>
        <p:spPr>
          <a:xfrm>
            <a:off x="6164108" y="1743273"/>
            <a:ext cx="5366112" cy="929977"/>
          </a:xfrm>
          <a:prstGeom prst="roundRect">
            <a:avLst>
              <a:gd fmla="val 7256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9"/>
          <p:cNvSpPr/>
          <p:nvPr/>
        </p:nvSpPr>
        <p:spPr>
          <a:xfrm>
            <a:off x="6343789" y="1922959"/>
            <a:ext cx="5006751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550"/>
              <a:buFont typeface="Unbounded"/>
              <a:buNone/>
            </a:pPr>
            <a:r>
              <a:rPr b="1" i="0" lang="en-US" sz="1550" u="none" cap="none" strike="noStrike">
                <a:solidFill>
                  <a:srgbClr val="DC2626"/>
                </a:solidFill>
                <a:latin typeface="Unbounded"/>
                <a:ea typeface="Unbounded"/>
                <a:cs typeface="Unbounded"/>
                <a:sym typeface="Unbounded"/>
              </a:rPr>
              <a:t>Too small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9"/>
          <p:cNvSpPr/>
          <p:nvPr/>
        </p:nvSpPr>
        <p:spPr>
          <a:xfrm>
            <a:off x="6343789" y="2255838"/>
            <a:ext cx="5006751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Results may not generalize.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9"/>
          <p:cNvSpPr/>
          <p:nvPr/>
        </p:nvSpPr>
        <p:spPr>
          <a:xfrm>
            <a:off x="661475" y="2809776"/>
            <a:ext cx="5366112" cy="929977"/>
          </a:xfrm>
          <a:prstGeom prst="roundRect">
            <a:avLst>
              <a:gd fmla="val 7256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9"/>
          <p:cNvSpPr/>
          <p:nvPr/>
        </p:nvSpPr>
        <p:spPr>
          <a:xfrm>
            <a:off x="841156" y="2989461"/>
            <a:ext cx="5006751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550"/>
              <a:buFont typeface="Unbounded"/>
              <a:buNone/>
            </a:pPr>
            <a:r>
              <a:rPr b="1" i="0" lang="en-US" sz="1550" u="none" cap="none" strike="noStrike">
                <a:solidFill>
                  <a:srgbClr val="DC2626"/>
                </a:solidFill>
                <a:latin typeface="Unbounded"/>
                <a:ea typeface="Unbounded"/>
                <a:cs typeface="Unbounded"/>
                <a:sym typeface="Unbounded"/>
              </a:rPr>
              <a:t>Class imbalance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9"/>
          <p:cNvSpPr/>
          <p:nvPr/>
        </p:nvSpPr>
        <p:spPr>
          <a:xfrm>
            <a:off x="841156" y="3322340"/>
            <a:ext cx="5006751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Accuracy can look high but be useless.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9"/>
          <p:cNvSpPr/>
          <p:nvPr/>
        </p:nvSpPr>
        <p:spPr>
          <a:xfrm>
            <a:off x="6164108" y="2809776"/>
            <a:ext cx="5366112" cy="929977"/>
          </a:xfrm>
          <a:prstGeom prst="roundRect">
            <a:avLst>
              <a:gd fmla="val 7256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9"/>
          <p:cNvSpPr/>
          <p:nvPr/>
        </p:nvSpPr>
        <p:spPr>
          <a:xfrm>
            <a:off x="6343789" y="2989461"/>
            <a:ext cx="5006751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550"/>
              <a:buFont typeface="Unbounded"/>
              <a:buNone/>
            </a:pPr>
            <a:r>
              <a:rPr b="1" i="0" lang="en-US" sz="1550" u="none" cap="none" strike="noStrike">
                <a:solidFill>
                  <a:srgbClr val="DC2626"/>
                </a:solidFill>
                <a:latin typeface="Unbounded"/>
                <a:ea typeface="Unbounded"/>
                <a:cs typeface="Unbounded"/>
                <a:sym typeface="Unbounded"/>
              </a:rPr>
              <a:t>Wrong context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9"/>
          <p:cNvSpPr/>
          <p:nvPr/>
        </p:nvSpPr>
        <p:spPr>
          <a:xfrm>
            <a:off x="6343789" y="3322340"/>
            <a:ext cx="5006751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English data may not support a Bangla problem.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9"/>
          <p:cNvSpPr/>
          <p:nvPr/>
        </p:nvSpPr>
        <p:spPr>
          <a:xfrm>
            <a:off x="661475" y="3893344"/>
            <a:ext cx="5366112" cy="929977"/>
          </a:xfrm>
          <a:prstGeom prst="roundRect">
            <a:avLst>
              <a:gd fmla="val 7256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9"/>
          <p:cNvSpPr/>
          <p:nvPr/>
        </p:nvSpPr>
        <p:spPr>
          <a:xfrm>
            <a:off x="841156" y="4073029"/>
            <a:ext cx="5006751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550"/>
              <a:buFont typeface="Unbounded"/>
              <a:buNone/>
            </a:pPr>
            <a:r>
              <a:rPr b="1" i="0" lang="en-US" sz="1550" u="none" cap="none" strike="noStrike">
                <a:solidFill>
                  <a:srgbClr val="EA580C"/>
                </a:solidFill>
                <a:latin typeface="Unbounded"/>
                <a:ea typeface="Unbounded"/>
                <a:cs typeface="Unbounded"/>
                <a:sym typeface="Unbounded"/>
              </a:rPr>
              <a:t>Leakage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9"/>
          <p:cNvSpPr/>
          <p:nvPr/>
        </p:nvSpPr>
        <p:spPr>
          <a:xfrm>
            <a:off x="841156" y="4405908"/>
            <a:ext cx="5006751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Train and test data accidentally share hidden clues.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9"/>
          <p:cNvSpPr/>
          <p:nvPr/>
        </p:nvSpPr>
        <p:spPr>
          <a:xfrm>
            <a:off x="6164108" y="3893344"/>
            <a:ext cx="5366112" cy="929977"/>
          </a:xfrm>
          <a:prstGeom prst="roundRect">
            <a:avLst>
              <a:gd fmla="val 7256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9"/>
          <p:cNvSpPr/>
          <p:nvPr/>
        </p:nvSpPr>
        <p:spPr>
          <a:xfrm>
            <a:off x="6343789" y="4073029"/>
            <a:ext cx="5006751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550"/>
              <a:buFont typeface="Unbounded"/>
              <a:buNone/>
            </a:pPr>
            <a:r>
              <a:rPr b="1" i="0" lang="en-US" sz="1550" u="none" cap="none" strike="noStrike">
                <a:solidFill>
                  <a:srgbClr val="EA580C"/>
                </a:solidFill>
                <a:latin typeface="Unbounded"/>
                <a:ea typeface="Unbounded"/>
                <a:cs typeface="Unbounded"/>
                <a:sym typeface="Unbounded"/>
              </a:rPr>
              <a:t>Unclear license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9"/>
          <p:cNvSpPr/>
          <p:nvPr/>
        </p:nvSpPr>
        <p:spPr>
          <a:xfrm>
            <a:off x="6343789" y="4405908"/>
            <a:ext cx="5006751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You may not be allowed to use or publish it.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9"/>
          <p:cNvSpPr/>
          <p:nvPr/>
        </p:nvSpPr>
        <p:spPr>
          <a:xfrm>
            <a:off x="661475" y="4959846"/>
            <a:ext cx="5366112" cy="929977"/>
          </a:xfrm>
          <a:prstGeom prst="roundRect">
            <a:avLst>
              <a:gd fmla="val 7256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9"/>
          <p:cNvSpPr/>
          <p:nvPr/>
        </p:nvSpPr>
        <p:spPr>
          <a:xfrm>
            <a:off x="841156" y="5139531"/>
            <a:ext cx="5006751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550"/>
              <a:buFont typeface="Unbounded"/>
              <a:buNone/>
            </a:pPr>
            <a:r>
              <a:rPr b="1" i="0" lang="en-US" sz="1550" u="none" cap="none" strike="noStrike">
                <a:solidFill>
                  <a:srgbClr val="EA580C"/>
                </a:solidFill>
                <a:latin typeface="Unbounded"/>
                <a:ea typeface="Unbounded"/>
                <a:cs typeface="Unbounded"/>
                <a:sym typeface="Unbounded"/>
              </a:rPr>
              <a:t>Old benchmark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9"/>
          <p:cNvSpPr/>
          <p:nvPr/>
        </p:nvSpPr>
        <p:spPr>
          <a:xfrm>
            <a:off x="841156" y="5472410"/>
            <a:ext cx="5006751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Many papers may already have solved it.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9"/>
          <p:cNvSpPr/>
          <p:nvPr/>
        </p:nvSpPr>
        <p:spPr>
          <a:xfrm>
            <a:off x="6164108" y="4959846"/>
            <a:ext cx="5366112" cy="929977"/>
          </a:xfrm>
          <a:prstGeom prst="roundRect">
            <a:avLst>
              <a:gd fmla="val 7256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9"/>
          <p:cNvSpPr/>
          <p:nvPr/>
        </p:nvSpPr>
        <p:spPr>
          <a:xfrm>
            <a:off x="6343789" y="5139531"/>
            <a:ext cx="5006751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550"/>
              <a:buFont typeface="Unbounded"/>
              <a:buNone/>
            </a:pPr>
            <a:r>
              <a:rPr b="1" i="0" lang="en-US" sz="1550" u="none" cap="none" strike="noStrike">
                <a:solidFill>
                  <a:srgbClr val="EA580C"/>
                </a:solidFill>
                <a:latin typeface="Unbounded"/>
                <a:ea typeface="Unbounded"/>
                <a:cs typeface="Unbounded"/>
                <a:sym typeface="Unbounded"/>
              </a:rPr>
              <a:t>Messy collection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9"/>
          <p:cNvSpPr/>
          <p:nvPr/>
        </p:nvSpPr>
        <p:spPr>
          <a:xfrm>
            <a:off x="6343789" y="5472410"/>
            <a:ext cx="5006751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No documentation means weak reproducibility.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9"/>
          <p:cNvSpPr/>
          <p:nvPr/>
        </p:nvSpPr>
        <p:spPr>
          <a:xfrm>
            <a:off x="356682" y="6043414"/>
            <a:ext cx="11478330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1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Ask early. Fix early. Do not discover dataset problems in month three.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0"/>
          <p:cNvSpPr/>
          <p:nvPr/>
        </p:nvSpPr>
        <p:spPr>
          <a:xfrm>
            <a:off x="661475" y="694630"/>
            <a:ext cx="10868745" cy="1046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3250"/>
              <a:buFont typeface="Unbounded"/>
              <a:buNone/>
            </a:pPr>
            <a:r>
              <a:rPr b="1" i="0" lang="en-US" sz="32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Probe: read to find the gap, not to collect citations</a:t>
            </a:r>
            <a:endParaRPr b="0" i="0" sz="3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0"/>
          <p:cNvSpPr/>
          <p:nvPr/>
        </p:nvSpPr>
        <p:spPr>
          <a:xfrm>
            <a:off x="356682" y="2038052"/>
            <a:ext cx="11478330" cy="252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The first search should help students understand the area and avoid saturated topics.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0"/>
          <p:cNvSpPr/>
          <p:nvPr/>
        </p:nvSpPr>
        <p:spPr>
          <a:xfrm>
            <a:off x="661475" y="2457549"/>
            <a:ext cx="3523963" cy="1481336"/>
          </a:xfrm>
          <a:prstGeom prst="roundRect">
            <a:avLst>
              <a:gd fmla="val 4748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0"/>
          <p:cNvSpPr/>
          <p:nvPr/>
        </p:nvSpPr>
        <p:spPr>
          <a:xfrm>
            <a:off x="847902" y="2643981"/>
            <a:ext cx="3151109" cy="26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600"/>
              <a:buFont typeface="Unbounded"/>
              <a:buNone/>
            </a:pPr>
            <a:r>
              <a:rPr b="1" i="0" lang="en-US" sz="1600" u="none" cap="none" strike="noStrike">
                <a:solidFill>
                  <a:srgbClr val="2563EB"/>
                </a:solidFill>
                <a:latin typeface="Unbounded"/>
                <a:ea typeface="Unbounded"/>
                <a:cs typeface="Unbounded"/>
                <a:sym typeface="Unbounded"/>
              </a:rPr>
              <a:t>Start broad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0"/>
          <p:cNvSpPr/>
          <p:nvPr/>
        </p:nvSpPr>
        <p:spPr>
          <a:xfrm>
            <a:off x="847902" y="2994620"/>
            <a:ext cx="3151109" cy="505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Search for survey papers, systematic reviews, and recent overview papers.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0"/>
          <p:cNvSpPr/>
          <p:nvPr/>
        </p:nvSpPr>
        <p:spPr>
          <a:xfrm>
            <a:off x="4333767" y="2457549"/>
            <a:ext cx="3524063" cy="1481336"/>
          </a:xfrm>
          <a:prstGeom prst="roundRect">
            <a:avLst>
              <a:gd fmla="val 4748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0"/>
          <p:cNvSpPr/>
          <p:nvPr/>
        </p:nvSpPr>
        <p:spPr>
          <a:xfrm>
            <a:off x="4520194" y="2643981"/>
            <a:ext cx="3151208" cy="26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600"/>
              <a:buFont typeface="Unbounded"/>
              <a:buNone/>
            </a:pPr>
            <a:r>
              <a:rPr b="1" i="0" lang="en-US" sz="1600" u="none" cap="none" strike="noStrike">
                <a:solidFill>
                  <a:srgbClr val="0D9488"/>
                </a:solidFill>
                <a:latin typeface="Unbounded"/>
                <a:ea typeface="Unbounded"/>
                <a:cs typeface="Unbounded"/>
                <a:sym typeface="Unbounded"/>
              </a:rPr>
              <a:t>Then narrow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0"/>
          <p:cNvSpPr/>
          <p:nvPr/>
        </p:nvSpPr>
        <p:spPr>
          <a:xfrm>
            <a:off x="4520194" y="2994620"/>
            <a:ext cx="3151208" cy="505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Read recent papers that use similar problems, data, or methods.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0"/>
          <p:cNvSpPr/>
          <p:nvPr/>
        </p:nvSpPr>
        <p:spPr>
          <a:xfrm>
            <a:off x="8006158" y="2457549"/>
            <a:ext cx="3523963" cy="1481336"/>
          </a:xfrm>
          <a:prstGeom prst="roundRect">
            <a:avLst>
              <a:gd fmla="val 4748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0"/>
          <p:cNvSpPr/>
          <p:nvPr/>
        </p:nvSpPr>
        <p:spPr>
          <a:xfrm>
            <a:off x="8192585" y="2643981"/>
            <a:ext cx="3151109" cy="26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600"/>
              <a:buFont typeface="Unbounded"/>
              <a:buNone/>
            </a:pPr>
            <a:r>
              <a:rPr b="1" i="0" lang="en-US" sz="1600" u="none" cap="none" strike="noStrike">
                <a:solidFill>
                  <a:srgbClr val="7C3AED"/>
                </a:solidFill>
                <a:latin typeface="Unbounded"/>
                <a:ea typeface="Unbounded"/>
                <a:cs typeface="Unbounded"/>
                <a:sym typeface="Unbounded"/>
              </a:rPr>
              <a:t>Track everything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0"/>
          <p:cNvSpPr/>
          <p:nvPr/>
        </p:nvSpPr>
        <p:spPr>
          <a:xfrm>
            <a:off x="8192585" y="2994620"/>
            <a:ext cx="3151109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Record paper, dataset, method, metric, limitation, and gap in one shared tracker.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0"/>
          <p:cNvSpPr/>
          <p:nvPr/>
        </p:nvSpPr>
        <p:spPr>
          <a:xfrm>
            <a:off x="661475" y="4105771"/>
            <a:ext cx="10868745" cy="2057598"/>
          </a:xfrm>
          <a:prstGeom prst="roundRect">
            <a:avLst>
              <a:gd fmla="val 3418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0"/>
          <p:cNvSpPr/>
          <p:nvPr/>
        </p:nvSpPr>
        <p:spPr>
          <a:xfrm>
            <a:off x="661475" y="4558605"/>
            <a:ext cx="10868745" cy="10466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0"/>
          <p:cNvSpPr/>
          <p:nvPr/>
        </p:nvSpPr>
        <p:spPr>
          <a:xfrm>
            <a:off x="661475" y="5008265"/>
            <a:ext cx="10868745" cy="10466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0"/>
          <p:cNvSpPr/>
          <p:nvPr/>
        </p:nvSpPr>
        <p:spPr>
          <a:xfrm>
            <a:off x="661475" y="5710535"/>
            <a:ext cx="10868745" cy="10466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0"/>
          <p:cNvSpPr/>
          <p:nvPr/>
        </p:nvSpPr>
        <p:spPr>
          <a:xfrm>
            <a:off x="667825" y="4112121"/>
            <a:ext cx="5428023" cy="446484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0"/>
          <p:cNvSpPr/>
          <p:nvPr/>
        </p:nvSpPr>
        <p:spPr>
          <a:xfrm>
            <a:off x="835203" y="4207470"/>
            <a:ext cx="5702852" cy="252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Open Sans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Bad search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0"/>
          <p:cNvSpPr/>
          <p:nvPr/>
        </p:nvSpPr>
        <p:spPr>
          <a:xfrm>
            <a:off x="6095848" y="4112121"/>
            <a:ext cx="5428023" cy="446484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0"/>
          <p:cNvSpPr/>
          <p:nvPr/>
        </p:nvSpPr>
        <p:spPr>
          <a:xfrm>
            <a:off x="6263225" y="4207470"/>
            <a:ext cx="5702852" cy="252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Open Sans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Better search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0"/>
          <p:cNvSpPr/>
          <p:nvPr/>
        </p:nvSpPr>
        <p:spPr>
          <a:xfrm>
            <a:off x="835203" y="4657130"/>
            <a:ext cx="5702852" cy="252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'diabetes prediction'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0"/>
          <p:cNvSpPr/>
          <p:nvPr/>
        </p:nvSpPr>
        <p:spPr>
          <a:xfrm>
            <a:off x="6263225" y="4657130"/>
            <a:ext cx="5702852" cy="252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'diabetes prediction systematic review machine learning 2024'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0"/>
          <p:cNvSpPr/>
          <p:nvPr/>
        </p:nvSpPr>
        <p:spPr>
          <a:xfrm>
            <a:off x="835203" y="5106789"/>
            <a:ext cx="5702852" cy="252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'fake news detection'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0"/>
          <p:cNvSpPr/>
          <p:nvPr/>
        </p:nvSpPr>
        <p:spPr>
          <a:xfrm>
            <a:off x="6263225" y="5106789"/>
            <a:ext cx="5093267" cy="505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'Bangla misinformation detection dataset transformer 2023 2024'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0"/>
          <p:cNvSpPr/>
          <p:nvPr/>
        </p:nvSpPr>
        <p:spPr>
          <a:xfrm>
            <a:off x="835203" y="5809059"/>
            <a:ext cx="5702852" cy="252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'plant disease CNN'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0"/>
          <p:cNvSpPr/>
          <p:nvPr/>
        </p:nvSpPr>
        <p:spPr>
          <a:xfrm>
            <a:off x="6263225" y="5809059"/>
            <a:ext cx="5702852" cy="252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'plant disease detection field condition mobile lightweight model'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1"/>
          <p:cNvSpPr/>
          <p:nvPr/>
        </p:nvSpPr>
        <p:spPr>
          <a:xfrm>
            <a:off x="661475" y="534392"/>
            <a:ext cx="10868745" cy="561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3500"/>
              <a:buFont typeface="Unbounded"/>
              <a:buNone/>
            </a:pPr>
            <a:r>
              <a:rPr b="1" i="0" lang="en-US" sz="35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Use a structured reading template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1"/>
          <p:cNvSpPr/>
          <p:nvPr/>
        </p:nvSpPr>
        <p:spPr>
          <a:xfrm>
            <a:off x="356682" y="1436688"/>
            <a:ext cx="11478330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Students do not need to memorize every paper. They need to extract the right information.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1"/>
          <p:cNvSpPr/>
          <p:nvPr/>
        </p:nvSpPr>
        <p:spPr>
          <a:xfrm>
            <a:off x="661475" y="1908671"/>
            <a:ext cx="5349047" cy="1072654"/>
          </a:xfrm>
          <a:prstGeom prst="roundRect">
            <a:avLst>
              <a:gd fmla="val 7031" name="adj"/>
            </a:avLst>
          </a:prstGeom>
          <a:solidFill>
            <a:srgbClr val="FFFFFF"/>
          </a:solidFill>
          <a:ln cap="flat" cmpd="sng" w="2537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1"/>
          <p:cNvSpPr/>
          <p:nvPr/>
        </p:nvSpPr>
        <p:spPr>
          <a:xfrm>
            <a:off x="866356" y="2113558"/>
            <a:ext cx="4939283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750"/>
              <a:buFont typeface="Unbounded"/>
              <a:buNone/>
            </a:pPr>
            <a:r>
              <a:rPr b="1" i="0" lang="en-US" sz="1750" u="none" cap="none" strike="noStrike">
                <a:solidFill>
                  <a:srgbClr val="0D9488"/>
                </a:solidFill>
                <a:latin typeface="Unbounded"/>
                <a:ea typeface="Unbounded"/>
                <a:cs typeface="Unbounded"/>
                <a:sym typeface="Unbounded"/>
              </a:rPr>
              <a:t>Problem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1"/>
          <p:cNvSpPr/>
          <p:nvPr/>
        </p:nvSpPr>
        <p:spPr>
          <a:xfrm>
            <a:off x="866356" y="2496344"/>
            <a:ext cx="4939283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What problem is being solved?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1"/>
          <p:cNvSpPr/>
          <p:nvPr/>
        </p:nvSpPr>
        <p:spPr>
          <a:xfrm>
            <a:off x="6181074" y="1908671"/>
            <a:ext cx="5349146" cy="1072654"/>
          </a:xfrm>
          <a:prstGeom prst="roundRect">
            <a:avLst>
              <a:gd fmla="val 7031" name="adj"/>
            </a:avLst>
          </a:prstGeom>
          <a:solidFill>
            <a:srgbClr val="FFFFFF"/>
          </a:solidFill>
          <a:ln cap="flat" cmpd="sng" w="2537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1"/>
          <p:cNvSpPr/>
          <p:nvPr/>
        </p:nvSpPr>
        <p:spPr>
          <a:xfrm>
            <a:off x="6385956" y="2113558"/>
            <a:ext cx="4939383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750"/>
              <a:buFont typeface="Unbounded"/>
              <a:buNone/>
            </a:pPr>
            <a:r>
              <a:rPr b="1" i="0" lang="en-US" sz="1750" u="none" cap="none" strike="noStrike">
                <a:solidFill>
                  <a:srgbClr val="2563EB"/>
                </a:solidFill>
                <a:latin typeface="Unbounded"/>
                <a:ea typeface="Unbounded"/>
                <a:cs typeface="Unbounded"/>
                <a:sym typeface="Unbounded"/>
              </a:rPr>
              <a:t>Data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1"/>
          <p:cNvSpPr/>
          <p:nvPr/>
        </p:nvSpPr>
        <p:spPr>
          <a:xfrm>
            <a:off x="6385956" y="2496344"/>
            <a:ext cx="4939383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What data is used and is it accessible?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1"/>
          <p:cNvSpPr/>
          <p:nvPr/>
        </p:nvSpPr>
        <p:spPr>
          <a:xfrm>
            <a:off x="661475" y="3151882"/>
            <a:ext cx="5349047" cy="1072654"/>
          </a:xfrm>
          <a:prstGeom prst="roundRect">
            <a:avLst>
              <a:gd fmla="val 7031" name="adj"/>
            </a:avLst>
          </a:prstGeom>
          <a:solidFill>
            <a:srgbClr val="FFFFFF"/>
          </a:solidFill>
          <a:ln cap="flat" cmpd="sng" w="2537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1"/>
          <p:cNvSpPr/>
          <p:nvPr/>
        </p:nvSpPr>
        <p:spPr>
          <a:xfrm>
            <a:off x="866356" y="3356769"/>
            <a:ext cx="4939283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750"/>
              <a:buFont typeface="Unbounded"/>
              <a:buNone/>
            </a:pPr>
            <a:r>
              <a:rPr b="1" i="0" lang="en-US" sz="1750" u="none" cap="none" strike="noStrike">
                <a:solidFill>
                  <a:srgbClr val="0D9488"/>
                </a:solidFill>
                <a:latin typeface="Unbounded"/>
                <a:ea typeface="Unbounded"/>
                <a:cs typeface="Unbounded"/>
                <a:sym typeface="Unbounded"/>
              </a:rPr>
              <a:t>Method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1"/>
          <p:cNvSpPr/>
          <p:nvPr/>
        </p:nvSpPr>
        <p:spPr>
          <a:xfrm>
            <a:off x="866356" y="3739555"/>
            <a:ext cx="4939283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What approach or pipeline is used?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1"/>
          <p:cNvSpPr/>
          <p:nvPr/>
        </p:nvSpPr>
        <p:spPr>
          <a:xfrm>
            <a:off x="6181074" y="3151882"/>
            <a:ext cx="5349146" cy="1072654"/>
          </a:xfrm>
          <a:prstGeom prst="roundRect">
            <a:avLst>
              <a:gd fmla="val 7031" name="adj"/>
            </a:avLst>
          </a:prstGeom>
          <a:solidFill>
            <a:srgbClr val="FFFFFF"/>
          </a:solidFill>
          <a:ln cap="flat" cmpd="sng" w="2537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1"/>
          <p:cNvSpPr/>
          <p:nvPr/>
        </p:nvSpPr>
        <p:spPr>
          <a:xfrm>
            <a:off x="6385956" y="3356769"/>
            <a:ext cx="4939383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750"/>
              <a:buFont typeface="Unbounded"/>
              <a:buNone/>
            </a:pPr>
            <a:r>
              <a:rPr b="1" i="0" lang="en-US" sz="1750" u="none" cap="none" strike="noStrike">
                <a:solidFill>
                  <a:srgbClr val="2563EB"/>
                </a:solidFill>
                <a:latin typeface="Unbounded"/>
                <a:ea typeface="Unbounded"/>
                <a:cs typeface="Unbounded"/>
                <a:sym typeface="Unbounded"/>
              </a:rPr>
              <a:t>Evaluation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1"/>
          <p:cNvSpPr/>
          <p:nvPr/>
        </p:nvSpPr>
        <p:spPr>
          <a:xfrm>
            <a:off x="6385956" y="3739555"/>
            <a:ext cx="4939383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How did they measure success?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1"/>
          <p:cNvSpPr/>
          <p:nvPr/>
        </p:nvSpPr>
        <p:spPr>
          <a:xfrm>
            <a:off x="661475" y="4395093"/>
            <a:ext cx="5349047" cy="1072654"/>
          </a:xfrm>
          <a:prstGeom prst="roundRect">
            <a:avLst>
              <a:gd fmla="val 7031" name="adj"/>
            </a:avLst>
          </a:prstGeom>
          <a:solidFill>
            <a:srgbClr val="FFFFFF"/>
          </a:solidFill>
          <a:ln cap="flat" cmpd="sng" w="2537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1"/>
          <p:cNvSpPr/>
          <p:nvPr/>
        </p:nvSpPr>
        <p:spPr>
          <a:xfrm>
            <a:off x="866356" y="4599980"/>
            <a:ext cx="4939283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750"/>
              <a:buFont typeface="Unbounded"/>
              <a:buNone/>
            </a:pPr>
            <a:r>
              <a:rPr b="1" i="0" lang="en-US" sz="1750" u="none" cap="none" strike="noStrike">
                <a:solidFill>
                  <a:srgbClr val="0D9488"/>
                </a:solidFill>
                <a:latin typeface="Unbounded"/>
                <a:ea typeface="Unbounded"/>
                <a:cs typeface="Unbounded"/>
                <a:sym typeface="Unbounded"/>
              </a:rPr>
              <a:t>Findings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1"/>
          <p:cNvSpPr/>
          <p:nvPr/>
        </p:nvSpPr>
        <p:spPr>
          <a:xfrm>
            <a:off x="866356" y="4982766"/>
            <a:ext cx="4939283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What were the main results?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1"/>
          <p:cNvSpPr/>
          <p:nvPr/>
        </p:nvSpPr>
        <p:spPr>
          <a:xfrm>
            <a:off x="6181074" y="4395093"/>
            <a:ext cx="5349146" cy="1072654"/>
          </a:xfrm>
          <a:prstGeom prst="roundRect">
            <a:avLst>
              <a:gd fmla="val 7031" name="adj"/>
            </a:avLst>
          </a:prstGeom>
          <a:solidFill>
            <a:srgbClr val="FFFFFF"/>
          </a:solidFill>
          <a:ln cap="flat" cmpd="sng" w="2537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1"/>
          <p:cNvSpPr/>
          <p:nvPr/>
        </p:nvSpPr>
        <p:spPr>
          <a:xfrm>
            <a:off x="6385956" y="4599980"/>
            <a:ext cx="4939383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750"/>
              <a:buFont typeface="Unbounded"/>
              <a:buNone/>
            </a:pPr>
            <a:r>
              <a:rPr b="1" i="0" lang="en-US" sz="1750" u="none" cap="none" strike="noStrike">
                <a:solidFill>
                  <a:srgbClr val="2563EB"/>
                </a:solidFill>
                <a:latin typeface="Unbounded"/>
                <a:ea typeface="Unbounded"/>
                <a:cs typeface="Unbounded"/>
                <a:sym typeface="Unbounded"/>
              </a:rPr>
              <a:t>Gap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1"/>
          <p:cNvSpPr/>
          <p:nvPr/>
        </p:nvSpPr>
        <p:spPr>
          <a:xfrm>
            <a:off x="6385956" y="4982766"/>
            <a:ext cx="4939383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What is still unresolved?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1"/>
          <p:cNvSpPr/>
          <p:nvPr/>
        </p:nvSpPr>
        <p:spPr>
          <a:xfrm>
            <a:off x="661475" y="5659636"/>
            <a:ext cx="25399" cy="663873"/>
          </a:xfrm>
          <a:prstGeom prst="roundRect">
            <a:avLst>
              <a:gd fmla="val 60001" name="adj"/>
            </a:avLst>
          </a:prstGeom>
          <a:solidFill>
            <a:srgbClr val="26A6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1"/>
          <p:cNvSpPr/>
          <p:nvPr/>
        </p:nvSpPr>
        <p:spPr>
          <a:xfrm>
            <a:off x="625955" y="5851525"/>
            <a:ext cx="11209057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Open Sans"/>
              <a:buNone/>
            </a:pPr>
            <a:r>
              <a:rPr b="1" i="0" lang="en-US" sz="14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The template is a scaffold. The goal is to see patterns across papers, not to write a summary of each paper.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2"/>
          <p:cNvSpPr/>
          <p:nvPr/>
        </p:nvSpPr>
        <p:spPr>
          <a:xfrm>
            <a:off x="661475" y="572195"/>
            <a:ext cx="10868745" cy="552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3450"/>
              <a:buFont typeface="Unbounded"/>
              <a:buNone/>
            </a:pPr>
            <a:r>
              <a:rPr b="1" i="0" lang="en-US" sz="34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Saturation check before commitment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2"/>
          <p:cNvSpPr/>
          <p:nvPr/>
        </p:nvSpPr>
        <p:spPr>
          <a:xfrm>
            <a:off x="356682" y="1455142"/>
            <a:ext cx="11478330" cy="273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Open Sans"/>
              <a:buNone/>
            </a:pPr>
            <a:r>
              <a:rPr b="0" i="0" lang="en-US" sz="13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 topic can be interesting but still too repeated for a thesis.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9" name="Google Shape;52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914723"/>
            <a:ext cx="3622882" cy="707033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22"/>
          <p:cNvSpPr/>
          <p:nvPr/>
        </p:nvSpPr>
        <p:spPr>
          <a:xfrm>
            <a:off x="838179" y="2787055"/>
            <a:ext cx="3269474" cy="2761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00"/>
              <a:buFont typeface="Unbounded"/>
              <a:buNone/>
            </a:pPr>
            <a:r>
              <a:rPr b="1" i="0" lang="en-US" sz="17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Your topic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2"/>
          <p:cNvSpPr/>
          <p:nvPr/>
        </p:nvSpPr>
        <p:spPr>
          <a:xfrm>
            <a:off x="838179" y="3162300"/>
            <a:ext cx="3269474" cy="273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Open Sans"/>
              <a:buNone/>
            </a:pPr>
            <a:r>
              <a:rPr b="0" i="0" lang="en-US" sz="13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Problem + dataset + method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2" name="Google Shape;53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4357" y="1914723"/>
            <a:ext cx="3622882" cy="707033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22"/>
          <p:cNvSpPr/>
          <p:nvPr/>
        </p:nvSpPr>
        <p:spPr>
          <a:xfrm>
            <a:off x="4461061" y="2787055"/>
            <a:ext cx="3269474" cy="2761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700"/>
              <a:buFont typeface="Unbounded"/>
              <a:buNone/>
            </a:pPr>
            <a:r>
              <a:rPr b="1" i="0" lang="en-US" sz="1700" u="none" cap="none" strike="noStrike">
                <a:solidFill>
                  <a:srgbClr val="2563EB"/>
                </a:solidFill>
                <a:latin typeface="Unbounded"/>
                <a:ea typeface="Unbounded"/>
                <a:cs typeface="Unbounded"/>
                <a:sym typeface="Unbounded"/>
              </a:rPr>
              <a:t>Check 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2"/>
          <p:cNvSpPr/>
          <p:nvPr/>
        </p:nvSpPr>
        <p:spPr>
          <a:xfrm>
            <a:off x="4461061" y="3162300"/>
            <a:ext cx="3269474" cy="547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Open Sans"/>
              <a:buNone/>
            </a:pPr>
            <a:r>
              <a:rPr b="0" i="0" lang="en-US" sz="13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Do 3+ papers use the same problem and same dataset?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5" name="Google Shape;53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07239" y="1914723"/>
            <a:ext cx="3622882" cy="707033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22"/>
          <p:cNvSpPr/>
          <p:nvPr/>
        </p:nvSpPr>
        <p:spPr>
          <a:xfrm>
            <a:off x="8083943" y="2787055"/>
            <a:ext cx="3269474" cy="2761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700"/>
              <a:buFont typeface="Unbounded"/>
              <a:buNone/>
            </a:pPr>
            <a:r>
              <a:rPr b="1" i="0" lang="en-US" sz="1700" u="none" cap="none" strike="noStrike">
                <a:solidFill>
                  <a:srgbClr val="EA580C"/>
                </a:solidFill>
                <a:latin typeface="Unbounded"/>
                <a:ea typeface="Unbounded"/>
                <a:cs typeface="Unbounded"/>
                <a:sym typeface="Unbounded"/>
              </a:rPr>
              <a:t>Check 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2"/>
          <p:cNvSpPr/>
          <p:nvPr/>
        </p:nvSpPr>
        <p:spPr>
          <a:xfrm>
            <a:off x="8083943" y="3162300"/>
            <a:ext cx="3269474" cy="547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Open Sans"/>
              <a:buNone/>
            </a:pPr>
            <a:r>
              <a:rPr b="0" i="0" lang="en-US" sz="13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Do they also use the same method or baseline direction?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2"/>
          <p:cNvSpPr/>
          <p:nvPr/>
        </p:nvSpPr>
        <p:spPr>
          <a:xfrm>
            <a:off x="661475" y="4237534"/>
            <a:ext cx="5218776" cy="2761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700"/>
              <a:buFont typeface="Unbounded"/>
              <a:buNone/>
            </a:pPr>
            <a:r>
              <a:rPr b="1" i="0" lang="en-US" sz="1700" u="none" cap="none" strike="noStrike">
                <a:solidFill>
                  <a:srgbClr val="DC2626"/>
                </a:solidFill>
                <a:latin typeface="Unbounded"/>
                <a:ea typeface="Unbounded"/>
                <a:cs typeface="Unbounded"/>
                <a:sym typeface="Unbounded"/>
              </a:rPr>
              <a:t>If yes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2"/>
          <p:cNvSpPr/>
          <p:nvPr/>
        </p:nvSpPr>
        <p:spPr>
          <a:xfrm>
            <a:off x="661475" y="4678958"/>
            <a:ext cx="5218776" cy="547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Open Sans"/>
              <a:buNone/>
            </a:pPr>
            <a:r>
              <a:rPr b="0" i="0" lang="en-US" sz="13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Change at least one: problem angle, dataset, method, evaluation, explanation, context, or deployment constraint.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2"/>
          <p:cNvSpPr/>
          <p:nvPr/>
        </p:nvSpPr>
        <p:spPr>
          <a:xfrm>
            <a:off x="6317794" y="4237534"/>
            <a:ext cx="5218776" cy="2761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700"/>
              <a:buFont typeface="Unbounded"/>
              <a:buNone/>
            </a:pPr>
            <a:r>
              <a:rPr b="1" i="0" lang="en-US" sz="1700" u="none" cap="none" strike="noStrike">
                <a:solidFill>
                  <a:srgbClr val="16A34A"/>
                </a:solidFill>
                <a:latin typeface="Unbounded"/>
                <a:ea typeface="Unbounded"/>
                <a:cs typeface="Unbounded"/>
                <a:sym typeface="Unbounded"/>
              </a:rPr>
              <a:t>If no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2"/>
          <p:cNvSpPr/>
          <p:nvPr/>
        </p:nvSpPr>
        <p:spPr>
          <a:xfrm>
            <a:off x="6317794" y="4678958"/>
            <a:ext cx="5218776" cy="547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Open Sans"/>
              <a:buNone/>
            </a:pPr>
            <a:r>
              <a:rPr b="0" i="0" lang="en-US" sz="13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You may have a workable direction. Still explain the gap in clear, specific words.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2"/>
          <p:cNvSpPr/>
          <p:nvPr/>
        </p:nvSpPr>
        <p:spPr>
          <a:xfrm>
            <a:off x="661475" y="5622925"/>
            <a:ext cx="10868745" cy="6627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050"/>
              <a:buFont typeface="Unbounded"/>
              <a:buNone/>
            </a:pPr>
            <a:r>
              <a:rPr b="1" i="0" lang="en-US" sz="20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Simple defense test: what is new here compared to the closest 3 papers?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3"/>
          <p:cNvSpPr/>
          <p:nvPr/>
        </p:nvSpPr>
        <p:spPr>
          <a:xfrm>
            <a:off x="661475" y="811808"/>
            <a:ext cx="10868745" cy="1063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3300"/>
              <a:buFont typeface="Unbounded"/>
              <a:buNone/>
            </a:pPr>
            <a:r>
              <a:rPr b="1" i="0" lang="en-US" sz="33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SPOT walkthrough: one topic from start to approval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3"/>
          <p:cNvSpPr/>
          <p:nvPr/>
        </p:nvSpPr>
        <p:spPr>
          <a:xfrm>
            <a:off x="356682" y="2181225"/>
            <a:ext cx="11478330" cy="258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Example: early-risk detection in an introductory programming course.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0" name="Google Shape;55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2612033"/>
            <a:ext cx="5357778" cy="1252835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23"/>
          <p:cNvSpPr/>
          <p:nvPr/>
        </p:nvSpPr>
        <p:spPr>
          <a:xfrm>
            <a:off x="926779" y="2801144"/>
            <a:ext cx="4903367" cy="265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650"/>
              <a:buFont typeface="Unbounded"/>
              <a:buNone/>
            </a:pPr>
            <a:r>
              <a:rPr b="1" i="0" lang="en-US" sz="16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S: Scope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3"/>
          <p:cNvSpPr/>
          <p:nvPr/>
        </p:nvSpPr>
        <p:spPr>
          <a:xfrm>
            <a:off x="926779" y="3158629"/>
            <a:ext cx="4903367" cy="517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Problem: some students become at-risk before midterm, but teachers notice too late.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3" name="Google Shape;55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343" y="2612033"/>
            <a:ext cx="5357877" cy="1252835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23"/>
          <p:cNvSpPr/>
          <p:nvPr/>
        </p:nvSpPr>
        <p:spPr>
          <a:xfrm>
            <a:off x="6437648" y="2801144"/>
            <a:ext cx="4903466" cy="265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650"/>
              <a:buFont typeface="Unbounded"/>
              <a:buNone/>
            </a:pPr>
            <a:r>
              <a:rPr b="1" i="0" lang="en-US" sz="16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P: Probe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3"/>
          <p:cNvSpPr/>
          <p:nvPr/>
        </p:nvSpPr>
        <p:spPr>
          <a:xfrm>
            <a:off x="6437648" y="3158629"/>
            <a:ext cx="4903466" cy="517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Read learning analytics papers. Look for gaps in local lab data, early signals, and programming-specific behavior.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6" name="Google Shape;55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4017962"/>
            <a:ext cx="5357778" cy="1252835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23"/>
          <p:cNvSpPr/>
          <p:nvPr/>
        </p:nvSpPr>
        <p:spPr>
          <a:xfrm>
            <a:off x="926779" y="4207073"/>
            <a:ext cx="4903367" cy="265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650"/>
              <a:buFont typeface="Unbounded"/>
              <a:buNone/>
            </a:pPr>
            <a:r>
              <a:rPr b="1" i="0" lang="en-US" sz="16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O: Own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3"/>
          <p:cNvSpPr/>
          <p:nvPr/>
        </p:nvSpPr>
        <p:spPr>
          <a:xfrm>
            <a:off x="926779" y="4564559"/>
            <a:ext cx="4903367" cy="517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Use attendance, lab attempts, submission delay, quiz marks, and anonymized course data if permission is possible.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9" name="Google Shape;55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343" y="4017962"/>
            <a:ext cx="5357877" cy="1252835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23"/>
          <p:cNvSpPr/>
          <p:nvPr/>
        </p:nvSpPr>
        <p:spPr>
          <a:xfrm>
            <a:off x="6437648" y="4207073"/>
            <a:ext cx="4903466" cy="265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650"/>
              <a:buFont typeface="Unbounded"/>
              <a:buNone/>
            </a:pPr>
            <a:r>
              <a:rPr b="1" i="0" lang="en-US" sz="16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T: Test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3"/>
          <p:cNvSpPr/>
          <p:nvPr/>
        </p:nvSpPr>
        <p:spPr>
          <a:xfrm>
            <a:off x="6437648" y="4564559"/>
            <a:ext cx="4903466" cy="517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Can we predict risk by Week 5? Evaluate recall for at-risk students, F1, and error cases.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3"/>
          <p:cNvSpPr/>
          <p:nvPr/>
        </p:nvSpPr>
        <p:spPr>
          <a:xfrm>
            <a:off x="661475" y="5443041"/>
            <a:ext cx="19050" cy="603052"/>
          </a:xfrm>
          <a:prstGeom prst="roundRect">
            <a:avLst>
              <a:gd fmla="val 59999" name="adj"/>
            </a:avLst>
          </a:prstGeom>
          <a:solidFill>
            <a:srgbClr val="26A6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3"/>
          <p:cNvSpPr/>
          <p:nvPr/>
        </p:nvSpPr>
        <p:spPr>
          <a:xfrm>
            <a:off x="916560" y="5615285"/>
            <a:ext cx="11223245" cy="258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1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Possible title: Early detection of programming course risk using early-semester activity data.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24"/>
          <p:cNvSpPr/>
          <p:nvPr/>
        </p:nvSpPr>
        <p:spPr>
          <a:xfrm>
            <a:off x="661475" y="541437"/>
            <a:ext cx="10868745" cy="1052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3300"/>
              <a:buFont typeface="Unbounded"/>
              <a:buNone/>
            </a:pPr>
            <a:r>
              <a:rPr b="1" i="0" lang="en-US" sz="33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Own: move from 10 ideas to 3 to 5 candidates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4"/>
          <p:cNvSpPr/>
          <p:nvPr/>
        </p:nvSpPr>
        <p:spPr>
          <a:xfrm>
            <a:off x="356682" y="1893391"/>
            <a:ext cx="11478330" cy="254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Do not submit the first topic that sounds trendy.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4"/>
          <p:cNvSpPr/>
          <p:nvPr/>
        </p:nvSpPr>
        <p:spPr>
          <a:xfrm>
            <a:off x="661475" y="2316659"/>
            <a:ext cx="10868745" cy="3999905"/>
          </a:xfrm>
          <a:prstGeom prst="roundRect">
            <a:avLst>
              <a:gd fmla="val 1768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4"/>
          <p:cNvSpPr/>
          <p:nvPr/>
        </p:nvSpPr>
        <p:spPr>
          <a:xfrm>
            <a:off x="661475" y="2773263"/>
            <a:ext cx="10868745" cy="10522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4"/>
          <p:cNvSpPr/>
          <p:nvPr/>
        </p:nvSpPr>
        <p:spPr>
          <a:xfrm>
            <a:off x="661475" y="3481288"/>
            <a:ext cx="10868745" cy="10522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4"/>
          <p:cNvSpPr/>
          <p:nvPr/>
        </p:nvSpPr>
        <p:spPr>
          <a:xfrm>
            <a:off x="661475" y="4189313"/>
            <a:ext cx="10868745" cy="10522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4"/>
          <p:cNvSpPr/>
          <p:nvPr/>
        </p:nvSpPr>
        <p:spPr>
          <a:xfrm>
            <a:off x="661475" y="4897338"/>
            <a:ext cx="10868745" cy="10522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4"/>
          <p:cNvSpPr/>
          <p:nvPr/>
        </p:nvSpPr>
        <p:spPr>
          <a:xfrm>
            <a:off x="661475" y="5605363"/>
            <a:ext cx="10868745" cy="10522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4"/>
          <p:cNvSpPr/>
          <p:nvPr/>
        </p:nvSpPr>
        <p:spPr>
          <a:xfrm>
            <a:off x="667924" y="2323009"/>
            <a:ext cx="2171150" cy="450255"/>
          </a:xfrm>
          <a:prstGeom prst="rect">
            <a:avLst/>
          </a:prstGeom>
          <a:solidFill>
            <a:srgbClr val="7B3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4"/>
          <p:cNvSpPr/>
          <p:nvPr/>
        </p:nvSpPr>
        <p:spPr>
          <a:xfrm>
            <a:off x="836195" y="2419251"/>
            <a:ext cx="2444193" cy="254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Open San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Filter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4"/>
          <p:cNvSpPr/>
          <p:nvPr/>
        </p:nvSpPr>
        <p:spPr>
          <a:xfrm>
            <a:off x="2839074" y="2323009"/>
            <a:ext cx="4342398" cy="450255"/>
          </a:xfrm>
          <a:prstGeom prst="rect">
            <a:avLst/>
          </a:prstGeom>
          <a:solidFill>
            <a:srgbClr val="7B3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4"/>
          <p:cNvSpPr/>
          <p:nvPr/>
        </p:nvSpPr>
        <p:spPr>
          <a:xfrm>
            <a:off x="3007344" y="2419251"/>
            <a:ext cx="4615442" cy="254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Open San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Question to ask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4"/>
          <p:cNvSpPr/>
          <p:nvPr/>
        </p:nvSpPr>
        <p:spPr>
          <a:xfrm>
            <a:off x="7181472" y="2323009"/>
            <a:ext cx="4342398" cy="450255"/>
          </a:xfrm>
          <a:prstGeom prst="rect">
            <a:avLst/>
          </a:prstGeom>
          <a:solidFill>
            <a:srgbClr val="7B3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4"/>
          <p:cNvSpPr/>
          <p:nvPr/>
        </p:nvSpPr>
        <p:spPr>
          <a:xfrm>
            <a:off x="7349743" y="2419251"/>
            <a:ext cx="4615442" cy="254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Open San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Example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4"/>
          <p:cNvSpPr/>
          <p:nvPr/>
        </p:nvSpPr>
        <p:spPr>
          <a:xfrm>
            <a:off x="836195" y="2872680"/>
            <a:ext cx="2444193" cy="254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Interest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4"/>
          <p:cNvSpPr/>
          <p:nvPr/>
        </p:nvSpPr>
        <p:spPr>
          <a:xfrm>
            <a:off x="3007344" y="2872680"/>
            <a:ext cx="4615442" cy="254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Can the group work on this for four months?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4"/>
          <p:cNvSpPr/>
          <p:nvPr/>
        </p:nvSpPr>
        <p:spPr>
          <a:xfrm>
            <a:off x="7349743" y="2872680"/>
            <a:ext cx="4005857" cy="509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 group interested in Bangla NLP should not force CV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4"/>
          <p:cNvSpPr/>
          <p:nvPr/>
        </p:nvSpPr>
        <p:spPr>
          <a:xfrm>
            <a:off x="836195" y="3580705"/>
            <a:ext cx="2444193" cy="254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4"/>
          <p:cNvSpPr/>
          <p:nvPr/>
        </p:nvSpPr>
        <p:spPr>
          <a:xfrm>
            <a:off x="3007344" y="3580705"/>
            <a:ext cx="4615442" cy="254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Can we access usable data quickly?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4"/>
          <p:cNvSpPr/>
          <p:nvPr/>
        </p:nvSpPr>
        <p:spPr>
          <a:xfrm>
            <a:off x="7349743" y="3580705"/>
            <a:ext cx="4005857" cy="509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Dataset link, scraping plan, or permission route exists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4"/>
          <p:cNvSpPr/>
          <p:nvPr/>
        </p:nvSpPr>
        <p:spPr>
          <a:xfrm>
            <a:off x="836195" y="4288730"/>
            <a:ext cx="2444193" cy="254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Gap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4"/>
          <p:cNvSpPr/>
          <p:nvPr/>
        </p:nvSpPr>
        <p:spPr>
          <a:xfrm>
            <a:off x="3007344" y="4288730"/>
            <a:ext cx="4615442" cy="254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Can we explain what prior work missed?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4"/>
          <p:cNvSpPr/>
          <p:nvPr/>
        </p:nvSpPr>
        <p:spPr>
          <a:xfrm>
            <a:off x="7349743" y="4288730"/>
            <a:ext cx="4005857" cy="509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Few studies tested low-resource Bangla code-mixed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4"/>
          <p:cNvSpPr/>
          <p:nvPr/>
        </p:nvSpPr>
        <p:spPr>
          <a:xfrm>
            <a:off x="836195" y="4996755"/>
            <a:ext cx="2444193" cy="254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Skill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4"/>
          <p:cNvSpPr/>
          <p:nvPr/>
        </p:nvSpPr>
        <p:spPr>
          <a:xfrm>
            <a:off x="3007344" y="4996755"/>
            <a:ext cx="4615442" cy="254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Can we execute the work with available skills?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4"/>
          <p:cNvSpPr/>
          <p:nvPr/>
        </p:nvSpPr>
        <p:spPr>
          <a:xfrm>
            <a:off x="7349743" y="4996755"/>
            <a:ext cx="4005857" cy="509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Transformer fine-tuning may be feasible, building full app may not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4"/>
          <p:cNvSpPr/>
          <p:nvPr/>
        </p:nvSpPr>
        <p:spPr>
          <a:xfrm>
            <a:off x="836195" y="5704780"/>
            <a:ext cx="2444193" cy="254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Timeline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4"/>
          <p:cNvSpPr/>
          <p:nvPr/>
        </p:nvSpPr>
        <p:spPr>
          <a:xfrm>
            <a:off x="3007344" y="5704780"/>
            <a:ext cx="4615442" cy="254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Can we finish and write it properly?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4"/>
          <p:cNvSpPr/>
          <p:nvPr/>
        </p:nvSpPr>
        <p:spPr>
          <a:xfrm>
            <a:off x="7349743" y="5704780"/>
            <a:ext cx="4005857" cy="509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One dataset and clear evaluation is better than five datasets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5"/>
          <p:cNvSpPr/>
          <p:nvPr/>
        </p:nvSpPr>
        <p:spPr>
          <a:xfrm>
            <a:off x="661475" y="793452"/>
            <a:ext cx="10868745" cy="1181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3700"/>
              <a:buFont typeface="Unbounded"/>
              <a:buNone/>
            </a:pPr>
            <a:r>
              <a:rPr b="1" i="0" lang="en-US" sz="37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Test: can the topic survive basic questions?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5"/>
          <p:cNvSpPr/>
          <p:nvPr/>
        </p:nvSpPr>
        <p:spPr>
          <a:xfrm>
            <a:off x="356682" y="2352774"/>
            <a:ext cx="11478330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Before supervisor approval, each group should answer these without confusion.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5"/>
          <p:cNvSpPr/>
          <p:nvPr/>
        </p:nvSpPr>
        <p:spPr>
          <a:xfrm>
            <a:off x="661475" y="3080445"/>
            <a:ext cx="2507394" cy="1033661"/>
          </a:xfrm>
          <a:prstGeom prst="roundRect">
            <a:avLst>
              <a:gd fmla="val 7680" name="adj"/>
            </a:avLst>
          </a:prstGeom>
          <a:solidFill>
            <a:srgbClr val="FFFFFF"/>
          </a:solidFill>
          <a:ln cap="flat" cmpd="sng" w="2537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25"/>
          <p:cNvSpPr/>
          <p:nvPr/>
        </p:nvSpPr>
        <p:spPr>
          <a:xfrm>
            <a:off x="875881" y="3294856"/>
            <a:ext cx="2078581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1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What exact problem are we solving?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5"/>
          <p:cNvSpPr/>
          <p:nvPr/>
        </p:nvSpPr>
        <p:spPr>
          <a:xfrm>
            <a:off x="3357875" y="3080445"/>
            <a:ext cx="2507394" cy="1033661"/>
          </a:xfrm>
          <a:prstGeom prst="roundRect">
            <a:avLst>
              <a:gd fmla="val 7680" name="adj"/>
            </a:avLst>
          </a:prstGeom>
          <a:solidFill>
            <a:srgbClr val="FFFFFF"/>
          </a:solidFill>
          <a:ln cap="flat" cmpd="sng" w="2537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5"/>
          <p:cNvSpPr/>
          <p:nvPr/>
        </p:nvSpPr>
        <p:spPr>
          <a:xfrm>
            <a:off x="3572282" y="3294856"/>
            <a:ext cx="2078581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1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What data will we use?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5"/>
          <p:cNvSpPr/>
          <p:nvPr/>
        </p:nvSpPr>
        <p:spPr>
          <a:xfrm>
            <a:off x="661475" y="4303117"/>
            <a:ext cx="2507394" cy="1033661"/>
          </a:xfrm>
          <a:prstGeom prst="roundRect">
            <a:avLst>
              <a:gd fmla="val 7680" name="adj"/>
            </a:avLst>
          </a:prstGeom>
          <a:solidFill>
            <a:srgbClr val="FFFFFF"/>
          </a:solidFill>
          <a:ln cap="flat" cmpd="sng" w="2537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5"/>
          <p:cNvSpPr/>
          <p:nvPr/>
        </p:nvSpPr>
        <p:spPr>
          <a:xfrm>
            <a:off x="875881" y="4517529"/>
            <a:ext cx="2078581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1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How will we evaluate the work?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5"/>
          <p:cNvSpPr/>
          <p:nvPr/>
        </p:nvSpPr>
        <p:spPr>
          <a:xfrm>
            <a:off x="3357875" y="4303117"/>
            <a:ext cx="2507394" cy="1033661"/>
          </a:xfrm>
          <a:prstGeom prst="roundRect">
            <a:avLst>
              <a:gd fmla="val 7680" name="adj"/>
            </a:avLst>
          </a:prstGeom>
          <a:solidFill>
            <a:srgbClr val="FFFFFF"/>
          </a:solidFill>
          <a:ln cap="flat" cmpd="sng" w="2537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5"/>
          <p:cNvSpPr/>
          <p:nvPr/>
        </p:nvSpPr>
        <p:spPr>
          <a:xfrm>
            <a:off x="3572282" y="4517529"/>
            <a:ext cx="2078581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1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Can we finish this in the timeline?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5"/>
          <p:cNvSpPr/>
          <p:nvPr/>
        </p:nvSpPr>
        <p:spPr>
          <a:xfrm>
            <a:off x="6332776" y="3080445"/>
            <a:ext cx="2507394" cy="1336080"/>
          </a:xfrm>
          <a:prstGeom prst="roundRect">
            <a:avLst>
              <a:gd fmla="val 5942" name="adj"/>
            </a:avLst>
          </a:prstGeom>
          <a:solidFill>
            <a:srgbClr val="FFFFFF"/>
          </a:solidFill>
          <a:ln cap="flat" cmpd="sng" w="2537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5"/>
          <p:cNvSpPr/>
          <p:nvPr/>
        </p:nvSpPr>
        <p:spPr>
          <a:xfrm>
            <a:off x="6547182" y="3294856"/>
            <a:ext cx="2078581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1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Why does it matter?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5"/>
          <p:cNvSpPr/>
          <p:nvPr/>
        </p:nvSpPr>
        <p:spPr>
          <a:xfrm>
            <a:off x="9029176" y="3080445"/>
            <a:ext cx="2507394" cy="1336080"/>
          </a:xfrm>
          <a:prstGeom prst="roundRect">
            <a:avLst>
              <a:gd fmla="val 5942" name="adj"/>
            </a:avLst>
          </a:prstGeom>
          <a:solidFill>
            <a:srgbClr val="FFFFFF"/>
          </a:solidFill>
          <a:ln cap="flat" cmpd="sng" w="2537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5"/>
          <p:cNvSpPr/>
          <p:nvPr/>
        </p:nvSpPr>
        <p:spPr>
          <a:xfrm>
            <a:off x="9243583" y="3294856"/>
            <a:ext cx="2078581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1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What method direction makes sense?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5"/>
          <p:cNvSpPr/>
          <p:nvPr/>
        </p:nvSpPr>
        <p:spPr>
          <a:xfrm>
            <a:off x="6332776" y="4605536"/>
            <a:ext cx="5203794" cy="731242"/>
          </a:xfrm>
          <a:prstGeom prst="roundRect">
            <a:avLst>
              <a:gd fmla="val 10857" name="adj"/>
            </a:avLst>
          </a:prstGeom>
          <a:solidFill>
            <a:srgbClr val="FFFFFF"/>
          </a:solidFill>
          <a:ln cap="flat" cmpd="sng" w="2537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5"/>
          <p:cNvSpPr/>
          <p:nvPr/>
        </p:nvSpPr>
        <p:spPr>
          <a:xfrm>
            <a:off x="6547182" y="4819948"/>
            <a:ext cx="4774981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1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What is our possible contribution?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5"/>
          <p:cNvSpPr/>
          <p:nvPr/>
        </p:nvSpPr>
        <p:spPr>
          <a:xfrm>
            <a:off x="356682" y="5762030"/>
            <a:ext cx="11478330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450"/>
              <a:buFont typeface="Open Sans"/>
              <a:buNone/>
            </a:pPr>
            <a:r>
              <a:rPr b="1" i="0" lang="en-US" sz="1450" u="none" cap="none" strike="noStrike">
                <a:solidFill>
                  <a:srgbClr val="DC2626"/>
                </a:solidFill>
                <a:latin typeface="Open Sans"/>
                <a:ea typeface="Open Sans"/>
                <a:cs typeface="Open Sans"/>
                <a:sym typeface="Open Sans"/>
              </a:rPr>
              <a:t>If the answer to any of these is vague, the topic needs revision before approval.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26"/>
          <p:cNvSpPr/>
          <p:nvPr/>
        </p:nvSpPr>
        <p:spPr>
          <a:xfrm>
            <a:off x="661475" y="764282"/>
            <a:ext cx="10868745" cy="534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3350"/>
              <a:buFont typeface="Unbounded"/>
              <a:buNone/>
            </a:pPr>
            <a:r>
              <a:rPr b="1" i="0" lang="en-US" sz="3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First submission after the starter phase</a:t>
            </a:r>
            <a:endParaRPr b="0" i="0" sz="3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6"/>
          <p:cNvSpPr/>
          <p:nvPr/>
        </p:nvSpPr>
        <p:spPr>
          <a:xfrm>
            <a:off x="356682" y="1609030"/>
            <a:ext cx="11478330" cy="260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This is what each group should submit for topic approval.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6"/>
          <p:cNvSpPr/>
          <p:nvPr/>
        </p:nvSpPr>
        <p:spPr>
          <a:xfrm>
            <a:off x="661475" y="2044204"/>
            <a:ext cx="3519598" cy="1001613"/>
          </a:xfrm>
          <a:prstGeom prst="roundRect">
            <a:avLst>
              <a:gd fmla="val 7177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6"/>
          <p:cNvSpPr/>
          <p:nvPr/>
        </p:nvSpPr>
        <p:spPr>
          <a:xfrm>
            <a:off x="851672" y="2234406"/>
            <a:ext cx="3139203" cy="267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650"/>
              <a:buFont typeface="Unbounded"/>
              <a:buNone/>
            </a:pPr>
            <a:r>
              <a:rPr b="1" i="0" lang="en-US" sz="16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Basic info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6"/>
          <p:cNvSpPr/>
          <p:nvPr/>
        </p:nvSpPr>
        <p:spPr>
          <a:xfrm>
            <a:off x="851672" y="2594769"/>
            <a:ext cx="3139203" cy="260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Group number and member names.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6"/>
          <p:cNvSpPr/>
          <p:nvPr/>
        </p:nvSpPr>
        <p:spPr>
          <a:xfrm>
            <a:off x="4335949" y="2044204"/>
            <a:ext cx="3519697" cy="1001613"/>
          </a:xfrm>
          <a:prstGeom prst="roundRect">
            <a:avLst>
              <a:gd fmla="val 7177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6"/>
          <p:cNvSpPr/>
          <p:nvPr/>
        </p:nvSpPr>
        <p:spPr>
          <a:xfrm>
            <a:off x="4526147" y="2234406"/>
            <a:ext cx="3139302" cy="267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650"/>
              <a:buFont typeface="Unbounded"/>
              <a:buNone/>
            </a:pPr>
            <a:r>
              <a:rPr b="1" i="0" lang="en-US" sz="1650" u="none" cap="none" strike="noStrike">
                <a:solidFill>
                  <a:srgbClr val="2563EB"/>
                </a:solidFill>
                <a:latin typeface="Unbounded"/>
                <a:ea typeface="Unbounded"/>
                <a:cs typeface="Unbounded"/>
                <a:sym typeface="Unbounded"/>
              </a:rPr>
              <a:t>Candidate topics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6"/>
          <p:cNvSpPr/>
          <p:nvPr/>
        </p:nvSpPr>
        <p:spPr>
          <a:xfrm>
            <a:off x="4526147" y="2594769"/>
            <a:ext cx="3139302" cy="260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Submit 3 to 5 possible thesis topics.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6"/>
          <p:cNvSpPr/>
          <p:nvPr/>
        </p:nvSpPr>
        <p:spPr>
          <a:xfrm>
            <a:off x="8010523" y="2044204"/>
            <a:ext cx="3519697" cy="1001613"/>
          </a:xfrm>
          <a:prstGeom prst="roundRect">
            <a:avLst>
              <a:gd fmla="val 7177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26"/>
          <p:cNvSpPr/>
          <p:nvPr/>
        </p:nvSpPr>
        <p:spPr>
          <a:xfrm>
            <a:off x="8200721" y="2234406"/>
            <a:ext cx="3139302" cy="267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650"/>
              <a:buFont typeface="Unbounded"/>
              <a:buNone/>
            </a:pPr>
            <a:r>
              <a:rPr b="1" i="0" lang="en-US" sz="1650" u="none" cap="none" strike="noStrike">
                <a:solidFill>
                  <a:srgbClr val="7C3AED"/>
                </a:solidFill>
                <a:latin typeface="Unbounded"/>
                <a:ea typeface="Unbounded"/>
                <a:cs typeface="Unbounded"/>
                <a:sym typeface="Unbounded"/>
              </a:rPr>
              <a:t>Initial papers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6"/>
          <p:cNvSpPr/>
          <p:nvPr/>
        </p:nvSpPr>
        <p:spPr>
          <a:xfrm>
            <a:off x="8200721" y="2594769"/>
            <a:ext cx="3139302" cy="260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Add 5 to 8 initial papers or references.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6"/>
          <p:cNvSpPr/>
          <p:nvPr/>
        </p:nvSpPr>
        <p:spPr>
          <a:xfrm>
            <a:off x="661475" y="3220145"/>
            <a:ext cx="5356885" cy="1262459"/>
          </a:xfrm>
          <a:prstGeom prst="roundRect">
            <a:avLst>
              <a:gd fmla="val 5694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6"/>
          <p:cNvSpPr/>
          <p:nvPr/>
        </p:nvSpPr>
        <p:spPr>
          <a:xfrm>
            <a:off x="851672" y="3410347"/>
            <a:ext cx="4976490" cy="267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650"/>
              <a:buFont typeface="Unbounded"/>
              <a:buNone/>
            </a:pPr>
            <a:r>
              <a:rPr b="1" i="0" lang="en-US" sz="1650" u="none" cap="none" strike="noStrike">
                <a:solidFill>
                  <a:srgbClr val="0D9488"/>
                </a:solidFill>
                <a:latin typeface="Unbounded"/>
                <a:ea typeface="Unbounded"/>
                <a:cs typeface="Unbounded"/>
                <a:sym typeface="Unbounded"/>
              </a:rPr>
              <a:t>For each topic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6"/>
          <p:cNvSpPr/>
          <p:nvPr/>
        </p:nvSpPr>
        <p:spPr>
          <a:xfrm>
            <a:off x="851672" y="3770709"/>
            <a:ext cx="4976490" cy="521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Problem, why it matters, possible dataset or data source, and dataset access status.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6"/>
          <p:cNvSpPr/>
          <p:nvPr/>
        </p:nvSpPr>
        <p:spPr>
          <a:xfrm>
            <a:off x="6173236" y="3220145"/>
            <a:ext cx="5356984" cy="1262459"/>
          </a:xfrm>
          <a:prstGeom prst="roundRect">
            <a:avLst>
              <a:gd fmla="val 5694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26"/>
          <p:cNvSpPr/>
          <p:nvPr/>
        </p:nvSpPr>
        <p:spPr>
          <a:xfrm>
            <a:off x="6363434" y="3410347"/>
            <a:ext cx="4976589" cy="267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650"/>
              <a:buFont typeface="Unbounded"/>
              <a:buNone/>
            </a:pPr>
            <a:r>
              <a:rPr b="1" i="0" lang="en-US" sz="1650" u="none" cap="none" strike="noStrike">
                <a:solidFill>
                  <a:srgbClr val="2563EB"/>
                </a:solidFill>
                <a:latin typeface="Unbounded"/>
                <a:ea typeface="Unbounded"/>
                <a:cs typeface="Unbounded"/>
                <a:sym typeface="Unbounded"/>
              </a:rPr>
              <a:t>Research plan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6"/>
          <p:cNvSpPr/>
          <p:nvPr/>
        </p:nvSpPr>
        <p:spPr>
          <a:xfrm>
            <a:off x="6363434" y="3770709"/>
            <a:ext cx="4976589" cy="521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Possible method direction, evaluation metrics, expected contribution, and feasibility concern.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6"/>
          <p:cNvSpPr/>
          <p:nvPr/>
        </p:nvSpPr>
        <p:spPr>
          <a:xfrm>
            <a:off x="661475" y="4656931"/>
            <a:ext cx="10868745" cy="1001613"/>
          </a:xfrm>
          <a:prstGeom prst="roundRect">
            <a:avLst>
              <a:gd fmla="val 7177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6"/>
          <p:cNvSpPr/>
          <p:nvPr/>
        </p:nvSpPr>
        <p:spPr>
          <a:xfrm>
            <a:off x="851672" y="4847134"/>
            <a:ext cx="10488350" cy="267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650"/>
              <a:buFont typeface="Unbounded"/>
              <a:buNone/>
            </a:pPr>
            <a:r>
              <a:rPr b="1" i="0" lang="en-US" sz="1650" u="none" cap="none" strike="noStrike">
                <a:solidFill>
                  <a:srgbClr val="EA580C"/>
                </a:solidFill>
                <a:latin typeface="Unbounded"/>
                <a:ea typeface="Unbounded"/>
                <a:cs typeface="Unbounded"/>
                <a:sym typeface="Unbounded"/>
              </a:rPr>
              <a:t>Preferred topic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6"/>
          <p:cNvSpPr/>
          <p:nvPr/>
        </p:nvSpPr>
        <p:spPr>
          <a:xfrm>
            <a:off x="851672" y="5207496"/>
            <a:ext cx="10488350" cy="260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Select one preferred topic and justify why this is the best option for the group.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6"/>
          <p:cNvSpPr/>
          <p:nvPr/>
        </p:nvSpPr>
        <p:spPr>
          <a:xfrm>
            <a:off x="356682" y="5832872"/>
            <a:ext cx="11478330" cy="260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00"/>
              <a:buFont typeface="Open Sans"/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Open Sans"/>
                <a:ea typeface="Open Sans"/>
                <a:cs typeface="Open Sans"/>
                <a:sym typeface="Open Sans"/>
              </a:rPr>
              <a:t>Do not submit only titles. A title without problem, data, and evidence is not ready for supervisor review.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27"/>
          <p:cNvSpPr/>
          <p:nvPr/>
        </p:nvSpPr>
        <p:spPr>
          <a:xfrm>
            <a:off x="661475" y="785813"/>
            <a:ext cx="10868745" cy="502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3150"/>
              <a:buFont typeface="Unbounded"/>
              <a:buNone/>
            </a:pPr>
            <a:r>
              <a:rPr b="1" i="0" lang="en-US" sz="31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What a good first submission looks like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7"/>
          <p:cNvSpPr/>
          <p:nvPr/>
        </p:nvSpPr>
        <p:spPr>
          <a:xfrm>
            <a:off x="356682" y="1560909"/>
            <a:ext cx="11478330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 filled example helps students understand the expected level of detail.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3" name="Google Shape;65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952228"/>
            <a:ext cx="5366112" cy="1167705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27"/>
          <p:cNvSpPr/>
          <p:nvPr/>
        </p:nvSpPr>
        <p:spPr>
          <a:xfrm>
            <a:off x="917354" y="2131913"/>
            <a:ext cx="4930552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550"/>
              <a:buFont typeface="Unbounded"/>
              <a:buNone/>
            </a:pPr>
            <a:r>
              <a:rPr b="1" i="0" lang="en-US" sz="15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Candidate topic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7"/>
          <p:cNvSpPr/>
          <p:nvPr/>
        </p:nvSpPr>
        <p:spPr>
          <a:xfrm>
            <a:off x="917354" y="2464792"/>
            <a:ext cx="4930552" cy="475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Bangla SMS phishing detection using local scam message patterns and explanation-based output.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6" name="Google Shape;65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4108" y="1952228"/>
            <a:ext cx="5366112" cy="1167705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27"/>
          <p:cNvSpPr/>
          <p:nvPr/>
        </p:nvSpPr>
        <p:spPr>
          <a:xfrm>
            <a:off x="6419987" y="2131913"/>
            <a:ext cx="4930552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550"/>
              <a:buFont typeface="Unbounded"/>
              <a:buNone/>
            </a:pPr>
            <a:r>
              <a:rPr b="1" i="0" lang="en-US" sz="15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Problem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7"/>
          <p:cNvSpPr/>
          <p:nvPr/>
        </p:nvSpPr>
        <p:spPr>
          <a:xfrm>
            <a:off x="6419987" y="2464792"/>
            <a:ext cx="4930552" cy="475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Students receive fake payment, delivery, scholarship, or university-style messages and may not notice warning signs.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9" name="Google Shape;65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3256459"/>
            <a:ext cx="5366112" cy="1167705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27"/>
          <p:cNvSpPr/>
          <p:nvPr/>
        </p:nvSpPr>
        <p:spPr>
          <a:xfrm>
            <a:off x="917354" y="3436144"/>
            <a:ext cx="4930552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550"/>
              <a:buFont typeface="Unbounded"/>
              <a:buNone/>
            </a:pPr>
            <a:r>
              <a:rPr b="1" i="0" lang="en-US" sz="15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Dataset plan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7"/>
          <p:cNvSpPr/>
          <p:nvPr/>
        </p:nvSpPr>
        <p:spPr>
          <a:xfrm>
            <a:off x="917354" y="3769023"/>
            <a:ext cx="4930552" cy="475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Collect public examples, volunteer-submitted screenshots/text, and safe synthetic variants. Check privacy and consent.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2" name="Google Shape;66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4108" y="3256459"/>
            <a:ext cx="5366112" cy="1167705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27"/>
          <p:cNvSpPr/>
          <p:nvPr/>
        </p:nvSpPr>
        <p:spPr>
          <a:xfrm>
            <a:off x="6419987" y="3436144"/>
            <a:ext cx="4930552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550"/>
              <a:buFont typeface="Unbounded"/>
              <a:buNone/>
            </a:pPr>
            <a:r>
              <a:rPr b="1" i="0" lang="en-US" sz="15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Method and evaluation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7"/>
          <p:cNvSpPr/>
          <p:nvPr/>
        </p:nvSpPr>
        <p:spPr>
          <a:xfrm>
            <a:off x="6419987" y="3769023"/>
            <a:ext cx="4930552" cy="475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Text classification with error analysis. Use F1, recall for phishing class, confusion matrix, and sample explanations.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5" name="Google Shape;66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4560689"/>
            <a:ext cx="5366112" cy="1167705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27"/>
          <p:cNvSpPr/>
          <p:nvPr/>
        </p:nvSpPr>
        <p:spPr>
          <a:xfrm>
            <a:off x="917354" y="4740374"/>
            <a:ext cx="4930552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550"/>
              <a:buFont typeface="Unbounded"/>
              <a:buNone/>
            </a:pPr>
            <a:r>
              <a:rPr b="1" i="0" lang="en-US" sz="15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Possible contribution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7"/>
          <p:cNvSpPr/>
          <p:nvPr/>
        </p:nvSpPr>
        <p:spPr>
          <a:xfrm>
            <a:off x="917354" y="5073253"/>
            <a:ext cx="4930552" cy="475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 local phishing message taxonomy and a tested Bangla detection baseline with interpretable warning cues.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8" name="Google Shape;66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4108" y="4560689"/>
            <a:ext cx="5366112" cy="1167705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27"/>
          <p:cNvSpPr/>
          <p:nvPr/>
        </p:nvSpPr>
        <p:spPr>
          <a:xfrm>
            <a:off x="6419987" y="4740374"/>
            <a:ext cx="4930552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550"/>
              <a:buFont typeface="Unbounded"/>
              <a:buNone/>
            </a:pPr>
            <a:r>
              <a:rPr b="1" i="0" lang="en-US" sz="15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Risk to admit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7"/>
          <p:cNvSpPr/>
          <p:nvPr/>
        </p:nvSpPr>
        <p:spPr>
          <a:xfrm>
            <a:off x="6419987" y="5073253"/>
            <a:ext cx="4930552" cy="475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Dataset size, privacy, labeling quality, and whether the messages are recent enough.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28"/>
          <p:cNvSpPr/>
          <p:nvPr/>
        </p:nvSpPr>
        <p:spPr>
          <a:xfrm>
            <a:off x="661475" y="1039118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3700"/>
              <a:buFont typeface="Unbounded"/>
              <a:buNone/>
            </a:pPr>
            <a:r>
              <a:rPr b="1" i="0" lang="en-US" sz="37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Supervisor session after Module 4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8"/>
          <p:cNvSpPr/>
          <p:nvPr/>
        </p:nvSpPr>
        <p:spPr>
          <a:xfrm>
            <a:off x="356682" y="2007791"/>
            <a:ext cx="11478330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Use the meeting for decisions, not for basic guessing.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8"/>
          <p:cNvSpPr/>
          <p:nvPr/>
        </p:nvSpPr>
        <p:spPr>
          <a:xfrm>
            <a:off x="661475" y="2522835"/>
            <a:ext cx="10868745" cy="3296047"/>
          </a:xfrm>
          <a:prstGeom prst="roundRect">
            <a:avLst>
              <a:gd fmla="val 2409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28"/>
          <p:cNvSpPr/>
          <p:nvPr/>
        </p:nvSpPr>
        <p:spPr>
          <a:xfrm>
            <a:off x="661475" y="3074293"/>
            <a:ext cx="10868745" cy="11814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8"/>
          <p:cNvSpPr/>
          <p:nvPr/>
        </p:nvSpPr>
        <p:spPr>
          <a:xfrm>
            <a:off x="661475" y="3622576"/>
            <a:ext cx="10868745" cy="11814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28"/>
          <p:cNvSpPr/>
          <p:nvPr/>
        </p:nvSpPr>
        <p:spPr>
          <a:xfrm>
            <a:off x="661475" y="4170859"/>
            <a:ext cx="10868745" cy="11814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8"/>
          <p:cNvSpPr/>
          <p:nvPr/>
        </p:nvSpPr>
        <p:spPr>
          <a:xfrm>
            <a:off x="661475" y="4719141"/>
            <a:ext cx="10868745" cy="11814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28"/>
          <p:cNvSpPr/>
          <p:nvPr/>
        </p:nvSpPr>
        <p:spPr>
          <a:xfrm>
            <a:off x="661475" y="5267424"/>
            <a:ext cx="10868745" cy="11814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8"/>
          <p:cNvSpPr/>
          <p:nvPr/>
        </p:nvSpPr>
        <p:spPr>
          <a:xfrm>
            <a:off x="667825" y="2529185"/>
            <a:ext cx="5428023" cy="545108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28"/>
          <p:cNvSpPr/>
          <p:nvPr/>
        </p:nvSpPr>
        <p:spPr>
          <a:xfrm>
            <a:off x="856832" y="2648942"/>
            <a:ext cx="565959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Open Sans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Bring this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8"/>
          <p:cNvSpPr/>
          <p:nvPr/>
        </p:nvSpPr>
        <p:spPr>
          <a:xfrm>
            <a:off x="6095848" y="2529185"/>
            <a:ext cx="5428023" cy="545108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28"/>
          <p:cNvSpPr/>
          <p:nvPr/>
        </p:nvSpPr>
        <p:spPr>
          <a:xfrm>
            <a:off x="6284854" y="2648942"/>
            <a:ext cx="565959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Open Sans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 not bring this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8"/>
          <p:cNvSpPr/>
          <p:nvPr/>
        </p:nvSpPr>
        <p:spPr>
          <a:xfrm>
            <a:off x="856832" y="3197225"/>
            <a:ext cx="565959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Preferred topic with 2 to 3 alternatives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8"/>
          <p:cNvSpPr/>
          <p:nvPr/>
        </p:nvSpPr>
        <p:spPr>
          <a:xfrm>
            <a:off x="6284854" y="3197225"/>
            <a:ext cx="565959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Only one random title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8"/>
          <p:cNvSpPr/>
          <p:nvPr/>
        </p:nvSpPr>
        <p:spPr>
          <a:xfrm>
            <a:off x="856832" y="3745508"/>
            <a:ext cx="565959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Dataset link or access plan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8"/>
          <p:cNvSpPr/>
          <p:nvPr/>
        </p:nvSpPr>
        <p:spPr>
          <a:xfrm>
            <a:off x="6284854" y="3745508"/>
            <a:ext cx="565959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'We will find data later'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8"/>
          <p:cNvSpPr/>
          <p:nvPr/>
        </p:nvSpPr>
        <p:spPr>
          <a:xfrm>
            <a:off x="856832" y="4293791"/>
            <a:ext cx="565959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Initial papers and gaps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8"/>
          <p:cNvSpPr/>
          <p:nvPr/>
        </p:nvSpPr>
        <p:spPr>
          <a:xfrm>
            <a:off x="6284854" y="4293791"/>
            <a:ext cx="565959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 list of paper titles without notes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8"/>
          <p:cNvSpPr/>
          <p:nvPr/>
        </p:nvSpPr>
        <p:spPr>
          <a:xfrm>
            <a:off x="856832" y="4842073"/>
            <a:ext cx="565959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Feasibility concerns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8"/>
          <p:cNvSpPr/>
          <p:nvPr/>
        </p:nvSpPr>
        <p:spPr>
          <a:xfrm>
            <a:off x="6284854" y="4842073"/>
            <a:ext cx="565959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Overconfident promises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8"/>
          <p:cNvSpPr/>
          <p:nvPr/>
        </p:nvSpPr>
        <p:spPr>
          <a:xfrm>
            <a:off x="856832" y="5390356"/>
            <a:ext cx="565959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Clear questions for the supervisor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8"/>
          <p:cNvSpPr/>
          <p:nvPr/>
        </p:nvSpPr>
        <p:spPr>
          <a:xfrm>
            <a:off x="6284854" y="5390356"/>
            <a:ext cx="565959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General request: 'Sir/Ma'am, tell us a topic'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29"/>
          <p:cNvSpPr/>
          <p:nvPr/>
        </p:nvSpPr>
        <p:spPr>
          <a:xfrm>
            <a:off x="661475" y="585391"/>
            <a:ext cx="10868745" cy="502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3150"/>
              <a:buFont typeface="Unbounded"/>
              <a:buNone/>
            </a:pPr>
            <a:r>
              <a:rPr b="1" i="0" lang="en-US" sz="31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Live activity: SPOT topic canvas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9"/>
          <p:cNvSpPr/>
          <p:nvPr/>
        </p:nvSpPr>
        <p:spPr>
          <a:xfrm>
            <a:off x="356682" y="1360488"/>
            <a:ext cx="11478330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Use 10 minutes to make one topic clearer.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9"/>
          <p:cNvSpPr/>
          <p:nvPr/>
        </p:nvSpPr>
        <p:spPr>
          <a:xfrm>
            <a:off x="661475" y="1751806"/>
            <a:ext cx="5366112" cy="929977"/>
          </a:xfrm>
          <a:prstGeom prst="roundRect">
            <a:avLst>
              <a:gd fmla="val 7256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29"/>
          <p:cNvSpPr/>
          <p:nvPr/>
        </p:nvSpPr>
        <p:spPr>
          <a:xfrm>
            <a:off x="841156" y="1931491"/>
            <a:ext cx="5006751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550"/>
              <a:buFont typeface="Unbounded"/>
              <a:buNone/>
            </a:pPr>
            <a:r>
              <a:rPr b="1" i="0" lang="en-US" sz="1550" u="none" cap="none" strike="noStrike">
                <a:solidFill>
                  <a:srgbClr val="0D9488"/>
                </a:solidFill>
                <a:latin typeface="Unbounded"/>
                <a:ea typeface="Unbounded"/>
                <a:cs typeface="Unbounded"/>
                <a:sym typeface="Unbounded"/>
              </a:rPr>
              <a:t>Problem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9"/>
          <p:cNvSpPr/>
          <p:nvPr/>
        </p:nvSpPr>
        <p:spPr>
          <a:xfrm>
            <a:off x="841156" y="2264370"/>
            <a:ext cx="5006751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What is the real problem?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9"/>
          <p:cNvSpPr/>
          <p:nvPr/>
        </p:nvSpPr>
        <p:spPr>
          <a:xfrm>
            <a:off x="6164108" y="1751806"/>
            <a:ext cx="5366112" cy="929977"/>
          </a:xfrm>
          <a:prstGeom prst="roundRect">
            <a:avLst>
              <a:gd fmla="val 7256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29"/>
          <p:cNvSpPr/>
          <p:nvPr/>
        </p:nvSpPr>
        <p:spPr>
          <a:xfrm>
            <a:off x="6343789" y="1931491"/>
            <a:ext cx="5006751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550"/>
              <a:buFont typeface="Unbounded"/>
              <a:buNone/>
            </a:pPr>
            <a:r>
              <a:rPr b="1" i="0" lang="en-US" sz="1550" u="none" cap="none" strike="noStrike">
                <a:solidFill>
                  <a:srgbClr val="0D9488"/>
                </a:solidFill>
                <a:latin typeface="Unbounded"/>
                <a:ea typeface="Unbounded"/>
                <a:cs typeface="Unbounded"/>
                <a:sym typeface="Unbounded"/>
              </a:rPr>
              <a:t>Context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29"/>
          <p:cNvSpPr/>
          <p:nvPr/>
        </p:nvSpPr>
        <p:spPr>
          <a:xfrm>
            <a:off x="6343789" y="2264370"/>
            <a:ext cx="5006751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Where does it happen?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9"/>
          <p:cNvSpPr/>
          <p:nvPr/>
        </p:nvSpPr>
        <p:spPr>
          <a:xfrm>
            <a:off x="661475" y="2818309"/>
            <a:ext cx="5366112" cy="929977"/>
          </a:xfrm>
          <a:prstGeom prst="roundRect">
            <a:avLst>
              <a:gd fmla="val 7256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29"/>
          <p:cNvSpPr/>
          <p:nvPr/>
        </p:nvSpPr>
        <p:spPr>
          <a:xfrm>
            <a:off x="841156" y="2997994"/>
            <a:ext cx="5006751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550"/>
              <a:buFont typeface="Unbounded"/>
              <a:buNone/>
            </a:pPr>
            <a:r>
              <a:rPr b="1" i="0" lang="en-US" sz="1550" u="none" cap="none" strike="noStrike">
                <a:solidFill>
                  <a:srgbClr val="0D9488"/>
                </a:solidFill>
                <a:latin typeface="Unbounded"/>
                <a:ea typeface="Unbounded"/>
                <a:cs typeface="Unbounded"/>
                <a:sym typeface="Unbounded"/>
              </a:rPr>
              <a:t>Data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9"/>
          <p:cNvSpPr/>
          <p:nvPr/>
        </p:nvSpPr>
        <p:spPr>
          <a:xfrm>
            <a:off x="841156" y="3330873"/>
            <a:ext cx="5006751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What data can we use?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9"/>
          <p:cNvSpPr/>
          <p:nvPr/>
        </p:nvSpPr>
        <p:spPr>
          <a:xfrm>
            <a:off x="6164108" y="2818309"/>
            <a:ext cx="5366112" cy="929977"/>
          </a:xfrm>
          <a:prstGeom prst="roundRect">
            <a:avLst>
              <a:gd fmla="val 7256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29"/>
          <p:cNvSpPr/>
          <p:nvPr/>
        </p:nvSpPr>
        <p:spPr>
          <a:xfrm>
            <a:off x="6343789" y="2997994"/>
            <a:ext cx="5006751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550"/>
              <a:buFont typeface="Unbounded"/>
              <a:buNone/>
            </a:pPr>
            <a:r>
              <a:rPr b="1" i="0" lang="en-US" sz="1550" u="none" cap="none" strike="noStrike">
                <a:solidFill>
                  <a:srgbClr val="0D9488"/>
                </a:solidFill>
                <a:latin typeface="Unbounded"/>
                <a:ea typeface="Unbounded"/>
                <a:cs typeface="Unbounded"/>
                <a:sym typeface="Unbounded"/>
              </a:rPr>
              <a:t>Evidence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9"/>
          <p:cNvSpPr/>
          <p:nvPr/>
        </p:nvSpPr>
        <p:spPr>
          <a:xfrm>
            <a:off x="6343789" y="3330873"/>
            <a:ext cx="5006751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Which papers suggest this gap?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9"/>
          <p:cNvSpPr/>
          <p:nvPr/>
        </p:nvSpPr>
        <p:spPr>
          <a:xfrm>
            <a:off x="661475" y="3884811"/>
            <a:ext cx="5366112" cy="929977"/>
          </a:xfrm>
          <a:prstGeom prst="roundRect">
            <a:avLst>
              <a:gd fmla="val 7256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29"/>
          <p:cNvSpPr/>
          <p:nvPr/>
        </p:nvSpPr>
        <p:spPr>
          <a:xfrm>
            <a:off x="841156" y="4064496"/>
            <a:ext cx="5006751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E98F1"/>
              </a:buClr>
              <a:buSzPts val="1550"/>
              <a:buFont typeface="Unbounded"/>
              <a:buNone/>
            </a:pPr>
            <a:r>
              <a:rPr b="1" i="0" lang="en-US" sz="1550" u="none" cap="none" strike="noStrike">
                <a:solidFill>
                  <a:srgbClr val="5E98F1"/>
                </a:solidFill>
                <a:latin typeface="Unbounded"/>
                <a:ea typeface="Unbounded"/>
                <a:cs typeface="Unbounded"/>
                <a:sym typeface="Unbounded"/>
              </a:rPr>
              <a:t>Method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9"/>
          <p:cNvSpPr/>
          <p:nvPr/>
        </p:nvSpPr>
        <p:spPr>
          <a:xfrm>
            <a:off x="841156" y="4397375"/>
            <a:ext cx="5006751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What approach may fit?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9"/>
          <p:cNvSpPr/>
          <p:nvPr/>
        </p:nvSpPr>
        <p:spPr>
          <a:xfrm>
            <a:off x="6164108" y="3884811"/>
            <a:ext cx="5366112" cy="929977"/>
          </a:xfrm>
          <a:prstGeom prst="roundRect">
            <a:avLst>
              <a:gd fmla="val 7256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29"/>
          <p:cNvSpPr/>
          <p:nvPr/>
        </p:nvSpPr>
        <p:spPr>
          <a:xfrm>
            <a:off x="6343789" y="4064496"/>
            <a:ext cx="5006751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E98F1"/>
              </a:buClr>
              <a:buSzPts val="1550"/>
              <a:buFont typeface="Unbounded"/>
              <a:buNone/>
            </a:pPr>
            <a:r>
              <a:rPr b="1" i="0" lang="en-US" sz="1550" u="none" cap="none" strike="noStrike">
                <a:solidFill>
                  <a:srgbClr val="5E98F1"/>
                </a:solidFill>
                <a:latin typeface="Unbounded"/>
                <a:ea typeface="Unbounded"/>
                <a:cs typeface="Unbounded"/>
                <a:sym typeface="Unbounded"/>
              </a:rPr>
              <a:t>Evaluation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29"/>
          <p:cNvSpPr/>
          <p:nvPr/>
        </p:nvSpPr>
        <p:spPr>
          <a:xfrm>
            <a:off x="6343789" y="4397375"/>
            <a:ext cx="5006751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How will we measure success?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9"/>
          <p:cNvSpPr/>
          <p:nvPr/>
        </p:nvSpPr>
        <p:spPr>
          <a:xfrm>
            <a:off x="661475" y="4951313"/>
            <a:ext cx="5366112" cy="929977"/>
          </a:xfrm>
          <a:prstGeom prst="roundRect">
            <a:avLst>
              <a:gd fmla="val 7256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29"/>
          <p:cNvSpPr/>
          <p:nvPr/>
        </p:nvSpPr>
        <p:spPr>
          <a:xfrm>
            <a:off x="841156" y="5130998"/>
            <a:ext cx="5006751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E98F1"/>
              </a:buClr>
              <a:buSzPts val="1550"/>
              <a:buFont typeface="Unbounded"/>
              <a:buNone/>
            </a:pPr>
            <a:r>
              <a:rPr b="1" i="0" lang="en-US" sz="1550" u="none" cap="none" strike="noStrike">
                <a:solidFill>
                  <a:srgbClr val="5E98F1"/>
                </a:solidFill>
                <a:latin typeface="Unbounded"/>
                <a:ea typeface="Unbounded"/>
                <a:cs typeface="Unbounded"/>
                <a:sym typeface="Unbounded"/>
              </a:rPr>
              <a:t>Contribution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29"/>
          <p:cNvSpPr/>
          <p:nvPr/>
        </p:nvSpPr>
        <p:spPr>
          <a:xfrm>
            <a:off x="841156" y="5463877"/>
            <a:ext cx="5006751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What may be new or useful?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9"/>
          <p:cNvSpPr/>
          <p:nvPr/>
        </p:nvSpPr>
        <p:spPr>
          <a:xfrm>
            <a:off x="6164108" y="4951313"/>
            <a:ext cx="5366112" cy="929977"/>
          </a:xfrm>
          <a:prstGeom prst="roundRect">
            <a:avLst>
              <a:gd fmla="val 7256" name="adj"/>
            </a:avLst>
          </a:prstGeom>
          <a:solidFill>
            <a:srgbClr val="FFFFFF"/>
          </a:solidFill>
          <a:ln cap="flat" cmpd="sng" w="190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29"/>
          <p:cNvSpPr/>
          <p:nvPr/>
        </p:nvSpPr>
        <p:spPr>
          <a:xfrm>
            <a:off x="6343789" y="5130998"/>
            <a:ext cx="5006751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E98F1"/>
              </a:buClr>
              <a:buSzPts val="1550"/>
              <a:buFont typeface="Unbounded"/>
              <a:buNone/>
            </a:pPr>
            <a:r>
              <a:rPr b="1" i="0" lang="en-US" sz="1550" u="none" cap="none" strike="noStrike">
                <a:solidFill>
                  <a:srgbClr val="5E98F1"/>
                </a:solidFill>
                <a:latin typeface="Unbounded"/>
                <a:ea typeface="Unbounded"/>
                <a:cs typeface="Unbounded"/>
                <a:sym typeface="Unbounded"/>
              </a:rPr>
              <a:t>Risk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9"/>
          <p:cNvSpPr/>
          <p:nvPr/>
        </p:nvSpPr>
        <p:spPr>
          <a:xfrm>
            <a:off x="6343789" y="5463877"/>
            <a:ext cx="5006751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What can go wrong?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9"/>
          <p:cNvSpPr/>
          <p:nvPr/>
        </p:nvSpPr>
        <p:spPr>
          <a:xfrm>
            <a:off x="356682" y="6034881"/>
            <a:ext cx="11478330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1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We will improve 2 or 3 examples live. The goal is not perfection. The goal is to see what is missing.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30"/>
          <p:cNvSpPr/>
          <p:nvPr/>
        </p:nvSpPr>
        <p:spPr>
          <a:xfrm>
            <a:off x="661475" y="779959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3700"/>
              <a:buFont typeface="Unbounded"/>
              <a:buNone/>
            </a:pPr>
            <a:r>
              <a:rPr b="1" i="0" lang="en-US" sz="37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Next steps for every group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0"/>
          <p:cNvSpPr/>
          <p:nvPr/>
        </p:nvSpPr>
        <p:spPr>
          <a:xfrm>
            <a:off x="356682" y="1748631"/>
            <a:ext cx="11478330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The first two weeks are about choosing a topic that can be defended.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0"/>
          <p:cNvSpPr/>
          <p:nvPr/>
        </p:nvSpPr>
        <p:spPr>
          <a:xfrm>
            <a:off x="661475" y="2263676"/>
            <a:ext cx="3496877" cy="1744762"/>
          </a:xfrm>
          <a:prstGeom prst="roundRect">
            <a:avLst>
              <a:gd fmla="val 4550" name="adj"/>
            </a:avLst>
          </a:prstGeom>
          <a:solidFill>
            <a:srgbClr val="FFFFFF"/>
          </a:solidFill>
          <a:ln cap="flat" cmpd="sng" w="2537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0"/>
          <p:cNvSpPr/>
          <p:nvPr/>
        </p:nvSpPr>
        <p:spPr>
          <a:xfrm>
            <a:off x="875881" y="2478088"/>
            <a:ext cx="306806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850"/>
              <a:buFont typeface="Unbounded"/>
              <a:buNone/>
            </a:pPr>
            <a:r>
              <a:rPr b="1" i="0" lang="en-US" sz="1850" u="none" cap="none" strike="noStrike">
                <a:solidFill>
                  <a:srgbClr val="0D9488"/>
                </a:solidFill>
                <a:latin typeface="Unbounded"/>
                <a:ea typeface="Unbounded"/>
                <a:cs typeface="Unbounded"/>
                <a:sym typeface="Unbounded"/>
              </a:rPr>
              <a:t>Next 24 hours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30"/>
          <p:cNvSpPr/>
          <p:nvPr/>
        </p:nvSpPr>
        <p:spPr>
          <a:xfrm>
            <a:off x="875881" y="2886770"/>
            <a:ext cx="3068065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List 10 possible topic ideas from real problems and interests.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0"/>
          <p:cNvSpPr/>
          <p:nvPr/>
        </p:nvSpPr>
        <p:spPr>
          <a:xfrm>
            <a:off x="4347359" y="2263676"/>
            <a:ext cx="3496877" cy="1744762"/>
          </a:xfrm>
          <a:prstGeom prst="roundRect">
            <a:avLst>
              <a:gd fmla="val 4550" name="adj"/>
            </a:avLst>
          </a:prstGeom>
          <a:solidFill>
            <a:srgbClr val="FFFFFF"/>
          </a:solidFill>
          <a:ln cap="flat" cmpd="sng" w="2537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30"/>
          <p:cNvSpPr/>
          <p:nvPr/>
        </p:nvSpPr>
        <p:spPr>
          <a:xfrm>
            <a:off x="4561766" y="2478088"/>
            <a:ext cx="306806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50"/>
              <a:buFont typeface="Unbounded"/>
              <a:buNone/>
            </a:pPr>
            <a:r>
              <a:rPr b="1" i="0" lang="en-US" sz="1850" u="none" cap="none" strike="noStrike">
                <a:solidFill>
                  <a:srgbClr val="2563EB"/>
                </a:solidFill>
                <a:latin typeface="Unbounded"/>
                <a:ea typeface="Unbounded"/>
                <a:cs typeface="Unbounded"/>
                <a:sym typeface="Unbounded"/>
              </a:rPr>
              <a:t>Next 3 days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0"/>
          <p:cNvSpPr/>
          <p:nvPr/>
        </p:nvSpPr>
        <p:spPr>
          <a:xfrm>
            <a:off x="4561766" y="2886770"/>
            <a:ext cx="3068065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Find initial papers and check dataset possibilities for each promising idea.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0"/>
          <p:cNvSpPr/>
          <p:nvPr/>
        </p:nvSpPr>
        <p:spPr>
          <a:xfrm>
            <a:off x="8033244" y="2263676"/>
            <a:ext cx="3496877" cy="1744762"/>
          </a:xfrm>
          <a:prstGeom prst="roundRect">
            <a:avLst>
              <a:gd fmla="val 4550" name="adj"/>
            </a:avLst>
          </a:prstGeom>
          <a:solidFill>
            <a:srgbClr val="FFFFFF"/>
          </a:solidFill>
          <a:ln cap="flat" cmpd="sng" w="2537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30"/>
          <p:cNvSpPr/>
          <p:nvPr/>
        </p:nvSpPr>
        <p:spPr>
          <a:xfrm>
            <a:off x="8247650" y="2478088"/>
            <a:ext cx="306806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850"/>
              <a:buFont typeface="Unbounded"/>
              <a:buNone/>
            </a:pPr>
            <a:r>
              <a:rPr b="1" i="0" lang="en-US" sz="1850" u="none" cap="none" strike="noStrike">
                <a:solidFill>
                  <a:srgbClr val="EA580C"/>
                </a:solidFill>
                <a:latin typeface="Unbounded"/>
                <a:ea typeface="Unbounded"/>
                <a:cs typeface="Unbounded"/>
                <a:sym typeface="Unbounded"/>
              </a:rPr>
              <a:t>By Module 4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30"/>
          <p:cNvSpPr/>
          <p:nvPr/>
        </p:nvSpPr>
        <p:spPr>
          <a:xfrm>
            <a:off x="8247650" y="2886770"/>
            <a:ext cx="3068065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Submit the final topic proposal and prepare for supervisor approval.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30"/>
          <p:cNvSpPr/>
          <p:nvPr/>
        </p:nvSpPr>
        <p:spPr>
          <a:xfrm>
            <a:off x="661475" y="4291905"/>
            <a:ext cx="10868745" cy="472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950"/>
              <a:buFont typeface="Unbounded"/>
              <a:buNone/>
            </a:pPr>
            <a:r>
              <a:rPr b="1" i="0" lang="en-US" sz="29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Final reminder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0"/>
          <p:cNvSpPr/>
          <p:nvPr/>
        </p:nvSpPr>
        <p:spPr>
          <a:xfrm>
            <a:off x="661475" y="5047853"/>
            <a:ext cx="25399" cy="1030089"/>
          </a:xfrm>
          <a:prstGeom prst="roundRect">
            <a:avLst>
              <a:gd fmla="val 60001" name="adj"/>
            </a:avLst>
          </a:prstGeom>
          <a:solidFill>
            <a:srgbClr val="26A6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30"/>
          <p:cNvSpPr/>
          <p:nvPr/>
        </p:nvSpPr>
        <p:spPr>
          <a:xfrm>
            <a:off x="944936" y="5260479"/>
            <a:ext cx="10585284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1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 good thesis starts with a real problem, a workable dataset, and a clear contribution. The model comes after that.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
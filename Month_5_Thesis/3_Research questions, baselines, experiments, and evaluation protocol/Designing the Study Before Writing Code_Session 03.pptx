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6858000" cx="12191675"/>
  <p:notesSz cx="6858000" cy="12191675"/>
  <p:embeddedFontLst>
    <p:embeddedFont>
      <p:font typeface="Inter Light"/>
      <p:regular r:id="rId25"/>
      <p:bold r:id="rId26"/>
      <p:italic r:id="rId27"/>
      <p:boldItalic r:id="rId28"/>
    </p:embeddedFont>
    <p:embeddedFont>
      <p:font typeface="Inter"/>
      <p:bold r:id="rId29"/>
      <p:boldItalic r:id="rId30"/>
    </p:embeddedFont>
    <p:embeddedFont>
      <p:font typeface="Montserrat Medium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InterLight-bold.fntdata"/><Relationship Id="rId25" Type="http://schemas.openxmlformats.org/officeDocument/2006/relationships/font" Target="fonts/InterLight-regular.fntdata"/><Relationship Id="rId28" Type="http://schemas.openxmlformats.org/officeDocument/2006/relationships/font" Target="fonts/InterLight-boldItalic.fntdata"/><Relationship Id="rId27" Type="http://schemas.openxmlformats.org/officeDocument/2006/relationships/font" Target="fonts/InterLight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Inter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MontserratMedium-regular.fntdata"/><Relationship Id="rId30" Type="http://schemas.openxmlformats.org/officeDocument/2006/relationships/font" Target="fonts/Inter-boldItalic.fntdata"/><Relationship Id="rId11" Type="http://schemas.openxmlformats.org/officeDocument/2006/relationships/slide" Target="slides/slide7.xml"/><Relationship Id="rId33" Type="http://schemas.openxmlformats.org/officeDocument/2006/relationships/font" Target="fonts/MontserratMedium-italic.fntdata"/><Relationship Id="rId10" Type="http://schemas.openxmlformats.org/officeDocument/2006/relationships/slide" Target="slides/slide6.xml"/><Relationship Id="rId32" Type="http://schemas.openxmlformats.org/officeDocument/2006/relationships/font" Target="fonts/MontserratMedium-bold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34" Type="http://schemas.openxmlformats.org/officeDocument/2006/relationships/font" Target="fonts/MontserratMedium-boldItalic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" name="Google Shape;1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7" name="Google Shape;34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3" name="Google Shape;37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7" name="Google Shape;39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0" name="Google Shape;430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7" name="Google Shape;467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3" name="Google Shape;503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bg>
      <p:bgPr>
        <a:solidFill>
          <a:srgbClr val="00000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9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jpg"/><Relationship Id="rId4" Type="http://schemas.openxmlformats.org/officeDocument/2006/relationships/image" Target="../media/image1.png"/><Relationship Id="rId5" Type="http://schemas.openxmlformats.org/officeDocument/2006/relationships/image" Target="../media/image18.png"/><Relationship Id="rId6" Type="http://schemas.openxmlformats.org/officeDocument/2006/relationships/image" Target="../media/image2.png"/><Relationship Id="rId7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jpg"/><Relationship Id="rId4" Type="http://schemas.openxmlformats.org/officeDocument/2006/relationships/image" Target="../media/image11.png"/><Relationship Id="rId5" Type="http://schemas.openxmlformats.org/officeDocument/2006/relationships/image" Target="../media/image16.png"/><Relationship Id="rId6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13.png"/><Relationship Id="rId5" Type="http://schemas.openxmlformats.org/officeDocument/2006/relationships/image" Target="../media/image8.png"/><Relationship Id="rId6" Type="http://schemas.openxmlformats.org/officeDocument/2006/relationships/image" Target="../media/image23.png"/><Relationship Id="rId7" Type="http://schemas.openxmlformats.org/officeDocument/2006/relationships/image" Target="../media/image9.png"/><Relationship Id="rId8" Type="http://schemas.openxmlformats.org/officeDocument/2006/relationships/image" Target="../media/image2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7.jpg"/><Relationship Id="rId4" Type="http://schemas.openxmlformats.org/officeDocument/2006/relationships/image" Target="../media/image3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0.png"/><Relationship Id="rId4" Type="http://schemas.openxmlformats.org/officeDocument/2006/relationships/image" Target="../media/image22.png"/><Relationship Id="rId5" Type="http://schemas.openxmlformats.org/officeDocument/2006/relationships/image" Target="../media/image21.png"/><Relationship Id="rId6" Type="http://schemas.openxmlformats.org/officeDocument/2006/relationships/image" Target="../media/image33.png"/><Relationship Id="rId7" Type="http://schemas.openxmlformats.org/officeDocument/2006/relationships/image" Target="../media/image3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2.png"/><Relationship Id="rId4" Type="http://schemas.openxmlformats.org/officeDocument/2006/relationships/image" Target="../media/image29.png"/><Relationship Id="rId5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" name="Google Shape;1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88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/>
          <p:nvPr/>
        </p:nvSpPr>
        <p:spPr>
          <a:xfrm>
            <a:off x="5233360" y="1985566"/>
            <a:ext cx="1458777" cy="287139"/>
          </a:xfrm>
          <a:prstGeom prst="roundRect">
            <a:avLst>
              <a:gd fmla="val 47396" name="adj"/>
            </a:avLst>
          </a:prstGeom>
          <a:solidFill>
            <a:srgbClr val="DFE1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5346765" y="2042220"/>
            <a:ext cx="1841553" cy="1738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150"/>
              <a:buFont typeface="Inter Light"/>
              <a:buNone/>
            </a:pPr>
            <a:r>
              <a:rPr b="0" i="0" lang="en-US" sz="11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LIVE SESSION 03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4"/>
          <p:cNvSpPr/>
          <p:nvPr/>
        </p:nvSpPr>
        <p:spPr>
          <a:xfrm>
            <a:off x="5233360" y="2348309"/>
            <a:ext cx="6296860" cy="11812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4767D"/>
              </a:buClr>
              <a:buSzPts val="3700"/>
              <a:buFont typeface="Montserrat Medium"/>
              <a:buNone/>
            </a:pPr>
            <a:r>
              <a:rPr b="0" i="0" lang="en-US" sz="3700" u="none" cap="none" strike="noStrike">
                <a:solidFill>
                  <a:srgbClr val="7476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Designing the Study </a:t>
            </a:r>
            <a:r>
              <a:rPr b="0" i="0" lang="en-US" sz="3700" u="none" cap="none" strike="noStrike">
                <a:solidFill>
                  <a:srgbClr val="FF954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Before Writing Code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4"/>
          <p:cNvSpPr/>
          <p:nvPr/>
        </p:nvSpPr>
        <p:spPr>
          <a:xfrm>
            <a:off x="5233360" y="3813076"/>
            <a:ext cx="6296860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Inter Light"/>
              <a:buNone/>
            </a:pPr>
            <a:r>
              <a:rPr b="0" i="0" lang="en-US" sz="14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What exact tests should your thesis run and why? Research questions · baselines · fair experiments · useful evidence.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5233360" y="4630539"/>
            <a:ext cx="6906444" cy="2418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150"/>
              <a:buFont typeface="Inter Light"/>
              <a:buNone/>
            </a:pPr>
            <a:r>
              <a:rPr b="0" i="0" lang="en-US" sz="11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Md. Sabbir Ahmed · AI/ML Thesis Track · Phitron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0" name="Google Shape;3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88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5"/>
          <p:cNvSpPr/>
          <p:nvPr/>
        </p:nvSpPr>
        <p:spPr>
          <a:xfrm>
            <a:off x="5233360" y="663178"/>
            <a:ext cx="1050502" cy="258465"/>
          </a:xfrm>
          <a:prstGeom prst="roundRect">
            <a:avLst>
              <a:gd fmla="val 47389" name="adj"/>
            </a:avLst>
          </a:prstGeom>
          <a:noFill/>
          <a:ln cap="flat" cmpd="sng" w="9525">
            <a:solidFill>
              <a:srgbClr val="C6C9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5"/>
          <p:cNvSpPr/>
          <p:nvPr/>
        </p:nvSpPr>
        <p:spPr>
          <a:xfrm>
            <a:off x="5335355" y="714177"/>
            <a:ext cx="1456098" cy="156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C6C9DC"/>
              </a:buClr>
              <a:buSzPts val="1050"/>
              <a:buFont typeface="Inter Light"/>
              <a:buNone/>
            </a:pPr>
            <a:r>
              <a:rPr b="0" i="0" lang="en-US" sz="1050" u="none" cap="none" strike="noStrike">
                <a:solidFill>
                  <a:srgbClr val="C6C9DC"/>
                </a:solidFill>
                <a:latin typeface="Inter Light"/>
                <a:ea typeface="Inter Light"/>
                <a:cs typeface="Inter Light"/>
                <a:sym typeface="Inter Light"/>
              </a:rPr>
              <a:t>CONTINUITY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/>
          <p:nvPr/>
        </p:nvSpPr>
        <p:spPr>
          <a:xfrm>
            <a:off x="5233360" y="982861"/>
            <a:ext cx="6296860" cy="5316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4767D"/>
              </a:buClr>
              <a:buSzPts val="3300"/>
              <a:buFont typeface="Montserrat Medium"/>
              <a:buNone/>
            </a:pPr>
            <a:r>
              <a:rPr b="0" i="0" lang="en-US" sz="3300" u="none" cap="none" strike="noStrike">
                <a:solidFill>
                  <a:srgbClr val="7476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Where This Session Fits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" name="Google Shape;3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33360" y="1744067"/>
            <a:ext cx="850581" cy="1214735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/>
          <p:nvPr/>
        </p:nvSpPr>
        <p:spPr>
          <a:xfrm>
            <a:off x="6237032" y="1914128"/>
            <a:ext cx="5293188" cy="265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650"/>
              <a:buFont typeface="Montserrat Medium"/>
              <a:buNone/>
            </a:pPr>
            <a:r>
              <a:rPr b="0" i="0" lang="en-US" sz="1650" u="none" cap="none" strike="noStrik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Session 1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5"/>
          <p:cNvSpPr/>
          <p:nvPr/>
        </p:nvSpPr>
        <p:spPr>
          <a:xfrm>
            <a:off x="6237032" y="2271613"/>
            <a:ext cx="5293188" cy="517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300"/>
              <a:buFont typeface="Inter Light"/>
              <a:buNone/>
            </a:pPr>
            <a:r>
              <a:rPr b="0" i="0" lang="en-US" sz="130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Choose feasible topic directions — moving from broad interests to candidate topics and dataset thinking.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" name="Google Shape;37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33360" y="2958802"/>
            <a:ext cx="850581" cy="1214735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5"/>
          <p:cNvSpPr/>
          <p:nvPr/>
        </p:nvSpPr>
        <p:spPr>
          <a:xfrm>
            <a:off x="6237032" y="3128863"/>
            <a:ext cx="5293188" cy="265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650"/>
              <a:buFont typeface="Montserrat Medium"/>
              <a:buNone/>
            </a:pPr>
            <a:r>
              <a:rPr b="0" i="0" lang="en-US" sz="1650" u="none" cap="none" strike="noStrik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Session 2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6237032" y="3486348"/>
            <a:ext cx="5293188" cy="517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300"/>
              <a:buFont typeface="Inter Light"/>
              <a:buNone/>
            </a:pPr>
            <a:r>
              <a:rPr b="0" i="0" lang="en-US" sz="130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Use papers to decide — search, screen, track, and synthesise research gaps.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0" name="Google Shape;40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33360" y="4173538"/>
            <a:ext cx="850581" cy="1214735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5"/>
          <p:cNvSpPr/>
          <p:nvPr/>
        </p:nvSpPr>
        <p:spPr>
          <a:xfrm>
            <a:off x="6237032" y="4343598"/>
            <a:ext cx="5293188" cy="265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650"/>
              <a:buFont typeface="Montserrat Medium"/>
              <a:buNone/>
            </a:pPr>
            <a:r>
              <a:rPr b="0" i="0" lang="en-US" sz="1650" u="none" cap="none" strike="noStrik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Session 3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6237032" y="4701084"/>
            <a:ext cx="5293188" cy="517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300"/>
              <a:buFont typeface="Inter Light"/>
              <a:buNone/>
            </a:pPr>
            <a:r>
              <a:rPr b="0" i="0" lang="en-US" sz="130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Design the study — plan questions, baselines, experiments, metrics, and risks.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5233360" y="5560516"/>
            <a:ext cx="6296860" cy="634305"/>
          </a:xfrm>
          <a:prstGeom prst="roundRect">
            <a:avLst>
              <a:gd fmla="val 24137" name="adj"/>
            </a:avLst>
          </a:prstGeom>
          <a:solidFill>
            <a:srgbClr val="DFE1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" name="Google Shape;44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403417" y="5795665"/>
            <a:ext cx="212620" cy="170061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/>
          <p:nvPr/>
        </p:nvSpPr>
        <p:spPr>
          <a:xfrm>
            <a:off x="5786094" y="5756077"/>
            <a:ext cx="6183654" cy="2585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Inter Light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A selected topic is not enough. A thesis needs a clear, testable plan.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"/>
          <p:cNvSpPr/>
          <p:nvPr/>
        </p:nvSpPr>
        <p:spPr>
          <a:xfrm>
            <a:off x="661475" y="712887"/>
            <a:ext cx="872607" cy="229691"/>
          </a:xfrm>
          <a:prstGeom prst="roundRect">
            <a:avLst>
              <a:gd fmla="val 47401" name="adj"/>
            </a:avLst>
          </a:prstGeom>
          <a:solidFill>
            <a:srgbClr val="DFE1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6"/>
          <p:cNvSpPr/>
          <p:nvPr/>
        </p:nvSpPr>
        <p:spPr>
          <a:xfrm>
            <a:off x="752159" y="758230"/>
            <a:ext cx="1300824" cy="139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950"/>
              <a:buFont typeface="Inter Light"/>
              <a:buNone/>
            </a:pPr>
            <a:r>
              <a:rPr b="0" i="0" lang="en-US" sz="9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OUTCOMES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6"/>
          <p:cNvSpPr/>
          <p:nvPr/>
        </p:nvSpPr>
        <p:spPr>
          <a:xfrm>
            <a:off x="661475" y="990898"/>
            <a:ext cx="10868745" cy="472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4767D"/>
              </a:buClr>
              <a:buSzPts val="2950"/>
              <a:buFont typeface="Montserrat Medium"/>
              <a:buNone/>
            </a:pPr>
            <a:r>
              <a:rPr b="0" i="0" lang="en-US" sz="2950" u="none" cap="none" strike="noStrike">
                <a:solidFill>
                  <a:srgbClr val="7476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What You Should Leave With Today</a:t>
            </a:r>
            <a:endParaRPr b="0" i="0" sz="2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4" name="Google Shape;5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1644749"/>
            <a:ext cx="5373851" cy="1301552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6"/>
          <p:cNvSpPr/>
          <p:nvPr/>
        </p:nvSpPr>
        <p:spPr>
          <a:xfrm>
            <a:off x="3257667" y="1758156"/>
            <a:ext cx="181367" cy="22681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 Medium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6"/>
          <p:cNvSpPr/>
          <p:nvPr/>
        </p:nvSpPr>
        <p:spPr>
          <a:xfrm>
            <a:off x="831730" y="2249587"/>
            <a:ext cx="5033340" cy="23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Montserrat Medium"/>
              <a:buNone/>
            </a:pPr>
            <a:r>
              <a:rPr b="0" i="0" lang="en-US" sz="1450" u="none" cap="none" strike="noStrik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Research Questions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6"/>
          <p:cNvSpPr/>
          <p:nvPr/>
        </p:nvSpPr>
        <p:spPr>
          <a:xfrm>
            <a:off x="831730" y="2558355"/>
            <a:ext cx="5033340" cy="2176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150"/>
              <a:buFont typeface="Inter Light"/>
              <a:buNone/>
            </a:pPr>
            <a:r>
              <a:rPr b="0" i="0" lang="en-US" sz="11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Clear questions that experiments can actually answer.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8" name="Google Shape;5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270" y="1644749"/>
            <a:ext cx="5373950" cy="1301552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6"/>
          <p:cNvSpPr/>
          <p:nvPr/>
        </p:nvSpPr>
        <p:spPr>
          <a:xfrm>
            <a:off x="8752562" y="1758156"/>
            <a:ext cx="181367" cy="22681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 Medium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6"/>
          <p:cNvSpPr/>
          <p:nvPr/>
        </p:nvSpPr>
        <p:spPr>
          <a:xfrm>
            <a:off x="6326525" y="2249587"/>
            <a:ext cx="5033440" cy="23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Montserrat Medium"/>
              <a:buNone/>
            </a:pPr>
            <a:r>
              <a:rPr b="0" i="0" lang="en-US" sz="1450" u="none" cap="none" strike="noStrik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Evidence Plan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6326525" y="2558355"/>
            <a:ext cx="5033440" cy="2176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150"/>
              <a:buFont typeface="Inter Light"/>
              <a:buNone/>
            </a:pPr>
            <a:r>
              <a:rPr b="0" i="0" lang="en-US" sz="11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What result would answer each question.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2" name="Google Shape;6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3067248"/>
            <a:ext cx="5373851" cy="1301552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6"/>
          <p:cNvSpPr/>
          <p:nvPr/>
        </p:nvSpPr>
        <p:spPr>
          <a:xfrm>
            <a:off x="3257667" y="3180655"/>
            <a:ext cx="181367" cy="22681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 Medium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831730" y="3672086"/>
            <a:ext cx="5033340" cy="23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Montserrat Medium"/>
              <a:buNone/>
            </a:pPr>
            <a:r>
              <a:rPr b="0" i="0" lang="en-US" sz="1450" u="none" cap="none" strike="noStrik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Baselines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6"/>
          <p:cNvSpPr/>
          <p:nvPr/>
        </p:nvSpPr>
        <p:spPr>
          <a:xfrm>
            <a:off x="831730" y="3980855"/>
            <a:ext cx="5033340" cy="2176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150"/>
              <a:buFont typeface="Inter Light"/>
              <a:buNone/>
            </a:pPr>
            <a:r>
              <a:rPr b="0" i="0" lang="en-US" sz="11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What your new work should be compared against.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6" name="Google Shape;6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270" y="3067248"/>
            <a:ext cx="5373950" cy="1301552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6"/>
          <p:cNvSpPr/>
          <p:nvPr/>
        </p:nvSpPr>
        <p:spPr>
          <a:xfrm>
            <a:off x="8752562" y="3180655"/>
            <a:ext cx="181367" cy="22681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 Medium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6326525" y="3672086"/>
            <a:ext cx="5033440" cy="23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Montserrat Medium"/>
              <a:buNone/>
            </a:pPr>
            <a:r>
              <a:rPr b="0" i="0" lang="en-US" sz="1450" u="none" cap="none" strike="noStrik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Fair Protocol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6326525" y="3980855"/>
            <a:ext cx="5033440" cy="2176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150"/>
              <a:buFont typeface="Inter Light"/>
              <a:buNone/>
            </a:pPr>
            <a:r>
              <a:rPr b="0" i="0" lang="en-US" sz="11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How to split data and avoid accidental cheating.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0" name="Google Shape;7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4489748"/>
            <a:ext cx="5373851" cy="1301552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6"/>
          <p:cNvSpPr/>
          <p:nvPr/>
        </p:nvSpPr>
        <p:spPr>
          <a:xfrm>
            <a:off x="3257667" y="4603155"/>
            <a:ext cx="181367" cy="22681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 Medium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831730" y="5094585"/>
            <a:ext cx="5033340" cy="23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Montserrat Medium"/>
              <a:buNone/>
            </a:pPr>
            <a:r>
              <a:rPr b="0" i="0" lang="en-US" sz="1450" u="none" cap="none" strike="noStrik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Right Metrics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831730" y="5403354"/>
            <a:ext cx="5033340" cy="2176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150"/>
              <a:buFont typeface="Inter Light"/>
              <a:buNone/>
            </a:pPr>
            <a:r>
              <a:rPr b="0" i="0" lang="en-US" sz="11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Measures that match the real-world problem.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4" name="Google Shape;7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270" y="4489748"/>
            <a:ext cx="5373950" cy="1301552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6"/>
          <p:cNvSpPr/>
          <p:nvPr/>
        </p:nvSpPr>
        <p:spPr>
          <a:xfrm>
            <a:off x="8752562" y="4603155"/>
            <a:ext cx="181367" cy="22681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 Medium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6326525" y="5094585"/>
            <a:ext cx="5033440" cy="23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Montserrat Medium"/>
              <a:buNone/>
            </a:pPr>
            <a:r>
              <a:rPr b="0" i="0" lang="en-US" sz="1450" u="none" cap="none" strike="noStrik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Experiment Matrix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6326525" y="5403354"/>
            <a:ext cx="5033440" cy="2176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150"/>
              <a:buFont typeface="Inter Light"/>
              <a:buNone/>
            </a:pPr>
            <a:r>
              <a:rPr b="0" i="0" lang="en-US" sz="11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One table linking RQ, data, method, metric, and evidence.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356682" y="5927328"/>
            <a:ext cx="11478330" cy="2176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150"/>
              <a:buFont typeface="Inter"/>
              <a:buNone/>
            </a:pPr>
            <a:r>
              <a:rPr b="1" i="0" lang="en-US" sz="1150" u="none" cap="none" strike="noStrike">
                <a:solidFill>
                  <a:srgbClr val="3D3E44"/>
                </a:solidFill>
                <a:latin typeface="Inter"/>
                <a:ea typeface="Inter"/>
                <a:cs typeface="Inter"/>
                <a:sym typeface="Inter"/>
              </a:rPr>
              <a:t>Core idea:</a:t>
            </a:r>
            <a:r>
              <a:rPr b="0" i="0" lang="en-US" sz="11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 Your code should follow your research questions — not the other way around.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"/>
          <p:cNvSpPr/>
          <p:nvPr/>
        </p:nvSpPr>
        <p:spPr>
          <a:xfrm>
            <a:off x="661475" y="969764"/>
            <a:ext cx="859511" cy="287139"/>
          </a:xfrm>
          <a:prstGeom prst="roundRect">
            <a:avLst>
              <a:gd fmla="val 47396" name="adj"/>
            </a:avLst>
          </a:prstGeom>
          <a:solidFill>
            <a:srgbClr val="DFE1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7"/>
          <p:cNvSpPr/>
          <p:nvPr/>
        </p:nvSpPr>
        <p:spPr>
          <a:xfrm>
            <a:off x="774879" y="1026418"/>
            <a:ext cx="1242287" cy="1738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150"/>
              <a:buFont typeface="Inter Light"/>
              <a:buNone/>
            </a:pPr>
            <a:r>
              <a:rPr b="0" i="0" lang="en-US" sz="11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BIG IDEA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7"/>
          <p:cNvSpPr/>
          <p:nvPr/>
        </p:nvSpPr>
        <p:spPr>
          <a:xfrm>
            <a:off x="661475" y="1332508"/>
            <a:ext cx="10868745" cy="59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4767D"/>
              </a:buClr>
              <a:buSzPts val="3700"/>
              <a:buFont typeface="Montserrat Medium"/>
              <a:buNone/>
            </a:pPr>
            <a:r>
              <a:rPr b="0" i="0" lang="en-US" sz="3700" u="none" cap="none" strike="noStrike">
                <a:solidFill>
                  <a:srgbClr val="7476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 Common Mistake: Jumping Into Coding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7"/>
          <p:cNvSpPr/>
          <p:nvPr/>
        </p:nvSpPr>
        <p:spPr>
          <a:xfrm>
            <a:off x="661475" y="2419251"/>
            <a:ext cx="2507394" cy="3256260"/>
          </a:xfrm>
          <a:prstGeom prst="roundRect">
            <a:avLst>
              <a:gd fmla="val 6785" name="adj"/>
            </a:avLst>
          </a:prstGeom>
          <a:solidFill>
            <a:srgbClr val="EFF0F6"/>
          </a:solidFill>
          <a:ln cap="flat" cmpd="sng" w="9525">
            <a:solidFill>
              <a:srgbClr val="C5C7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7"/>
          <p:cNvSpPr/>
          <p:nvPr/>
        </p:nvSpPr>
        <p:spPr>
          <a:xfrm>
            <a:off x="856832" y="2614613"/>
            <a:ext cx="211668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Arial"/>
              <a:buNone/>
            </a:pPr>
            <a:r>
              <a:rPr b="0" i="0" lang="en-US" sz="1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❌</a:t>
            </a:r>
            <a:r>
              <a:rPr b="0" i="0" lang="en-US" sz="1850" u="none" cap="none" strike="noStrik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Weak Path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7"/>
          <p:cNvSpPr/>
          <p:nvPr/>
        </p:nvSpPr>
        <p:spPr>
          <a:xfrm>
            <a:off x="856832" y="3098899"/>
            <a:ext cx="2116680" cy="17764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Calibri"/>
              <a:buAutoNum type="arabicPeriod"/>
            </a:pPr>
            <a:r>
              <a:rPr b="0" i="0" lang="en-US" sz="14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Find a dataset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Calibri"/>
              <a:buAutoNum type="arabicPeriod"/>
            </a:pPr>
            <a:r>
              <a:rPr b="0" i="0" lang="en-US" sz="14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Train a model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Calibri"/>
              <a:buAutoNum type="arabicPeriod"/>
            </a:pPr>
            <a:r>
              <a:rPr b="0" i="0" lang="en-US" sz="14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Try many models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Calibri"/>
              <a:buAutoNum type="arabicPeriod"/>
            </a:pPr>
            <a:r>
              <a:rPr b="0" i="0" lang="en-US" sz="14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Pick best accuracy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Calibri"/>
              <a:buAutoNum type="arabicPeriod"/>
            </a:pPr>
            <a:r>
              <a:rPr b="0" i="0" lang="en-US" sz="14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Write the story later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7"/>
          <p:cNvSpPr/>
          <p:nvPr/>
        </p:nvSpPr>
        <p:spPr>
          <a:xfrm>
            <a:off x="3357875" y="2419251"/>
            <a:ext cx="2507394" cy="3256260"/>
          </a:xfrm>
          <a:prstGeom prst="roundRect">
            <a:avLst>
              <a:gd fmla="val 6785" name="adj"/>
            </a:avLst>
          </a:prstGeom>
          <a:solidFill>
            <a:srgbClr val="EFF0F6"/>
          </a:solidFill>
          <a:ln cap="flat" cmpd="sng" w="9525">
            <a:solidFill>
              <a:srgbClr val="C5C7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7"/>
          <p:cNvSpPr/>
          <p:nvPr/>
        </p:nvSpPr>
        <p:spPr>
          <a:xfrm>
            <a:off x="3553232" y="2614613"/>
            <a:ext cx="211668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Arial"/>
              <a:buNone/>
            </a:pPr>
            <a:r>
              <a:rPr b="0" i="0" lang="en-US" sz="1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✅</a:t>
            </a:r>
            <a:r>
              <a:rPr b="0" i="0" lang="en-US" sz="1850" u="none" cap="none" strike="noStrik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Better Path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7"/>
          <p:cNvSpPr/>
          <p:nvPr/>
        </p:nvSpPr>
        <p:spPr>
          <a:xfrm>
            <a:off x="3553232" y="3098899"/>
            <a:ext cx="2116680" cy="2381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Calibri"/>
              <a:buAutoNum type="arabicPeriod"/>
            </a:pPr>
            <a:r>
              <a:rPr b="0" i="0" lang="en-US" sz="14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Write the question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Calibri"/>
              <a:buAutoNum type="arabicPeriod"/>
            </a:pPr>
            <a:r>
              <a:rPr b="0" i="0" lang="en-US" sz="14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Decide evidence needed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Calibri"/>
              <a:buAutoNum type="arabicPeriod"/>
            </a:pPr>
            <a:r>
              <a:rPr b="0" i="0" lang="en-US" sz="14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Choose fair baselines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Calibri"/>
              <a:buAutoNum type="arabicPeriod"/>
            </a:pPr>
            <a:r>
              <a:rPr b="0" i="0" lang="en-US" sz="14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Plan test rules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Calibri"/>
              <a:buAutoNum type="arabicPeriod"/>
            </a:pPr>
            <a:r>
              <a:rPr b="0" i="0" lang="en-US" sz="14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Then code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7"/>
          <p:cNvSpPr/>
          <p:nvPr/>
        </p:nvSpPr>
        <p:spPr>
          <a:xfrm>
            <a:off x="6332776" y="2419251"/>
            <a:ext cx="25399" cy="1549698"/>
          </a:xfrm>
          <a:prstGeom prst="roundRect">
            <a:avLst>
              <a:gd fmla="val 60001" name="adj"/>
            </a:avLst>
          </a:prstGeom>
          <a:solidFill>
            <a:srgbClr val="C6C9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7"/>
          <p:cNvSpPr/>
          <p:nvPr/>
        </p:nvSpPr>
        <p:spPr>
          <a:xfrm>
            <a:off x="6616237" y="2589312"/>
            <a:ext cx="4920333" cy="1209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Inter Light"/>
              <a:buNone/>
            </a:pPr>
            <a:r>
              <a:rPr b="0" i="0" lang="en-US" sz="14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If you want to know which route reaches campus faster, you don't just drive randomly. You compare the same starting point, the same time window, and the same traffic condition.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6332776" y="4181673"/>
            <a:ext cx="5203794" cy="907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Inter Light"/>
              <a:buNone/>
            </a:pPr>
            <a:r>
              <a:rPr b="0" i="0" lang="en-US" sz="14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An experiment is only useful when the comparison is </a:t>
            </a:r>
            <a:r>
              <a:rPr b="1" i="0" lang="en-US" sz="1450" u="none" cap="none" strike="noStrike">
                <a:solidFill>
                  <a:srgbClr val="3D3E44"/>
                </a:solidFill>
                <a:latin typeface="Inter"/>
                <a:ea typeface="Inter"/>
                <a:cs typeface="Inter"/>
                <a:sym typeface="Inter"/>
              </a:rPr>
              <a:t>fair</a:t>
            </a:r>
            <a:r>
              <a:rPr b="0" i="0" lang="en-US" sz="14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. Structure your thinking before you touch a single line of code.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1" name="Google Shape;10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88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8"/>
          <p:cNvSpPr/>
          <p:nvPr/>
        </p:nvSpPr>
        <p:spPr>
          <a:xfrm>
            <a:off x="5233360" y="661392"/>
            <a:ext cx="1545690" cy="229691"/>
          </a:xfrm>
          <a:prstGeom prst="roundRect">
            <a:avLst>
              <a:gd fmla="val 47401" name="adj"/>
            </a:avLst>
          </a:prstGeom>
          <a:noFill/>
          <a:ln cap="flat" cmpd="sng" w="9525">
            <a:solidFill>
              <a:srgbClr val="C6C9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8"/>
          <p:cNvSpPr/>
          <p:nvPr/>
        </p:nvSpPr>
        <p:spPr>
          <a:xfrm>
            <a:off x="5324044" y="706735"/>
            <a:ext cx="1973908" cy="139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C6C9DC"/>
              </a:buClr>
              <a:buSzPts val="950"/>
              <a:buFont typeface="Inter Light"/>
              <a:buNone/>
            </a:pPr>
            <a:r>
              <a:rPr b="0" i="0" lang="en-US" sz="950" u="none" cap="none" strike="noStrike">
                <a:solidFill>
                  <a:srgbClr val="C6C9DC"/>
                </a:solidFill>
                <a:latin typeface="Inter Light"/>
                <a:ea typeface="Inter Light"/>
                <a:cs typeface="Inter Light"/>
                <a:sym typeface="Inter Light"/>
              </a:rPr>
              <a:t>RESEARCH QUESTIONS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8"/>
          <p:cNvSpPr/>
          <p:nvPr/>
        </p:nvSpPr>
        <p:spPr>
          <a:xfrm>
            <a:off x="5233360" y="939403"/>
            <a:ext cx="6296860" cy="9449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4767D"/>
              </a:buClr>
              <a:buSzPts val="2950"/>
              <a:buFont typeface="Montserrat Medium"/>
              <a:buNone/>
            </a:pPr>
            <a:r>
              <a:rPr b="0" i="0" lang="en-US" sz="2950" u="none" cap="none" strike="noStrike">
                <a:solidFill>
                  <a:srgbClr val="7476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Start From the Gap, Then Ask the Question</a:t>
            </a:r>
            <a:endParaRPr b="0" i="0" sz="2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8"/>
          <p:cNvSpPr/>
          <p:nvPr/>
        </p:nvSpPr>
        <p:spPr>
          <a:xfrm>
            <a:off x="5213460" y="2897888"/>
            <a:ext cx="2964000" cy="1599300"/>
          </a:xfrm>
          <a:prstGeom prst="roundRect">
            <a:avLst>
              <a:gd fmla="val 8509" name="adj"/>
            </a:avLst>
          </a:prstGeom>
          <a:solidFill>
            <a:srgbClr val="DFE1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6" name="Google Shape;10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64666" y="3113292"/>
            <a:ext cx="189007" cy="151209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8"/>
          <p:cNvSpPr/>
          <p:nvPr/>
        </p:nvSpPr>
        <p:spPr>
          <a:xfrm>
            <a:off x="5704879" y="3044534"/>
            <a:ext cx="2321400" cy="13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Inter"/>
              <a:buNone/>
            </a:pPr>
            <a:r>
              <a:rPr b="1" i="0" lang="en-US" sz="11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Example gap:</a:t>
            </a:r>
            <a:r>
              <a:rPr b="0" i="0" lang="en-US" sz="1150" u="none" cap="none" strike="noStrike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Existing plant-disease studies report high accuracy on clean images — but it is unclear whether models work on messy field photos taken by farmers.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8"/>
          <p:cNvSpPr/>
          <p:nvPr/>
        </p:nvSpPr>
        <p:spPr>
          <a:xfrm>
            <a:off x="5213460" y="4633323"/>
            <a:ext cx="2964000" cy="8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150"/>
              <a:buFont typeface="Inter"/>
              <a:buNone/>
            </a:pPr>
            <a:r>
              <a:rPr b="1" i="0" lang="en-US" sz="1150" u="none" cap="none" strike="noStrike">
                <a:solidFill>
                  <a:srgbClr val="3D3E44"/>
                </a:solidFill>
                <a:latin typeface="Inter"/>
                <a:ea typeface="Inter"/>
                <a:cs typeface="Inter"/>
                <a:sym typeface="Inter"/>
              </a:rPr>
              <a:t>Main RQ:</a:t>
            </a:r>
            <a:r>
              <a:rPr b="0" i="0" lang="en-US" sz="11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 How robust are plant-disease classifiers when images contain poor light, blur, background clutter, or partial leaves?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9" name="Google Shape;109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72583" y="2201763"/>
            <a:ext cx="2963987" cy="1133078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8"/>
          <p:cNvSpPr/>
          <p:nvPr/>
        </p:nvSpPr>
        <p:spPr>
          <a:xfrm>
            <a:off x="8819036" y="2372023"/>
            <a:ext cx="2547278" cy="23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Montserrat Medium"/>
              <a:buNone/>
            </a:pPr>
            <a:r>
              <a:rPr b="0" i="0" lang="en-US" sz="1450" u="none" cap="none" strike="noStrik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RQ 1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8"/>
          <p:cNvSpPr/>
          <p:nvPr/>
        </p:nvSpPr>
        <p:spPr>
          <a:xfrm>
            <a:off x="8819036" y="2729210"/>
            <a:ext cx="2547278" cy="4353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150"/>
              <a:buFont typeface="Inter Light"/>
              <a:buNone/>
            </a:pPr>
            <a:r>
              <a:rPr b="0" i="0" lang="en-US" sz="11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How much does performance drop under each field-like condition?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2" name="Google Shape;112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72583" y="3455789"/>
            <a:ext cx="2963987" cy="1133078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8"/>
          <p:cNvSpPr/>
          <p:nvPr/>
        </p:nvSpPr>
        <p:spPr>
          <a:xfrm>
            <a:off x="8819036" y="3626048"/>
            <a:ext cx="2547278" cy="23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Montserrat Medium"/>
              <a:buNone/>
            </a:pPr>
            <a:r>
              <a:rPr b="0" i="0" lang="en-US" sz="1450" u="none" cap="none" strike="noStrik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RQ 2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8"/>
          <p:cNvSpPr/>
          <p:nvPr/>
        </p:nvSpPr>
        <p:spPr>
          <a:xfrm>
            <a:off x="8819036" y="3983236"/>
            <a:ext cx="2547278" cy="4353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150"/>
              <a:buFont typeface="Inter Light"/>
              <a:buNone/>
            </a:pPr>
            <a:r>
              <a:rPr b="0" i="0" lang="en-US" sz="11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Which model keeps the most stable class-wise performance?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5" name="Google Shape;115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72583" y="4709815"/>
            <a:ext cx="2963987" cy="1350764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8"/>
          <p:cNvSpPr/>
          <p:nvPr/>
        </p:nvSpPr>
        <p:spPr>
          <a:xfrm>
            <a:off x="8819036" y="4880074"/>
            <a:ext cx="2547278" cy="23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Montserrat Medium"/>
              <a:buNone/>
            </a:pPr>
            <a:r>
              <a:rPr b="0" i="0" lang="en-US" sz="1450" u="none" cap="none" strike="noStrik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RQ 3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8"/>
          <p:cNvSpPr/>
          <p:nvPr/>
        </p:nvSpPr>
        <p:spPr>
          <a:xfrm>
            <a:off x="8819036" y="5237262"/>
            <a:ext cx="2547278" cy="6530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150"/>
              <a:buFont typeface="Inter Light"/>
              <a:buNone/>
            </a:pPr>
            <a:r>
              <a:rPr b="0" i="0" lang="en-US" sz="11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Which disease classes fail most often under messy image conditions?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"/>
          <p:cNvSpPr/>
          <p:nvPr/>
        </p:nvSpPr>
        <p:spPr>
          <a:xfrm>
            <a:off x="661475" y="743645"/>
            <a:ext cx="1683898" cy="250428"/>
          </a:xfrm>
          <a:prstGeom prst="roundRect">
            <a:avLst>
              <a:gd fmla="val 47381" name="adj"/>
            </a:avLst>
          </a:prstGeom>
          <a:solidFill>
            <a:srgbClr val="DFE1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9"/>
          <p:cNvSpPr/>
          <p:nvPr/>
        </p:nvSpPr>
        <p:spPr>
          <a:xfrm>
            <a:off x="760294" y="793055"/>
            <a:ext cx="2095844" cy="1516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000"/>
              <a:buFont typeface="Inter Light"/>
              <a:buNone/>
            </a:pPr>
            <a:r>
              <a:rPr b="0" i="0" lang="en-US" sz="100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RESEARCH QUESTIONS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9"/>
          <p:cNvSpPr/>
          <p:nvPr/>
        </p:nvSpPr>
        <p:spPr>
          <a:xfrm>
            <a:off x="661475" y="1051520"/>
            <a:ext cx="10868745" cy="515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4767D"/>
              </a:buClr>
              <a:buSzPts val="3200"/>
              <a:buFont typeface="Montserrat Medium"/>
              <a:buNone/>
            </a:pPr>
            <a:r>
              <a:rPr b="0" i="0" lang="en-US" sz="3200" u="none" cap="none" strike="noStrike">
                <a:solidFill>
                  <a:srgbClr val="7476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Bad Research Questions Lead to Weak Experiments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9"/>
          <p:cNvSpPr/>
          <p:nvPr/>
        </p:nvSpPr>
        <p:spPr>
          <a:xfrm>
            <a:off x="661475" y="1782068"/>
            <a:ext cx="10868745" cy="3923903"/>
          </a:xfrm>
          <a:prstGeom prst="roundRect">
            <a:avLst>
              <a:gd fmla="val 3780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9"/>
          <p:cNvSpPr/>
          <p:nvPr/>
        </p:nvSpPr>
        <p:spPr>
          <a:xfrm>
            <a:off x="661475" y="2223294"/>
            <a:ext cx="10868745" cy="10300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9"/>
          <p:cNvSpPr/>
          <p:nvPr/>
        </p:nvSpPr>
        <p:spPr>
          <a:xfrm>
            <a:off x="661475" y="3154859"/>
            <a:ext cx="10868745" cy="10300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9"/>
          <p:cNvSpPr/>
          <p:nvPr/>
        </p:nvSpPr>
        <p:spPr>
          <a:xfrm>
            <a:off x="661475" y="4086423"/>
            <a:ext cx="10868745" cy="10300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9"/>
          <p:cNvSpPr/>
          <p:nvPr/>
        </p:nvSpPr>
        <p:spPr>
          <a:xfrm>
            <a:off x="661475" y="4771231"/>
            <a:ext cx="10868745" cy="10300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9"/>
          <p:cNvSpPr/>
          <p:nvPr/>
        </p:nvSpPr>
        <p:spPr>
          <a:xfrm>
            <a:off x="833814" y="1880890"/>
            <a:ext cx="3897910" cy="246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3D3E44"/>
                </a:solidFill>
                <a:latin typeface="Inter"/>
                <a:ea typeface="Inter"/>
                <a:cs typeface="Inter"/>
                <a:sym typeface="Inter"/>
              </a:rPr>
              <a:t>Problem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9"/>
          <p:cNvSpPr/>
          <p:nvPr/>
        </p:nvSpPr>
        <p:spPr>
          <a:xfrm>
            <a:off x="4451735" y="1880890"/>
            <a:ext cx="3897910" cy="246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3D3E44"/>
                </a:solidFill>
                <a:latin typeface="Inter"/>
                <a:ea typeface="Inter"/>
                <a:cs typeface="Inter"/>
                <a:sym typeface="Inter"/>
              </a:rPr>
              <a:t>Weak RQ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9"/>
          <p:cNvSpPr/>
          <p:nvPr/>
        </p:nvSpPr>
        <p:spPr>
          <a:xfrm>
            <a:off x="8069656" y="1880890"/>
            <a:ext cx="3897910" cy="246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3D3E44"/>
                </a:solidFill>
                <a:latin typeface="Inter"/>
                <a:ea typeface="Inter"/>
                <a:cs typeface="Inter"/>
                <a:sym typeface="Inter"/>
              </a:rPr>
              <a:t>Better RQ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9"/>
          <p:cNvSpPr/>
          <p:nvPr/>
        </p:nvSpPr>
        <p:spPr>
          <a:xfrm>
            <a:off x="833814" y="2318941"/>
            <a:ext cx="3897910" cy="246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250"/>
              <a:buFont typeface="Inter Light"/>
              <a:buNone/>
            </a:pPr>
            <a:r>
              <a:rPr b="0" i="0" lang="en-US" sz="12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Too broad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9"/>
          <p:cNvSpPr/>
          <p:nvPr/>
        </p:nvSpPr>
        <p:spPr>
          <a:xfrm>
            <a:off x="4451735" y="2318941"/>
            <a:ext cx="3897910" cy="246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250"/>
              <a:buFont typeface="Inter Light"/>
              <a:buNone/>
            </a:pPr>
            <a:r>
              <a:rPr b="0" i="0" lang="en-US" sz="12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Can AI detect fake news?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9"/>
          <p:cNvSpPr/>
          <p:nvPr/>
        </p:nvSpPr>
        <p:spPr>
          <a:xfrm>
            <a:off x="8069656" y="2318941"/>
            <a:ext cx="3288325" cy="740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250"/>
              <a:buFont typeface="Inter Light"/>
              <a:buNone/>
            </a:pPr>
            <a:r>
              <a:rPr b="0" i="0" lang="en-US" sz="12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How well can Bangla and code-mixed posts be classified as misinformation using text features?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9"/>
          <p:cNvSpPr/>
          <p:nvPr/>
        </p:nvSpPr>
        <p:spPr>
          <a:xfrm>
            <a:off x="833814" y="3250505"/>
            <a:ext cx="3897910" cy="246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250"/>
              <a:buFont typeface="Inter Light"/>
              <a:buNone/>
            </a:pPr>
            <a:r>
              <a:rPr b="0" i="0" lang="en-US" sz="12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Method-first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9"/>
          <p:cNvSpPr/>
          <p:nvPr/>
        </p:nvSpPr>
        <p:spPr>
          <a:xfrm>
            <a:off x="4451735" y="3250505"/>
            <a:ext cx="3897910" cy="246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250"/>
              <a:buFont typeface="Inter Light"/>
              <a:buNone/>
            </a:pPr>
            <a:r>
              <a:rPr b="0" i="0" lang="en-US" sz="12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Can we use CNN for plant disease?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9"/>
          <p:cNvSpPr/>
          <p:nvPr/>
        </p:nvSpPr>
        <p:spPr>
          <a:xfrm>
            <a:off x="8069656" y="3250505"/>
            <a:ext cx="3288325" cy="740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250"/>
              <a:buFont typeface="Inter Light"/>
              <a:buNone/>
            </a:pPr>
            <a:r>
              <a:rPr b="0" i="0" lang="en-US" sz="12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How does performance change when plant images include blur, poor light, and clutter?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9"/>
          <p:cNvSpPr/>
          <p:nvPr/>
        </p:nvSpPr>
        <p:spPr>
          <a:xfrm>
            <a:off x="833814" y="4182070"/>
            <a:ext cx="3897910" cy="246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250"/>
              <a:buFont typeface="Inter Light"/>
              <a:buNone/>
            </a:pPr>
            <a:r>
              <a:rPr b="0" i="0" lang="en-US" sz="12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Accuracy-only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9"/>
          <p:cNvSpPr/>
          <p:nvPr/>
        </p:nvSpPr>
        <p:spPr>
          <a:xfrm>
            <a:off x="4451735" y="4182070"/>
            <a:ext cx="3897910" cy="246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250"/>
              <a:buFont typeface="Inter Light"/>
              <a:buNone/>
            </a:pPr>
            <a:r>
              <a:rPr b="0" i="0" lang="en-US" sz="12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Which model gives highest accuracy?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9"/>
          <p:cNvSpPr/>
          <p:nvPr/>
        </p:nvSpPr>
        <p:spPr>
          <a:xfrm>
            <a:off x="8069656" y="4182070"/>
            <a:ext cx="3288325" cy="4935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250"/>
              <a:buFont typeface="Inter Light"/>
              <a:buNone/>
            </a:pPr>
            <a:r>
              <a:rPr b="0" i="0" lang="en-US" sz="12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Which model performs best for the minority class using recall and F1?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9"/>
          <p:cNvSpPr/>
          <p:nvPr/>
        </p:nvSpPr>
        <p:spPr>
          <a:xfrm>
            <a:off x="833814" y="4866878"/>
            <a:ext cx="3897910" cy="246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250"/>
              <a:buFont typeface="Inter Light"/>
              <a:buNone/>
            </a:pPr>
            <a:r>
              <a:rPr b="0" i="0" lang="en-US" sz="12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Unclear claim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9"/>
          <p:cNvSpPr/>
          <p:nvPr/>
        </p:nvSpPr>
        <p:spPr>
          <a:xfrm>
            <a:off x="4451735" y="4866878"/>
            <a:ext cx="3897910" cy="246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250"/>
              <a:buFont typeface="Inter Light"/>
              <a:buNone/>
            </a:pPr>
            <a:r>
              <a:rPr b="0" i="0" lang="en-US" sz="12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Can XAI improve phishing detection?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9"/>
          <p:cNvSpPr/>
          <p:nvPr/>
        </p:nvSpPr>
        <p:spPr>
          <a:xfrm>
            <a:off x="8069656" y="4866878"/>
            <a:ext cx="3288325" cy="740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250"/>
              <a:buFont typeface="Inter Light"/>
              <a:buNone/>
            </a:pPr>
            <a:r>
              <a:rPr b="0" i="0" lang="en-US" sz="12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Which message cues influence predictions, and are they meaningful to users?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9"/>
          <p:cNvSpPr/>
          <p:nvPr/>
        </p:nvSpPr>
        <p:spPr>
          <a:xfrm>
            <a:off x="356682" y="5867598"/>
            <a:ext cx="11478330" cy="246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250"/>
              <a:buFont typeface="Inter Light"/>
              <a:buNone/>
            </a:pPr>
            <a:r>
              <a:rPr b="0" i="0" lang="en-US" sz="12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A good RQ can be </a:t>
            </a:r>
            <a:r>
              <a:rPr b="1" i="0" lang="en-US" sz="1250" u="none" cap="none" strike="noStrike">
                <a:solidFill>
                  <a:srgbClr val="3D3E44"/>
                </a:solidFill>
                <a:latin typeface="Inter"/>
                <a:ea typeface="Inter"/>
                <a:cs typeface="Inter"/>
                <a:sym typeface="Inter"/>
              </a:rPr>
              <a:t>answered with data, tests, and clear evidence.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"/>
          <p:cNvSpPr/>
          <p:nvPr/>
        </p:nvSpPr>
        <p:spPr>
          <a:xfrm>
            <a:off x="661475" y="626070"/>
            <a:ext cx="1642029" cy="243979"/>
          </a:xfrm>
          <a:prstGeom prst="roundRect">
            <a:avLst>
              <a:gd fmla="val 47414" name="adj"/>
            </a:avLst>
          </a:prstGeom>
          <a:noFill/>
          <a:ln cap="flat" cmpd="sng" w="9525">
            <a:solidFill>
              <a:srgbClr val="C6C9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0"/>
          <p:cNvSpPr/>
          <p:nvPr/>
        </p:nvSpPr>
        <p:spPr>
          <a:xfrm>
            <a:off x="757814" y="674191"/>
            <a:ext cx="2058936" cy="147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C6C9DC"/>
              </a:buClr>
              <a:buSzPts val="1000"/>
              <a:buFont typeface="Inter Light"/>
              <a:buNone/>
            </a:pPr>
            <a:r>
              <a:rPr b="0" i="0" lang="en-US" sz="1000" u="none" cap="none" strike="noStrike">
                <a:solidFill>
                  <a:srgbClr val="C6C9DC"/>
                </a:solidFill>
                <a:latin typeface="Inter Light"/>
                <a:ea typeface="Inter Light"/>
                <a:cs typeface="Inter Light"/>
                <a:sym typeface="Inter Light"/>
              </a:rPr>
              <a:t>RESEARCH QUESTIONS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0"/>
          <p:cNvSpPr/>
          <p:nvPr/>
        </p:nvSpPr>
        <p:spPr>
          <a:xfrm>
            <a:off x="661475" y="924620"/>
            <a:ext cx="10868745" cy="5020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4767D"/>
              </a:buClr>
              <a:buSzPts val="3150"/>
              <a:buFont typeface="Montserrat Medium"/>
              <a:buNone/>
            </a:pPr>
            <a:r>
              <a:rPr b="0" i="0" lang="en-US" sz="3150" u="none" cap="none" strike="noStrike">
                <a:solidFill>
                  <a:srgbClr val="7476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Common RQ Types for AI/ML Theses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5" name="Google Shape;15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1631454"/>
            <a:ext cx="321262" cy="32127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0"/>
          <p:cNvSpPr/>
          <p:nvPr/>
        </p:nvSpPr>
        <p:spPr>
          <a:xfrm>
            <a:off x="661475" y="2123380"/>
            <a:ext cx="5349047" cy="2510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550"/>
              <a:buFont typeface="Montserrat Medium"/>
              <a:buNone/>
            </a:pPr>
            <a:r>
              <a:rPr b="0" i="0" lang="en-US" sz="1550" u="none" cap="none" strike="noStrik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Performance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0"/>
          <p:cNvSpPr/>
          <p:nvPr/>
        </p:nvSpPr>
        <p:spPr>
          <a:xfrm>
            <a:off x="661475" y="2456259"/>
            <a:ext cx="5349047" cy="237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250"/>
              <a:buFont typeface="Inter Light"/>
              <a:buNone/>
            </a:pPr>
            <a:r>
              <a:rPr b="0" i="0" lang="en-US" sz="12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Can it detect or predict the target? </a:t>
            </a:r>
            <a:r>
              <a:rPr b="0" i="1" lang="en-US" sz="12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e.g., phishing message detection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8" name="Google Shape;15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81173" y="1631454"/>
            <a:ext cx="321262" cy="32127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0"/>
          <p:cNvSpPr/>
          <p:nvPr/>
        </p:nvSpPr>
        <p:spPr>
          <a:xfrm>
            <a:off x="6181173" y="2123380"/>
            <a:ext cx="5349047" cy="2510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550"/>
              <a:buFont typeface="Montserrat Medium"/>
              <a:buNone/>
            </a:pPr>
            <a:r>
              <a:rPr b="0" i="0" lang="en-US" sz="1550" u="none" cap="none" strike="noStrik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Comparison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0"/>
          <p:cNvSpPr/>
          <p:nvPr/>
        </p:nvSpPr>
        <p:spPr>
          <a:xfrm>
            <a:off x="6181173" y="2456259"/>
            <a:ext cx="5349047" cy="237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250"/>
              <a:buFont typeface="Inter Light"/>
              <a:buNone/>
            </a:pPr>
            <a:r>
              <a:rPr b="0" i="0" lang="en-US" sz="12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Which method is better under the same rules? </a:t>
            </a:r>
            <a:r>
              <a:rPr b="0" i="1" lang="en-US" sz="12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e.g., SVM vs transformer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1" name="Google Shape;161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1475" y="2967037"/>
            <a:ext cx="321262" cy="32127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0"/>
          <p:cNvSpPr/>
          <p:nvPr/>
        </p:nvSpPr>
        <p:spPr>
          <a:xfrm>
            <a:off x="661475" y="3458964"/>
            <a:ext cx="5349047" cy="2510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550"/>
              <a:buFont typeface="Montserrat Medium"/>
              <a:buNone/>
            </a:pPr>
            <a:r>
              <a:rPr b="0" i="0" lang="en-US" sz="1550" u="none" cap="none" strike="noStrik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Robustness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0"/>
          <p:cNvSpPr/>
          <p:nvPr/>
        </p:nvSpPr>
        <p:spPr>
          <a:xfrm>
            <a:off x="661475" y="3791843"/>
            <a:ext cx="5349047" cy="475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250"/>
              <a:buFont typeface="Inter Light"/>
              <a:buNone/>
            </a:pPr>
            <a:r>
              <a:rPr b="0" i="0" lang="en-US" sz="12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Does it work when data gets messy? </a:t>
            </a:r>
            <a:r>
              <a:rPr b="0" i="1" lang="en-US" sz="12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e.g., plant images with bad lighting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4" name="Google Shape;164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81173" y="2967037"/>
            <a:ext cx="321262" cy="32127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0"/>
          <p:cNvSpPr/>
          <p:nvPr/>
        </p:nvSpPr>
        <p:spPr>
          <a:xfrm>
            <a:off x="6181173" y="3458964"/>
            <a:ext cx="5349047" cy="2510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550"/>
              <a:buFont typeface="Montserrat Medium"/>
              <a:buNone/>
            </a:pPr>
            <a:r>
              <a:rPr b="0" i="0" lang="en-US" sz="1550" u="none" cap="none" strike="noStrik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Subgroup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0"/>
          <p:cNvSpPr/>
          <p:nvPr/>
        </p:nvSpPr>
        <p:spPr>
          <a:xfrm>
            <a:off x="6181173" y="3791843"/>
            <a:ext cx="5349047" cy="237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250"/>
              <a:buFont typeface="Inter Light"/>
              <a:buNone/>
            </a:pPr>
            <a:r>
              <a:rPr b="0" i="0" lang="en-US" sz="12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Does it work equally across groups? </a:t>
            </a:r>
            <a:r>
              <a:rPr b="0" i="1" lang="en-US" sz="12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e.g., different scam categories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7" name="Google Shape;167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1475" y="4540349"/>
            <a:ext cx="321262" cy="32127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0"/>
          <p:cNvSpPr/>
          <p:nvPr/>
        </p:nvSpPr>
        <p:spPr>
          <a:xfrm>
            <a:off x="661475" y="5032276"/>
            <a:ext cx="5349047" cy="2510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550"/>
              <a:buFont typeface="Montserrat Medium"/>
              <a:buNone/>
            </a:pPr>
            <a:r>
              <a:rPr b="0" i="0" lang="en-US" sz="1550" u="none" cap="none" strike="noStrik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Explanation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0"/>
          <p:cNvSpPr/>
          <p:nvPr/>
        </p:nvSpPr>
        <p:spPr>
          <a:xfrm>
            <a:off x="661475" y="5365155"/>
            <a:ext cx="5349047" cy="475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250"/>
              <a:buFont typeface="Inter Light"/>
              <a:buNone/>
            </a:pPr>
            <a:r>
              <a:rPr b="0" i="0" lang="en-US" sz="12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Can we understand why it predicts? </a:t>
            </a:r>
            <a:r>
              <a:rPr b="0" i="1" lang="en-US" sz="12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e.g., which words trigger phishing labels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0" name="Google Shape;170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181173" y="4540349"/>
            <a:ext cx="321262" cy="32127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0"/>
          <p:cNvSpPr/>
          <p:nvPr/>
        </p:nvSpPr>
        <p:spPr>
          <a:xfrm>
            <a:off x="6181173" y="5032276"/>
            <a:ext cx="5349047" cy="2510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550"/>
              <a:buFont typeface="Montserrat Medium"/>
              <a:buNone/>
            </a:pPr>
            <a:r>
              <a:rPr b="0" i="0" lang="en-US" sz="1550" u="none" cap="none" strike="noStrik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Efficiency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0"/>
          <p:cNvSpPr/>
          <p:nvPr/>
        </p:nvSpPr>
        <p:spPr>
          <a:xfrm>
            <a:off x="6181173" y="5365155"/>
            <a:ext cx="5349047" cy="237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250"/>
              <a:buFont typeface="Inter Light"/>
              <a:buNone/>
            </a:pPr>
            <a:r>
              <a:rPr b="0" i="0" lang="en-US" sz="12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Can it run with limited resources? </a:t>
            </a:r>
            <a:r>
              <a:rPr b="0" i="1" lang="en-US" sz="12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e.g., model on low-end phones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0"/>
          <p:cNvSpPr/>
          <p:nvPr/>
        </p:nvSpPr>
        <p:spPr>
          <a:xfrm>
            <a:off x="356682" y="5994202"/>
            <a:ext cx="11478330" cy="237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250"/>
              <a:buFont typeface="Inter Light"/>
              <a:buNone/>
            </a:pPr>
            <a:r>
              <a:rPr b="0" i="0" lang="en-US" sz="12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Pick only the RQ types your gap </a:t>
            </a:r>
            <a:r>
              <a:rPr b="1" i="0" lang="en-US" sz="1250" u="none" cap="none" strike="noStrike">
                <a:solidFill>
                  <a:srgbClr val="3D3E44"/>
                </a:solidFill>
                <a:latin typeface="Inter"/>
                <a:ea typeface="Inter"/>
                <a:cs typeface="Inter"/>
                <a:sym typeface="Inter"/>
              </a:rPr>
              <a:t>really needs</a:t>
            </a:r>
            <a:r>
              <a:rPr b="0" i="0" lang="en-US" sz="12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. More questions do not mean a better thesis.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1"/>
          <p:cNvSpPr/>
          <p:nvPr/>
        </p:nvSpPr>
        <p:spPr>
          <a:xfrm>
            <a:off x="661475" y="542925"/>
            <a:ext cx="1410657" cy="287139"/>
          </a:xfrm>
          <a:prstGeom prst="roundRect">
            <a:avLst>
              <a:gd fmla="val 47396" name="adj"/>
            </a:avLst>
          </a:prstGeom>
          <a:solidFill>
            <a:srgbClr val="DFE1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1"/>
          <p:cNvSpPr/>
          <p:nvPr/>
        </p:nvSpPr>
        <p:spPr>
          <a:xfrm>
            <a:off x="774879" y="599579"/>
            <a:ext cx="1793433" cy="1738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150"/>
              <a:buFont typeface="Inter Light"/>
              <a:buNone/>
            </a:pPr>
            <a:r>
              <a:rPr b="0" i="0" lang="en-US" sz="11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EVIDENCE PLAN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1"/>
          <p:cNvSpPr/>
          <p:nvPr/>
        </p:nvSpPr>
        <p:spPr>
          <a:xfrm>
            <a:off x="661475" y="905669"/>
            <a:ext cx="10868745" cy="59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4767D"/>
              </a:buClr>
              <a:buSzPts val="3700"/>
              <a:buFont typeface="Montserrat Medium"/>
              <a:buNone/>
            </a:pPr>
            <a:r>
              <a:rPr b="0" i="0" lang="en-US" sz="3700" u="none" cap="none" strike="noStrike">
                <a:solidFill>
                  <a:srgbClr val="7476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Every RQ Creates an Evidence Duty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1"/>
          <p:cNvSpPr/>
          <p:nvPr/>
        </p:nvSpPr>
        <p:spPr>
          <a:xfrm>
            <a:off x="661475" y="1779786"/>
            <a:ext cx="10868745" cy="3566716"/>
          </a:xfrm>
          <a:prstGeom prst="roundRect">
            <a:avLst>
              <a:gd fmla="val 4770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1"/>
          <p:cNvSpPr/>
          <p:nvPr/>
        </p:nvSpPr>
        <p:spPr>
          <a:xfrm>
            <a:off x="667825" y="1786136"/>
            <a:ext cx="10856046" cy="541933"/>
          </a:xfrm>
          <a:prstGeom prst="rect">
            <a:avLst/>
          </a:prstGeom>
          <a:solidFill>
            <a:srgbClr val="FFFFFF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1"/>
          <p:cNvSpPr/>
          <p:nvPr/>
        </p:nvSpPr>
        <p:spPr>
          <a:xfrm>
            <a:off x="856832" y="1905893"/>
            <a:ext cx="5656419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Inter"/>
              <a:buNone/>
            </a:pPr>
            <a:r>
              <a:rPr b="1" i="0" lang="en-US" sz="1450" u="none" cap="none" strike="noStrike">
                <a:solidFill>
                  <a:srgbClr val="3D3E44"/>
                </a:solidFill>
                <a:latin typeface="Inter"/>
                <a:ea typeface="Inter"/>
                <a:cs typeface="Inter"/>
                <a:sym typeface="Inter"/>
              </a:rPr>
              <a:t>RQ Asks...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1"/>
          <p:cNvSpPr/>
          <p:nvPr/>
        </p:nvSpPr>
        <p:spPr>
          <a:xfrm>
            <a:off x="6288029" y="1905893"/>
            <a:ext cx="5656419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Inter"/>
              <a:buNone/>
            </a:pPr>
            <a:r>
              <a:rPr b="1" i="0" lang="en-US" sz="1450" u="none" cap="none" strike="noStrike">
                <a:solidFill>
                  <a:srgbClr val="3D3E44"/>
                </a:solidFill>
                <a:latin typeface="Inter"/>
                <a:ea typeface="Inter"/>
                <a:cs typeface="Inter"/>
                <a:sym typeface="Inter"/>
              </a:rPr>
              <a:t>Evidence Needed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1"/>
          <p:cNvSpPr/>
          <p:nvPr/>
        </p:nvSpPr>
        <p:spPr>
          <a:xfrm>
            <a:off x="667825" y="2328069"/>
            <a:ext cx="10856046" cy="541933"/>
          </a:xfrm>
          <a:prstGeom prst="rect">
            <a:avLst/>
          </a:prstGeom>
          <a:solidFill>
            <a:srgbClr val="000000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1"/>
          <p:cNvSpPr/>
          <p:nvPr/>
        </p:nvSpPr>
        <p:spPr>
          <a:xfrm>
            <a:off x="856832" y="2447826"/>
            <a:ext cx="5656419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Inter Light"/>
              <a:buNone/>
            </a:pPr>
            <a:r>
              <a:rPr b="0" i="0" lang="en-US" sz="14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Does the model detect at-risk students early?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1"/>
          <p:cNvSpPr/>
          <p:nvPr/>
        </p:nvSpPr>
        <p:spPr>
          <a:xfrm>
            <a:off x="6288029" y="2447826"/>
            <a:ext cx="5656419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Inter Light"/>
              <a:buNone/>
            </a:pPr>
            <a:r>
              <a:rPr b="0" i="0" lang="en-US" sz="14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Week 1–5 data, test labels, recall for at-risk group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1"/>
          <p:cNvSpPr/>
          <p:nvPr/>
        </p:nvSpPr>
        <p:spPr>
          <a:xfrm>
            <a:off x="667825" y="2870002"/>
            <a:ext cx="10856046" cy="541933"/>
          </a:xfrm>
          <a:prstGeom prst="rect">
            <a:avLst/>
          </a:prstGeom>
          <a:solidFill>
            <a:srgbClr val="FFFFFF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1"/>
          <p:cNvSpPr/>
          <p:nvPr/>
        </p:nvSpPr>
        <p:spPr>
          <a:xfrm>
            <a:off x="856832" y="2989759"/>
            <a:ext cx="5656419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Inter Light"/>
              <a:buNone/>
            </a:pPr>
            <a:r>
              <a:rPr b="0" i="0" lang="en-US" sz="14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Does code-mixing hurt phishing detection?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1"/>
          <p:cNvSpPr/>
          <p:nvPr/>
        </p:nvSpPr>
        <p:spPr>
          <a:xfrm>
            <a:off x="6288029" y="2989759"/>
            <a:ext cx="5656419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Inter Light"/>
              <a:buNone/>
            </a:pPr>
            <a:r>
              <a:rPr b="0" i="0" lang="en-US" sz="14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Separate Bangla and code-mixed test groups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1"/>
          <p:cNvSpPr/>
          <p:nvPr/>
        </p:nvSpPr>
        <p:spPr>
          <a:xfrm>
            <a:off x="667825" y="3411934"/>
            <a:ext cx="10856046" cy="541933"/>
          </a:xfrm>
          <a:prstGeom prst="rect">
            <a:avLst/>
          </a:prstGeom>
          <a:solidFill>
            <a:srgbClr val="000000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1"/>
          <p:cNvSpPr/>
          <p:nvPr/>
        </p:nvSpPr>
        <p:spPr>
          <a:xfrm>
            <a:off x="856832" y="3531691"/>
            <a:ext cx="5656419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Inter Light"/>
              <a:buNone/>
            </a:pPr>
            <a:r>
              <a:rPr b="0" i="0" lang="en-US" sz="14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Does the model work on field images?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1"/>
          <p:cNvSpPr/>
          <p:nvPr/>
        </p:nvSpPr>
        <p:spPr>
          <a:xfrm>
            <a:off x="6288029" y="3531691"/>
            <a:ext cx="5656419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Inter Light"/>
              <a:buNone/>
            </a:pPr>
            <a:r>
              <a:rPr b="0" i="0" lang="en-US" sz="14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Clean vs. messy image test sets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1"/>
          <p:cNvSpPr/>
          <p:nvPr/>
        </p:nvSpPr>
        <p:spPr>
          <a:xfrm>
            <a:off x="667825" y="3953867"/>
            <a:ext cx="10856046" cy="844352"/>
          </a:xfrm>
          <a:prstGeom prst="rect">
            <a:avLst/>
          </a:prstGeom>
          <a:solidFill>
            <a:srgbClr val="FFFFFF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1"/>
          <p:cNvSpPr/>
          <p:nvPr/>
        </p:nvSpPr>
        <p:spPr>
          <a:xfrm>
            <a:off x="856832" y="4073624"/>
            <a:ext cx="5656419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Inter Light"/>
              <a:buNone/>
            </a:pPr>
            <a:r>
              <a:rPr b="0" i="0" lang="en-US" sz="14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Are explanations meaningful?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1"/>
          <p:cNvSpPr/>
          <p:nvPr/>
        </p:nvSpPr>
        <p:spPr>
          <a:xfrm>
            <a:off x="6288029" y="4073624"/>
            <a:ext cx="5046834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Inter Light"/>
              <a:buNone/>
            </a:pPr>
            <a:r>
              <a:rPr b="0" i="0" lang="en-US" sz="14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Example explanations checked by users or domain experts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1"/>
          <p:cNvSpPr/>
          <p:nvPr/>
        </p:nvSpPr>
        <p:spPr>
          <a:xfrm>
            <a:off x="667825" y="4798219"/>
            <a:ext cx="10856046" cy="541933"/>
          </a:xfrm>
          <a:prstGeom prst="rect">
            <a:avLst/>
          </a:prstGeom>
          <a:solidFill>
            <a:srgbClr val="000000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1"/>
          <p:cNvSpPr/>
          <p:nvPr/>
        </p:nvSpPr>
        <p:spPr>
          <a:xfrm>
            <a:off x="856832" y="4917976"/>
            <a:ext cx="5656419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Inter Light"/>
              <a:buNone/>
            </a:pPr>
            <a:r>
              <a:rPr b="0" i="0" lang="en-US" sz="14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Can it run on limited devices?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1"/>
          <p:cNvSpPr/>
          <p:nvPr/>
        </p:nvSpPr>
        <p:spPr>
          <a:xfrm>
            <a:off x="6288029" y="4917976"/>
            <a:ext cx="5656419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Inter Light"/>
              <a:buNone/>
            </a:pPr>
            <a:r>
              <a:rPr b="0" i="0" lang="en-US" sz="14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Model size, prediction time, and memory usage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1"/>
          <p:cNvSpPr/>
          <p:nvPr/>
        </p:nvSpPr>
        <p:spPr>
          <a:xfrm>
            <a:off x="661475" y="5559127"/>
            <a:ext cx="10868745" cy="755948"/>
          </a:xfrm>
          <a:prstGeom prst="roundRect">
            <a:avLst>
              <a:gd fmla="val 22504" name="adj"/>
            </a:avLst>
          </a:prstGeom>
          <a:solidFill>
            <a:srgbClr val="DFE1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2" name="Google Shape;20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482" y="5826820"/>
            <a:ext cx="236234" cy="189012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1"/>
          <p:cNvSpPr/>
          <p:nvPr/>
        </p:nvSpPr>
        <p:spPr>
          <a:xfrm>
            <a:off x="1275723" y="5795367"/>
            <a:ext cx="10675075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Inter Light"/>
              <a:buNone/>
            </a:pPr>
            <a:r>
              <a:rPr b="0" i="0" lang="en-US" sz="1450" u="none" cap="none" strike="noStrike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If you cannot say what evidence will answer the RQ, the RQ is not ready.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09" name="Google Shape;20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19809" y="0"/>
            <a:ext cx="457188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2"/>
          <p:cNvSpPr/>
          <p:nvPr/>
        </p:nvSpPr>
        <p:spPr>
          <a:xfrm>
            <a:off x="661475" y="653355"/>
            <a:ext cx="985218" cy="272752"/>
          </a:xfrm>
          <a:prstGeom prst="roundRect">
            <a:avLst>
              <a:gd fmla="val 47401" name="adj"/>
            </a:avLst>
          </a:prstGeom>
          <a:noFill/>
          <a:ln cap="flat" cmpd="sng" w="9525">
            <a:solidFill>
              <a:srgbClr val="C6C9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2"/>
          <p:cNvSpPr/>
          <p:nvPr/>
        </p:nvSpPr>
        <p:spPr>
          <a:xfrm>
            <a:off x="769125" y="707132"/>
            <a:ext cx="1379503" cy="1651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C6C9DC"/>
              </a:buClr>
              <a:buSzPts val="1100"/>
              <a:buFont typeface="Inter Light"/>
              <a:buNone/>
            </a:pPr>
            <a:r>
              <a:rPr b="0" i="0" lang="en-US" sz="1100" u="none" cap="none" strike="noStrike">
                <a:solidFill>
                  <a:srgbClr val="C6C9DC"/>
                </a:solidFill>
                <a:latin typeface="Inter Light"/>
                <a:ea typeface="Inter Light"/>
                <a:cs typeface="Inter Light"/>
                <a:sym typeface="Inter Light"/>
              </a:rPr>
              <a:t>BASELINES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2"/>
          <p:cNvSpPr/>
          <p:nvPr/>
        </p:nvSpPr>
        <p:spPr>
          <a:xfrm>
            <a:off x="661475" y="994271"/>
            <a:ext cx="6296860" cy="1122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4767D"/>
              </a:buClr>
              <a:buSzPts val="3500"/>
              <a:buFont typeface="Montserrat Medium"/>
              <a:buNone/>
            </a:pPr>
            <a:r>
              <a:rPr b="0" i="0" lang="en-US" sz="3500" u="none" cap="none" strike="noStrike">
                <a:solidFill>
                  <a:srgbClr val="7476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Baselines: Who Are You Competing Against?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2"/>
          <p:cNvSpPr/>
          <p:nvPr/>
        </p:nvSpPr>
        <p:spPr>
          <a:xfrm>
            <a:off x="661475" y="2372519"/>
            <a:ext cx="6296860" cy="5601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00"/>
              <a:buFont typeface="Inter Light"/>
              <a:buNone/>
            </a:pPr>
            <a:r>
              <a:rPr b="0" i="0" lang="en-US" sz="140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Think of a baseline like a </a:t>
            </a:r>
            <a:r>
              <a:rPr b="1" i="0" lang="en-US" sz="1400" u="none" cap="none" strike="noStrike">
                <a:solidFill>
                  <a:srgbClr val="3D3E44"/>
                </a:solidFill>
                <a:latin typeface="Inter"/>
                <a:ea typeface="Inter"/>
                <a:cs typeface="Inter"/>
                <a:sym typeface="Inter"/>
              </a:rPr>
              <a:t>fair opponent</a:t>
            </a:r>
            <a:r>
              <a:rPr b="0" i="0" lang="en-US" sz="140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. If your new approach only beats a very weak opponent, the result is not impressive.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2"/>
          <p:cNvSpPr/>
          <p:nvPr/>
        </p:nvSpPr>
        <p:spPr>
          <a:xfrm>
            <a:off x="661475" y="3124597"/>
            <a:ext cx="3063104" cy="1594743"/>
          </a:xfrm>
          <a:prstGeom prst="roundRect">
            <a:avLst>
              <a:gd fmla="val 10134" name="adj"/>
            </a:avLst>
          </a:prstGeom>
          <a:solidFill>
            <a:srgbClr val="EFF0F6"/>
          </a:solidFill>
          <a:ln cap="flat" cmpd="sng" w="9525">
            <a:solidFill>
              <a:srgbClr val="C5C7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2"/>
          <p:cNvSpPr/>
          <p:nvPr/>
        </p:nvSpPr>
        <p:spPr>
          <a:xfrm>
            <a:off x="847307" y="3310434"/>
            <a:ext cx="2691440" cy="280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750"/>
              <a:buFont typeface="Montserrat Medium"/>
              <a:buNone/>
            </a:pPr>
            <a:r>
              <a:rPr b="0" i="0" lang="en-US" sz="1750" u="none" cap="none" strike="noStrik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1. Simple Baseline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2"/>
          <p:cNvSpPr/>
          <p:nvPr/>
        </p:nvSpPr>
        <p:spPr>
          <a:xfrm>
            <a:off x="847307" y="3693220"/>
            <a:ext cx="2691440" cy="8402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00"/>
              <a:buFont typeface="Inter Light"/>
              <a:buNone/>
            </a:pPr>
            <a:r>
              <a:rPr b="0" i="0" lang="en-US" sz="140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Majority class, simple rules, or a traditional model. </a:t>
            </a:r>
            <a:r>
              <a:rPr b="0" i="1" lang="en-US" sz="140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e.g., always predict "not phishing."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2"/>
          <p:cNvSpPr/>
          <p:nvPr/>
        </p:nvSpPr>
        <p:spPr>
          <a:xfrm>
            <a:off x="3895131" y="3124597"/>
            <a:ext cx="3063203" cy="1594743"/>
          </a:xfrm>
          <a:prstGeom prst="roundRect">
            <a:avLst>
              <a:gd fmla="val 10134" name="adj"/>
            </a:avLst>
          </a:prstGeom>
          <a:solidFill>
            <a:srgbClr val="EFF0F6"/>
          </a:solidFill>
          <a:ln cap="flat" cmpd="sng" w="9525">
            <a:solidFill>
              <a:srgbClr val="C5C7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2"/>
          <p:cNvSpPr/>
          <p:nvPr/>
        </p:nvSpPr>
        <p:spPr>
          <a:xfrm>
            <a:off x="4080964" y="3310434"/>
            <a:ext cx="2691539" cy="280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750"/>
              <a:buFont typeface="Montserrat Medium"/>
              <a:buNone/>
            </a:pPr>
            <a:r>
              <a:rPr b="0" i="0" lang="en-US" sz="1750" u="none" cap="none" strike="noStrik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2. Standard Baseline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2"/>
          <p:cNvSpPr/>
          <p:nvPr/>
        </p:nvSpPr>
        <p:spPr>
          <a:xfrm>
            <a:off x="4080964" y="3693220"/>
            <a:ext cx="2691539" cy="8402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00"/>
              <a:buFont typeface="Inter Light"/>
              <a:buNone/>
            </a:pPr>
            <a:r>
              <a:rPr b="0" i="0" lang="en-US" sz="140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Common method from nearby papers. </a:t>
            </a:r>
            <a:r>
              <a:rPr b="0" i="1" lang="en-US" sz="140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e.g., TF-IDF + SVM for text classification.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2"/>
          <p:cNvSpPr/>
          <p:nvPr/>
        </p:nvSpPr>
        <p:spPr>
          <a:xfrm>
            <a:off x="661475" y="4889897"/>
            <a:ext cx="6296860" cy="1314648"/>
          </a:xfrm>
          <a:prstGeom prst="roundRect">
            <a:avLst>
              <a:gd fmla="val 12293" name="adj"/>
            </a:avLst>
          </a:prstGeom>
          <a:solidFill>
            <a:srgbClr val="EFF0F6"/>
          </a:solidFill>
          <a:ln cap="flat" cmpd="sng" w="9525">
            <a:solidFill>
              <a:srgbClr val="C5C7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2"/>
          <p:cNvSpPr/>
          <p:nvPr/>
        </p:nvSpPr>
        <p:spPr>
          <a:xfrm>
            <a:off x="847307" y="5075734"/>
            <a:ext cx="5925196" cy="280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750"/>
              <a:buFont typeface="Montserrat Medium"/>
              <a:buNone/>
            </a:pPr>
            <a:r>
              <a:rPr b="0" i="0" lang="en-US" sz="1750" u="none" cap="none" strike="noStrik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3. Strong Baseline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2"/>
          <p:cNvSpPr/>
          <p:nvPr/>
        </p:nvSpPr>
        <p:spPr>
          <a:xfrm>
            <a:off x="847307" y="5458520"/>
            <a:ext cx="5925196" cy="5601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00"/>
              <a:buFont typeface="Inter Light"/>
              <a:buNone/>
            </a:pPr>
            <a:r>
              <a:rPr b="0" i="0" lang="en-US" sz="140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A competitive recent method suited to the task. </a:t>
            </a:r>
            <a:r>
              <a:rPr b="0" i="1" lang="en-US" sz="140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e.g., BanglaBERT or multilingual BERT.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3"/>
          <p:cNvSpPr/>
          <p:nvPr/>
        </p:nvSpPr>
        <p:spPr>
          <a:xfrm>
            <a:off x="661475" y="980281"/>
            <a:ext cx="1037207" cy="287139"/>
          </a:xfrm>
          <a:prstGeom prst="roundRect">
            <a:avLst>
              <a:gd fmla="val 47396" name="adj"/>
            </a:avLst>
          </a:prstGeom>
          <a:solidFill>
            <a:srgbClr val="DFE1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3"/>
          <p:cNvSpPr/>
          <p:nvPr/>
        </p:nvSpPr>
        <p:spPr>
          <a:xfrm>
            <a:off x="774879" y="1036935"/>
            <a:ext cx="1419983" cy="1738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150"/>
              <a:buFont typeface="Inter Light"/>
              <a:buNone/>
            </a:pPr>
            <a:r>
              <a:rPr b="0" i="0" lang="en-US" sz="11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BASELINES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3"/>
          <p:cNvSpPr/>
          <p:nvPr/>
        </p:nvSpPr>
        <p:spPr>
          <a:xfrm>
            <a:off x="661475" y="1343025"/>
            <a:ext cx="10868745" cy="59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4767D"/>
              </a:buClr>
              <a:buSzPts val="3700"/>
              <a:buFont typeface="Montserrat Medium"/>
              <a:buNone/>
            </a:pPr>
            <a:r>
              <a:rPr b="0" i="0" lang="en-US" sz="3700" u="none" cap="none" strike="noStrike">
                <a:solidFill>
                  <a:srgbClr val="7476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Baseline Examples by Thesis Type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3"/>
          <p:cNvSpPr/>
          <p:nvPr/>
        </p:nvSpPr>
        <p:spPr>
          <a:xfrm>
            <a:off x="661475" y="2217142"/>
            <a:ext cx="2575357" cy="3145532"/>
          </a:xfrm>
          <a:prstGeom prst="roundRect">
            <a:avLst>
              <a:gd fmla="val 6606" name="adj"/>
            </a:avLst>
          </a:prstGeom>
          <a:solidFill>
            <a:srgbClr val="FFFFFF"/>
          </a:solidFill>
          <a:ln cap="flat" cmpd="sng" w="25375">
            <a:solidFill>
              <a:srgbClr val="C5C7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3"/>
          <p:cNvSpPr/>
          <p:nvPr/>
        </p:nvSpPr>
        <p:spPr>
          <a:xfrm>
            <a:off x="875881" y="2431554"/>
            <a:ext cx="2146544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850"/>
              <a:buFont typeface="Montserrat Medium"/>
              <a:buNone/>
            </a:pPr>
            <a:r>
              <a:rPr b="0" i="0" lang="en-US" sz="1850" u="none" cap="none" strike="noStrik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Bangla Text Classification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3"/>
          <p:cNvSpPr/>
          <p:nvPr/>
        </p:nvSpPr>
        <p:spPr>
          <a:xfrm>
            <a:off x="875881" y="3135511"/>
            <a:ext cx="2146544" cy="1710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Inter Light"/>
              <a:buChar char="•"/>
            </a:pPr>
            <a:r>
              <a:rPr b="0" i="0" lang="en-US" sz="14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Majority class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Inter Light"/>
              <a:buChar char="•"/>
            </a:pPr>
            <a:r>
              <a:rPr b="0" i="0" lang="en-US" sz="14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TF-IDF + logistic regression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Inter Light"/>
              <a:buChar char="•"/>
            </a:pPr>
            <a:r>
              <a:rPr b="0" i="0" lang="en-US" sz="14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SVM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Inter Light"/>
              <a:buChar char="•"/>
            </a:pPr>
            <a:r>
              <a:rPr b="0" i="0" lang="en-US" sz="14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Transformer model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3"/>
          <p:cNvSpPr/>
          <p:nvPr/>
        </p:nvSpPr>
        <p:spPr>
          <a:xfrm>
            <a:off x="3425839" y="2217142"/>
            <a:ext cx="2575456" cy="3145532"/>
          </a:xfrm>
          <a:prstGeom prst="roundRect">
            <a:avLst>
              <a:gd fmla="val 6605" name="adj"/>
            </a:avLst>
          </a:prstGeom>
          <a:solidFill>
            <a:srgbClr val="FFFFFF"/>
          </a:solidFill>
          <a:ln cap="flat" cmpd="sng" w="25375">
            <a:solidFill>
              <a:srgbClr val="C5C7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3"/>
          <p:cNvSpPr/>
          <p:nvPr/>
        </p:nvSpPr>
        <p:spPr>
          <a:xfrm>
            <a:off x="3640245" y="2431554"/>
            <a:ext cx="2146643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850"/>
              <a:buFont typeface="Montserrat Medium"/>
              <a:buNone/>
            </a:pPr>
            <a:r>
              <a:rPr b="0" i="0" lang="en-US" sz="1850" u="none" cap="none" strike="noStrik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Plant Disease Images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3"/>
          <p:cNvSpPr/>
          <p:nvPr/>
        </p:nvSpPr>
        <p:spPr>
          <a:xfrm>
            <a:off x="3640245" y="3135511"/>
            <a:ext cx="2146643" cy="2012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Inter Light"/>
              <a:buChar char="•"/>
            </a:pPr>
            <a:r>
              <a:rPr b="0" i="0" lang="en-US" sz="14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Simple CNN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Inter Light"/>
              <a:buChar char="•"/>
            </a:pPr>
            <a:r>
              <a:rPr b="0" i="0" lang="en-US" sz="14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Pretrained ResNet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Inter Light"/>
              <a:buChar char="•"/>
            </a:pPr>
            <a:r>
              <a:rPr b="0" i="0" lang="en-US" sz="14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MobileNet (lightweight)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Inter Light"/>
              <a:buChar char="•"/>
            </a:pPr>
            <a:r>
              <a:rPr b="0" i="0" lang="en-US" sz="14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Proposed robustness setup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3"/>
          <p:cNvSpPr/>
          <p:nvPr/>
        </p:nvSpPr>
        <p:spPr>
          <a:xfrm>
            <a:off x="6190301" y="2217142"/>
            <a:ext cx="2575456" cy="3145532"/>
          </a:xfrm>
          <a:prstGeom prst="roundRect">
            <a:avLst>
              <a:gd fmla="val 6605" name="adj"/>
            </a:avLst>
          </a:prstGeom>
          <a:solidFill>
            <a:srgbClr val="FFFFFF"/>
          </a:solidFill>
          <a:ln cap="flat" cmpd="sng" w="25375">
            <a:solidFill>
              <a:srgbClr val="C5C7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3"/>
          <p:cNvSpPr/>
          <p:nvPr/>
        </p:nvSpPr>
        <p:spPr>
          <a:xfrm>
            <a:off x="6404708" y="2431554"/>
            <a:ext cx="2146643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850"/>
              <a:buFont typeface="Montserrat Medium"/>
              <a:buNone/>
            </a:pPr>
            <a:r>
              <a:rPr b="0" i="0" lang="en-US" sz="1850" u="none" cap="none" strike="noStrik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Student Risk Prediction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3"/>
          <p:cNvSpPr/>
          <p:nvPr/>
        </p:nvSpPr>
        <p:spPr>
          <a:xfrm>
            <a:off x="6404708" y="3135511"/>
            <a:ext cx="2146643" cy="14079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Inter Light"/>
              <a:buChar char="•"/>
            </a:pPr>
            <a:r>
              <a:rPr b="0" i="0" lang="en-US" sz="14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Logistic regression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Inter Light"/>
              <a:buChar char="•"/>
            </a:pPr>
            <a:r>
              <a:rPr b="0" i="0" lang="en-US" sz="14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Decision tree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Inter Light"/>
              <a:buChar char="•"/>
            </a:pPr>
            <a:r>
              <a:rPr b="0" i="0" lang="en-US" sz="14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Random forest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Inter Light"/>
              <a:buChar char="•"/>
            </a:pPr>
            <a:r>
              <a:rPr b="0" i="0" lang="en-US" sz="14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Gradient boosting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3"/>
          <p:cNvSpPr/>
          <p:nvPr/>
        </p:nvSpPr>
        <p:spPr>
          <a:xfrm>
            <a:off x="8954764" y="2217142"/>
            <a:ext cx="2575456" cy="3145532"/>
          </a:xfrm>
          <a:prstGeom prst="roundRect">
            <a:avLst>
              <a:gd fmla="val 6605" name="adj"/>
            </a:avLst>
          </a:prstGeom>
          <a:solidFill>
            <a:srgbClr val="FFFFFF"/>
          </a:solidFill>
          <a:ln cap="flat" cmpd="sng" w="25375">
            <a:solidFill>
              <a:srgbClr val="C5C7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3"/>
          <p:cNvSpPr/>
          <p:nvPr/>
        </p:nvSpPr>
        <p:spPr>
          <a:xfrm>
            <a:off x="9169171" y="2431554"/>
            <a:ext cx="2146643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850"/>
              <a:buFont typeface="Montserrat Medium"/>
              <a:buNone/>
            </a:pPr>
            <a:r>
              <a:rPr b="0" i="0" lang="en-US" sz="1850" u="none" cap="none" strike="noStrik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Health Tabular Prediction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3"/>
          <p:cNvSpPr/>
          <p:nvPr/>
        </p:nvSpPr>
        <p:spPr>
          <a:xfrm>
            <a:off x="9169171" y="3135511"/>
            <a:ext cx="2146643" cy="1710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Inter Light"/>
              <a:buChar char="•"/>
            </a:pPr>
            <a:r>
              <a:rPr b="0" i="0" lang="en-US" sz="14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Logistic regression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Inter Light"/>
              <a:buChar char="•"/>
            </a:pPr>
            <a:r>
              <a:rPr b="0" i="0" lang="en-US" sz="14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Naive Bayes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Inter Light"/>
              <a:buChar char="•"/>
            </a:pPr>
            <a:r>
              <a:rPr b="0" i="0" lang="en-US" sz="14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Random forest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Inter Light"/>
              <a:buChar char="•"/>
            </a:pPr>
            <a:r>
              <a:rPr b="0" i="0" lang="en-US" sz="14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XGBoost or LightGBM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3"/>
          <p:cNvSpPr/>
          <p:nvPr/>
        </p:nvSpPr>
        <p:spPr>
          <a:xfrm>
            <a:off x="356682" y="5575300"/>
            <a:ext cx="11478330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Inter Light"/>
              <a:buNone/>
            </a:pPr>
            <a:r>
              <a:rPr b="0" i="0" lang="en-US" sz="14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Do not compare many models just to make a table look large. </a:t>
            </a:r>
            <a:r>
              <a:rPr b="1" i="0" lang="en-US" sz="1450" u="none" cap="none" strike="noStrike">
                <a:solidFill>
                  <a:srgbClr val="3D3E44"/>
                </a:solidFill>
                <a:latin typeface="Inter"/>
                <a:ea typeface="Inter"/>
                <a:cs typeface="Inter"/>
                <a:sym typeface="Inter"/>
              </a:rPr>
              <a:t>Compare models for a reason.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4"/>
          <p:cNvSpPr/>
          <p:nvPr/>
        </p:nvSpPr>
        <p:spPr>
          <a:xfrm>
            <a:off x="661475" y="620216"/>
            <a:ext cx="815062" cy="243979"/>
          </a:xfrm>
          <a:prstGeom prst="roundRect">
            <a:avLst>
              <a:gd fmla="val 47414" name="adj"/>
            </a:avLst>
          </a:prstGeom>
          <a:noFill/>
          <a:ln cap="flat" cmpd="sng" w="9525">
            <a:solidFill>
              <a:srgbClr val="C6C9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4"/>
          <p:cNvSpPr/>
          <p:nvPr/>
        </p:nvSpPr>
        <p:spPr>
          <a:xfrm>
            <a:off x="757814" y="668338"/>
            <a:ext cx="1231968" cy="147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C6C9DC"/>
              </a:buClr>
              <a:buSzPts val="1000"/>
              <a:buFont typeface="Inter Light"/>
              <a:buNone/>
            </a:pPr>
            <a:r>
              <a:rPr b="0" i="0" lang="en-US" sz="1000" u="none" cap="none" strike="noStrike">
                <a:solidFill>
                  <a:srgbClr val="C6C9DC"/>
                </a:solidFill>
                <a:latin typeface="Inter Light"/>
                <a:ea typeface="Inter Light"/>
                <a:cs typeface="Inter Light"/>
                <a:sym typeface="Inter Light"/>
              </a:rPr>
              <a:t>FAIR TEST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4"/>
          <p:cNvSpPr/>
          <p:nvPr/>
        </p:nvSpPr>
        <p:spPr>
          <a:xfrm>
            <a:off x="661475" y="918766"/>
            <a:ext cx="10868745" cy="5020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4767D"/>
              </a:buClr>
              <a:buSzPts val="3150"/>
              <a:buFont typeface="Montserrat Medium"/>
              <a:buNone/>
            </a:pPr>
            <a:r>
              <a:rPr b="0" i="0" lang="en-US" sz="3150" u="none" cap="none" strike="noStrike">
                <a:solidFill>
                  <a:srgbClr val="7476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Fair Experiments Use the Same Rules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2" name="Google Shape;25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1699" y="1787079"/>
            <a:ext cx="240996" cy="241002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14"/>
          <p:cNvSpPr/>
          <p:nvPr/>
        </p:nvSpPr>
        <p:spPr>
          <a:xfrm>
            <a:off x="1183551" y="1779191"/>
            <a:ext cx="4716345" cy="237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250"/>
              <a:buFont typeface="Inter Light"/>
              <a:buNone/>
            </a:pPr>
            <a:r>
              <a:rPr b="0" i="0" lang="en-US" sz="12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Same train, validation, and test split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4" name="Google Shape;25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1699" y="2550071"/>
            <a:ext cx="240996" cy="241002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4"/>
          <p:cNvSpPr/>
          <p:nvPr/>
        </p:nvSpPr>
        <p:spPr>
          <a:xfrm>
            <a:off x="1183551" y="2542183"/>
            <a:ext cx="4716345" cy="237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250"/>
              <a:buFont typeface="Inter Light"/>
              <a:buNone/>
            </a:pPr>
            <a:r>
              <a:rPr b="0" i="0" lang="en-US" sz="12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Same preprocessing where possible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6" name="Google Shape;25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1699" y="3313063"/>
            <a:ext cx="240996" cy="241002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14"/>
          <p:cNvSpPr/>
          <p:nvPr/>
        </p:nvSpPr>
        <p:spPr>
          <a:xfrm>
            <a:off x="1183551" y="3305175"/>
            <a:ext cx="4716345" cy="237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250"/>
              <a:buFont typeface="Inter Light"/>
              <a:buNone/>
            </a:pPr>
            <a:r>
              <a:rPr b="0" i="0" lang="en-US" sz="12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Same test set for all models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8" name="Google Shape;25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1699" y="4076055"/>
            <a:ext cx="240996" cy="241002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4"/>
          <p:cNvSpPr/>
          <p:nvPr/>
        </p:nvSpPr>
        <p:spPr>
          <a:xfrm>
            <a:off x="1183551" y="4068167"/>
            <a:ext cx="4716345" cy="237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250"/>
              <a:buFont typeface="Inter Light"/>
              <a:buNone/>
            </a:pPr>
            <a:r>
              <a:rPr b="0" i="0" lang="en-US" sz="12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Same metric and reporting style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0" name="Google Shape;26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1699" y="4839047"/>
            <a:ext cx="240996" cy="241002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14"/>
          <p:cNvSpPr/>
          <p:nvPr/>
        </p:nvSpPr>
        <p:spPr>
          <a:xfrm>
            <a:off x="1183551" y="4831159"/>
            <a:ext cx="4716345" cy="237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250"/>
              <a:buFont typeface="Inter Light"/>
              <a:buNone/>
            </a:pPr>
            <a:r>
              <a:rPr b="0" i="0" lang="en-US" sz="12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Similar tuning effort for each model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2" name="Google Shape;26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1699" y="5602039"/>
            <a:ext cx="240996" cy="241002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14"/>
          <p:cNvSpPr/>
          <p:nvPr/>
        </p:nvSpPr>
        <p:spPr>
          <a:xfrm>
            <a:off x="1183551" y="5594152"/>
            <a:ext cx="4716345" cy="237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250"/>
              <a:buFont typeface="Inter Light"/>
              <a:buNone/>
            </a:pPr>
            <a:r>
              <a:rPr b="0" i="0" lang="en-US" sz="12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Fixed random seed where possible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4"/>
          <p:cNvSpPr/>
          <p:nvPr/>
        </p:nvSpPr>
        <p:spPr>
          <a:xfrm>
            <a:off x="6343774" y="3305166"/>
            <a:ext cx="19200" cy="958800"/>
          </a:xfrm>
          <a:prstGeom prst="roundRect">
            <a:avLst>
              <a:gd fmla="val 59999" name="adj"/>
            </a:avLst>
          </a:prstGeom>
          <a:solidFill>
            <a:srgbClr val="C6C9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4"/>
          <p:cNvSpPr/>
          <p:nvPr/>
        </p:nvSpPr>
        <p:spPr>
          <a:xfrm>
            <a:off x="6584771" y="3427998"/>
            <a:ext cx="49974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250"/>
              <a:buFont typeface="Inter Light"/>
              <a:buNone/>
            </a:pPr>
            <a:r>
              <a:rPr b="0" i="0" lang="en-US" sz="12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You cannot compare two restaurants if one gets a full kitchen and the other gets only a stove. In ML, unfair preprocessing or tuning can make one model look better for the wrong reason.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4"/>
          <p:cNvSpPr/>
          <p:nvPr/>
        </p:nvSpPr>
        <p:spPr>
          <a:xfrm>
            <a:off x="6343774" y="4417606"/>
            <a:ext cx="58479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250"/>
              <a:buFont typeface="Inter Light"/>
              <a:buNone/>
            </a:pPr>
            <a:r>
              <a:rPr b="0" i="0" lang="en-US" sz="12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If the test setup is unfair, the best-looking result is </a:t>
            </a:r>
            <a:r>
              <a:rPr b="1" i="0" lang="en-US" sz="1250" u="none" cap="none" strike="noStrike">
                <a:solidFill>
                  <a:srgbClr val="3D3E44"/>
                </a:solidFill>
                <a:latin typeface="Inter"/>
                <a:ea typeface="Inter"/>
                <a:cs typeface="Inter"/>
                <a:sym typeface="Inter"/>
              </a:rPr>
              <a:t>not trustworthy.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5"/>
          <p:cNvSpPr/>
          <p:nvPr/>
        </p:nvSpPr>
        <p:spPr>
          <a:xfrm>
            <a:off x="661475" y="557709"/>
            <a:ext cx="958727" cy="287139"/>
          </a:xfrm>
          <a:prstGeom prst="roundRect">
            <a:avLst>
              <a:gd fmla="val 47396" name="adj"/>
            </a:avLst>
          </a:prstGeom>
          <a:solidFill>
            <a:srgbClr val="DFE1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5"/>
          <p:cNvSpPr/>
          <p:nvPr/>
        </p:nvSpPr>
        <p:spPr>
          <a:xfrm>
            <a:off x="774879" y="614363"/>
            <a:ext cx="1341503" cy="1738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150"/>
              <a:buFont typeface="Inter Light"/>
              <a:buNone/>
            </a:pPr>
            <a:r>
              <a:rPr b="0" i="0" lang="en-US" sz="11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FAIR TEST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5"/>
          <p:cNvSpPr/>
          <p:nvPr/>
        </p:nvSpPr>
        <p:spPr>
          <a:xfrm>
            <a:off x="661475" y="920452"/>
            <a:ext cx="10868745" cy="59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4767D"/>
              </a:buClr>
              <a:buSzPts val="3700"/>
              <a:buFont typeface="Montserrat Medium"/>
              <a:buNone/>
            </a:pPr>
            <a:r>
              <a:rPr b="0" i="0" lang="en-US" sz="3700" u="none" cap="none" strike="noStrike">
                <a:solidFill>
                  <a:srgbClr val="7476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Data Splitting: Decide Before You See Results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5"/>
          <p:cNvSpPr/>
          <p:nvPr/>
        </p:nvSpPr>
        <p:spPr>
          <a:xfrm>
            <a:off x="661475" y="1794570"/>
            <a:ext cx="10868745" cy="4505722"/>
          </a:xfrm>
          <a:prstGeom prst="roundRect">
            <a:avLst>
              <a:gd fmla="val 3776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5"/>
          <p:cNvSpPr/>
          <p:nvPr/>
        </p:nvSpPr>
        <p:spPr>
          <a:xfrm>
            <a:off x="661475" y="2346027"/>
            <a:ext cx="10868745" cy="11814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5"/>
          <p:cNvSpPr/>
          <p:nvPr/>
        </p:nvSpPr>
        <p:spPr>
          <a:xfrm>
            <a:off x="661475" y="3196729"/>
            <a:ext cx="10868745" cy="11814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5"/>
          <p:cNvSpPr/>
          <p:nvPr/>
        </p:nvSpPr>
        <p:spPr>
          <a:xfrm>
            <a:off x="661475" y="3745012"/>
            <a:ext cx="10868745" cy="11814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5"/>
          <p:cNvSpPr/>
          <p:nvPr/>
        </p:nvSpPr>
        <p:spPr>
          <a:xfrm>
            <a:off x="661475" y="4595713"/>
            <a:ext cx="10868745" cy="11814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5"/>
          <p:cNvSpPr/>
          <p:nvPr/>
        </p:nvSpPr>
        <p:spPr>
          <a:xfrm>
            <a:off x="661475" y="5446415"/>
            <a:ext cx="10868745" cy="11814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5"/>
          <p:cNvSpPr/>
          <p:nvPr/>
        </p:nvSpPr>
        <p:spPr>
          <a:xfrm>
            <a:off x="858022" y="1920677"/>
            <a:ext cx="3849492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Inter"/>
              <a:buNone/>
            </a:pPr>
            <a:r>
              <a:rPr b="1" i="0" lang="en-US" sz="1450" u="none" cap="none" strike="noStrike">
                <a:solidFill>
                  <a:srgbClr val="3D3E44"/>
                </a:solidFill>
                <a:latin typeface="Inter"/>
                <a:ea typeface="Inter"/>
                <a:cs typeface="Inter"/>
                <a:sym typeface="Inter"/>
              </a:rPr>
              <a:t>Split Type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5"/>
          <p:cNvSpPr/>
          <p:nvPr/>
        </p:nvSpPr>
        <p:spPr>
          <a:xfrm>
            <a:off x="4475943" y="1920677"/>
            <a:ext cx="3849492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Inter"/>
              <a:buNone/>
            </a:pPr>
            <a:r>
              <a:rPr b="1" i="0" lang="en-US" sz="1450" u="none" cap="none" strike="noStrike">
                <a:solidFill>
                  <a:srgbClr val="3D3E44"/>
                </a:solidFill>
                <a:latin typeface="Inter"/>
                <a:ea typeface="Inter"/>
                <a:cs typeface="Inter"/>
                <a:sym typeface="Inter"/>
              </a:rPr>
              <a:t>Useful When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5"/>
          <p:cNvSpPr/>
          <p:nvPr/>
        </p:nvSpPr>
        <p:spPr>
          <a:xfrm>
            <a:off x="8093865" y="1920677"/>
            <a:ext cx="3849492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Inter"/>
              <a:buNone/>
            </a:pPr>
            <a:r>
              <a:rPr b="1" i="0" lang="en-US" sz="1450" u="none" cap="none" strike="noStrike">
                <a:solidFill>
                  <a:srgbClr val="3D3E44"/>
                </a:solidFill>
                <a:latin typeface="Inter"/>
                <a:ea typeface="Inter"/>
                <a:cs typeface="Inter"/>
                <a:sym typeface="Inter"/>
              </a:rPr>
              <a:t>Risk to Check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5"/>
          <p:cNvSpPr/>
          <p:nvPr/>
        </p:nvSpPr>
        <p:spPr>
          <a:xfrm>
            <a:off x="858022" y="2468959"/>
            <a:ext cx="3849492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Inter Light"/>
              <a:buNone/>
            </a:pPr>
            <a:r>
              <a:rPr b="0" i="0" lang="en-US" sz="14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Random split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5"/>
          <p:cNvSpPr/>
          <p:nvPr/>
        </p:nvSpPr>
        <p:spPr>
          <a:xfrm>
            <a:off x="4475943" y="2468959"/>
            <a:ext cx="3849492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Inter Light"/>
              <a:buNone/>
            </a:pPr>
            <a:r>
              <a:rPr b="0" i="0" lang="en-US" sz="14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Good for many simple datasets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5"/>
          <p:cNvSpPr/>
          <p:nvPr/>
        </p:nvSpPr>
        <p:spPr>
          <a:xfrm>
            <a:off x="8093865" y="2468959"/>
            <a:ext cx="3239907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Inter Light"/>
              <a:buNone/>
            </a:pPr>
            <a:r>
              <a:rPr b="0" i="0" lang="en-US" sz="14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Can fail when duplicates or related users exist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5"/>
          <p:cNvSpPr/>
          <p:nvPr/>
        </p:nvSpPr>
        <p:spPr>
          <a:xfrm>
            <a:off x="858022" y="3319661"/>
            <a:ext cx="3849492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Inter Light"/>
              <a:buNone/>
            </a:pPr>
            <a:r>
              <a:rPr b="0" i="0" lang="en-US" sz="14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K-fold cross-validation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5"/>
          <p:cNvSpPr/>
          <p:nvPr/>
        </p:nvSpPr>
        <p:spPr>
          <a:xfrm>
            <a:off x="4475943" y="3319661"/>
            <a:ext cx="3849492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Inter Light"/>
              <a:buNone/>
            </a:pPr>
            <a:r>
              <a:rPr b="0" i="0" lang="en-US" sz="14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Useful when data is small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5"/>
          <p:cNvSpPr/>
          <p:nvPr/>
        </p:nvSpPr>
        <p:spPr>
          <a:xfrm>
            <a:off x="8093865" y="3319661"/>
            <a:ext cx="3849492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Inter Light"/>
              <a:buNone/>
            </a:pPr>
            <a:r>
              <a:rPr b="0" i="0" lang="en-US" sz="14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Must avoid leakage across folds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5"/>
          <p:cNvSpPr/>
          <p:nvPr/>
        </p:nvSpPr>
        <p:spPr>
          <a:xfrm>
            <a:off x="858022" y="3867944"/>
            <a:ext cx="3849492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Inter Light"/>
              <a:buNone/>
            </a:pPr>
            <a:r>
              <a:rPr b="0" i="0" lang="en-US" sz="14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User-level split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5"/>
          <p:cNvSpPr/>
          <p:nvPr/>
        </p:nvSpPr>
        <p:spPr>
          <a:xfrm>
            <a:off x="4475943" y="3867944"/>
            <a:ext cx="3849492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Inter Light"/>
              <a:buNone/>
            </a:pPr>
            <a:r>
              <a:rPr b="0" i="0" lang="en-US" sz="14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For posts, students, or patients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5"/>
          <p:cNvSpPr/>
          <p:nvPr/>
        </p:nvSpPr>
        <p:spPr>
          <a:xfrm>
            <a:off x="8093865" y="3867944"/>
            <a:ext cx="3239907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Inter Light"/>
              <a:buNone/>
            </a:pPr>
            <a:r>
              <a:rPr b="0" i="0" lang="en-US" sz="14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Same person must not appear in train and test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5"/>
          <p:cNvSpPr/>
          <p:nvPr/>
        </p:nvSpPr>
        <p:spPr>
          <a:xfrm>
            <a:off x="858022" y="4718645"/>
            <a:ext cx="3849492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Inter Light"/>
              <a:buNone/>
            </a:pPr>
            <a:r>
              <a:rPr b="0" i="0" lang="en-US" sz="14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Time-based split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5"/>
          <p:cNvSpPr/>
          <p:nvPr/>
        </p:nvSpPr>
        <p:spPr>
          <a:xfrm>
            <a:off x="4475943" y="4718645"/>
            <a:ext cx="3239907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Inter Light"/>
              <a:buNone/>
            </a:pPr>
            <a:r>
              <a:rPr b="0" i="0" lang="en-US" sz="14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For early prediction or time-sensitive events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5"/>
          <p:cNvSpPr/>
          <p:nvPr/>
        </p:nvSpPr>
        <p:spPr>
          <a:xfrm>
            <a:off x="8093865" y="4718645"/>
            <a:ext cx="3849492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Inter Light"/>
              <a:buNone/>
            </a:pPr>
            <a:r>
              <a:rPr b="0" i="0" lang="en-US" sz="14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Train on past, test on future only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5"/>
          <p:cNvSpPr/>
          <p:nvPr/>
        </p:nvSpPr>
        <p:spPr>
          <a:xfrm>
            <a:off x="858022" y="5569347"/>
            <a:ext cx="3849492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Inter Light"/>
              <a:buNone/>
            </a:pPr>
            <a:r>
              <a:rPr b="0" i="0" lang="en-US" sz="14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External test set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5"/>
          <p:cNvSpPr/>
          <p:nvPr/>
        </p:nvSpPr>
        <p:spPr>
          <a:xfrm>
            <a:off x="4475943" y="5569347"/>
            <a:ext cx="3849492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Inter Light"/>
              <a:buNone/>
            </a:pPr>
            <a:r>
              <a:rPr b="0" i="0" lang="en-US" sz="14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Best for measuring generalisation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5"/>
          <p:cNvSpPr/>
          <p:nvPr/>
        </p:nvSpPr>
        <p:spPr>
          <a:xfrm>
            <a:off x="8093865" y="5569347"/>
            <a:ext cx="3239907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Inter Light"/>
              <a:buNone/>
            </a:pPr>
            <a:r>
              <a:rPr b="0" i="0" lang="en-US" sz="14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Needs a second independent dataset or source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6"/>
          <p:cNvSpPr/>
          <p:nvPr/>
        </p:nvSpPr>
        <p:spPr>
          <a:xfrm>
            <a:off x="661475" y="759321"/>
            <a:ext cx="862884" cy="258465"/>
          </a:xfrm>
          <a:prstGeom prst="roundRect">
            <a:avLst>
              <a:gd fmla="val 47389" name="adj"/>
            </a:avLst>
          </a:prstGeom>
          <a:noFill/>
          <a:ln cap="flat" cmpd="sng" w="9525">
            <a:solidFill>
              <a:srgbClr val="C6C9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6"/>
          <p:cNvSpPr/>
          <p:nvPr/>
        </p:nvSpPr>
        <p:spPr>
          <a:xfrm>
            <a:off x="763469" y="810320"/>
            <a:ext cx="1268480" cy="156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C6C9DC"/>
              </a:buClr>
              <a:buSzPts val="1050"/>
              <a:buFont typeface="Inter Light"/>
              <a:buNone/>
            </a:pPr>
            <a:r>
              <a:rPr b="0" i="0" lang="en-US" sz="1050" u="none" cap="none" strike="noStrike">
                <a:solidFill>
                  <a:srgbClr val="C6C9DC"/>
                </a:solidFill>
                <a:latin typeface="Inter Light"/>
                <a:ea typeface="Inter Light"/>
                <a:cs typeface="Inter Light"/>
                <a:sym typeface="Inter Light"/>
              </a:rPr>
              <a:t>FAIR TEST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6"/>
          <p:cNvSpPr/>
          <p:nvPr/>
        </p:nvSpPr>
        <p:spPr>
          <a:xfrm>
            <a:off x="661475" y="1079004"/>
            <a:ext cx="10868745" cy="5316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4767D"/>
              </a:buClr>
              <a:buSzPts val="3300"/>
              <a:buFont typeface="Montserrat Medium"/>
              <a:buNone/>
            </a:pPr>
            <a:r>
              <a:rPr b="0" i="0" lang="en-US" sz="3300" u="none" cap="none" strike="noStrike">
                <a:solidFill>
                  <a:srgbClr val="7476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Leakage: Accidental Cheating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6"/>
          <p:cNvSpPr/>
          <p:nvPr/>
        </p:nvSpPr>
        <p:spPr>
          <a:xfrm>
            <a:off x="661475" y="3185963"/>
            <a:ext cx="52269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3D3E44"/>
                </a:solidFill>
                <a:latin typeface="Inter"/>
                <a:ea typeface="Inter"/>
                <a:cs typeface="Inter"/>
                <a:sym typeface="Inter"/>
              </a:rPr>
              <a:t>Leakage</a:t>
            </a:r>
            <a:r>
              <a:rPr b="0" i="0" lang="en-US" sz="130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 means the model gets hidden hints from the test answer. The score looks good but the study is fundamentally compromised.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6"/>
          <p:cNvSpPr/>
          <p:nvPr/>
        </p:nvSpPr>
        <p:spPr>
          <a:xfrm>
            <a:off x="661475" y="4133900"/>
            <a:ext cx="5226900" cy="877500"/>
          </a:xfrm>
          <a:prstGeom prst="roundRect">
            <a:avLst>
              <a:gd fmla="val 17448" name="adj"/>
            </a:avLst>
          </a:prstGeom>
          <a:solidFill>
            <a:srgbClr val="FFB3B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9" name="Google Shape;30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1532" y="4388097"/>
            <a:ext cx="212620" cy="170061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16"/>
          <p:cNvSpPr/>
          <p:nvPr/>
        </p:nvSpPr>
        <p:spPr>
          <a:xfrm>
            <a:off x="1214209" y="4314081"/>
            <a:ext cx="45042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Inter Light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Strong students prevent leakage </a:t>
            </a:r>
            <a:r>
              <a:rPr b="0" i="1" lang="en-US" sz="1300" u="none" cap="none" strike="noStrike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before</a:t>
            </a:r>
            <a:r>
              <a:rPr b="0" i="0" lang="en-US" sz="1300" u="none" cap="none" strike="noStrike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training starts and not after noticing suspiciously high accuracy.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6"/>
          <p:cNvSpPr/>
          <p:nvPr/>
        </p:nvSpPr>
        <p:spPr>
          <a:xfrm>
            <a:off x="6309659" y="2012454"/>
            <a:ext cx="2536861" cy="1288752"/>
          </a:xfrm>
          <a:prstGeom prst="roundRect">
            <a:avLst>
              <a:gd fmla="val 11880" name="adj"/>
            </a:avLst>
          </a:prstGeom>
          <a:solidFill>
            <a:srgbClr val="EFF0F6"/>
          </a:solidFill>
          <a:ln cap="flat" cmpd="sng" w="9525">
            <a:solidFill>
              <a:srgbClr val="C5C7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6"/>
          <p:cNvSpPr/>
          <p:nvPr/>
        </p:nvSpPr>
        <p:spPr>
          <a:xfrm>
            <a:off x="6486065" y="2188865"/>
            <a:ext cx="2184048" cy="265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650"/>
              <a:buFont typeface="Montserrat Medium"/>
              <a:buNone/>
            </a:pPr>
            <a:r>
              <a:rPr b="0" i="0" lang="en-US" sz="1650" u="none" cap="none" strike="noStrik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Student Risk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6"/>
          <p:cNvSpPr/>
          <p:nvPr/>
        </p:nvSpPr>
        <p:spPr>
          <a:xfrm>
            <a:off x="6486065" y="2607667"/>
            <a:ext cx="2184048" cy="517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300"/>
              <a:buFont typeface="Inter Light"/>
              <a:buNone/>
            </a:pPr>
            <a:r>
              <a:rPr b="0" i="0" lang="en-US" sz="130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Using final exam marks to predict </a:t>
            </a:r>
            <a:r>
              <a:rPr b="0" i="1" lang="en-US" sz="130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early</a:t>
            </a:r>
            <a:r>
              <a:rPr b="0" i="0" lang="en-US" sz="130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 risk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6"/>
          <p:cNvSpPr/>
          <p:nvPr/>
        </p:nvSpPr>
        <p:spPr>
          <a:xfrm>
            <a:off x="8999610" y="2012454"/>
            <a:ext cx="2536960" cy="1288752"/>
          </a:xfrm>
          <a:prstGeom prst="roundRect">
            <a:avLst>
              <a:gd fmla="val 11880" name="adj"/>
            </a:avLst>
          </a:prstGeom>
          <a:solidFill>
            <a:srgbClr val="EFF0F6"/>
          </a:solidFill>
          <a:ln cap="flat" cmpd="sng" w="9525">
            <a:solidFill>
              <a:srgbClr val="C5C7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6"/>
          <p:cNvSpPr/>
          <p:nvPr/>
        </p:nvSpPr>
        <p:spPr>
          <a:xfrm>
            <a:off x="9176017" y="2188865"/>
            <a:ext cx="2184147" cy="265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650"/>
              <a:buFont typeface="Montserrat Medium"/>
              <a:buNone/>
            </a:pPr>
            <a:r>
              <a:rPr b="0" i="0" lang="en-US" sz="1650" u="none" cap="none" strike="noStrik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Medical Data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6"/>
          <p:cNvSpPr/>
          <p:nvPr/>
        </p:nvSpPr>
        <p:spPr>
          <a:xfrm>
            <a:off x="9176017" y="2607667"/>
            <a:ext cx="2184147" cy="517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300"/>
              <a:buFont typeface="Inter Light"/>
              <a:buNone/>
            </a:pPr>
            <a:r>
              <a:rPr b="0" i="0" lang="en-US" sz="130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Same patient appears in both training and testing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6"/>
          <p:cNvSpPr/>
          <p:nvPr/>
        </p:nvSpPr>
        <p:spPr>
          <a:xfrm>
            <a:off x="6309659" y="3454301"/>
            <a:ext cx="2536861" cy="1288752"/>
          </a:xfrm>
          <a:prstGeom prst="roundRect">
            <a:avLst>
              <a:gd fmla="val 11880" name="adj"/>
            </a:avLst>
          </a:prstGeom>
          <a:solidFill>
            <a:srgbClr val="EFF0F6"/>
          </a:solidFill>
          <a:ln cap="flat" cmpd="sng" w="9525">
            <a:solidFill>
              <a:srgbClr val="C5C7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6"/>
          <p:cNvSpPr/>
          <p:nvPr/>
        </p:nvSpPr>
        <p:spPr>
          <a:xfrm>
            <a:off x="6486065" y="3630712"/>
            <a:ext cx="2184048" cy="265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650"/>
              <a:buFont typeface="Montserrat Medium"/>
              <a:buNone/>
            </a:pPr>
            <a:r>
              <a:rPr b="0" i="0" lang="en-US" sz="1650" u="none" cap="none" strike="noStrik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Images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6"/>
          <p:cNvSpPr/>
          <p:nvPr/>
        </p:nvSpPr>
        <p:spPr>
          <a:xfrm>
            <a:off x="6486065" y="4049514"/>
            <a:ext cx="2184048" cy="517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300"/>
              <a:buFont typeface="Inter Light"/>
              <a:buNone/>
            </a:pPr>
            <a:r>
              <a:rPr b="0" i="0" lang="en-US" sz="130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Original image in training, augmented copy in testing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6"/>
          <p:cNvSpPr/>
          <p:nvPr/>
        </p:nvSpPr>
        <p:spPr>
          <a:xfrm>
            <a:off x="8999610" y="3454301"/>
            <a:ext cx="2536960" cy="1288752"/>
          </a:xfrm>
          <a:prstGeom prst="roundRect">
            <a:avLst>
              <a:gd fmla="val 11880" name="adj"/>
            </a:avLst>
          </a:prstGeom>
          <a:solidFill>
            <a:srgbClr val="EFF0F6"/>
          </a:solidFill>
          <a:ln cap="flat" cmpd="sng" w="9525">
            <a:solidFill>
              <a:srgbClr val="C5C7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6"/>
          <p:cNvSpPr/>
          <p:nvPr/>
        </p:nvSpPr>
        <p:spPr>
          <a:xfrm>
            <a:off x="9176017" y="3630712"/>
            <a:ext cx="2184147" cy="265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650"/>
              <a:buFont typeface="Montserrat Medium"/>
              <a:buNone/>
            </a:pPr>
            <a:r>
              <a:rPr b="0" i="0" lang="en-US" sz="1650" u="none" cap="none" strike="noStrik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Social Media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6"/>
          <p:cNvSpPr/>
          <p:nvPr/>
        </p:nvSpPr>
        <p:spPr>
          <a:xfrm>
            <a:off x="9176017" y="4049514"/>
            <a:ext cx="2184147" cy="517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300"/>
              <a:buFont typeface="Inter Light"/>
              <a:buNone/>
            </a:pPr>
            <a:r>
              <a:rPr b="0" i="0" lang="en-US" sz="130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Duplicate posts appear in both splits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6"/>
          <p:cNvSpPr/>
          <p:nvPr/>
        </p:nvSpPr>
        <p:spPr>
          <a:xfrm>
            <a:off x="6309659" y="4896148"/>
            <a:ext cx="5226911" cy="1030188"/>
          </a:xfrm>
          <a:prstGeom prst="roundRect">
            <a:avLst>
              <a:gd fmla="val 14862" name="adj"/>
            </a:avLst>
          </a:prstGeom>
          <a:solidFill>
            <a:srgbClr val="EFF0F6"/>
          </a:solidFill>
          <a:ln cap="flat" cmpd="sng" w="9525">
            <a:solidFill>
              <a:srgbClr val="C5C7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6"/>
          <p:cNvSpPr/>
          <p:nvPr/>
        </p:nvSpPr>
        <p:spPr>
          <a:xfrm>
            <a:off x="6486065" y="5072559"/>
            <a:ext cx="4874098" cy="265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650"/>
              <a:buFont typeface="Montserrat Medium"/>
              <a:buNone/>
            </a:pPr>
            <a:r>
              <a:rPr b="0" i="0" lang="en-US" sz="1650" u="none" cap="none" strike="noStrik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Preprocessing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6"/>
          <p:cNvSpPr/>
          <p:nvPr/>
        </p:nvSpPr>
        <p:spPr>
          <a:xfrm>
            <a:off x="6486065" y="5491361"/>
            <a:ext cx="4874098" cy="2585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300"/>
              <a:buFont typeface="Inter Light"/>
              <a:buNone/>
            </a:pPr>
            <a:r>
              <a:rPr b="0" i="0" lang="en-US" sz="130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Normalising using the full dataset before splitting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31" name="Google Shape;33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88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17"/>
          <p:cNvSpPr/>
          <p:nvPr/>
        </p:nvSpPr>
        <p:spPr>
          <a:xfrm>
            <a:off x="5233360" y="591542"/>
            <a:ext cx="984027" cy="243979"/>
          </a:xfrm>
          <a:prstGeom prst="roundRect">
            <a:avLst>
              <a:gd fmla="val 47414" name="adj"/>
            </a:avLst>
          </a:prstGeom>
          <a:solidFill>
            <a:srgbClr val="DFE1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7"/>
          <p:cNvSpPr/>
          <p:nvPr/>
        </p:nvSpPr>
        <p:spPr>
          <a:xfrm>
            <a:off x="5329699" y="639663"/>
            <a:ext cx="1400934" cy="147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000"/>
              <a:buFont typeface="Inter Light"/>
              <a:buNone/>
            </a:pPr>
            <a:r>
              <a:rPr b="0" i="0" lang="en-US" sz="100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EVALUATION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7"/>
          <p:cNvSpPr/>
          <p:nvPr/>
        </p:nvSpPr>
        <p:spPr>
          <a:xfrm>
            <a:off x="5233360" y="890091"/>
            <a:ext cx="6296860" cy="10040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4767D"/>
              </a:buClr>
              <a:buSzPts val="3150"/>
              <a:buFont typeface="Montserrat Medium"/>
              <a:buNone/>
            </a:pPr>
            <a:r>
              <a:rPr b="0" i="0" lang="en-US" sz="3150" u="none" cap="none" strike="noStrike">
                <a:solidFill>
                  <a:srgbClr val="7476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Metrics Should Match the Real Problem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5" name="Google Shape;33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33360" y="2098973"/>
            <a:ext cx="6296860" cy="1167705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17"/>
          <p:cNvSpPr/>
          <p:nvPr/>
        </p:nvSpPr>
        <p:spPr>
          <a:xfrm>
            <a:off x="5489239" y="2278658"/>
            <a:ext cx="5861300" cy="2510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550"/>
              <a:buFont typeface="Montserrat Medium"/>
              <a:buNone/>
            </a:pPr>
            <a:r>
              <a:rPr b="0" i="0" lang="en-US" sz="1550" u="none" cap="none" strike="noStrik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 Accuracy Trap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7"/>
          <p:cNvSpPr/>
          <p:nvPr/>
        </p:nvSpPr>
        <p:spPr>
          <a:xfrm>
            <a:off x="5489239" y="2611537"/>
            <a:ext cx="5861300" cy="475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250"/>
              <a:buFont typeface="Inter Light"/>
              <a:buNone/>
            </a:pPr>
            <a:r>
              <a:rPr b="0" i="0" lang="en-US" sz="12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If 95 of 100 messages are safe, a model can reach 95% accuracy by calling </a:t>
            </a:r>
            <a:r>
              <a:rPr b="0" i="1" lang="en-US" sz="12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everything</a:t>
            </a:r>
            <a:r>
              <a:rPr b="0" i="0" lang="en-US" sz="12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 safe and miss every single phishing message.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8" name="Google Shape;33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33360" y="3403203"/>
            <a:ext cx="6296860" cy="1167705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17"/>
          <p:cNvSpPr/>
          <p:nvPr/>
        </p:nvSpPr>
        <p:spPr>
          <a:xfrm>
            <a:off x="5489239" y="3582888"/>
            <a:ext cx="5861300" cy="2510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550"/>
              <a:buFont typeface="Montserrat Medium"/>
              <a:buNone/>
            </a:pPr>
            <a:r>
              <a:rPr b="0" i="0" lang="en-US" sz="1550" u="none" cap="none" strike="noStrik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Better Thinking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7"/>
          <p:cNvSpPr/>
          <p:nvPr/>
        </p:nvSpPr>
        <p:spPr>
          <a:xfrm>
            <a:off x="5489239" y="3915767"/>
            <a:ext cx="5861300" cy="475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250"/>
              <a:buFont typeface="Inter Light"/>
              <a:buNone/>
            </a:pPr>
            <a:r>
              <a:rPr b="0" i="0" lang="en-US" sz="12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Ask what mistake is costly. Missing a scam is dangerous. Missing an at-risk student is serious. A wrong disease class may lead to the wrong treatment.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1" name="Google Shape;34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33360" y="4707434"/>
            <a:ext cx="6296860" cy="1167705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17"/>
          <p:cNvSpPr/>
          <p:nvPr/>
        </p:nvSpPr>
        <p:spPr>
          <a:xfrm>
            <a:off x="5489239" y="4887119"/>
            <a:ext cx="5861300" cy="2510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550"/>
              <a:buFont typeface="Montserrat Medium"/>
              <a:buNone/>
            </a:pPr>
            <a:r>
              <a:rPr b="0" i="0" lang="en-US" sz="1550" u="none" cap="none" strike="noStrik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Choose Metrics First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7"/>
          <p:cNvSpPr/>
          <p:nvPr/>
        </p:nvSpPr>
        <p:spPr>
          <a:xfrm>
            <a:off x="5489239" y="5219998"/>
            <a:ext cx="5861300" cy="475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250"/>
              <a:buFont typeface="Inter Light"/>
              <a:buNone/>
            </a:pPr>
            <a:r>
              <a:rPr b="0" i="0" lang="en-US" sz="12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Decide the main metric </a:t>
            </a:r>
            <a:r>
              <a:rPr b="1" i="0" lang="en-US" sz="1250" u="none" cap="none" strike="noStrike">
                <a:solidFill>
                  <a:srgbClr val="3D3E44"/>
                </a:solidFill>
                <a:latin typeface="Inter"/>
                <a:ea typeface="Inter"/>
                <a:cs typeface="Inter"/>
                <a:sym typeface="Inter"/>
              </a:rPr>
              <a:t>before</a:t>
            </a:r>
            <a:r>
              <a:rPr b="0" i="0" lang="en-US" sz="12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 you know which model wins otherwise you may keep changing the story until one model looks best.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7"/>
          <p:cNvSpPr/>
          <p:nvPr/>
        </p:nvSpPr>
        <p:spPr>
          <a:xfrm>
            <a:off x="4928568" y="6028730"/>
            <a:ext cx="6906444" cy="237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250"/>
              <a:buFont typeface="Inter Light"/>
              <a:buNone/>
            </a:pPr>
            <a:r>
              <a:rPr b="0" i="0" lang="en-US" sz="12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The metric is not decoration. It defines what </a:t>
            </a:r>
            <a:r>
              <a:rPr b="1" i="0" lang="en-US" sz="1250" u="none" cap="none" strike="noStrike">
                <a:solidFill>
                  <a:srgbClr val="3D3E44"/>
                </a:solidFill>
                <a:latin typeface="Inter"/>
                <a:ea typeface="Inter"/>
                <a:cs typeface="Inter"/>
                <a:sym typeface="Inter"/>
              </a:rPr>
              <a:t>"good"</a:t>
            </a:r>
            <a:r>
              <a:rPr b="0" i="0" lang="en-US" sz="12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 actually means.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8"/>
          <p:cNvSpPr/>
          <p:nvPr/>
        </p:nvSpPr>
        <p:spPr>
          <a:xfrm>
            <a:off x="661475" y="554038"/>
            <a:ext cx="1099515" cy="272752"/>
          </a:xfrm>
          <a:prstGeom prst="roundRect">
            <a:avLst>
              <a:gd fmla="val 47401" name="adj"/>
            </a:avLst>
          </a:prstGeom>
          <a:noFill/>
          <a:ln cap="flat" cmpd="sng" w="9525">
            <a:solidFill>
              <a:srgbClr val="C6C9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8"/>
          <p:cNvSpPr/>
          <p:nvPr/>
        </p:nvSpPr>
        <p:spPr>
          <a:xfrm>
            <a:off x="769125" y="607814"/>
            <a:ext cx="1493800" cy="1651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C6C9DC"/>
              </a:buClr>
              <a:buSzPts val="1100"/>
              <a:buFont typeface="Inter Light"/>
              <a:buNone/>
            </a:pPr>
            <a:r>
              <a:rPr b="0" i="0" lang="en-US" sz="1100" u="none" cap="none" strike="noStrike">
                <a:solidFill>
                  <a:srgbClr val="C6C9DC"/>
                </a:solidFill>
                <a:latin typeface="Inter Light"/>
                <a:ea typeface="Inter Light"/>
                <a:cs typeface="Inter Light"/>
                <a:sym typeface="Inter Light"/>
              </a:rPr>
              <a:t>EVALUATION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8"/>
          <p:cNvSpPr/>
          <p:nvPr/>
        </p:nvSpPr>
        <p:spPr>
          <a:xfrm>
            <a:off x="661475" y="894953"/>
            <a:ext cx="10868745" cy="5611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4767D"/>
              </a:buClr>
              <a:buSzPts val="3500"/>
              <a:buFont typeface="Montserrat Medium"/>
              <a:buNone/>
            </a:pPr>
            <a:r>
              <a:rPr b="0" i="0" lang="en-US" sz="3500" u="none" cap="none" strike="noStrike">
                <a:solidFill>
                  <a:srgbClr val="7476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Metric Examples by Thesis Type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3" name="Google Shape;35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1712020"/>
            <a:ext cx="5349047" cy="1416943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18"/>
          <p:cNvSpPr/>
          <p:nvPr/>
        </p:nvSpPr>
        <p:spPr>
          <a:xfrm>
            <a:off x="847307" y="1897856"/>
            <a:ext cx="4977383" cy="280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750"/>
              <a:buFont typeface="Montserrat Medium"/>
              <a:buNone/>
            </a:pPr>
            <a:r>
              <a:rPr b="0" i="0" lang="en-US" sz="1750" u="none" cap="none" strike="noStrik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Imbalanced Classification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8"/>
          <p:cNvSpPr/>
          <p:nvPr/>
        </p:nvSpPr>
        <p:spPr>
          <a:xfrm>
            <a:off x="847307" y="2280642"/>
            <a:ext cx="4977383" cy="6624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00"/>
              <a:buFont typeface="Inter Light"/>
              <a:buNone/>
            </a:pPr>
            <a:r>
              <a:rPr b="0" i="0" lang="en-US" sz="140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Recall, precision, F1, confusion matrix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3D3E44"/>
              </a:buClr>
              <a:buSzPts val="1400"/>
              <a:buFont typeface="Inter Light"/>
              <a:buNone/>
            </a:pPr>
            <a:r>
              <a:rPr b="0" i="1" lang="en-US" sz="140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Phishing, rare disease, at-risk students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6" name="Google Shape;35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81074" y="1712020"/>
            <a:ext cx="5349146" cy="1416943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18"/>
          <p:cNvSpPr/>
          <p:nvPr/>
        </p:nvSpPr>
        <p:spPr>
          <a:xfrm>
            <a:off x="6366906" y="1897856"/>
            <a:ext cx="4977482" cy="280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750"/>
              <a:buFont typeface="Montserrat Medium"/>
              <a:buNone/>
            </a:pPr>
            <a:r>
              <a:rPr b="0" i="0" lang="en-US" sz="1750" u="none" cap="none" strike="noStrik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Balanced Classification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8"/>
          <p:cNvSpPr/>
          <p:nvPr/>
        </p:nvSpPr>
        <p:spPr>
          <a:xfrm>
            <a:off x="6366906" y="2280642"/>
            <a:ext cx="4977482" cy="6624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00"/>
              <a:buFont typeface="Inter Light"/>
              <a:buNone/>
            </a:pPr>
            <a:r>
              <a:rPr b="0" i="0" lang="en-US" sz="140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Accuracy + class-wise breakdown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3D3E44"/>
              </a:buClr>
              <a:buSzPts val="1400"/>
              <a:buFont typeface="Inter Light"/>
              <a:buNone/>
            </a:pPr>
            <a:r>
              <a:rPr b="0" i="1" lang="en-US" sz="140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Clean multi-class image datasets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9" name="Google Shape;35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3299520"/>
            <a:ext cx="5349047" cy="1416943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18"/>
          <p:cNvSpPr/>
          <p:nvPr/>
        </p:nvSpPr>
        <p:spPr>
          <a:xfrm>
            <a:off x="847307" y="3485356"/>
            <a:ext cx="4977383" cy="280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750"/>
              <a:buFont typeface="Montserrat Medium"/>
              <a:buNone/>
            </a:pPr>
            <a:r>
              <a:rPr b="0" i="0" lang="en-US" sz="1750" u="none" cap="none" strike="noStrik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Regression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8"/>
          <p:cNvSpPr/>
          <p:nvPr/>
        </p:nvSpPr>
        <p:spPr>
          <a:xfrm>
            <a:off x="847307" y="3868142"/>
            <a:ext cx="4977383" cy="6624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00"/>
              <a:buFont typeface="Inter Light"/>
              <a:buNone/>
            </a:pPr>
            <a:r>
              <a:rPr b="0" i="0" lang="en-US" sz="140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MAE, RMSE, R², residual analysis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3D3E44"/>
              </a:buClr>
              <a:buSzPts val="1400"/>
              <a:buFont typeface="Inter Light"/>
              <a:buNone/>
            </a:pPr>
            <a:r>
              <a:rPr b="0" i="1" lang="en-US" sz="140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Crop yield or price prediction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62" name="Google Shape;36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81074" y="3299520"/>
            <a:ext cx="5349146" cy="1416943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18"/>
          <p:cNvSpPr/>
          <p:nvPr/>
        </p:nvSpPr>
        <p:spPr>
          <a:xfrm>
            <a:off x="6366906" y="3485356"/>
            <a:ext cx="4977482" cy="280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750"/>
              <a:buFont typeface="Montserrat Medium"/>
              <a:buNone/>
            </a:pPr>
            <a:r>
              <a:rPr b="0" i="0" lang="en-US" sz="1750" u="none" cap="none" strike="noStrik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Ranking / Recommendation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8"/>
          <p:cNvSpPr/>
          <p:nvPr/>
        </p:nvSpPr>
        <p:spPr>
          <a:xfrm>
            <a:off x="6366906" y="3868142"/>
            <a:ext cx="4977482" cy="6624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00"/>
              <a:buFont typeface="Inter Light"/>
              <a:buNone/>
            </a:pPr>
            <a:r>
              <a:rPr b="0" i="0" lang="en-US" sz="140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Precision@K, Recall@K, NDCG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3D3E44"/>
              </a:buClr>
              <a:buSzPts val="1400"/>
              <a:buFont typeface="Inter Light"/>
              <a:buNone/>
            </a:pPr>
            <a:r>
              <a:rPr b="0" i="1" lang="en-US" sz="140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Recommending learning resources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65" name="Google Shape;36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4887020"/>
            <a:ext cx="5349047" cy="1416943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18"/>
          <p:cNvSpPr/>
          <p:nvPr/>
        </p:nvSpPr>
        <p:spPr>
          <a:xfrm>
            <a:off x="847307" y="5072856"/>
            <a:ext cx="4977383" cy="280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750"/>
              <a:buFont typeface="Montserrat Medium"/>
              <a:buNone/>
            </a:pPr>
            <a:r>
              <a:rPr b="0" i="0" lang="en-US" sz="1750" u="none" cap="none" strike="noStrik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Deployment Claim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8"/>
          <p:cNvSpPr/>
          <p:nvPr/>
        </p:nvSpPr>
        <p:spPr>
          <a:xfrm>
            <a:off x="847307" y="5455642"/>
            <a:ext cx="4977383" cy="6624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00"/>
              <a:buFont typeface="Inter Light"/>
              <a:buNone/>
            </a:pPr>
            <a:r>
              <a:rPr b="0" i="0" lang="en-US" sz="140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Inference time, model size, memory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3D3E44"/>
              </a:buClr>
              <a:buSzPts val="1400"/>
              <a:buFont typeface="Inter Light"/>
              <a:buNone/>
            </a:pPr>
            <a:r>
              <a:rPr b="0" i="1" lang="en-US" sz="140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Phone-based plant detection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68" name="Google Shape;36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81074" y="4887020"/>
            <a:ext cx="5349146" cy="1416943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18"/>
          <p:cNvSpPr/>
          <p:nvPr/>
        </p:nvSpPr>
        <p:spPr>
          <a:xfrm>
            <a:off x="6366906" y="5072856"/>
            <a:ext cx="4977482" cy="280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750"/>
              <a:buFont typeface="Montserrat Medium"/>
              <a:buNone/>
            </a:pPr>
            <a:r>
              <a:rPr b="0" i="0" lang="en-US" sz="1750" u="none" cap="none" strike="noStrik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Explanation Claim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8"/>
          <p:cNvSpPr/>
          <p:nvPr/>
        </p:nvSpPr>
        <p:spPr>
          <a:xfrm>
            <a:off x="6366906" y="5455642"/>
            <a:ext cx="4977482" cy="6624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00"/>
              <a:buFont typeface="Inter Light"/>
              <a:buNone/>
            </a:pPr>
            <a:r>
              <a:rPr b="0" i="0" lang="en-US" sz="140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Expert inspection or user feedback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3D3E44"/>
              </a:buClr>
              <a:buSzPts val="1400"/>
              <a:buFont typeface="Inter Light"/>
              <a:buNone/>
            </a:pPr>
            <a:r>
              <a:rPr b="0" i="1" lang="en-US" sz="140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Why a message is flagged as phishing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9"/>
          <p:cNvSpPr/>
          <p:nvPr/>
        </p:nvSpPr>
        <p:spPr>
          <a:xfrm>
            <a:off x="661475" y="687884"/>
            <a:ext cx="1566030" cy="287139"/>
          </a:xfrm>
          <a:prstGeom prst="roundRect">
            <a:avLst>
              <a:gd fmla="val 47396" name="adj"/>
            </a:avLst>
          </a:prstGeom>
          <a:solidFill>
            <a:srgbClr val="DFE1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9"/>
          <p:cNvSpPr/>
          <p:nvPr/>
        </p:nvSpPr>
        <p:spPr>
          <a:xfrm>
            <a:off x="774879" y="744538"/>
            <a:ext cx="1948806" cy="1738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150"/>
              <a:buFont typeface="Inter Light"/>
              <a:buNone/>
            </a:pPr>
            <a:r>
              <a:rPr b="0" i="0" lang="en-US" sz="11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DEEPER ANALYSIS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9"/>
          <p:cNvSpPr/>
          <p:nvPr/>
        </p:nvSpPr>
        <p:spPr>
          <a:xfrm>
            <a:off x="661475" y="1050627"/>
            <a:ext cx="10868745" cy="11812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4767D"/>
              </a:buClr>
              <a:buSzPts val="3700"/>
              <a:buFont typeface="Montserrat Medium"/>
              <a:buNone/>
            </a:pPr>
            <a:r>
              <a:rPr b="0" i="0" lang="en-US" sz="3700" u="none" cap="none" strike="noStrike">
                <a:solidFill>
                  <a:srgbClr val="7476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 Stronger Thesis Needs More Than One Score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9" name="Google Shape;37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2515394"/>
            <a:ext cx="378014" cy="378023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19"/>
          <p:cNvSpPr/>
          <p:nvPr/>
        </p:nvSpPr>
        <p:spPr>
          <a:xfrm>
            <a:off x="1275723" y="2580283"/>
            <a:ext cx="2851178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850"/>
              <a:buFont typeface="Montserrat Medium"/>
              <a:buNone/>
            </a:pPr>
            <a:r>
              <a:rPr b="0" i="0" lang="en-US" sz="1850" u="none" cap="none" strike="noStrik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Error Analysis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9"/>
          <p:cNvSpPr/>
          <p:nvPr/>
        </p:nvSpPr>
        <p:spPr>
          <a:xfrm>
            <a:off x="1275723" y="2988965"/>
            <a:ext cx="2851178" cy="907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Inter Light"/>
              <a:buNone/>
            </a:pPr>
            <a:r>
              <a:rPr b="0" i="0" lang="en-US" sz="14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Where does the model fail? Group wrong predictions and identify failure patterns.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2" name="Google Shape;38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63135" y="2515394"/>
            <a:ext cx="378014" cy="378023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19"/>
          <p:cNvSpPr/>
          <p:nvPr/>
        </p:nvSpPr>
        <p:spPr>
          <a:xfrm>
            <a:off x="4977383" y="2580283"/>
            <a:ext cx="2851178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850"/>
              <a:buFont typeface="Montserrat Medium"/>
              <a:buNone/>
            </a:pPr>
            <a:r>
              <a:rPr b="0" i="0" lang="en-US" sz="1850" u="none" cap="none" strike="noStrik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Ablation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9"/>
          <p:cNvSpPr/>
          <p:nvPr/>
        </p:nvSpPr>
        <p:spPr>
          <a:xfrm>
            <a:off x="4977383" y="2988965"/>
            <a:ext cx="2851178" cy="907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Inter Light"/>
              <a:buNone/>
            </a:pPr>
            <a:r>
              <a:rPr b="0" i="0" lang="en-US" sz="14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Which part actually helps? Remove one feature or module and compare the outcome.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5" name="Google Shape;38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64794" y="2515394"/>
            <a:ext cx="378014" cy="378023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19"/>
          <p:cNvSpPr/>
          <p:nvPr/>
        </p:nvSpPr>
        <p:spPr>
          <a:xfrm>
            <a:off x="8679042" y="2580283"/>
            <a:ext cx="2851178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850"/>
              <a:buFont typeface="Montserrat Medium"/>
              <a:buNone/>
            </a:pPr>
            <a:r>
              <a:rPr b="0" i="0" lang="en-US" sz="1850" u="none" cap="none" strike="noStrik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Robustness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9"/>
          <p:cNvSpPr/>
          <p:nvPr/>
        </p:nvSpPr>
        <p:spPr>
          <a:xfrm>
            <a:off x="8679042" y="2988965"/>
            <a:ext cx="2851178" cy="907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Inter Light"/>
              <a:buNone/>
            </a:pPr>
            <a:r>
              <a:rPr b="0" i="0" lang="en-US" sz="14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Does it survive messy data? Test blur, slang, missing values, or noisy text.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8" name="Google Shape;388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1475" y="4274245"/>
            <a:ext cx="378014" cy="378023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19"/>
          <p:cNvSpPr/>
          <p:nvPr/>
        </p:nvSpPr>
        <p:spPr>
          <a:xfrm>
            <a:off x="1275723" y="4339134"/>
            <a:ext cx="2851178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850"/>
              <a:buFont typeface="Montserrat Medium"/>
              <a:buNone/>
            </a:pPr>
            <a:r>
              <a:rPr b="0" i="0" lang="en-US" sz="1850" u="none" cap="none" strike="noStrik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Subgroup Analysis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9"/>
          <p:cNvSpPr/>
          <p:nvPr/>
        </p:nvSpPr>
        <p:spPr>
          <a:xfrm>
            <a:off x="1275723" y="4747816"/>
            <a:ext cx="2851178" cy="907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Inter Light"/>
              <a:buNone/>
            </a:pPr>
            <a:r>
              <a:rPr b="0" i="0" lang="en-US" sz="14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Who gets worse results? Compare by class, source, language, or user group.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1" name="Google Shape;391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63135" y="4274245"/>
            <a:ext cx="378014" cy="378023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19"/>
          <p:cNvSpPr/>
          <p:nvPr/>
        </p:nvSpPr>
        <p:spPr>
          <a:xfrm>
            <a:off x="4977383" y="4339134"/>
            <a:ext cx="2851178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850"/>
              <a:buFont typeface="Montserrat Medium"/>
              <a:buNone/>
            </a:pPr>
            <a:r>
              <a:rPr b="0" i="0" lang="en-US" sz="1850" u="none" cap="none" strike="noStrik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External Validation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9"/>
          <p:cNvSpPr/>
          <p:nvPr/>
        </p:nvSpPr>
        <p:spPr>
          <a:xfrm>
            <a:off x="4977383" y="4747816"/>
            <a:ext cx="2851178" cy="907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Inter Light"/>
              <a:buNone/>
            </a:pPr>
            <a:r>
              <a:rPr b="0" i="0" lang="en-US" sz="14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Does it work outside the original data? Test on another source or time period.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9"/>
          <p:cNvSpPr/>
          <p:nvPr/>
        </p:nvSpPr>
        <p:spPr>
          <a:xfrm>
            <a:off x="356682" y="5867698"/>
            <a:ext cx="11478330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Inter Light"/>
              <a:buNone/>
            </a:pPr>
            <a:r>
              <a:rPr b="0" i="0" lang="en-US" sz="14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Choose deeper analysis only when it </a:t>
            </a:r>
            <a:r>
              <a:rPr b="1" i="0" lang="en-US" sz="1450" u="none" cap="none" strike="noStrike">
                <a:solidFill>
                  <a:srgbClr val="3D3E44"/>
                </a:solidFill>
                <a:latin typeface="Inter"/>
                <a:ea typeface="Inter"/>
                <a:cs typeface="Inter"/>
                <a:sym typeface="Inter"/>
              </a:rPr>
              <a:t>connects directly to your research question.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0"/>
          <p:cNvSpPr/>
          <p:nvPr/>
        </p:nvSpPr>
        <p:spPr>
          <a:xfrm>
            <a:off x="661475" y="562868"/>
            <a:ext cx="1487649" cy="272752"/>
          </a:xfrm>
          <a:prstGeom prst="roundRect">
            <a:avLst>
              <a:gd fmla="val 47401" name="adj"/>
            </a:avLst>
          </a:prstGeom>
          <a:noFill/>
          <a:ln cap="flat" cmpd="sng" w="9525">
            <a:solidFill>
              <a:srgbClr val="C6C9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20"/>
          <p:cNvSpPr/>
          <p:nvPr/>
        </p:nvSpPr>
        <p:spPr>
          <a:xfrm>
            <a:off x="769125" y="616645"/>
            <a:ext cx="1881934" cy="1651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C6C9DC"/>
              </a:buClr>
              <a:buSzPts val="1100"/>
              <a:buFont typeface="Inter Light"/>
              <a:buNone/>
            </a:pPr>
            <a:r>
              <a:rPr b="0" i="0" lang="en-US" sz="1100" u="none" cap="none" strike="noStrike">
                <a:solidFill>
                  <a:srgbClr val="C6C9DC"/>
                </a:solidFill>
                <a:latin typeface="Inter Light"/>
                <a:ea typeface="Inter Light"/>
                <a:cs typeface="Inter Light"/>
                <a:sym typeface="Inter Light"/>
              </a:rPr>
              <a:t>DEEPER ANALYSIS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0"/>
          <p:cNvSpPr/>
          <p:nvPr/>
        </p:nvSpPr>
        <p:spPr>
          <a:xfrm>
            <a:off x="661475" y="903784"/>
            <a:ext cx="10868745" cy="5611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4767D"/>
              </a:buClr>
              <a:buSzPts val="3500"/>
              <a:buFont typeface="Montserrat Medium"/>
              <a:buNone/>
            </a:pPr>
            <a:r>
              <a:rPr b="0" i="0" lang="en-US" sz="3500" u="none" cap="none" strike="noStrike">
                <a:solidFill>
                  <a:srgbClr val="7476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Error Analysis: Learn From Wrong Answers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0"/>
          <p:cNvSpPr/>
          <p:nvPr/>
        </p:nvSpPr>
        <p:spPr>
          <a:xfrm>
            <a:off x="661475" y="1533128"/>
            <a:ext cx="10868745" cy="280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4767D"/>
              </a:buClr>
              <a:buSzPts val="1750"/>
              <a:buFont typeface="Montserrat Medium"/>
              <a:buNone/>
            </a:pPr>
            <a:r>
              <a:rPr b="0" i="0" lang="en-US" sz="1750" u="none" cap="none" strike="noStrike">
                <a:solidFill>
                  <a:srgbClr val="7476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Example: Bangla Phishing Detector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0"/>
          <p:cNvSpPr/>
          <p:nvPr/>
        </p:nvSpPr>
        <p:spPr>
          <a:xfrm>
            <a:off x="661475" y="2069505"/>
            <a:ext cx="10868745" cy="3339902"/>
          </a:xfrm>
          <a:prstGeom prst="roundRect">
            <a:avLst>
              <a:gd fmla="val 4839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20"/>
          <p:cNvSpPr/>
          <p:nvPr/>
        </p:nvSpPr>
        <p:spPr>
          <a:xfrm>
            <a:off x="667825" y="2075855"/>
            <a:ext cx="10854954" cy="497384"/>
          </a:xfrm>
          <a:prstGeom prst="rect">
            <a:avLst/>
          </a:prstGeom>
          <a:solidFill>
            <a:srgbClr val="FFFFFF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20"/>
          <p:cNvSpPr/>
          <p:nvPr/>
        </p:nvSpPr>
        <p:spPr>
          <a:xfrm>
            <a:off x="848498" y="2184499"/>
            <a:ext cx="3865367" cy="280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3D3E44"/>
                </a:solidFill>
                <a:latin typeface="Inter"/>
                <a:ea typeface="Inter"/>
                <a:cs typeface="Inter"/>
                <a:sym typeface="Inter"/>
              </a:rPr>
              <a:t>Wrong Prediction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0"/>
          <p:cNvSpPr/>
          <p:nvPr/>
        </p:nvSpPr>
        <p:spPr>
          <a:xfrm>
            <a:off x="4469594" y="2184499"/>
            <a:ext cx="3862192" cy="280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3D3E44"/>
                </a:solidFill>
                <a:latin typeface="Inter"/>
                <a:ea typeface="Inter"/>
                <a:cs typeface="Inter"/>
                <a:sym typeface="Inter"/>
              </a:rPr>
              <a:t>Likely Reason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0"/>
          <p:cNvSpPr/>
          <p:nvPr/>
        </p:nvSpPr>
        <p:spPr>
          <a:xfrm>
            <a:off x="8087515" y="2184499"/>
            <a:ext cx="3865367" cy="280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3D3E44"/>
                </a:solidFill>
                <a:latin typeface="Inter"/>
                <a:ea typeface="Inter"/>
                <a:cs typeface="Inter"/>
                <a:sym typeface="Inter"/>
              </a:rPr>
              <a:t>What to Report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0"/>
          <p:cNvSpPr/>
          <p:nvPr/>
        </p:nvSpPr>
        <p:spPr>
          <a:xfrm>
            <a:off x="667825" y="2573238"/>
            <a:ext cx="10854954" cy="777478"/>
          </a:xfrm>
          <a:prstGeom prst="rect">
            <a:avLst/>
          </a:prstGeom>
          <a:solidFill>
            <a:srgbClr val="000000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20"/>
          <p:cNvSpPr/>
          <p:nvPr/>
        </p:nvSpPr>
        <p:spPr>
          <a:xfrm>
            <a:off x="848498" y="2681883"/>
            <a:ext cx="3865367" cy="280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00"/>
              <a:buFont typeface="Inter Light"/>
              <a:buNone/>
            </a:pPr>
            <a:r>
              <a:rPr b="0" i="0" lang="en-US" sz="140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Scam marked safe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0"/>
          <p:cNvSpPr/>
          <p:nvPr/>
        </p:nvSpPr>
        <p:spPr>
          <a:xfrm>
            <a:off x="4469594" y="2681883"/>
            <a:ext cx="3252607" cy="5601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00"/>
              <a:buFont typeface="Inter Light"/>
              <a:buNone/>
            </a:pPr>
            <a:r>
              <a:rPr b="0" i="0" lang="en-US" sz="140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Message looks like a real delivery notification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0"/>
          <p:cNvSpPr/>
          <p:nvPr/>
        </p:nvSpPr>
        <p:spPr>
          <a:xfrm>
            <a:off x="8087515" y="2681883"/>
            <a:ext cx="3255782" cy="5601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00"/>
              <a:buFont typeface="Inter Light"/>
              <a:buNone/>
            </a:pPr>
            <a:r>
              <a:rPr b="0" i="0" lang="en-US" sz="140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Model misses local brand-style wording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0"/>
          <p:cNvSpPr/>
          <p:nvPr/>
        </p:nvSpPr>
        <p:spPr>
          <a:xfrm>
            <a:off x="667825" y="3350716"/>
            <a:ext cx="10854954" cy="777478"/>
          </a:xfrm>
          <a:prstGeom prst="rect">
            <a:avLst/>
          </a:prstGeom>
          <a:solidFill>
            <a:srgbClr val="FFFFFF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20"/>
          <p:cNvSpPr/>
          <p:nvPr/>
        </p:nvSpPr>
        <p:spPr>
          <a:xfrm>
            <a:off x="848498" y="3459361"/>
            <a:ext cx="3865367" cy="280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00"/>
              <a:buFont typeface="Inter Light"/>
              <a:buNone/>
            </a:pPr>
            <a:r>
              <a:rPr b="0" i="0" lang="en-US" sz="140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Safe marked scam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0"/>
          <p:cNvSpPr/>
          <p:nvPr/>
        </p:nvSpPr>
        <p:spPr>
          <a:xfrm>
            <a:off x="4469594" y="3459361"/>
            <a:ext cx="3862192" cy="280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00"/>
              <a:buFont typeface="Inter Light"/>
              <a:buNone/>
            </a:pPr>
            <a:r>
              <a:rPr b="0" i="0" lang="en-US" sz="140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Contains words like OTP or account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0"/>
          <p:cNvSpPr/>
          <p:nvPr/>
        </p:nvSpPr>
        <p:spPr>
          <a:xfrm>
            <a:off x="8087515" y="3459361"/>
            <a:ext cx="3255782" cy="5601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00"/>
              <a:buFont typeface="Inter Light"/>
              <a:buNone/>
            </a:pPr>
            <a:r>
              <a:rPr b="0" i="0" lang="en-US" sz="140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Model overreacts to security-related words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0"/>
          <p:cNvSpPr/>
          <p:nvPr/>
        </p:nvSpPr>
        <p:spPr>
          <a:xfrm>
            <a:off x="667825" y="4128195"/>
            <a:ext cx="10854954" cy="777478"/>
          </a:xfrm>
          <a:prstGeom prst="rect">
            <a:avLst/>
          </a:prstGeom>
          <a:solidFill>
            <a:srgbClr val="000000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20"/>
          <p:cNvSpPr/>
          <p:nvPr/>
        </p:nvSpPr>
        <p:spPr>
          <a:xfrm>
            <a:off x="848498" y="4236839"/>
            <a:ext cx="3865367" cy="280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00"/>
              <a:buFont typeface="Inter Light"/>
              <a:buNone/>
            </a:pPr>
            <a:r>
              <a:rPr b="0" i="0" lang="en-US" sz="140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Code-mixed message failed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0"/>
          <p:cNvSpPr/>
          <p:nvPr/>
        </p:nvSpPr>
        <p:spPr>
          <a:xfrm>
            <a:off x="4469594" y="4236839"/>
            <a:ext cx="3862192" cy="280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00"/>
              <a:buFont typeface="Inter Light"/>
              <a:buNone/>
            </a:pPr>
            <a:r>
              <a:rPr b="0" i="0" lang="en-US" sz="140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Bangla-English spelling variation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0"/>
          <p:cNvSpPr/>
          <p:nvPr/>
        </p:nvSpPr>
        <p:spPr>
          <a:xfrm>
            <a:off x="8087515" y="4236839"/>
            <a:ext cx="3255782" cy="5601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00"/>
              <a:buFont typeface="Inter Light"/>
              <a:buNone/>
            </a:pPr>
            <a:r>
              <a:rPr b="0" i="0" lang="en-US" sz="140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Need better handling of code-mixed text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0"/>
          <p:cNvSpPr/>
          <p:nvPr/>
        </p:nvSpPr>
        <p:spPr>
          <a:xfrm>
            <a:off x="667825" y="4905673"/>
            <a:ext cx="10854954" cy="497384"/>
          </a:xfrm>
          <a:prstGeom prst="rect">
            <a:avLst/>
          </a:prstGeom>
          <a:solidFill>
            <a:srgbClr val="FFFFFF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20"/>
          <p:cNvSpPr/>
          <p:nvPr/>
        </p:nvSpPr>
        <p:spPr>
          <a:xfrm>
            <a:off x="848498" y="5014317"/>
            <a:ext cx="3865367" cy="280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00"/>
              <a:buFont typeface="Inter Light"/>
              <a:buNone/>
            </a:pPr>
            <a:r>
              <a:rPr b="0" i="0" lang="en-US" sz="140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Scholarship scam failed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0"/>
          <p:cNvSpPr/>
          <p:nvPr/>
        </p:nvSpPr>
        <p:spPr>
          <a:xfrm>
            <a:off x="4469594" y="5014317"/>
            <a:ext cx="3862192" cy="280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00"/>
              <a:buFont typeface="Inter Light"/>
              <a:buNone/>
            </a:pPr>
            <a:r>
              <a:rPr b="0" i="0" lang="en-US" sz="140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Rare category in training data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0"/>
          <p:cNvSpPr/>
          <p:nvPr/>
        </p:nvSpPr>
        <p:spPr>
          <a:xfrm>
            <a:off x="8087515" y="5014317"/>
            <a:ext cx="3865367" cy="280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00"/>
              <a:buFont typeface="Inter Light"/>
              <a:buNone/>
            </a:pPr>
            <a:r>
              <a:rPr b="0" i="0" lang="en-US" sz="140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Need category-wise recall reported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0"/>
          <p:cNvSpPr/>
          <p:nvPr/>
        </p:nvSpPr>
        <p:spPr>
          <a:xfrm>
            <a:off x="661475" y="5601295"/>
            <a:ext cx="10868745" cy="693837"/>
          </a:xfrm>
          <a:prstGeom prst="roundRect">
            <a:avLst>
              <a:gd fmla="val 23292" name="adj"/>
            </a:avLst>
          </a:prstGeom>
          <a:solidFill>
            <a:srgbClr val="DFE1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6" name="Google Shape;42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0957" y="5852716"/>
            <a:ext cx="224427" cy="179487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20"/>
          <p:cNvSpPr/>
          <p:nvPr/>
        </p:nvSpPr>
        <p:spPr>
          <a:xfrm>
            <a:off x="1244867" y="5816699"/>
            <a:ext cx="10715456" cy="280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Inter Light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A thesis becomes stronger when it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explains failure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, not just celebrates success.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1"/>
          <p:cNvSpPr/>
          <p:nvPr/>
        </p:nvSpPr>
        <p:spPr>
          <a:xfrm>
            <a:off x="661475" y="519807"/>
            <a:ext cx="1745909" cy="282674"/>
          </a:xfrm>
          <a:prstGeom prst="roundRect">
            <a:avLst>
              <a:gd fmla="val 47393" name="adj"/>
            </a:avLst>
          </a:prstGeom>
          <a:solidFill>
            <a:srgbClr val="DFE1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21"/>
          <p:cNvSpPr/>
          <p:nvPr/>
        </p:nvSpPr>
        <p:spPr>
          <a:xfrm>
            <a:off x="773093" y="575568"/>
            <a:ext cx="2132257" cy="1711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150"/>
              <a:buFont typeface="Inter Light"/>
              <a:buNone/>
            </a:pPr>
            <a:r>
              <a:rPr b="0" i="0" lang="en-US" sz="11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EXPERIMENT MATRIX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1"/>
          <p:cNvSpPr/>
          <p:nvPr/>
        </p:nvSpPr>
        <p:spPr>
          <a:xfrm>
            <a:off x="661475" y="875705"/>
            <a:ext cx="10868745" cy="1162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4767D"/>
              </a:buClr>
              <a:buSzPts val="3650"/>
              <a:buFont typeface="Montserrat Medium"/>
              <a:buNone/>
            </a:pPr>
            <a:r>
              <a:rPr b="0" i="0" lang="en-US" sz="3650" u="none" cap="none" strike="noStrike">
                <a:solidFill>
                  <a:srgbClr val="7476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 Experiment Matrix Keeps Everything Connected</a:t>
            </a:r>
            <a:endParaRPr b="0" i="0" sz="3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1"/>
          <p:cNvSpPr/>
          <p:nvPr/>
        </p:nvSpPr>
        <p:spPr>
          <a:xfrm>
            <a:off x="661475" y="2313285"/>
            <a:ext cx="10868745" cy="3084711"/>
          </a:xfrm>
          <a:prstGeom prst="roundRect">
            <a:avLst>
              <a:gd fmla="val 5429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21"/>
          <p:cNvSpPr/>
          <p:nvPr/>
        </p:nvSpPr>
        <p:spPr>
          <a:xfrm>
            <a:off x="661475" y="3145730"/>
            <a:ext cx="10868745" cy="11629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21"/>
          <p:cNvSpPr/>
          <p:nvPr/>
        </p:nvSpPr>
        <p:spPr>
          <a:xfrm>
            <a:off x="661475" y="4270276"/>
            <a:ext cx="10868745" cy="11629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21"/>
          <p:cNvSpPr/>
          <p:nvPr/>
        </p:nvSpPr>
        <p:spPr>
          <a:xfrm>
            <a:off x="2477926" y="2313285"/>
            <a:ext cx="11629" cy="3084711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21"/>
          <p:cNvSpPr/>
          <p:nvPr/>
        </p:nvSpPr>
        <p:spPr>
          <a:xfrm>
            <a:off x="4287532" y="2313285"/>
            <a:ext cx="11629" cy="3084711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21"/>
          <p:cNvSpPr/>
          <p:nvPr/>
        </p:nvSpPr>
        <p:spPr>
          <a:xfrm>
            <a:off x="6097137" y="2313285"/>
            <a:ext cx="11629" cy="3084711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21"/>
          <p:cNvSpPr/>
          <p:nvPr/>
        </p:nvSpPr>
        <p:spPr>
          <a:xfrm>
            <a:off x="7906743" y="2313285"/>
            <a:ext cx="11629" cy="3084711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21"/>
          <p:cNvSpPr/>
          <p:nvPr/>
        </p:nvSpPr>
        <p:spPr>
          <a:xfrm>
            <a:off x="9716348" y="2313285"/>
            <a:ext cx="11629" cy="3084711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21"/>
          <p:cNvSpPr/>
          <p:nvPr/>
        </p:nvSpPr>
        <p:spPr>
          <a:xfrm>
            <a:off x="854351" y="2435820"/>
            <a:ext cx="143437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Inter"/>
              <a:buNone/>
            </a:pPr>
            <a:r>
              <a:rPr b="1" i="0" lang="en-US" sz="1450" u="none" cap="none" strike="noStrike">
                <a:solidFill>
                  <a:srgbClr val="3D3E44"/>
                </a:solidFill>
                <a:latin typeface="Inter"/>
                <a:ea typeface="Inter"/>
                <a:cs typeface="Inter"/>
                <a:sym typeface="Inter"/>
              </a:rPr>
              <a:t>Research Question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21"/>
          <p:cNvSpPr/>
          <p:nvPr/>
        </p:nvSpPr>
        <p:spPr>
          <a:xfrm>
            <a:off x="2667132" y="2435820"/>
            <a:ext cx="2040779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Inter"/>
              <a:buNone/>
            </a:pPr>
            <a:r>
              <a:rPr b="1" i="0" lang="en-US" sz="1450" u="none" cap="none" strike="noStrike">
                <a:solidFill>
                  <a:srgbClr val="3D3E44"/>
                </a:solidFill>
                <a:latin typeface="Inter"/>
                <a:ea typeface="Inter"/>
                <a:cs typeface="Inter"/>
                <a:sym typeface="Inter"/>
              </a:rPr>
              <a:t>Experiment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1"/>
          <p:cNvSpPr/>
          <p:nvPr/>
        </p:nvSpPr>
        <p:spPr>
          <a:xfrm>
            <a:off x="4476737" y="2435820"/>
            <a:ext cx="2040779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Inter"/>
              <a:buNone/>
            </a:pPr>
            <a:r>
              <a:rPr b="1" i="0" lang="en-US" sz="1450" u="none" cap="none" strike="noStrike">
                <a:solidFill>
                  <a:srgbClr val="3D3E44"/>
                </a:solidFill>
                <a:latin typeface="Inter"/>
                <a:ea typeface="Inter"/>
                <a:cs typeface="Inter"/>
                <a:sym typeface="Inter"/>
              </a:rPr>
              <a:t>Data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21"/>
          <p:cNvSpPr/>
          <p:nvPr/>
        </p:nvSpPr>
        <p:spPr>
          <a:xfrm>
            <a:off x="6286343" y="2435820"/>
            <a:ext cx="2040779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Inter"/>
              <a:buNone/>
            </a:pPr>
            <a:r>
              <a:rPr b="1" i="0" lang="en-US" sz="1450" u="none" cap="none" strike="noStrike">
                <a:solidFill>
                  <a:srgbClr val="3D3E44"/>
                </a:solidFill>
                <a:latin typeface="Inter"/>
                <a:ea typeface="Inter"/>
                <a:cs typeface="Inter"/>
                <a:sym typeface="Inter"/>
              </a:rPr>
              <a:t>Baselines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1"/>
          <p:cNvSpPr/>
          <p:nvPr/>
        </p:nvSpPr>
        <p:spPr>
          <a:xfrm>
            <a:off x="8095948" y="2435820"/>
            <a:ext cx="2040779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Inter"/>
              <a:buNone/>
            </a:pPr>
            <a:r>
              <a:rPr b="1" i="0" lang="en-US" sz="1450" u="none" cap="none" strike="noStrike">
                <a:solidFill>
                  <a:srgbClr val="3D3E44"/>
                </a:solidFill>
                <a:latin typeface="Inter"/>
                <a:ea typeface="Inter"/>
                <a:cs typeface="Inter"/>
                <a:sym typeface="Inter"/>
              </a:rPr>
              <a:t>Metric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1"/>
          <p:cNvSpPr/>
          <p:nvPr/>
        </p:nvSpPr>
        <p:spPr>
          <a:xfrm>
            <a:off x="9905554" y="2435820"/>
            <a:ext cx="2043954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Inter"/>
              <a:buNone/>
            </a:pPr>
            <a:r>
              <a:rPr b="1" i="0" lang="en-US" sz="1450" u="none" cap="none" strike="noStrike">
                <a:solidFill>
                  <a:srgbClr val="3D3E44"/>
                </a:solidFill>
                <a:latin typeface="Inter"/>
                <a:ea typeface="Inter"/>
                <a:cs typeface="Inter"/>
                <a:sym typeface="Inter"/>
              </a:rPr>
              <a:t>Extra Analysis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1"/>
          <p:cNvSpPr/>
          <p:nvPr/>
        </p:nvSpPr>
        <p:spPr>
          <a:xfrm>
            <a:off x="854351" y="3265091"/>
            <a:ext cx="1434370" cy="885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Inter Light"/>
              <a:buNone/>
            </a:pPr>
            <a:r>
              <a:rPr b="0" i="0" lang="en-US" sz="14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Does code-mixing reduce detection?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1"/>
          <p:cNvSpPr/>
          <p:nvPr/>
        </p:nvSpPr>
        <p:spPr>
          <a:xfrm>
            <a:off x="2667132" y="3265091"/>
            <a:ext cx="1431195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Inter Light"/>
              <a:buNone/>
            </a:pPr>
            <a:r>
              <a:rPr b="0" i="0" lang="en-US" sz="14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Evaluate subgroups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1"/>
          <p:cNvSpPr/>
          <p:nvPr/>
        </p:nvSpPr>
        <p:spPr>
          <a:xfrm>
            <a:off x="4476737" y="3265091"/>
            <a:ext cx="1431195" cy="885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Inter Light"/>
              <a:buNone/>
            </a:pPr>
            <a:r>
              <a:rPr b="0" i="0" lang="en-US" sz="14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Bangla and code-mixed messages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1"/>
          <p:cNvSpPr/>
          <p:nvPr/>
        </p:nvSpPr>
        <p:spPr>
          <a:xfrm>
            <a:off x="6286343" y="3265091"/>
            <a:ext cx="1431195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Inter Light"/>
              <a:buNone/>
            </a:pPr>
            <a:r>
              <a:rPr b="0" i="0" lang="en-US" sz="14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SVM, transformer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1"/>
          <p:cNvSpPr/>
          <p:nvPr/>
        </p:nvSpPr>
        <p:spPr>
          <a:xfrm>
            <a:off x="8095948" y="3265091"/>
            <a:ext cx="2040779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Inter Light"/>
              <a:buNone/>
            </a:pPr>
            <a:r>
              <a:rPr b="0" i="0" lang="en-US" sz="14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F1, recall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21"/>
          <p:cNvSpPr/>
          <p:nvPr/>
        </p:nvSpPr>
        <p:spPr>
          <a:xfrm>
            <a:off x="9905554" y="3265091"/>
            <a:ext cx="143437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Inter Light"/>
              <a:buNone/>
            </a:pPr>
            <a:r>
              <a:rPr b="0" i="0" lang="en-US" sz="14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Error analysis by language type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1"/>
          <p:cNvSpPr/>
          <p:nvPr/>
        </p:nvSpPr>
        <p:spPr>
          <a:xfrm>
            <a:off x="854351" y="4389636"/>
            <a:ext cx="1434370" cy="885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Inter Light"/>
              <a:buNone/>
            </a:pPr>
            <a:r>
              <a:rPr b="0" i="0" lang="en-US" sz="14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Does blur hurt disease detection?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1"/>
          <p:cNvSpPr/>
          <p:nvPr/>
        </p:nvSpPr>
        <p:spPr>
          <a:xfrm>
            <a:off x="2667132" y="4389636"/>
            <a:ext cx="1431195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Inter Light"/>
              <a:buNone/>
            </a:pPr>
            <a:r>
              <a:rPr b="0" i="0" lang="en-US" sz="14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Clean vs. blurred images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1"/>
          <p:cNvSpPr/>
          <p:nvPr/>
        </p:nvSpPr>
        <p:spPr>
          <a:xfrm>
            <a:off x="4476737" y="4389636"/>
            <a:ext cx="1431195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Inter Light"/>
              <a:buNone/>
            </a:pPr>
            <a:r>
              <a:rPr b="0" i="0" lang="en-US" sz="14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Plant images with blur levels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1"/>
          <p:cNvSpPr/>
          <p:nvPr/>
        </p:nvSpPr>
        <p:spPr>
          <a:xfrm>
            <a:off x="6286343" y="4389636"/>
            <a:ext cx="2040779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Inter Light"/>
              <a:buNone/>
            </a:pPr>
            <a:r>
              <a:rPr b="0" i="0" lang="en-US" sz="14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CNN, MobileNet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1"/>
          <p:cNvSpPr/>
          <p:nvPr/>
        </p:nvSpPr>
        <p:spPr>
          <a:xfrm>
            <a:off x="8095948" y="4389636"/>
            <a:ext cx="2040779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Inter Light"/>
              <a:buNone/>
            </a:pPr>
            <a:r>
              <a:rPr b="0" i="0" lang="en-US" sz="14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Class-wise F1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1"/>
          <p:cNvSpPr/>
          <p:nvPr/>
        </p:nvSpPr>
        <p:spPr>
          <a:xfrm>
            <a:off x="9905554" y="4389636"/>
            <a:ext cx="143437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Inter Light"/>
              <a:buNone/>
            </a:pPr>
            <a:r>
              <a:rPr b="0" i="0" lang="en-US" sz="14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Robustness curve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1"/>
          <p:cNvSpPr/>
          <p:nvPr/>
        </p:nvSpPr>
        <p:spPr>
          <a:xfrm>
            <a:off x="661475" y="5603974"/>
            <a:ext cx="10868745" cy="736104"/>
          </a:xfrm>
          <a:prstGeom prst="roundRect">
            <a:avLst>
              <a:gd fmla="val 22749" name="adj"/>
            </a:avLst>
          </a:prstGeom>
          <a:solidFill>
            <a:srgbClr val="DFE1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63" name="Google Shape;46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505" y="5870476"/>
            <a:ext cx="232563" cy="186035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21"/>
          <p:cNvSpPr/>
          <p:nvPr/>
        </p:nvSpPr>
        <p:spPr>
          <a:xfrm>
            <a:off x="1266099" y="5833566"/>
            <a:ext cx="10687676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Inter Light"/>
              <a:buNone/>
            </a:pPr>
            <a:r>
              <a:rPr b="0" i="0" lang="en-US" sz="1450" u="none" cap="none" strike="noStrike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If an experiment does not answer an RQ, remove it. If an RQ has no experiment, rewrite it.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2"/>
          <p:cNvSpPr/>
          <p:nvPr/>
        </p:nvSpPr>
        <p:spPr>
          <a:xfrm>
            <a:off x="661475" y="531614"/>
            <a:ext cx="1657408" cy="268486"/>
          </a:xfrm>
          <a:prstGeom prst="roundRect">
            <a:avLst>
              <a:gd fmla="val 47402" name="adj"/>
            </a:avLst>
          </a:prstGeom>
          <a:noFill/>
          <a:ln cap="flat" cmpd="sng" w="9525">
            <a:solidFill>
              <a:srgbClr val="C6C9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22"/>
          <p:cNvSpPr/>
          <p:nvPr/>
        </p:nvSpPr>
        <p:spPr>
          <a:xfrm>
            <a:off x="767438" y="584597"/>
            <a:ext cx="2055067" cy="162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C6C9DC"/>
              </a:buClr>
              <a:buSzPts val="1100"/>
              <a:buFont typeface="Inter Light"/>
              <a:buNone/>
            </a:pPr>
            <a:r>
              <a:rPr b="0" i="0" lang="en-US" sz="1100" u="none" cap="none" strike="noStrike">
                <a:solidFill>
                  <a:srgbClr val="C6C9DC"/>
                </a:solidFill>
                <a:latin typeface="Inter Light"/>
                <a:ea typeface="Inter Light"/>
                <a:cs typeface="Inter Light"/>
                <a:sym typeface="Inter Light"/>
              </a:rPr>
              <a:t>EXPERIMENT MATRIX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2"/>
          <p:cNvSpPr/>
          <p:nvPr/>
        </p:nvSpPr>
        <p:spPr>
          <a:xfrm>
            <a:off x="661475" y="866180"/>
            <a:ext cx="10868745" cy="5523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4767D"/>
              </a:buClr>
              <a:buSzPts val="3450"/>
              <a:buFont typeface="Montserrat Medium"/>
              <a:buNone/>
            </a:pPr>
            <a:r>
              <a:rPr b="0" i="0" lang="en-US" sz="3450" u="none" cap="none" strike="noStrike">
                <a:solidFill>
                  <a:srgbClr val="7476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Filled Example: Early Programming-Risk Thesis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2"/>
          <p:cNvSpPr/>
          <p:nvPr/>
        </p:nvSpPr>
        <p:spPr>
          <a:xfrm>
            <a:off x="661475" y="1666478"/>
            <a:ext cx="10868745" cy="949623"/>
          </a:xfrm>
          <a:prstGeom prst="roundRect">
            <a:avLst>
              <a:gd fmla="val 16753" name="adj"/>
            </a:avLst>
          </a:prstGeom>
          <a:solidFill>
            <a:srgbClr val="DFE1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4" name="Google Shape;47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179" y="1916807"/>
            <a:ext cx="220855" cy="17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22"/>
          <p:cNvSpPr/>
          <p:nvPr/>
        </p:nvSpPr>
        <p:spPr>
          <a:xfrm>
            <a:off x="1235739" y="1875929"/>
            <a:ext cx="10117777" cy="547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Gap:</a:t>
            </a:r>
            <a:r>
              <a:rPr b="0" i="0" lang="en-US" sz="1350" u="none" cap="none" strike="noStrike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Teachers often notice struggling programming students too late. Existing work may not use early lab behaviour clearly enough for Week 5 support.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2"/>
          <p:cNvSpPr/>
          <p:nvPr/>
        </p:nvSpPr>
        <p:spPr>
          <a:xfrm>
            <a:off x="661475" y="2802037"/>
            <a:ext cx="10868745" cy="3064669"/>
          </a:xfrm>
          <a:prstGeom prst="roundRect">
            <a:avLst>
              <a:gd fmla="val 5191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22"/>
          <p:cNvSpPr/>
          <p:nvPr/>
        </p:nvSpPr>
        <p:spPr>
          <a:xfrm>
            <a:off x="661475" y="3296146"/>
            <a:ext cx="10868745" cy="11048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22"/>
          <p:cNvSpPr/>
          <p:nvPr/>
        </p:nvSpPr>
        <p:spPr>
          <a:xfrm>
            <a:off x="661475" y="4060726"/>
            <a:ext cx="10868745" cy="11048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22"/>
          <p:cNvSpPr/>
          <p:nvPr/>
        </p:nvSpPr>
        <p:spPr>
          <a:xfrm>
            <a:off x="661475" y="4825305"/>
            <a:ext cx="10868745" cy="11048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22"/>
          <p:cNvSpPr/>
          <p:nvPr/>
        </p:nvSpPr>
        <p:spPr>
          <a:xfrm>
            <a:off x="844827" y="2913856"/>
            <a:ext cx="2427326" cy="273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3D3E44"/>
                </a:solidFill>
                <a:latin typeface="Inter"/>
                <a:ea typeface="Inter"/>
                <a:cs typeface="Inter"/>
                <a:sym typeface="Inter"/>
              </a:rPr>
              <a:t>RQ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2"/>
          <p:cNvSpPr/>
          <p:nvPr/>
        </p:nvSpPr>
        <p:spPr>
          <a:xfrm>
            <a:off x="3015976" y="2913856"/>
            <a:ext cx="2427326" cy="273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3D3E44"/>
                </a:solidFill>
                <a:latin typeface="Inter"/>
                <a:ea typeface="Inter"/>
                <a:cs typeface="Inter"/>
                <a:sym typeface="Inter"/>
              </a:rPr>
              <a:t>Experiment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2"/>
          <p:cNvSpPr/>
          <p:nvPr/>
        </p:nvSpPr>
        <p:spPr>
          <a:xfrm>
            <a:off x="5187126" y="2913856"/>
            <a:ext cx="2427326" cy="273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3D3E44"/>
                </a:solidFill>
                <a:latin typeface="Inter"/>
                <a:ea typeface="Inter"/>
                <a:cs typeface="Inter"/>
                <a:sym typeface="Inter"/>
              </a:rPr>
              <a:t>Data &amp; Split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2"/>
          <p:cNvSpPr/>
          <p:nvPr/>
        </p:nvSpPr>
        <p:spPr>
          <a:xfrm>
            <a:off x="7358275" y="2913856"/>
            <a:ext cx="2427326" cy="273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3D3E44"/>
                </a:solidFill>
                <a:latin typeface="Inter"/>
                <a:ea typeface="Inter"/>
                <a:cs typeface="Inter"/>
                <a:sym typeface="Inter"/>
              </a:rPr>
              <a:t>Metric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2"/>
          <p:cNvSpPr/>
          <p:nvPr/>
        </p:nvSpPr>
        <p:spPr>
          <a:xfrm>
            <a:off x="9529425" y="2913856"/>
            <a:ext cx="2427326" cy="273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3D3E44"/>
                </a:solidFill>
                <a:latin typeface="Inter"/>
                <a:ea typeface="Inter"/>
                <a:cs typeface="Inter"/>
                <a:sym typeface="Inter"/>
              </a:rPr>
              <a:t>Extra Check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2"/>
          <p:cNvSpPr/>
          <p:nvPr/>
        </p:nvSpPr>
        <p:spPr>
          <a:xfrm>
            <a:off x="844827" y="3404791"/>
            <a:ext cx="1817741" cy="547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350"/>
              <a:buFont typeface="Inter Light"/>
              <a:buNone/>
            </a:pPr>
            <a:r>
              <a:rPr b="0" i="0" lang="en-US" sz="13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Can risk be predicted by Week 5?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2"/>
          <p:cNvSpPr/>
          <p:nvPr/>
        </p:nvSpPr>
        <p:spPr>
          <a:xfrm>
            <a:off x="3015976" y="3404791"/>
            <a:ext cx="1817741" cy="547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350"/>
              <a:buFont typeface="Inter Light"/>
              <a:buNone/>
            </a:pPr>
            <a:r>
              <a:rPr b="0" i="0" lang="en-US" sz="13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Train early-risk models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2"/>
          <p:cNvSpPr/>
          <p:nvPr/>
        </p:nvSpPr>
        <p:spPr>
          <a:xfrm>
            <a:off x="5187126" y="3404791"/>
            <a:ext cx="1817741" cy="547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350"/>
              <a:buFont typeface="Inter Light"/>
              <a:buNone/>
            </a:pPr>
            <a:r>
              <a:rPr b="0" i="0" lang="en-US" sz="13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Attendance, lab delay, quiz — Week 1–5 only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2"/>
          <p:cNvSpPr/>
          <p:nvPr/>
        </p:nvSpPr>
        <p:spPr>
          <a:xfrm>
            <a:off x="7358275" y="3404791"/>
            <a:ext cx="2427326" cy="273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350"/>
              <a:buFont typeface="Inter Light"/>
              <a:buNone/>
            </a:pPr>
            <a:r>
              <a:rPr b="0" i="0" lang="en-US" sz="13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At-risk recall, F1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2"/>
          <p:cNvSpPr/>
          <p:nvPr/>
        </p:nvSpPr>
        <p:spPr>
          <a:xfrm>
            <a:off x="9529425" y="3404791"/>
            <a:ext cx="1817741" cy="547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350"/>
              <a:buFont typeface="Inter Light"/>
              <a:buNone/>
            </a:pPr>
            <a:r>
              <a:rPr b="0" i="0" lang="en-US" sz="13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Avoid final exam leakage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2"/>
          <p:cNvSpPr/>
          <p:nvPr/>
        </p:nvSpPr>
        <p:spPr>
          <a:xfrm>
            <a:off x="844827" y="4169370"/>
            <a:ext cx="1817741" cy="547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350"/>
              <a:buFont typeface="Inter Light"/>
              <a:buNone/>
            </a:pPr>
            <a:r>
              <a:rPr b="0" i="0" lang="en-US" sz="13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Which early signals matter most?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2"/>
          <p:cNvSpPr/>
          <p:nvPr/>
        </p:nvSpPr>
        <p:spPr>
          <a:xfrm>
            <a:off x="3015976" y="4169370"/>
            <a:ext cx="1817741" cy="547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350"/>
              <a:buFont typeface="Inter Light"/>
              <a:buNone/>
            </a:pPr>
            <a:r>
              <a:rPr b="0" i="0" lang="en-US" sz="13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Feature importance &amp; ablation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2"/>
          <p:cNvSpPr/>
          <p:nvPr/>
        </p:nvSpPr>
        <p:spPr>
          <a:xfrm>
            <a:off x="5187126" y="4169370"/>
            <a:ext cx="1817741" cy="547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350"/>
              <a:buFont typeface="Inter Light"/>
              <a:buNone/>
            </a:pPr>
            <a:r>
              <a:rPr b="0" i="0" lang="en-US" sz="13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Remove one signal at a time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2"/>
          <p:cNvSpPr/>
          <p:nvPr/>
        </p:nvSpPr>
        <p:spPr>
          <a:xfrm>
            <a:off x="7358275" y="4169370"/>
            <a:ext cx="2427326" cy="273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350"/>
              <a:buFont typeface="Inter Light"/>
              <a:buNone/>
            </a:pPr>
            <a:r>
              <a:rPr b="0" i="0" lang="en-US" sz="13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F1 change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2"/>
          <p:cNvSpPr/>
          <p:nvPr/>
        </p:nvSpPr>
        <p:spPr>
          <a:xfrm>
            <a:off x="9529425" y="4169370"/>
            <a:ext cx="1817741" cy="547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350"/>
              <a:buFont typeface="Inter Light"/>
              <a:buNone/>
            </a:pPr>
            <a:r>
              <a:rPr b="0" i="0" lang="en-US" sz="13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Does lab delay matter?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2"/>
          <p:cNvSpPr/>
          <p:nvPr/>
        </p:nvSpPr>
        <p:spPr>
          <a:xfrm>
            <a:off x="844827" y="4933950"/>
            <a:ext cx="1817741" cy="547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350"/>
              <a:buFont typeface="Inter Light"/>
              <a:buNone/>
            </a:pPr>
            <a:r>
              <a:rPr b="0" i="0" lang="en-US" sz="13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Where does the model fail?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2"/>
          <p:cNvSpPr/>
          <p:nvPr/>
        </p:nvSpPr>
        <p:spPr>
          <a:xfrm>
            <a:off x="3015976" y="4933950"/>
            <a:ext cx="2427326" cy="273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350"/>
              <a:buFont typeface="Inter Light"/>
              <a:buNone/>
            </a:pPr>
            <a:r>
              <a:rPr b="0" i="0" lang="en-US" sz="13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Error analysis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2"/>
          <p:cNvSpPr/>
          <p:nvPr/>
        </p:nvSpPr>
        <p:spPr>
          <a:xfrm>
            <a:off x="5187126" y="4933950"/>
            <a:ext cx="1817741" cy="547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350"/>
              <a:buFont typeface="Inter Light"/>
              <a:buNone/>
            </a:pPr>
            <a:r>
              <a:rPr b="0" i="0" lang="en-US" sz="13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False safe and false risk cases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2"/>
          <p:cNvSpPr/>
          <p:nvPr/>
        </p:nvSpPr>
        <p:spPr>
          <a:xfrm>
            <a:off x="7358275" y="4933950"/>
            <a:ext cx="2427326" cy="273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350"/>
              <a:buFont typeface="Inter Light"/>
              <a:buNone/>
            </a:pPr>
            <a:r>
              <a:rPr b="0" i="0" lang="en-US" sz="13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Confusion matrix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2"/>
          <p:cNvSpPr/>
          <p:nvPr/>
        </p:nvSpPr>
        <p:spPr>
          <a:xfrm>
            <a:off x="9529425" y="4933950"/>
            <a:ext cx="1817741" cy="8209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350"/>
              <a:buFont typeface="Inter Light"/>
              <a:buNone/>
            </a:pPr>
            <a:r>
              <a:rPr b="0" i="0" lang="en-US" sz="13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Check if low-attendance cases dominate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2"/>
          <p:cNvSpPr/>
          <p:nvPr/>
        </p:nvSpPr>
        <p:spPr>
          <a:xfrm>
            <a:off x="356682" y="6052641"/>
            <a:ext cx="11478330" cy="273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350"/>
              <a:buFont typeface="Inter Light"/>
              <a:buNone/>
            </a:pPr>
            <a:r>
              <a:rPr b="0" i="0" lang="en-US" sz="13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This is now a </a:t>
            </a:r>
            <a:r>
              <a:rPr b="1" i="0" lang="en-US" sz="1350" u="none" cap="none" strike="noStrike">
                <a:solidFill>
                  <a:srgbClr val="3D3E44"/>
                </a:solidFill>
                <a:latin typeface="Inter"/>
                <a:ea typeface="Inter"/>
                <a:cs typeface="Inter"/>
                <a:sym typeface="Inter"/>
              </a:rPr>
              <a:t>study plan</a:t>
            </a:r>
            <a:r>
              <a:rPr b="0" i="0" lang="en-US" sz="13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, not just a topic title.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23"/>
          <p:cNvSpPr/>
          <p:nvPr/>
        </p:nvSpPr>
        <p:spPr>
          <a:xfrm>
            <a:off x="661475" y="942479"/>
            <a:ext cx="1549857" cy="287139"/>
          </a:xfrm>
          <a:prstGeom prst="roundRect">
            <a:avLst>
              <a:gd fmla="val 47396" name="adj"/>
            </a:avLst>
          </a:prstGeom>
          <a:solidFill>
            <a:srgbClr val="DFE1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23"/>
          <p:cNvSpPr/>
          <p:nvPr/>
        </p:nvSpPr>
        <p:spPr>
          <a:xfrm>
            <a:off x="774879" y="999133"/>
            <a:ext cx="1932634" cy="1738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150"/>
              <a:buFont typeface="Inter Light"/>
              <a:buNone/>
            </a:pPr>
            <a:r>
              <a:rPr b="0" i="0" lang="en-US" sz="11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REPRODUCIBILITY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3"/>
          <p:cNvSpPr/>
          <p:nvPr/>
        </p:nvSpPr>
        <p:spPr>
          <a:xfrm>
            <a:off x="661475" y="1305223"/>
            <a:ext cx="10868745" cy="59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74767D"/>
              </a:buClr>
              <a:buSzPts val="3700"/>
              <a:buFont typeface="Montserrat Medium"/>
              <a:buNone/>
            </a:pPr>
            <a:r>
              <a:rPr b="0" i="0" lang="en-US" sz="3700" u="none" cap="none" strike="noStrike">
                <a:solidFill>
                  <a:srgbClr val="7476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Make the Work Repeatable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3"/>
          <p:cNvSpPr/>
          <p:nvPr/>
        </p:nvSpPr>
        <p:spPr>
          <a:xfrm>
            <a:off x="661475" y="2179340"/>
            <a:ext cx="10868745" cy="2493367"/>
          </a:xfrm>
          <a:prstGeom prst="roundRect">
            <a:avLst>
              <a:gd fmla="val 6823" name="adj"/>
            </a:avLst>
          </a:prstGeom>
          <a:solidFill>
            <a:srgbClr val="EFF0F6"/>
          </a:solidFill>
          <a:ln cap="flat" cmpd="sng" w="9525">
            <a:solidFill>
              <a:srgbClr val="C5C7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23"/>
          <p:cNvSpPr/>
          <p:nvPr/>
        </p:nvSpPr>
        <p:spPr>
          <a:xfrm>
            <a:off x="667825" y="2185690"/>
            <a:ext cx="3618616" cy="1391543"/>
          </a:xfrm>
          <a:prstGeom prst="rect">
            <a:avLst/>
          </a:prstGeom>
          <a:solidFill>
            <a:srgbClr val="EFF0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23"/>
          <p:cNvSpPr/>
          <p:nvPr/>
        </p:nvSpPr>
        <p:spPr>
          <a:xfrm>
            <a:off x="856832" y="2374702"/>
            <a:ext cx="2957141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850"/>
              <a:buFont typeface="Montserrat Medium"/>
              <a:buNone/>
            </a:pPr>
            <a:r>
              <a:rPr b="0" i="0" lang="en-US" sz="1850" u="none" cap="none" strike="noStrik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Data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23"/>
          <p:cNvSpPr/>
          <p:nvPr/>
        </p:nvSpPr>
        <p:spPr>
          <a:xfrm>
            <a:off x="856832" y="2783384"/>
            <a:ext cx="2957141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Inter Light"/>
              <a:buNone/>
            </a:pPr>
            <a:r>
              <a:rPr b="0" i="0" lang="en-US" sz="14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Source, size, labels, licence, split, and missing values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23"/>
          <p:cNvSpPr/>
          <p:nvPr/>
        </p:nvSpPr>
        <p:spPr>
          <a:xfrm>
            <a:off x="4286440" y="2185690"/>
            <a:ext cx="3618715" cy="1391543"/>
          </a:xfrm>
          <a:prstGeom prst="rect">
            <a:avLst/>
          </a:prstGeom>
          <a:solidFill>
            <a:srgbClr val="EFF0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23"/>
          <p:cNvSpPr/>
          <p:nvPr/>
        </p:nvSpPr>
        <p:spPr>
          <a:xfrm>
            <a:off x="4286440" y="2185690"/>
            <a:ext cx="25399" cy="1391543"/>
          </a:xfrm>
          <a:prstGeom prst="roundRect">
            <a:avLst>
              <a:gd fmla="val 669778" name="adj"/>
            </a:avLst>
          </a:prstGeom>
          <a:solidFill>
            <a:srgbClr val="C5C7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23"/>
          <p:cNvSpPr/>
          <p:nvPr/>
        </p:nvSpPr>
        <p:spPr>
          <a:xfrm>
            <a:off x="4758908" y="2374702"/>
            <a:ext cx="2673779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850"/>
              <a:buFont typeface="Montserrat Medium"/>
              <a:buNone/>
            </a:pPr>
            <a:r>
              <a:rPr b="0" i="0" lang="en-US" sz="1850" u="none" cap="none" strike="noStrik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Code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3"/>
          <p:cNvSpPr/>
          <p:nvPr/>
        </p:nvSpPr>
        <p:spPr>
          <a:xfrm>
            <a:off x="4758908" y="2783384"/>
            <a:ext cx="2673779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Inter Light"/>
              <a:buNone/>
            </a:pPr>
            <a:r>
              <a:rPr b="0" i="0" lang="en-US" sz="14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Notebook or scripts, package versions, random seed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3"/>
          <p:cNvSpPr/>
          <p:nvPr/>
        </p:nvSpPr>
        <p:spPr>
          <a:xfrm>
            <a:off x="4050206" y="2645172"/>
            <a:ext cx="472468" cy="472480"/>
          </a:xfrm>
          <a:prstGeom prst="roundRect">
            <a:avLst>
              <a:gd fmla="val 36006" name="adj"/>
            </a:avLst>
          </a:prstGeom>
          <a:solidFill>
            <a:srgbClr val="FFFFFF"/>
          </a:solidFill>
          <a:ln cap="flat" cmpd="sng" w="25375">
            <a:solidFill>
              <a:srgbClr val="C5C7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18" name="Google Shape;51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68274" y="2763242"/>
            <a:ext cx="236234" cy="236240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p23"/>
          <p:cNvSpPr/>
          <p:nvPr/>
        </p:nvSpPr>
        <p:spPr>
          <a:xfrm>
            <a:off x="7905155" y="2185690"/>
            <a:ext cx="3618715" cy="1391543"/>
          </a:xfrm>
          <a:prstGeom prst="rect">
            <a:avLst/>
          </a:prstGeom>
          <a:solidFill>
            <a:srgbClr val="EFF0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23"/>
          <p:cNvSpPr/>
          <p:nvPr/>
        </p:nvSpPr>
        <p:spPr>
          <a:xfrm>
            <a:off x="7905155" y="2185690"/>
            <a:ext cx="25399" cy="1391543"/>
          </a:xfrm>
          <a:prstGeom prst="roundRect">
            <a:avLst>
              <a:gd fmla="val 669778" name="adj"/>
            </a:avLst>
          </a:prstGeom>
          <a:solidFill>
            <a:srgbClr val="C5C7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23"/>
          <p:cNvSpPr/>
          <p:nvPr/>
        </p:nvSpPr>
        <p:spPr>
          <a:xfrm>
            <a:off x="8377623" y="2374702"/>
            <a:ext cx="295724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850"/>
              <a:buFont typeface="Montserrat Medium"/>
              <a:buNone/>
            </a:pPr>
            <a:r>
              <a:rPr b="0" i="0" lang="en-US" sz="1850" u="none" cap="none" strike="noStrik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Preprocessing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3"/>
          <p:cNvSpPr/>
          <p:nvPr/>
        </p:nvSpPr>
        <p:spPr>
          <a:xfrm>
            <a:off x="8377623" y="2783384"/>
            <a:ext cx="2957240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Inter Light"/>
              <a:buNone/>
            </a:pPr>
            <a:r>
              <a:rPr b="0" i="0" lang="en-US" sz="14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Cleaning rules, encoding, augmentation, tokenisation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3"/>
          <p:cNvSpPr/>
          <p:nvPr/>
        </p:nvSpPr>
        <p:spPr>
          <a:xfrm>
            <a:off x="7668921" y="2645172"/>
            <a:ext cx="472468" cy="472480"/>
          </a:xfrm>
          <a:prstGeom prst="roundRect">
            <a:avLst>
              <a:gd fmla="val 36006" name="adj"/>
            </a:avLst>
          </a:prstGeom>
          <a:solidFill>
            <a:srgbClr val="FFFFFF"/>
          </a:solidFill>
          <a:ln cap="flat" cmpd="sng" w="25375">
            <a:solidFill>
              <a:srgbClr val="C5C7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24" name="Google Shape;52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86989" y="2763242"/>
            <a:ext cx="236234" cy="236240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23"/>
          <p:cNvSpPr/>
          <p:nvPr/>
        </p:nvSpPr>
        <p:spPr>
          <a:xfrm>
            <a:off x="667825" y="3577233"/>
            <a:ext cx="5428023" cy="1089124"/>
          </a:xfrm>
          <a:prstGeom prst="rect">
            <a:avLst/>
          </a:prstGeom>
          <a:solidFill>
            <a:srgbClr val="EFF0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23"/>
          <p:cNvSpPr/>
          <p:nvPr/>
        </p:nvSpPr>
        <p:spPr>
          <a:xfrm>
            <a:off x="667825" y="3577233"/>
            <a:ext cx="5428023" cy="25400"/>
          </a:xfrm>
          <a:prstGeom prst="roundRect">
            <a:avLst>
              <a:gd fmla="val 669751" name="adj"/>
            </a:avLst>
          </a:prstGeom>
          <a:solidFill>
            <a:srgbClr val="C5C7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23"/>
          <p:cNvSpPr/>
          <p:nvPr/>
        </p:nvSpPr>
        <p:spPr>
          <a:xfrm>
            <a:off x="856832" y="3766245"/>
            <a:ext cx="4766548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850"/>
              <a:buFont typeface="Montserrat Medium"/>
              <a:buNone/>
            </a:pPr>
            <a:r>
              <a:rPr b="0" i="0" lang="en-US" sz="1850" u="none" cap="none" strike="noStrik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Models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3"/>
          <p:cNvSpPr/>
          <p:nvPr/>
        </p:nvSpPr>
        <p:spPr>
          <a:xfrm>
            <a:off x="856832" y="4174927"/>
            <a:ext cx="4766548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Inter Light"/>
              <a:buNone/>
            </a:pPr>
            <a:r>
              <a:rPr b="0" i="0" lang="en-US" sz="14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Hyperparameters, training time, and hardware used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3"/>
          <p:cNvSpPr/>
          <p:nvPr/>
        </p:nvSpPr>
        <p:spPr>
          <a:xfrm>
            <a:off x="6095848" y="3577233"/>
            <a:ext cx="5428023" cy="1089124"/>
          </a:xfrm>
          <a:prstGeom prst="rect">
            <a:avLst/>
          </a:prstGeom>
          <a:solidFill>
            <a:srgbClr val="EFF0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23"/>
          <p:cNvSpPr/>
          <p:nvPr/>
        </p:nvSpPr>
        <p:spPr>
          <a:xfrm>
            <a:off x="6095848" y="3577233"/>
            <a:ext cx="25399" cy="1089124"/>
          </a:xfrm>
          <a:prstGeom prst="roundRect">
            <a:avLst>
              <a:gd fmla="val 669778" name="adj"/>
            </a:avLst>
          </a:prstGeom>
          <a:solidFill>
            <a:srgbClr val="C5C7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23"/>
          <p:cNvSpPr/>
          <p:nvPr/>
        </p:nvSpPr>
        <p:spPr>
          <a:xfrm>
            <a:off x="6095848" y="3577233"/>
            <a:ext cx="5428023" cy="25400"/>
          </a:xfrm>
          <a:prstGeom prst="roundRect">
            <a:avLst>
              <a:gd fmla="val 669751" name="adj"/>
            </a:avLst>
          </a:prstGeom>
          <a:solidFill>
            <a:srgbClr val="C5C7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23"/>
          <p:cNvSpPr/>
          <p:nvPr/>
        </p:nvSpPr>
        <p:spPr>
          <a:xfrm>
            <a:off x="6568315" y="3766245"/>
            <a:ext cx="4766548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850"/>
              <a:buFont typeface="Montserrat Medium"/>
              <a:buNone/>
            </a:pPr>
            <a:r>
              <a:rPr b="0" i="0" lang="en-US" sz="1850" u="none" cap="none" strike="noStrik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Results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3"/>
          <p:cNvSpPr/>
          <p:nvPr/>
        </p:nvSpPr>
        <p:spPr>
          <a:xfrm>
            <a:off x="6568315" y="4174927"/>
            <a:ext cx="4766548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Inter Light"/>
              <a:buNone/>
            </a:pPr>
            <a:r>
              <a:rPr b="0" i="0" lang="en-US" sz="14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All metrics reported and not only the best number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23"/>
          <p:cNvSpPr/>
          <p:nvPr/>
        </p:nvSpPr>
        <p:spPr>
          <a:xfrm>
            <a:off x="5859614" y="3885505"/>
            <a:ext cx="472468" cy="472480"/>
          </a:xfrm>
          <a:prstGeom prst="roundRect">
            <a:avLst>
              <a:gd fmla="val 36006" name="adj"/>
            </a:avLst>
          </a:prstGeom>
          <a:solidFill>
            <a:srgbClr val="FFFFFF"/>
          </a:solidFill>
          <a:ln cap="flat" cmpd="sng" w="25375">
            <a:solidFill>
              <a:srgbClr val="C5C7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35" name="Google Shape;535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77681" y="4003576"/>
            <a:ext cx="236234" cy="236240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23"/>
          <p:cNvSpPr/>
          <p:nvPr/>
        </p:nvSpPr>
        <p:spPr>
          <a:xfrm>
            <a:off x="661475" y="4885333"/>
            <a:ext cx="25399" cy="1030089"/>
          </a:xfrm>
          <a:prstGeom prst="roundRect">
            <a:avLst>
              <a:gd fmla="val 60001" name="adj"/>
            </a:avLst>
          </a:prstGeom>
          <a:solidFill>
            <a:srgbClr val="C6C9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23"/>
          <p:cNvSpPr/>
          <p:nvPr/>
        </p:nvSpPr>
        <p:spPr>
          <a:xfrm>
            <a:off x="944936" y="5097959"/>
            <a:ext cx="10585284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D3E44"/>
              </a:buClr>
              <a:buSzPts val="1450"/>
              <a:buFont typeface="Inter Light"/>
              <a:buNone/>
            </a:pPr>
            <a:r>
              <a:rPr b="0" i="0" lang="en-US" sz="1450" u="none" cap="none" strike="noStrike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A recipe without exact ingredients and steps cannot be repeated. A thesis without split details, preprocessing rules, code settings, and full metrics has the same problem.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